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charts/chart2.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1"/>
  </p:notesMasterIdLst>
  <p:sldIdLst>
    <p:sldId id="256" r:id="rId2"/>
    <p:sldId id="257" r:id="rId3"/>
    <p:sldId id="258" r:id="rId4"/>
    <p:sldId id="300" r:id="rId5"/>
    <p:sldId id="260" r:id="rId6"/>
    <p:sldId id="261" r:id="rId7"/>
    <p:sldId id="301" r:id="rId8"/>
    <p:sldId id="262" r:id="rId9"/>
    <p:sldId id="264" r:id="rId10"/>
    <p:sldId id="265" r:id="rId11"/>
    <p:sldId id="269" r:id="rId12"/>
    <p:sldId id="270" r:id="rId13"/>
    <p:sldId id="272" r:id="rId14"/>
    <p:sldId id="273" r:id="rId15"/>
    <p:sldId id="274" r:id="rId16"/>
    <p:sldId id="275" r:id="rId17"/>
    <p:sldId id="276" r:id="rId18"/>
    <p:sldId id="277" r:id="rId19"/>
    <p:sldId id="278" r:id="rId20"/>
    <p:sldId id="279" r:id="rId21"/>
    <p:sldId id="284" r:id="rId22"/>
    <p:sldId id="286" r:id="rId23"/>
    <p:sldId id="287" r:id="rId24"/>
    <p:sldId id="288" r:id="rId25"/>
    <p:sldId id="289" r:id="rId26"/>
    <p:sldId id="290" r:id="rId27"/>
    <p:sldId id="303" r:id="rId28"/>
    <p:sldId id="304" r:id="rId29"/>
    <p:sldId id="302" r:id="rId30"/>
    <p:sldId id="291" r:id="rId31"/>
    <p:sldId id="268" r:id="rId32"/>
    <p:sldId id="305" r:id="rId33"/>
    <p:sldId id="306" r:id="rId34"/>
    <p:sldId id="307" r:id="rId35"/>
    <p:sldId id="308" r:id="rId36"/>
    <p:sldId id="309" r:id="rId37"/>
    <p:sldId id="293" r:id="rId38"/>
    <p:sldId id="294" r:id="rId39"/>
    <p:sldId id="295" r:id="rId40"/>
  </p:sldIdLst>
  <p:sldSz cx="5765800" cy="3244850"/>
  <p:notesSz cx="5765800" cy="32448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7312" autoAdjust="0"/>
  </p:normalViewPr>
  <p:slideViewPr>
    <p:cSldViewPr>
      <p:cViewPr varScale="1">
        <p:scale>
          <a:sx n="144" d="100"/>
          <a:sy n="144" d="100"/>
        </p:scale>
        <p:origin x="2106" y="12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Score</c:v>
                </c:pt>
              </c:strCache>
            </c:strRef>
          </c:tx>
          <c:spPr>
            <a:solidFill>
              <a:srgbClr val="005F73"/>
            </a:solidFill>
          </c:spPr>
          <c:invertIfNegative val="1"/>
          <c:dLbls>
            <c:numFmt formatCode="0&quot;%&quot;" sourceLinked="0"/>
            <c:spPr>
              <a:noFill/>
              <a:ln>
                <a:noFill/>
              </a:ln>
              <a:effectLst/>
            </c:spPr>
            <c:txPr>
              <a:bodyPr/>
              <a:lstStyle/>
              <a:p>
                <a:pPr>
                  <a:defRPr sz="800" b="1">
                    <a:solidFill>
                      <a:srgbClr val="FFFFFF"/>
                    </a:solidFil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Issues found (recall)</c:v>
                </c:pt>
                <c:pt idx="1">
                  <c:v>Overall accuracy (balanced)</c:v>
                </c:pt>
                <c:pt idx="2">
                  <c:v>Flags that were correct (precision)</c:v>
                </c:pt>
              </c:strCache>
            </c:strRef>
          </c:cat>
          <c:val>
            <c:numRef>
              <c:f>Sheet1!$B$2:$B$4</c:f>
              <c:numCache>
                <c:formatCode>General</c:formatCode>
                <c:ptCount val="3"/>
                <c:pt idx="0">
                  <c:v>93</c:v>
                </c:pt>
                <c:pt idx="1">
                  <c:v>90</c:v>
                </c:pt>
                <c:pt idx="2">
                  <c:v>87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6B02-48D3-9351-619E8A448701}"/>
            </c:ext>
          </c:extLst>
        </c:ser>
        <c:dLbls>
          <c:dLblPos val="inEnd"/>
          <c:showLegendKey val="0"/>
          <c:showVal val="1"/>
          <c:showCatName val="0"/>
          <c:showSerName val="0"/>
          <c:showPercent val="0"/>
          <c:showBubbleSize val="0"/>
        </c:dLbls>
        <c:gapWidth val="60"/>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CED3DA"/>
            </a:solidFill>
          </a:ln>
        </c:spPr>
        <c:txPr>
          <a:bodyPr/>
          <a:lstStyle/>
          <a:p>
            <a:pPr>
              <a:defRPr sz="800">
                <a:solidFill>
                  <a:srgbClr val="202429"/>
                </a:solidFill>
              </a:defRPr>
            </a:pPr>
            <a:endParaRPr lang="en-US"/>
          </a:p>
        </c:txPr>
        <c:crossAx val="-2113994440"/>
        <c:crosses val="autoZero"/>
        <c:auto val="1"/>
        <c:lblAlgn val="ctr"/>
        <c:lblOffset val="100"/>
        <c:noMultiLvlLbl val="0"/>
      </c:catAx>
      <c:valAx>
        <c:axId val="-2113994440"/>
        <c:scaling>
          <c:orientation val="minMax"/>
          <c:max val="100"/>
          <c:min val="0"/>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800">
          <a:solidFill>
            <a:srgbClr val="202429"/>
          </a:solidFill>
          <a:latin typeface="Tahoma"/>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Score</c:v>
                </c:pt>
              </c:strCache>
            </c:strRef>
          </c:tx>
          <c:spPr>
            <a:solidFill>
              <a:srgbClr val="005F73"/>
            </a:solidFill>
          </c:spPr>
          <c:invertIfNegative val="1"/>
          <c:dLbls>
            <c:numFmt formatCode="0&quot;%&quot;" sourceLinked="0"/>
            <c:spPr>
              <a:noFill/>
              <a:ln>
                <a:noFill/>
              </a:ln>
              <a:effectLst/>
            </c:spPr>
            <c:txPr>
              <a:bodyPr/>
              <a:lstStyle/>
              <a:p>
                <a:pPr>
                  <a:defRPr sz="800" b="1">
                    <a:solidFill>
                      <a:srgbClr val="FFFFFF"/>
                    </a:solidFil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White British (n=688)</c:v>
                </c:pt>
                <c:pt idx="1">
                  <c:v>Asian (n=87)</c:v>
                </c:pt>
                <c:pt idx="2">
                  <c:v>Black (n=81)</c:v>
                </c:pt>
                <c:pt idx="3">
                  <c:v>Mixed (n=13)</c:v>
                </c:pt>
                <c:pt idx="4">
                  <c:v>Other White (n=46)</c:v>
                </c:pt>
              </c:strCache>
            </c:strRef>
          </c:cat>
          <c:val>
            <c:numRef>
              <c:f>Sheet1!$B$2:$B$6</c:f>
              <c:numCache>
                <c:formatCode>General</c:formatCode>
                <c:ptCount val="5"/>
                <c:pt idx="0">
                  <c:v>84</c:v>
                </c:pt>
                <c:pt idx="1">
                  <c:v>84</c:v>
                </c:pt>
                <c:pt idx="2">
                  <c:v>82</c:v>
                </c:pt>
                <c:pt idx="3">
                  <c:v>85</c:v>
                </c:pt>
                <c:pt idx="4">
                  <c:v>82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2ACA-473C-9975-95C3C8B664DA}"/>
            </c:ext>
          </c:extLst>
        </c:ser>
        <c:dLbls>
          <c:dLblPos val="inEnd"/>
          <c:showLegendKey val="0"/>
          <c:showVal val="1"/>
          <c:showCatName val="0"/>
          <c:showSerName val="0"/>
          <c:showPercent val="0"/>
          <c:showBubbleSize val="0"/>
        </c:dLbls>
        <c:gapWidth val="60"/>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CED3DA"/>
            </a:solidFill>
          </a:ln>
        </c:spPr>
        <c:txPr>
          <a:bodyPr/>
          <a:lstStyle/>
          <a:p>
            <a:pPr>
              <a:defRPr sz="800">
                <a:solidFill>
                  <a:srgbClr val="202429"/>
                </a:solidFill>
              </a:defRPr>
            </a:pPr>
            <a:endParaRPr lang="en-US"/>
          </a:p>
        </c:txPr>
        <c:crossAx val="-2113994440"/>
        <c:crosses val="autoZero"/>
        <c:auto val="1"/>
        <c:lblAlgn val="ctr"/>
        <c:lblOffset val="100"/>
        <c:noMultiLvlLbl val="0"/>
      </c:catAx>
      <c:valAx>
        <c:axId val="-2113994440"/>
        <c:scaling>
          <c:orientation val="minMax"/>
          <c:max val="100"/>
          <c:min val="0"/>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800">
          <a:solidFill>
            <a:srgbClr val="202429"/>
          </a:solidFill>
          <a:latin typeface="Tahoma"/>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498725" cy="161925"/>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265488" y="0"/>
            <a:ext cx="2498725" cy="161925"/>
          </a:xfrm>
          <a:prstGeom prst="rect">
            <a:avLst/>
          </a:prstGeom>
        </p:spPr>
        <p:txBody>
          <a:bodyPr vert="horz" lIns="91440" tIns="45720" rIns="91440" bIns="45720" rtlCol="0"/>
          <a:lstStyle>
            <a:lvl1pPr algn="r">
              <a:defRPr sz="1200"/>
            </a:lvl1pPr>
          </a:lstStyle>
          <a:p>
            <a:fld id="{F9A268F8-4381-4FA5-B225-307DDEFF73B5}" type="datetimeFigureOut">
              <a:rPr lang="en-GB" smtClean="0"/>
              <a:t>14/10/2026</a:t>
            </a:fld>
            <a:endParaRPr lang="en-GB"/>
          </a:p>
        </p:txBody>
      </p:sp>
      <p:sp>
        <p:nvSpPr>
          <p:cNvPr id="4" name="Slide Image Placeholder 3"/>
          <p:cNvSpPr>
            <a:spLocks noGrp="1" noRot="1" noChangeAspect="1"/>
          </p:cNvSpPr>
          <p:nvPr>
            <p:ph type="sldImg" idx="2"/>
          </p:nvPr>
        </p:nvSpPr>
        <p:spPr>
          <a:xfrm>
            <a:off x="1911350" y="406400"/>
            <a:ext cx="1943100" cy="1093788"/>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576263" y="1562100"/>
            <a:ext cx="4613275" cy="12779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3082925"/>
            <a:ext cx="2498725" cy="161925"/>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265488" y="3082925"/>
            <a:ext cx="2498725" cy="161925"/>
          </a:xfrm>
          <a:prstGeom prst="rect">
            <a:avLst/>
          </a:prstGeom>
        </p:spPr>
        <p:txBody>
          <a:bodyPr vert="horz" lIns="91440" tIns="45720" rIns="91440" bIns="45720" rtlCol="0" anchor="b"/>
          <a:lstStyle>
            <a:lvl1pPr algn="r">
              <a:defRPr sz="1200"/>
            </a:lvl1pPr>
          </a:lstStyle>
          <a:p>
            <a:fld id="{F10B2870-B0ED-4556-8BC9-29F84A64811B}" type="slidenum">
              <a:rPr lang="en-GB" smtClean="0"/>
              <a:t>‹#›</a:t>
            </a:fld>
            <a:endParaRPr lang="en-GB"/>
          </a:p>
        </p:txBody>
      </p:sp>
    </p:spTree>
    <p:extLst>
      <p:ext uri="{BB962C8B-B14F-4D97-AF65-F5344CB8AC3E}">
        <p14:creationId xmlns:p14="http://schemas.microsoft.com/office/powerpoint/2010/main" val="760880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Good afternoon everyone, and thank you for inviting me. I’m Georgina Cosma from Loughborough University.</a:t>
            </a:r>
          </a:p>
          <a:p>
            <a:endParaRPr dirty="0"/>
          </a:p>
          <a:p>
            <a:r>
              <a:rPr lang="en-GB" dirty="0"/>
              <a:t>The</a:t>
            </a:r>
            <a:r>
              <a:rPr dirty="0"/>
              <a:t> talk today is </a:t>
            </a:r>
            <a:r>
              <a:rPr lang="en-GB" dirty="0"/>
              <a:t>on</a:t>
            </a:r>
            <a:r>
              <a:rPr dirty="0"/>
              <a:t> “Extracting Safety Intelligence from Healthcare Incident Reports: Combining Human Factors and Artificial Intelligence”.</a:t>
            </a:r>
          </a:p>
        </p:txBody>
      </p:sp>
      <p:sp>
        <p:nvSpPr>
          <p:cNvPr id="4" name="Slide Number Placeholder 3"/>
          <p:cNvSpPr>
            <a:spLocks noGrp="1"/>
          </p:cNvSpPr>
          <p:nvPr>
            <p:ph type="sldNum" sz="quarter" idx="5"/>
          </p:nvPr>
        </p:nvSpPr>
        <p:spPr/>
        <p:txBody>
          <a:bodyPr/>
          <a:lstStyle/>
          <a:p>
            <a:fld id="{F10B2870-B0ED-4556-8BC9-29F84A64811B}" type="slidenum">
              <a:rPr lang="en-GB" smtClean="0"/>
              <a:t>1</a:t>
            </a:fld>
            <a:endParaRPr lang="en-GB"/>
          </a:p>
        </p:txBody>
      </p:sp>
    </p:spTree>
    <p:extLst>
      <p:ext uri="{BB962C8B-B14F-4D97-AF65-F5344CB8AC3E}">
        <p14:creationId xmlns:p14="http://schemas.microsoft.com/office/powerpoint/2010/main" val="34007983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So, a little about me.</a:t>
            </a:r>
          </a:p>
          <a:p>
            <a:endParaRPr dirty="0"/>
          </a:p>
          <a:p>
            <a:r>
              <a:rPr dirty="0"/>
              <a:t>I’m a Professor of AI and Data Science at Loughborough, a computer scientist by background, and my work is fundamentally about developing AI methods and applying them to healthcare challenges</a:t>
            </a:r>
            <a:r>
              <a:rPr lang="en-GB" dirty="0"/>
              <a:t>.</a:t>
            </a:r>
          </a:p>
          <a:p>
            <a:endParaRPr dirty="0"/>
          </a:p>
          <a:p>
            <a:r>
              <a:rPr dirty="0"/>
              <a:t>My research is mainly in natural language processing. I develop methods for extracting, modelling and retrieving information from reports, and often from multimodal data, which combines different types of data such as text and images.</a:t>
            </a:r>
          </a:p>
          <a:p>
            <a:endParaRPr dirty="0"/>
          </a:p>
          <a:p>
            <a:r>
              <a:rPr dirty="0"/>
              <a:t>The work I will describe today has been funded by NHSX and The Health Foundation, and supported by the NIHR.</a:t>
            </a:r>
          </a:p>
          <a:p>
            <a:endParaRPr dirty="0"/>
          </a:p>
          <a:p>
            <a:r>
              <a:rPr dirty="0"/>
              <a:t>The project was conducted in collaboration with Professor Patrick Waterson, who is joint PI and a human factors expert at Loughborough University</a:t>
            </a:r>
            <a:r>
              <a:rPr lang="en-GB" dirty="0"/>
              <a:t>. </a:t>
            </a:r>
            <a:r>
              <a:rPr lang="en-GB" sz="1200" b="0" i="0" kern="1200" dirty="0">
                <a:solidFill>
                  <a:schemeClr val="tx1"/>
                </a:solidFill>
                <a:effectLst/>
                <a:latin typeface="+mn-lt"/>
                <a:ea typeface="+mn-ea"/>
                <a:cs typeface="+mn-cs"/>
              </a:rPr>
              <a:t>Professor Waterson is a Fellow of the Institute of Ergonomics and Human Factors, Chartered Psychologist and Associate Fellow of the British Psychological Society.</a:t>
            </a:r>
          </a:p>
          <a:p>
            <a:br>
              <a:rPr lang="en-GB" dirty="0"/>
            </a:br>
            <a:r>
              <a:rPr lang="en-GB" dirty="0"/>
              <a:t>We also worked </a:t>
            </a:r>
            <a:r>
              <a:rPr dirty="0"/>
              <a:t>with colleagues from the Health Services Safety Investigations Body, who investigate serious patient safety incidents across the NHS.</a:t>
            </a:r>
            <a:endParaRPr lang="en-GB" dirty="0"/>
          </a:p>
          <a:p>
            <a:endParaRPr lang="en-GB" dirty="0"/>
          </a:p>
          <a:p>
            <a:r>
              <a:rPr lang="en-GB" dirty="0"/>
              <a:t>Unfortunately, Patrick is unable to attend today, and he sends his apologies. If you have any questions on human factors please email Patrick.</a:t>
            </a:r>
          </a:p>
          <a:p>
            <a:endParaRPr dirty="0"/>
          </a:p>
        </p:txBody>
      </p:sp>
      <p:sp>
        <p:nvSpPr>
          <p:cNvPr id="4" name="Slide Number Placeholder 3"/>
          <p:cNvSpPr>
            <a:spLocks noGrp="1"/>
          </p:cNvSpPr>
          <p:nvPr>
            <p:ph type="sldNum" sz="quarter" idx="5"/>
          </p:nvPr>
        </p:nvSpPr>
        <p:spPr/>
        <p:txBody>
          <a:bodyPr/>
          <a:lstStyle/>
          <a:p>
            <a:fld id="{F10B2870-B0ED-4556-8BC9-29F84A64811B}" type="slidenum">
              <a:rPr lang="en-GB" smtClean="0"/>
              <a:t>2</a:t>
            </a:fld>
            <a:endParaRPr lang="en-GB"/>
          </a:p>
        </p:txBody>
      </p:sp>
    </p:spTree>
    <p:extLst>
      <p:ext uri="{BB962C8B-B14F-4D97-AF65-F5344CB8AC3E}">
        <p14:creationId xmlns:p14="http://schemas.microsoft.com/office/powerpoint/2010/main" val="23371341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little bit about our partner.</a:t>
            </a:r>
          </a:p>
          <a:p>
            <a:endParaRPr/>
          </a:p>
          <a:p>
            <a:r>
              <a:t>We worked with colleagues who were then at HSIB, which was set up in 2017 to carry out independent patient safety investigations. In 2023 it split into MNSI and HSSIB, where our colleagues are today.</a:t>
            </a:r>
          </a:p>
          <a:p>
            <a:endParaRPr/>
          </a:p>
          <a:p>
            <a:r>
              <a:t>Together we analysed 188 of their maternity investigation reports.</a:t>
            </a:r>
          </a:p>
          <a:p>
            <a:endParaRPr/>
          </a:p>
          <a:p>
            <a:r>
              <a:t>Their approach focuses on learning, not blame, and staff who contribute are legally protected. This shaped our AI design. The AI helps people see patterns. It doesn’t make decisions about people.</a:t>
            </a:r>
          </a:p>
        </p:txBody>
      </p:sp>
      <p:sp>
        <p:nvSpPr>
          <p:cNvPr id="4" name="Slide Number Placeholder 3"/>
          <p:cNvSpPr>
            <a:spLocks noGrp="1"/>
          </p:cNvSpPr>
          <p:nvPr>
            <p:ph type="sldNum" sz="quarter" idx="5"/>
          </p:nvPr>
        </p:nvSpPr>
        <p:spPr/>
        <p:txBody>
          <a:bodyPr/>
          <a:lstStyle/>
          <a:p>
            <a:fld id="{F10B2870-B0ED-4556-8BC9-29F84A64811B}" type="slidenum">
              <a:rPr lang="en-GB" smtClean="0"/>
              <a:t>3</a:t>
            </a:fld>
            <a:endParaRPr lang="en-GB"/>
          </a:p>
        </p:txBody>
      </p:sp>
    </p:spTree>
    <p:extLst>
      <p:ext uri="{BB962C8B-B14F-4D97-AF65-F5344CB8AC3E}">
        <p14:creationId xmlns:p14="http://schemas.microsoft.com/office/powerpoint/2010/main" val="22777971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Here is an illustration of the challenge. On the left, you’ll see an investigator with reports that need detailed human factors analysis.</a:t>
            </a:r>
          </a:p>
          <a:p>
            <a:endParaRPr dirty="0"/>
          </a:p>
          <a:p>
            <a:r>
              <a:rPr dirty="0"/>
              <a:t>In the middle is the SEIPS model, the Systems Engineering Initiative for Patient Safety. It shows how work systems connect to healthcare outcomes.</a:t>
            </a:r>
          </a:p>
          <a:p>
            <a:endParaRPr dirty="0"/>
          </a:p>
          <a:p>
            <a:r>
              <a:rPr dirty="0"/>
              <a:t>The challenge faced by human factors experts is that they need to extract intelligence from these reports, and they often use taxonomies to </a:t>
            </a:r>
            <a:r>
              <a:rPr dirty="0" err="1"/>
              <a:t>organise</a:t>
            </a:r>
            <a:r>
              <a:rPr dirty="0"/>
              <a:t> it.</a:t>
            </a:r>
          </a:p>
          <a:p>
            <a:endParaRPr dirty="0"/>
          </a:p>
          <a:p>
            <a:r>
              <a:rPr lang="en-GB" dirty="0"/>
              <a:t>And on the right is the SIRch taxonomy, which stands for Safety Intelligence Research. This is the taxonomy Patrick developed specifically for maternity investigations. It is based on SEIPS and gives us a structured way to categorise these factors. More about this later.</a:t>
            </a:r>
          </a:p>
        </p:txBody>
      </p:sp>
      <p:sp>
        <p:nvSpPr>
          <p:cNvPr id="4" name="Slide Number Placeholder 3"/>
          <p:cNvSpPr>
            <a:spLocks noGrp="1"/>
          </p:cNvSpPr>
          <p:nvPr>
            <p:ph type="sldNum" sz="quarter" idx="5"/>
          </p:nvPr>
        </p:nvSpPr>
        <p:spPr/>
        <p:txBody>
          <a:bodyPr/>
          <a:lstStyle/>
          <a:p>
            <a:fld id="{AD986472-5914-4616-9FD0-2D7EC413B228}" type="slidenum">
              <a:rPr lang="en-GB" smtClean="0"/>
              <a:t>4</a:t>
            </a:fld>
            <a:endParaRPr lang="en-GB"/>
          </a:p>
        </p:txBody>
      </p:sp>
    </p:spTree>
    <p:extLst>
      <p:ext uri="{BB962C8B-B14F-4D97-AF65-F5344CB8AC3E}">
        <p14:creationId xmlns:p14="http://schemas.microsoft.com/office/powerpoint/2010/main" val="1444583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incident reports we </a:t>
            </a:r>
            <a:r>
              <a:rPr dirty="0" err="1"/>
              <a:t>analysed</a:t>
            </a:r>
            <a:r>
              <a:rPr dirty="0"/>
              <a:t> describe what went wrong and why in maternity investigations. They cover what happened during care, family experiences, staff observations, and contributing factors like communication breakdowns, missed assessments, equipment issues and staffing pressures. They focus on system-level factors, not individual blame.</a:t>
            </a:r>
          </a:p>
          <a:p>
            <a:endParaRPr dirty="0"/>
          </a:p>
          <a:p>
            <a:r>
              <a:rPr dirty="0"/>
              <a:t>Maternity </a:t>
            </a:r>
            <a:r>
              <a:rPr lang="en-GB" dirty="0"/>
              <a:t>was our </a:t>
            </a:r>
            <a:r>
              <a:rPr dirty="0"/>
              <a:t>case study, but this challenge applies to any healthcare safety reports.</a:t>
            </a:r>
          </a:p>
          <a:p>
            <a:endParaRPr dirty="0"/>
          </a:p>
          <a:p>
            <a:r>
              <a:rPr dirty="0"/>
              <a:t>On the left is the problem. Healthcare generates vast amounts of unstructured text containing actionable insights, but patterns are hard to spot at scale, and manual analysis cannot keep pace.</a:t>
            </a:r>
          </a:p>
          <a:p>
            <a:endParaRPr dirty="0"/>
          </a:p>
          <a:p>
            <a:r>
              <a:rPr dirty="0"/>
              <a:t>On the right are the considerations. Health data requires careful handling under GDPR, AI must perform fairly across all groups, findings must be traceable, and human oversight remains essential.</a:t>
            </a:r>
          </a:p>
        </p:txBody>
      </p:sp>
      <p:sp>
        <p:nvSpPr>
          <p:cNvPr id="4" name="Slide Number Placeholder 3"/>
          <p:cNvSpPr>
            <a:spLocks noGrp="1"/>
          </p:cNvSpPr>
          <p:nvPr>
            <p:ph type="sldNum" sz="quarter" idx="5"/>
          </p:nvPr>
        </p:nvSpPr>
        <p:spPr/>
        <p:txBody>
          <a:bodyPr/>
          <a:lstStyle/>
          <a:p>
            <a:fld id="{F10B2870-B0ED-4556-8BC9-29F84A64811B}" type="slidenum">
              <a:rPr lang="en-GB" smtClean="0"/>
              <a:t>5</a:t>
            </a:fld>
            <a:endParaRPr lang="en-GB"/>
          </a:p>
        </p:txBody>
      </p:sp>
    </p:spTree>
    <p:extLst>
      <p:ext uri="{BB962C8B-B14F-4D97-AF65-F5344CB8AC3E}">
        <p14:creationId xmlns:p14="http://schemas.microsoft.com/office/powerpoint/2010/main" val="36675428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How can we use AI to extract actionable safety intelligence from hundreds of unstructured reports, responsibly and fairly?</a:t>
            </a:r>
          </a:p>
          <a:p>
            <a:endParaRPr/>
          </a:p>
          <a:p>
            <a:r>
              <a:t>[PAUSE]</a:t>
            </a:r>
          </a:p>
          <a:p>
            <a:endParaRPr/>
          </a:p>
          <a:p>
            <a:r>
              <a:t>This was our driving question.</a:t>
            </a:r>
          </a:p>
        </p:txBody>
      </p:sp>
      <p:sp>
        <p:nvSpPr>
          <p:cNvPr id="4" name="Slide Number Placeholder 3"/>
          <p:cNvSpPr>
            <a:spLocks noGrp="1"/>
          </p:cNvSpPr>
          <p:nvPr>
            <p:ph type="sldNum" sz="quarter" idx="5"/>
          </p:nvPr>
        </p:nvSpPr>
        <p:spPr/>
        <p:txBody>
          <a:bodyPr/>
          <a:lstStyle/>
          <a:p>
            <a:fld id="{F10B2870-B0ED-4556-8BC9-29F84A64811B}" type="slidenum">
              <a:rPr lang="en-GB" smtClean="0"/>
              <a:t>6</a:t>
            </a:fld>
            <a:endParaRPr lang="en-GB"/>
          </a:p>
        </p:txBody>
      </p:sp>
    </p:spTree>
    <p:extLst>
      <p:ext uri="{BB962C8B-B14F-4D97-AF65-F5344CB8AC3E}">
        <p14:creationId xmlns:p14="http://schemas.microsoft.com/office/powerpoint/2010/main" val="7716409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9E8B1-0632-518B-6418-D4541325CF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410835-9C1D-8BBC-05F4-2DB0E956B0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01739E-CB03-6D0A-194F-5BB48A8C5848}"/>
              </a:ext>
            </a:extLst>
          </p:cNvPr>
          <p:cNvSpPr>
            <a:spLocks noGrp="1"/>
          </p:cNvSpPr>
          <p:nvPr>
            <p:ph type="body" idx="1"/>
          </p:nvPr>
        </p:nvSpPr>
        <p:spPr/>
        <p:txBody>
          <a:bodyPr/>
          <a:lstStyle/>
          <a:p>
            <a:r>
              <a:t>Let me show you the AI methods we developed.</a:t>
            </a:r>
          </a:p>
        </p:txBody>
      </p:sp>
      <p:sp>
        <p:nvSpPr>
          <p:cNvPr id="4" name="Slide Number Placeholder 3">
            <a:extLst>
              <a:ext uri="{FF2B5EF4-FFF2-40B4-BE49-F238E27FC236}">
                <a16:creationId xmlns:a16="http://schemas.microsoft.com/office/drawing/2014/main" id="{85728C29-97DA-9C34-2ABE-542D48FDCA02}"/>
              </a:ext>
            </a:extLst>
          </p:cNvPr>
          <p:cNvSpPr>
            <a:spLocks noGrp="1"/>
          </p:cNvSpPr>
          <p:nvPr>
            <p:ph type="sldNum" sz="quarter" idx="5"/>
          </p:nvPr>
        </p:nvSpPr>
        <p:spPr/>
        <p:txBody>
          <a:bodyPr/>
          <a:lstStyle/>
          <a:p>
            <a:fld id="{F10B2870-B0ED-4556-8BC9-29F84A64811B}" type="slidenum">
              <a:rPr lang="en-GB" smtClean="0"/>
              <a:t>7</a:t>
            </a:fld>
            <a:endParaRPr lang="en-GB"/>
          </a:p>
        </p:txBody>
      </p:sp>
    </p:spTree>
    <p:extLst>
      <p:ext uri="{BB962C8B-B14F-4D97-AF65-F5344CB8AC3E}">
        <p14:creationId xmlns:p14="http://schemas.microsoft.com/office/powerpoint/2010/main" val="19860214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trained the AI using concept annotation. Here’s how it works.</a:t>
            </a:r>
          </a:p>
          <a:p>
            <a:endParaRPr/>
          </a:p>
          <a:p>
            <a:r>
              <a:t>Concept annotation is the process of mapping sentences to factors, which we also call labels. The aim is then to train a machine learning model to apply those labels to unseen sentences.</a:t>
            </a:r>
          </a:p>
          <a:p>
            <a:endParaRPr/>
          </a:p>
          <a:p>
            <a:r>
              <a:t>Take this sentence from a real report. “The abnormal CTG was not recognised and did not prompt escalation to the obstetric team, in line with local guidance.”</a:t>
            </a:r>
          </a:p>
          <a:p>
            <a:endParaRPr/>
          </a:p>
          <a:p>
            <a:r>
              <a:t>An expert spots three things, a CTG interpretation problem, no escalation, and a local guidance issue. So one sentence can get multiple labels, here Interpretation, Escalation/referral and Local guidance.</a:t>
            </a:r>
          </a:p>
          <a:p>
            <a:endParaRPr/>
          </a:p>
          <a:p>
            <a:r>
              <a:t>Why does this matter? Once every sentence is labelled, we can ask bigger questions. Which factors appear most often? Do certain issues cluster together? Are there patterns across ethnic groups, or across adverse event types like maternal death, neonatal death or stillbirth?</a:t>
            </a:r>
          </a:p>
          <a:p>
            <a:endParaRPr/>
          </a:p>
          <a:p>
            <a:r>
              <a:t>Where ethnicity and outcome data were recorded, we could examine whether certain human factors appeared more frequently for specific groups.</a:t>
            </a:r>
          </a:p>
          <a:p>
            <a:endParaRPr/>
          </a:p>
          <a:p>
            <a:r>
              <a:t>Reading reports one by one won’t answer that. We need structured data. That’s what concept annotation gives us, and we trained the AI to do it automatically.</a:t>
            </a:r>
          </a:p>
          <a:p>
            <a:endParaRPr/>
          </a:p>
          <a:p>
            <a:r>
              <a:t>On the right is the taxonomy that Patrick developed, based on SEIPS, an internationally recognised framework that organises human factors into six areas. Patrick refined it to make it specific to maternity incidents, and the AI learns to apply its factors consistently at scale.</a:t>
            </a:r>
          </a:p>
        </p:txBody>
      </p:sp>
      <p:sp>
        <p:nvSpPr>
          <p:cNvPr id="4" name="Slide Number Placeholder 3"/>
          <p:cNvSpPr>
            <a:spLocks noGrp="1"/>
          </p:cNvSpPr>
          <p:nvPr>
            <p:ph type="sldNum" sz="quarter" idx="5"/>
          </p:nvPr>
        </p:nvSpPr>
        <p:spPr/>
        <p:txBody>
          <a:bodyPr/>
          <a:lstStyle/>
          <a:p>
            <a:fld id="{F10B2870-B0ED-4556-8BC9-29F84A64811B}" type="slidenum">
              <a:rPr lang="en-GB" smtClean="0"/>
              <a:t>8</a:t>
            </a:fld>
            <a:endParaRPr lang="en-GB"/>
          </a:p>
        </p:txBody>
      </p:sp>
    </p:spTree>
    <p:extLst>
      <p:ext uri="{BB962C8B-B14F-4D97-AF65-F5344CB8AC3E}">
        <p14:creationId xmlns:p14="http://schemas.microsoft.com/office/powerpoint/2010/main" val="18427334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the full taxonomy we used, and this is what the AI learns to recognise.</a:t>
            </a:r>
          </a:p>
          <a:p>
            <a:endParaRPr/>
          </a:p>
          <a:p>
            <a:r>
              <a:t>It has 44 possible factors across six areas, with person factors recorded separately for patients and for staff. In our 188 maternity reports, 27 of these factors actually appeared.</a:t>
            </a:r>
          </a:p>
          <a:p>
            <a:endParaRPr/>
          </a:p>
          <a:p>
            <a:r>
              <a:t>It covers everything from external policy down to individual decision errors.</a:t>
            </a:r>
          </a:p>
        </p:txBody>
      </p:sp>
      <p:sp>
        <p:nvSpPr>
          <p:cNvPr id="4" name="Slide Number Placeholder 3"/>
          <p:cNvSpPr>
            <a:spLocks noGrp="1"/>
          </p:cNvSpPr>
          <p:nvPr>
            <p:ph type="sldNum" sz="quarter" idx="5"/>
          </p:nvPr>
        </p:nvSpPr>
        <p:spPr/>
        <p:txBody>
          <a:bodyPr/>
          <a:lstStyle/>
          <a:p>
            <a:fld id="{F10B2870-B0ED-4556-8BC9-29F84A64811B}" type="slidenum">
              <a:rPr lang="en-GB" smtClean="0"/>
              <a:t>9</a:t>
            </a:fld>
            <a:endParaRPr lang="en-GB"/>
          </a:p>
        </p:txBody>
      </p:sp>
    </p:spTree>
    <p:extLst>
      <p:ext uri="{BB962C8B-B14F-4D97-AF65-F5344CB8AC3E}">
        <p14:creationId xmlns:p14="http://schemas.microsoft.com/office/powerpoint/2010/main" val="28670014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is I-SIRch, our framework for safety intelligence extraction. There are three stages, and none of it is a black box. Human oversight runs through the whole thing.</a:t>
            </a:r>
          </a:p>
          <a:p>
            <a:endParaRPr dirty="0"/>
          </a:p>
          <a:p>
            <a:r>
              <a:rPr dirty="0"/>
              <a:t>First, data preparation. We extract the text from the reports and select the negative sentences, the ones that describe what went wrong. Not everything gets processed. We control what goes in.</a:t>
            </a:r>
          </a:p>
          <a:p>
            <a:endParaRPr dirty="0"/>
          </a:p>
          <a:p>
            <a:r>
              <a:rPr dirty="0"/>
              <a:t>Second, training and learning, and this is where the human expertise comes in. Three domain experts, colleagues then at HSIB and now at HSSIB, with deep expertise in patient safety and human factors, annotated the reports, in sessions led by Professor Patrick Waterson.</a:t>
            </a:r>
          </a:p>
          <a:p>
            <a:endParaRPr dirty="0"/>
          </a:p>
          <a:p>
            <a:r>
              <a:rPr dirty="0"/>
              <a:t>The annotators couldn’t see the patient’s ethnic background while coding the text. This helps prevent human biases from entering the training data, where the AI would then amplify them.</a:t>
            </a:r>
          </a:p>
          <a:p>
            <a:endParaRPr dirty="0"/>
          </a:p>
          <a:p>
            <a:r>
              <a:rPr dirty="0"/>
              <a:t>Our inter-rater reliability was 80.15 per cent. That’s the percentage of sentences where all three annotators agreed, and it gave us confidence that the concepts were being applied consistently before we used them to train the model.</a:t>
            </a:r>
          </a:p>
          <a:p>
            <a:endParaRPr dirty="0"/>
          </a:p>
          <a:p>
            <a:r>
              <a:rPr dirty="0"/>
              <a:t>We then trained the AI to replicate their judgements. The word is replicate. It learns from human expertise, it doesn’t replace it. It learned from 91 reports and was tested on 97 it had never seen. As new batches arrived, they were annotated and used for retraining.</a:t>
            </a:r>
          </a:p>
          <a:p>
            <a:endParaRPr dirty="0"/>
          </a:p>
          <a:p>
            <a:r>
              <a:rPr dirty="0"/>
              <a:t>Third, monitoring. Continuous bias checks across demographic groups, and human verification of outputs.</a:t>
            </a:r>
          </a:p>
          <a:p>
            <a:endParaRPr dirty="0"/>
          </a:p>
          <a:p>
            <a:r>
              <a:rPr dirty="0"/>
              <a:t>[PAUSE]</a:t>
            </a:r>
          </a:p>
          <a:p>
            <a:endParaRPr dirty="0"/>
          </a:p>
          <a:p>
            <a:r>
              <a:rPr dirty="0"/>
              <a:t>So why not just use ChatGPT or something off the shelf? A few reasons. We trained this model specifically to </a:t>
            </a:r>
            <a:r>
              <a:rPr dirty="0" err="1"/>
              <a:t>recognise</a:t>
            </a:r>
            <a:r>
              <a:rPr dirty="0"/>
              <a:t> our taxonomy of human factors, which reduces the risk of inheriting biases from large language models trained on internet data. It runs entirely offline, so no data leaves our secure environment. Every output traces back to source documents, which means it can be verified. And we have full control over what the model learns.</a:t>
            </a:r>
          </a:p>
          <a:p>
            <a:endParaRPr dirty="0"/>
          </a:p>
          <a:p>
            <a:r>
              <a:rPr dirty="0"/>
              <a:t>General-purpose AI just wasn’t built with these requirements in mind.</a:t>
            </a:r>
          </a:p>
        </p:txBody>
      </p:sp>
      <p:sp>
        <p:nvSpPr>
          <p:cNvPr id="4" name="Slide Number Placeholder 3"/>
          <p:cNvSpPr>
            <a:spLocks noGrp="1"/>
          </p:cNvSpPr>
          <p:nvPr>
            <p:ph type="sldNum" sz="quarter" idx="5"/>
          </p:nvPr>
        </p:nvSpPr>
        <p:spPr/>
        <p:txBody>
          <a:bodyPr/>
          <a:lstStyle/>
          <a:p>
            <a:fld id="{F10B2870-B0ED-4556-8BC9-29F84A64811B}" type="slidenum">
              <a:rPr lang="en-GB" smtClean="0"/>
              <a:t>10</a:t>
            </a:fld>
            <a:endParaRPr lang="en-GB"/>
          </a:p>
        </p:txBody>
      </p:sp>
    </p:spTree>
    <p:extLst>
      <p:ext uri="{BB962C8B-B14F-4D97-AF65-F5344CB8AC3E}">
        <p14:creationId xmlns:p14="http://schemas.microsoft.com/office/powerpoint/2010/main" val="29345798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These are the results on the 97 real, unseen reports. The model was trained on real data from batches 1 and 2, and tested on batch 3. It achieved 90 per cent balanced accuracy, 93 per cent recall and 87 per cent precision.</a:t>
            </a:r>
          </a:p>
          <a:p>
            <a:endParaRPr dirty="0"/>
          </a:p>
          <a:p>
            <a:r>
              <a:rPr dirty="0"/>
              <a:t>The key number is that 93 per cent recall. It means the model catches the vast majority of safety issues. </a:t>
            </a:r>
            <a:endParaRPr lang="en-GB" dirty="0"/>
          </a:p>
          <a:p>
            <a:endParaRPr dirty="0"/>
          </a:p>
          <a:p>
            <a:r>
              <a:rPr dirty="0"/>
              <a:t>But good overall performance isn’t enough. The question is, does it perform equally for all groups?</a:t>
            </a:r>
          </a:p>
        </p:txBody>
      </p:sp>
      <p:sp>
        <p:nvSpPr>
          <p:cNvPr id="4" name="Slide Number Placeholder 3"/>
          <p:cNvSpPr>
            <a:spLocks noGrp="1"/>
          </p:cNvSpPr>
          <p:nvPr>
            <p:ph type="sldNum" sz="quarter" idx="5"/>
          </p:nvPr>
        </p:nvSpPr>
        <p:spPr/>
        <p:txBody>
          <a:bodyPr/>
          <a:lstStyle/>
          <a:p>
            <a:fld id="{F10B2870-B0ED-4556-8BC9-29F84A64811B}" type="slidenum">
              <a:rPr lang="en-GB" smtClean="0"/>
              <a:t>11</a:t>
            </a:fld>
            <a:endParaRPr lang="en-GB"/>
          </a:p>
        </p:txBody>
      </p:sp>
    </p:spTree>
    <p:extLst>
      <p:ext uri="{BB962C8B-B14F-4D97-AF65-F5344CB8AC3E}">
        <p14:creationId xmlns:p14="http://schemas.microsoft.com/office/powerpoint/2010/main" val="38757956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So does the model perform equally for all groups?</a:t>
            </a:r>
          </a:p>
          <a:p>
            <a:endParaRPr dirty="0"/>
          </a:p>
          <a:p>
            <a:r>
              <a:rPr dirty="0"/>
              <a:t>We only had ethnicity data for batch 1, so we could only test fairness on synthetic data. The n values here are concept annotations, not reports.</a:t>
            </a:r>
          </a:p>
          <a:p>
            <a:endParaRPr dirty="0"/>
          </a:p>
          <a:p>
            <a:r>
              <a:rPr dirty="0"/>
              <a:t>Balanced accuracy ranged from 82 to 85 per cent across the ethnic groups. Precision was 100 per cent across the board, meaning that when the model flagged a concept, it was correct. Recall ranged from 64 to 69 per cent.</a:t>
            </a:r>
          </a:p>
          <a:p>
            <a:endParaRPr dirty="0"/>
          </a:p>
          <a:p>
            <a:r>
              <a:rPr dirty="0"/>
              <a:t>We tested for statistical significance between the groups where we had sufficient sample sizes. There was no significant difference between the Black and White British groups, and no significant difference between the Asian and White groups.</a:t>
            </a:r>
          </a:p>
          <a:p>
            <a:endParaRPr dirty="0"/>
          </a:p>
          <a:p>
            <a:r>
              <a:rPr dirty="0"/>
              <a:t>We didn’t run pairwise tests across all groups, because the sample sizes for some groups, particularly Mixed Background with just 13 concepts, were too small for meaningful statistical comparison.</a:t>
            </a:r>
          </a:p>
          <a:p>
            <a:endParaRPr dirty="0"/>
          </a:p>
          <a:p>
            <a:r>
              <a:rPr dirty="0"/>
              <a:t>So these are encouraging early results. Performance was consistent across the groups we could test.</a:t>
            </a:r>
          </a:p>
        </p:txBody>
      </p:sp>
      <p:sp>
        <p:nvSpPr>
          <p:cNvPr id="4" name="Slide Number Placeholder 3"/>
          <p:cNvSpPr>
            <a:spLocks noGrp="1"/>
          </p:cNvSpPr>
          <p:nvPr>
            <p:ph type="sldNum" sz="quarter" idx="5"/>
          </p:nvPr>
        </p:nvSpPr>
        <p:spPr/>
        <p:txBody>
          <a:bodyPr/>
          <a:lstStyle/>
          <a:p>
            <a:fld id="{F10B2870-B0ED-4556-8BC9-29F84A64811B}" type="slidenum">
              <a:rPr lang="en-GB" smtClean="0"/>
              <a:t>12</a:t>
            </a:fld>
            <a:endParaRPr lang="en-GB"/>
          </a:p>
        </p:txBody>
      </p:sp>
    </p:spTree>
    <p:extLst>
      <p:ext uri="{BB962C8B-B14F-4D97-AF65-F5344CB8AC3E}">
        <p14:creationId xmlns:p14="http://schemas.microsoft.com/office/powerpoint/2010/main" val="35903324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Let’s look at some of the findings. There isn’t enough time to go through all the detailed findings today, as I’ve focused this presentation on the AI methods. </a:t>
            </a:r>
          </a:p>
        </p:txBody>
      </p:sp>
      <p:sp>
        <p:nvSpPr>
          <p:cNvPr id="4" name="Slide Number Placeholder 3"/>
          <p:cNvSpPr>
            <a:spLocks noGrp="1"/>
          </p:cNvSpPr>
          <p:nvPr>
            <p:ph type="sldNum" sz="quarter" idx="5"/>
          </p:nvPr>
        </p:nvSpPr>
        <p:spPr/>
        <p:txBody>
          <a:bodyPr/>
          <a:lstStyle/>
          <a:p>
            <a:fld id="{F10B2870-B0ED-4556-8BC9-29F84A64811B}" type="slidenum">
              <a:rPr lang="en-GB" smtClean="0"/>
              <a:t>13</a:t>
            </a:fld>
            <a:endParaRPr lang="en-GB"/>
          </a:p>
        </p:txBody>
      </p:sp>
    </p:spTree>
    <p:extLst>
      <p:ext uri="{BB962C8B-B14F-4D97-AF65-F5344CB8AC3E}">
        <p14:creationId xmlns:p14="http://schemas.microsoft.com/office/powerpoint/2010/main" val="21476608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patterns emerge when AI analyses 188 maternity investigation reports systematically and equitably?</a:t>
            </a:r>
          </a:p>
          <a:p>
            <a:endParaRPr/>
          </a:p>
          <a:p>
            <a:r>
              <a:t>[PAUSE]</a:t>
            </a:r>
          </a:p>
        </p:txBody>
      </p:sp>
      <p:sp>
        <p:nvSpPr>
          <p:cNvPr id="4" name="Slide Number Placeholder 3"/>
          <p:cNvSpPr>
            <a:spLocks noGrp="1"/>
          </p:cNvSpPr>
          <p:nvPr>
            <p:ph type="sldNum" sz="quarter" idx="5"/>
          </p:nvPr>
        </p:nvSpPr>
        <p:spPr/>
        <p:txBody>
          <a:bodyPr/>
          <a:lstStyle/>
          <a:p>
            <a:fld id="{F10B2870-B0ED-4556-8BC9-29F84A64811B}" type="slidenum">
              <a:rPr lang="en-GB" smtClean="0"/>
              <a:t>14</a:t>
            </a:fld>
            <a:endParaRPr lang="en-GB"/>
          </a:p>
        </p:txBody>
      </p:sp>
    </p:spTree>
    <p:extLst>
      <p:ext uri="{BB962C8B-B14F-4D97-AF65-F5344CB8AC3E}">
        <p14:creationId xmlns:p14="http://schemas.microsoft.com/office/powerpoint/2010/main" val="36989230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chart shows the distribution of human factors across all 188 reports.</a:t>
            </a:r>
          </a:p>
          <a:p>
            <a:endParaRPr/>
          </a:p>
          <a:p>
            <a:r>
              <a:t>The three green bars are the most common factors, Communication, Teamworking and Assessment.</a:t>
            </a:r>
          </a:p>
          <a:p>
            <a:endParaRPr/>
          </a:p>
          <a:p>
            <a:r>
              <a:t>The adverse outcomes in these reports are serious, including therapeutic hypothermia, maternal death and stillbirth.</a:t>
            </a:r>
          </a:p>
          <a:p>
            <a:endParaRPr/>
          </a:p>
          <a:p>
            <a:r>
              <a:t>[PAUSE]</a:t>
            </a:r>
          </a:p>
          <a:p>
            <a:endParaRPr/>
          </a:p>
          <a:p>
            <a:r>
              <a:t>The AI shows patterns across the whole dataset that no individual could spot by reading alone.</a:t>
            </a:r>
          </a:p>
        </p:txBody>
      </p:sp>
      <p:sp>
        <p:nvSpPr>
          <p:cNvPr id="4" name="Slide Number Placeholder 3"/>
          <p:cNvSpPr>
            <a:spLocks noGrp="1"/>
          </p:cNvSpPr>
          <p:nvPr>
            <p:ph type="sldNum" sz="quarter" idx="5"/>
          </p:nvPr>
        </p:nvSpPr>
        <p:spPr/>
        <p:txBody>
          <a:bodyPr/>
          <a:lstStyle/>
          <a:p>
            <a:fld id="{F10B2870-B0ED-4556-8BC9-29F84A64811B}" type="slidenum">
              <a:rPr lang="en-GB" smtClean="0"/>
              <a:t>15</a:t>
            </a:fld>
            <a:endParaRPr lang="en-GB"/>
          </a:p>
        </p:txBody>
      </p:sp>
    </p:spTree>
    <p:extLst>
      <p:ext uri="{BB962C8B-B14F-4D97-AF65-F5344CB8AC3E}">
        <p14:creationId xmlns:p14="http://schemas.microsoft.com/office/powerpoint/2010/main" val="41438643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These are actual sentences from the reports, not AI-generated. Communication was the most frequently occurring factor, found in 159 of the 188 reports.</a:t>
            </a:r>
          </a:p>
        </p:txBody>
      </p:sp>
      <p:sp>
        <p:nvSpPr>
          <p:cNvPr id="4" name="Slide Number Placeholder 3"/>
          <p:cNvSpPr>
            <a:spLocks noGrp="1"/>
          </p:cNvSpPr>
          <p:nvPr>
            <p:ph type="sldNum" sz="quarter" idx="5"/>
          </p:nvPr>
        </p:nvSpPr>
        <p:spPr/>
        <p:txBody>
          <a:bodyPr/>
          <a:lstStyle/>
          <a:p>
            <a:fld id="{F10B2870-B0ED-4556-8BC9-29F84A64811B}" type="slidenum">
              <a:rPr lang="en-GB" smtClean="0"/>
              <a:t>16</a:t>
            </a:fld>
            <a:endParaRPr lang="en-GB"/>
          </a:p>
        </p:txBody>
      </p:sp>
    </p:spTree>
    <p:extLst>
      <p:ext uri="{BB962C8B-B14F-4D97-AF65-F5344CB8AC3E}">
        <p14:creationId xmlns:p14="http://schemas.microsoft.com/office/powerpoint/2010/main" val="27673585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Teamworking was the second most common factor the AI identified, in 155 of the 188 reports.</a:t>
            </a:r>
          </a:p>
        </p:txBody>
      </p:sp>
      <p:sp>
        <p:nvSpPr>
          <p:cNvPr id="4" name="Slide Number Placeholder 3"/>
          <p:cNvSpPr>
            <a:spLocks noGrp="1"/>
          </p:cNvSpPr>
          <p:nvPr>
            <p:ph type="sldNum" sz="quarter" idx="5"/>
          </p:nvPr>
        </p:nvSpPr>
        <p:spPr/>
        <p:txBody>
          <a:bodyPr/>
          <a:lstStyle/>
          <a:p>
            <a:fld id="{F10B2870-B0ED-4556-8BC9-29F84A64811B}" type="slidenum">
              <a:rPr lang="en-GB" smtClean="0"/>
              <a:t>17</a:t>
            </a:fld>
            <a:endParaRPr lang="en-GB"/>
          </a:p>
        </p:txBody>
      </p:sp>
    </p:spTree>
    <p:extLst>
      <p:ext uri="{BB962C8B-B14F-4D97-AF65-F5344CB8AC3E}">
        <p14:creationId xmlns:p14="http://schemas.microsoft.com/office/powerpoint/2010/main" val="22789739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And Assessment was the third most common factor across the reports, identified in 150 of the 188.</a:t>
            </a:r>
          </a:p>
        </p:txBody>
      </p:sp>
      <p:sp>
        <p:nvSpPr>
          <p:cNvPr id="4" name="Slide Number Placeholder 3"/>
          <p:cNvSpPr>
            <a:spLocks noGrp="1"/>
          </p:cNvSpPr>
          <p:nvPr>
            <p:ph type="sldNum" sz="quarter" idx="5"/>
          </p:nvPr>
        </p:nvSpPr>
        <p:spPr/>
        <p:txBody>
          <a:bodyPr/>
          <a:lstStyle/>
          <a:p>
            <a:fld id="{F10B2870-B0ED-4556-8BC9-29F84A64811B}" type="slidenum">
              <a:rPr lang="en-GB" smtClean="0"/>
              <a:t>18</a:t>
            </a:fld>
            <a:endParaRPr lang="en-GB"/>
          </a:p>
        </p:txBody>
      </p:sp>
    </p:spTree>
    <p:extLst>
      <p:ext uri="{BB962C8B-B14F-4D97-AF65-F5344CB8AC3E}">
        <p14:creationId xmlns:p14="http://schemas.microsoft.com/office/powerpoint/2010/main" val="18485064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Next, summarisation.</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Can we automatically synthesise findings across 188 reports into coherent summaries for each human factor?</a:t>
            </a:r>
          </a:p>
          <a:p>
            <a:endParaRPr/>
          </a:p>
          <a:p>
            <a:r>
              <a:t>[PAUSE]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Here are two of the summaries our AI tool generated, for Communication and Acuity.</a:t>
            </a:r>
          </a:p>
          <a:p>
            <a:endParaRPr dirty="0"/>
          </a:p>
          <a:p>
            <a:r>
              <a:rPr dirty="0"/>
              <a:t>We extract the original sentences first, then generate summaries from them. Both are stored, so we can always compare the summary against the source sentences and check its accuracy.</a:t>
            </a:r>
            <a:endParaRPr lang="en-GB" dirty="0"/>
          </a:p>
          <a:p>
            <a:endParaRPr lang="en-GB" dirty="0"/>
          </a:p>
          <a:p>
            <a:r>
              <a:rPr lang="en-GB" dirty="0"/>
              <a:t>Every sentence traces back to the report sentences that were used to generate it. </a:t>
            </a:r>
            <a:endParaRPr dirty="0"/>
          </a:p>
        </p:txBody>
      </p:sp>
      <p:sp>
        <p:nvSpPr>
          <p:cNvPr id="4" name="Slide Number Placeholder 3"/>
          <p:cNvSpPr>
            <a:spLocks noGrp="1"/>
          </p:cNvSpPr>
          <p:nvPr>
            <p:ph type="sldNum" sz="quarter" idx="5"/>
          </p:nvPr>
        </p:nvSpPr>
        <p:spPr/>
        <p:txBody>
          <a:bodyPr/>
          <a:lstStyle/>
          <a:p>
            <a:fld id="{F10B2870-B0ED-4556-8BC9-29F84A64811B}" type="slidenum">
              <a:rPr lang="en-GB" smtClean="0"/>
              <a:t>21</a:t>
            </a:fld>
            <a:endParaRPr lang="en-GB"/>
          </a:p>
        </p:txBody>
      </p:sp>
    </p:spTree>
    <p:extLst>
      <p:ext uri="{BB962C8B-B14F-4D97-AF65-F5344CB8AC3E}">
        <p14:creationId xmlns:p14="http://schemas.microsoft.com/office/powerpoint/2010/main" val="5409626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 what can go wrong with generative AI?</a:t>
            </a:r>
          </a:p>
          <a:p>
            <a:endParaRPr/>
          </a:p>
          <a:p>
            <a:r>
              <a:t>Hallucination and bias. AI can generate content that sounds plausible but isn’t true, and it can amplify patterns in the training data. We reduce this risk by keeping the original sentences, so we can check each summary against the source, and we run regular bias audits across ethnic groups.</a:t>
            </a:r>
          </a:p>
          <a:p>
            <a:endParaRPr/>
          </a:p>
          <a:p>
            <a:r>
              <a:t>Inadequate content control. Every summary can be traced back to its source sentences, so it can always be checked.</a:t>
            </a:r>
          </a:p>
          <a:p>
            <a:endParaRPr/>
          </a:p>
          <a:p>
            <a:r>
              <a:t>Sensitive data exposure. Healthcare data is highly sensitive. We use offline models, so no data leaves our secure environment.</a:t>
            </a:r>
          </a:p>
          <a:p>
            <a:endParaRPr/>
          </a:p>
          <a:p>
            <a:r>
              <a:t>Small sample sizes. Small numbers for minority groups can affect reliability, so we report performance for each group.</a:t>
            </a:r>
          </a:p>
        </p:txBody>
      </p:sp>
      <p:sp>
        <p:nvSpPr>
          <p:cNvPr id="4" name="Slide Number Placeholder 3"/>
          <p:cNvSpPr>
            <a:spLocks noGrp="1"/>
          </p:cNvSpPr>
          <p:nvPr>
            <p:ph type="sldNum" sz="quarter" idx="5"/>
          </p:nvPr>
        </p:nvSpPr>
        <p:spPr/>
        <p:txBody>
          <a:bodyPr/>
          <a:lstStyle/>
          <a:p>
            <a:fld id="{F10B2870-B0ED-4556-8BC9-29F84A64811B}" type="slidenum">
              <a:rPr lang="en-GB" smtClean="0"/>
              <a:t>22</a:t>
            </a:fld>
            <a:endParaRPr lang="en-GB"/>
          </a:p>
        </p:txBody>
      </p:sp>
    </p:spTree>
    <p:extLst>
      <p:ext uri="{BB962C8B-B14F-4D97-AF65-F5344CB8AC3E}">
        <p14:creationId xmlns:p14="http://schemas.microsoft.com/office/powerpoint/2010/main" val="15272079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can we apply this framework to other types of investigations?</a:t>
            </a:r>
          </a:p>
          <a:p>
            <a:endParaRPr/>
          </a:p>
          <a:p>
            <a:r>
              <a:t>[PAUSE]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Now I want to show you how we’re extending these methods beyond maternity.</a:t>
            </a:r>
          </a:p>
        </p:txBody>
      </p:sp>
      <p:sp>
        <p:nvSpPr>
          <p:cNvPr id="4" name="Slide Number Placeholder 3"/>
          <p:cNvSpPr>
            <a:spLocks noGrp="1"/>
          </p:cNvSpPr>
          <p:nvPr>
            <p:ph type="sldNum" sz="quarter" idx="5"/>
          </p:nvPr>
        </p:nvSpPr>
        <p:spPr/>
        <p:txBody>
          <a:bodyPr/>
          <a:lstStyle/>
          <a:p>
            <a:fld id="{F10B2870-B0ED-4556-8BC9-29F84A64811B}" type="slidenum">
              <a:rPr lang="en-GB" smtClean="0"/>
              <a:t>24</a:t>
            </a:fld>
            <a:endParaRPr lang="en-GB"/>
          </a:p>
        </p:txBody>
      </p:sp>
    </p:spTree>
    <p:extLst>
      <p:ext uri="{BB962C8B-B14F-4D97-AF65-F5344CB8AC3E}">
        <p14:creationId xmlns:p14="http://schemas.microsoft.com/office/powerpoint/2010/main" val="29195127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[PAUSE]</a:t>
            </a:r>
          </a:p>
          <a:p>
            <a:endParaRPr/>
          </a:p>
          <a:p>
            <a:r>
              <a:t>We developed LENS.ai, applying the same approach to Prevention of Future Deaths reports.</a:t>
            </a:r>
          </a:p>
          <a:p>
            <a:endParaRPr/>
          </a:p>
          <a:p>
            <a:r>
              <a:t>PFD reports are issued by coroners when action could prevent future deaths. They highlight risks, system failures and learning opportunities.</a:t>
            </a:r>
          </a:p>
          <a:p>
            <a:endParaRPr/>
          </a:p>
          <a:p>
            <a:r>
              <a:t>LENS.ai supports systematic review, identification of recurring themes, and structured analysis across cases. It’s adaptable to different frameworks, like the Yorkshire Contributory Factors Framework.</a:t>
            </a:r>
          </a:p>
          <a:p>
            <a:endParaRPr/>
          </a:p>
          <a:p>
            <a:r>
              <a:t>The same principles apply. It is transparent and traceable, and people stay in control.</a:t>
            </a:r>
          </a:p>
        </p:txBody>
      </p:sp>
      <p:sp>
        <p:nvSpPr>
          <p:cNvPr id="4" name="Slide Number Placeholder 3"/>
          <p:cNvSpPr>
            <a:spLocks noGrp="1"/>
          </p:cNvSpPr>
          <p:nvPr>
            <p:ph type="sldNum" sz="quarter" idx="5"/>
          </p:nvPr>
        </p:nvSpPr>
        <p:spPr/>
        <p:txBody>
          <a:bodyPr/>
          <a:lstStyle/>
          <a:p>
            <a:fld id="{F10B2870-B0ED-4556-8BC9-29F84A64811B}" type="slidenum">
              <a:rPr lang="en-GB" smtClean="0"/>
              <a:t>25</a:t>
            </a:fld>
            <a:endParaRPr lang="en-GB"/>
          </a:p>
        </p:txBody>
      </p:sp>
    </p:spTree>
    <p:extLst>
      <p:ext uri="{BB962C8B-B14F-4D97-AF65-F5344CB8AC3E}">
        <p14:creationId xmlns:p14="http://schemas.microsoft.com/office/powerpoint/2010/main" val="10622039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the LENS.ai archive of Prevention of Future Deaths reports. It held 6,436 reports when this screenshot was taken. LENS.ai is funded by Loughborough University through an Impact Accelerator Award, as part of a REF 2029 impact case study. For now, access is limited to NHS England and HSSIB.</a:t>
            </a:r>
          </a:p>
          <a:p>
            <a:endParaRPr dirty="0"/>
          </a:p>
          <a:p>
            <a:r>
              <a:rPr dirty="0"/>
              <a:t>Every night at 11pm the platform checks the judiciary website</a:t>
            </a:r>
            <a:r>
              <a:rPr lang="en-GB" dirty="0"/>
              <a:t> for new reports and responses to process.</a:t>
            </a:r>
            <a:endParaRPr dirty="0"/>
          </a:p>
          <a:p>
            <a:endParaRPr dirty="0"/>
          </a:p>
          <a:p>
            <a:r>
              <a:rPr dirty="0"/>
              <a:t>[Point to the timeline]</a:t>
            </a:r>
          </a:p>
          <a:p>
            <a:endParaRPr dirty="0"/>
          </a:p>
          <a:p>
            <a:r>
              <a:rPr dirty="0"/>
              <a:t>After the check, the steps run in order. AI extracts the key details, and the new reports are made searchable, coded, added to the themes and annotated, before a final check of the data.</a:t>
            </a:r>
          </a:p>
          <a:p>
            <a:endParaRPr dirty="0"/>
          </a:p>
          <a:p>
            <a:r>
              <a:rPr dirty="0"/>
              <a:t>So new reports are ready to </a:t>
            </a:r>
            <a:r>
              <a:rPr dirty="0" err="1"/>
              <a:t>analyse</a:t>
            </a:r>
            <a:r>
              <a:rPr dirty="0"/>
              <a:t> by the next morning.</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rtl="0"/>
            <a:r>
              <a:rPr lang="en-GB" dirty="0"/>
              <a:t>So what happens when a new coroner’s report comes in? There are four steps.</a:t>
            </a:r>
          </a:p>
          <a:p>
            <a:pPr rtl="0"/>
            <a:endParaRPr lang="en-GB" dirty="0"/>
          </a:p>
          <a:p>
            <a:pPr rtl="0"/>
            <a:r>
              <a:rPr lang="en-GB" dirty="0"/>
              <a:t>First, the tool collects the report. That’s the step we’ve just seen.</a:t>
            </a:r>
          </a:p>
          <a:p>
            <a:pPr rtl="0"/>
            <a:endParaRPr lang="en-GB" dirty="0"/>
          </a:p>
          <a:p>
            <a:pPr rtl="0"/>
            <a:r>
              <a:rPr lang="en-GB" dirty="0"/>
              <a:t>Second, the tool’s AI pulls out the key details. For example, the cause of death, who the coroner sent the report to, and what the coroner was worried about.</a:t>
            </a:r>
          </a:p>
          <a:p>
            <a:pPr rtl="0"/>
            <a:endParaRPr lang="en-GB" dirty="0"/>
          </a:p>
          <a:p>
            <a:pPr rtl="0"/>
            <a:r>
              <a:rPr lang="en-GB" dirty="0"/>
              <a:t>Third, the tool puts those details into standard codes, so that every report is described in the same way. Causes of death are coded using ICD-10. </a:t>
            </a:r>
          </a:p>
          <a:p>
            <a:pPr rtl="0"/>
            <a:endParaRPr lang="en-GB" dirty="0"/>
          </a:p>
          <a:p>
            <a:pPr rtl="0"/>
            <a:r>
              <a:rPr lang="en-GB" dirty="0"/>
              <a:t>Medicines are coded using ATC, the World Health Organization’s system for grouping medicines. This means the tool can compare reports and count patterns across them, even when coroners use different words for the same thing.</a:t>
            </a:r>
          </a:p>
          <a:p>
            <a:pPr rtl="0"/>
            <a:r>
              <a:rPr lang="en-GB" dirty="0"/>
              <a:t>Fourth, the tool lets users explore the results. They can search the reports, look at charts, and check or add annotations.</a:t>
            </a:r>
          </a:p>
          <a:p>
            <a:pPr rtl="0"/>
            <a:r>
              <a:rPr lang="en-GB" dirty="0"/>
              <a:t>At every step, the tool makes suggestions, but people make the decisions.</a:t>
            </a:r>
          </a:p>
          <a:p>
            <a:endParaRPr dirty="0"/>
          </a:p>
          <a:p>
            <a:r>
              <a:rPr dirty="0"/>
              <a:t>[If asked, ICD-10 is the International Statistical Classification of Diseases and Related Health Problems, 10th Revision, from the World Health Organization, 2019 edition. ATC is the Anatomical Therapeutic Chemical classification, the World Health Organization’s system for classifying medicines, 2024 index.]</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For maternity we used local models that ran fully offline, because those reports were confidential. PFD reports are public, so for LENS.ai we moved to more powerful large language models.</a:t>
            </a:r>
          </a:p>
          <a:p>
            <a:endParaRPr dirty="0"/>
          </a:p>
          <a:p>
            <a:r>
              <a:rPr dirty="0"/>
              <a:t>A more powerful model needs</a:t>
            </a:r>
            <a:r>
              <a:rPr lang="en-GB" dirty="0"/>
              <a:t>very careful design,</a:t>
            </a:r>
            <a:r>
              <a:rPr dirty="0"/>
              <a:t> stronger safeguards, so there is a human in the loop for every report.</a:t>
            </a:r>
            <a:r>
              <a:rPr lang="en-GB" dirty="0"/>
              <a:t> We have placed extra focus on designing it in a transparent way.</a:t>
            </a:r>
            <a:endParaRPr dirty="0"/>
          </a:p>
          <a:p>
            <a:endParaRPr dirty="0"/>
          </a:p>
          <a:p>
            <a:r>
              <a:rPr dirty="0"/>
              <a:t>[Point to the diagram]</a:t>
            </a:r>
          </a:p>
          <a:p>
            <a:endParaRPr dirty="0"/>
          </a:p>
          <a:p>
            <a:r>
              <a:rPr dirty="0"/>
              <a:t>The AI must quote the exact sentence behind each suggestion. A person then confirms, relabels or rejects it, and every result is logged and traceable.</a:t>
            </a:r>
          </a:p>
          <a:p>
            <a:endParaRPr dirty="0"/>
          </a:p>
          <a:p>
            <a:r>
              <a:rPr dirty="0"/>
              <a:t>So the AI suggests, the evidence is checked, and people decide.</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analyse the factors behind these deaths, we use the Yorkshire Contributory Factors Framework. It is an evidence-based tool developed in 2012, following a systematic review of 83 studies on hospital patient safety incidents.</a:t>
            </a:r>
          </a:p>
          <a:p>
            <a:endParaRPr/>
          </a:p>
          <a:p>
            <a:r>
              <a:t>It helps investigators understand why incidents happen by looking beyond individual errors to the wider factors that may have contributed, including teamwork, working conditions and organisational processes.</a:t>
            </a:r>
          </a:p>
          <a:p>
            <a:endParaRPr/>
          </a:p>
          <a:p>
            <a:r>
              <a:t>The aim is to identify the underlying causes of incidents, and use this learning to improve patient safety and prevent similar incidents from happening again.</a:t>
            </a:r>
          </a:p>
        </p:txBody>
      </p:sp>
      <p:sp>
        <p:nvSpPr>
          <p:cNvPr id="4" name="Slide Number Placeholder 3"/>
          <p:cNvSpPr>
            <a:spLocks noGrp="1"/>
          </p:cNvSpPr>
          <p:nvPr>
            <p:ph type="sldNum" sz="quarter" idx="5"/>
          </p:nvPr>
        </p:nvSpPr>
        <p:spPr/>
        <p:txBody>
          <a:bodyPr/>
          <a:lstStyle/>
          <a:p>
            <a:fld id="{F10B2870-B0ED-4556-8BC9-29F84A64811B}" type="slidenum">
              <a:rPr lang="en-GB" smtClean="0"/>
              <a:t>29</a:t>
            </a:fld>
            <a:endParaRPr lang="en-GB"/>
          </a:p>
        </p:txBody>
      </p:sp>
    </p:spTree>
    <p:extLst>
      <p:ext uri="{BB962C8B-B14F-4D97-AF65-F5344CB8AC3E}">
        <p14:creationId xmlns:p14="http://schemas.microsoft.com/office/powerpoint/2010/main" val="35027934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annotation screen. Each factor is linked to the sentence that supports it, and a reviewer confirms, relabels or rejects it. I’ll show this live in the demo.</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So how well does it work? We compared LENS.ai with expert human annotation of 130 PFD reports, coded by </a:t>
            </a:r>
            <a:r>
              <a:rPr lang="en-GB" dirty="0"/>
              <a:t>Patrick </a:t>
            </a:r>
            <a:r>
              <a:rPr dirty="0"/>
              <a:t>and a trained researcher</a:t>
            </a:r>
            <a:r>
              <a:rPr lang="en-GB" dirty="0"/>
              <a:t>, Ms Krina Vara</a:t>
            </a:r>
            <a:r>
              <a:rPr dirty="0"/>
              <a:t>.</a:t>
            </a:r>
          </a:p>
          <a:p>
            <a:endParaRPr dirty="0"/>
          </a:p>
          <a:p>
            <a:r>
              <a:rPr dirty="0"/>
              <a:t>The AI annotated each report, and we compared its output with the experts’, factor by factor. Every disagreement was checked against the report text.</a:t>
            </a:r>
          </a:p>
          <a:p>
            <a:endParaRPr dirty="0"/>
          </a:p>
          <a:p>
            <a:r>
              <a:rPr dirty="0"/>
              <a:t>The tool and the experts agreed 88 per cent of the time. Cohen’s kappa, which corrects for chance, was 0.68, which is substantial. The tool found 81 per cent of the factors the experts recorded, and 70 per cent of the factors it identified were confirmed correct.</a:t>
            </a:r>
          </a:p>
          <a:p>
            <a:endParaRPr dirty="0"/>
          </a:p>
          <a:p>
            <a:r>
              <a:rPr dirty="0"/>
              <a:t>We also compared two models on the same reports. Claude found 80 per cent of the experts’ factors and ChatGPT only 54 per cent, so we chose Claude.</a:t>
            </a:r>
          </a:p>
          <a:p>
            <a:endParaRPr dirty="0"/>
          </a:p>
          <a:p>
            <a:r>
              <a:rPr dirty="0"/>
              <a:t>[If asked, this covers one framework and one set of reports. Testing on other kinds of report is ongoing.]</a:t>
            </a:r>
          </a:p>
        </p:txBody>
      </p:sp>
      <p:sp>
        <p:nvSpPr>
          <p:cNvPr id="4" name="Slide Number Placeholder 3"/>
          <p:cNvSpPr>
            <a:spLocks noGrp="1"/>
          </p:cNvSpPr>
          <p:nvPr>
            <p:ph type="sldNum" sz="quarter" idx="5"/>
          </p:nvPr>
        </p:nvSpPr>
        <p:spPr/>
        <p:txBody>
          <a:bodyPr/>
          <a:lstStyle/>
          <a:p>
            <a:fld id="{F10B2870-B0ED-4556-8BC9-29F84A64811B}" type="slidenum">
              <a:rPr lang="en-GB" smtClean="0"/>
              <a:t>31</a:t>
            </a:fld>
            <a:endParaRPr lang="en-GB"/>
          </a:p>
        </p:txBody>
      </p:sp>
    </p:spTree>
    <p:extLst>
      <p:ext uri="{BB962C8B-B14F-4D97-AF65-F5344CB8AC3E}">
        <p14:creationId xmlns:p14="http://schemas.microsoft.com/office/powerpoint/2010/main" val="26562891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dashboard shows causes of death, coded to ICD-10. Users can group causes by ICD-10 category, or switch to the coroner’s own wording, filter the results, and download the chart or the data.</a:t>
            </a:r>
          </a:p>
          <a:p>
            <a:endParaRPr/>
          </a:p>
          <a:p>
            <a:r>
              <a:t>[If asked, ICD-10 is the International Statistical Classification of Diseases and Related Health Problems, 10th Revision, published by the World Health Organization. We use the 2019 edition, the version used for NHS data.]</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chart ranks the contributory factors by how many reports they appear in, coloured by factor category. It updates as reports are annotated, and it can be filtered and downloaded.</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heatmap shows how often each factor appears in each year, as a percentage with the number of reports. It can be filtered by year and by factor category.</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Users can pick any theme to see its trend over time, and compare themes across NHS regions.</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how could LENS.ai help your work?</a:t>
            </a:r>
          </a:p>
          <a:p>
            <a:endParaRPr/>
          </a:p>
          <a:p>
            <a:r>
              <a:t>Teams can use it to find reports on a topic, speciality or area, to understand the themes and contributory factors that keep coming up, to compare trends over time and across regions, and to share projects, downloading charts and data for their own work.</a:t>
            </a:r>
          </a:p>
          <a:p>
            <a:endParaRPr/>
          </a:p>
          <a:p>
            <a:r>
              <a:t>A word on access. LENS.ai is funded by Loughborough University through an Impact Accelerator Award, as part of a REF 2029 impact case study. At the moment it is available to NHS England and HSSIB only. But if you are interested in analysing particular types of death, we would be very happy to talk with you about it.</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[PAUSE]</a:t>
            </a:r>
          </a:p>
          <a:p>
            <a:endParaRPr/>
          </a:p>
          <a:p>
            <a:r>
              <a:t>Let me bring together what we’ve covered.</a:t>
            </a:r>
          </a:p>
          <a:p>
            <a:endParaRPr/>
          </a:p>
          <a:p>
            <a:r>
              <a:t>[Three columns]</a:t>
            </a:r>
          </a:p>
          <a:p>
            <a:endParaRPr/>
          </a:p>
          <a:p>
            <a:r>
              <a:t>The challenge. Unstructured safety data contains insights, but it is hard to analyse at scale.</a:t>
            </a:r>
          </a:p>
          <a:p>
            <a:endParaRPr/>
          </a:p>
          <a:p>
            <a:r>
              <a:t>The methods. Our AI tools combine human expertise with machine learning. The AI learns from humans and augments their capabilities. It doesn’t replace judgement.</a:t>
            </a:r>
          </a:p>
          <a:p>
            <a:endParaRPr/>
          </a:p>
          <a:p>
            <a:r>
              <a:t>The ethics. Fairness, transparency and human oversight are designed in from the start, and every output is traceable.</a:t>
            </a:r>
          </a:p>
          <a:p>
            <a:endParaRPr/>
          </a:p>
          <a:p>
            <a:r>
              <a:t>Our aim is to build software that extracts and analyses reports for teams working to improve healthcare and prevent deaths. AI assists, and humans decide.</a:t>
            </a:r>
          </a:p>
        </p:txBody>
      </p:sp>
      <p:sp>
        <p:nvSpPr>
          <p:cNvPr id="4" name="Slide Number Placeholder 3"/>
          <p:cNvSpPr>
            <a:spLocks noGrp="1"/>
          </p:cNvSpPr>
          <p:nvPr>
            <p:ph type="sldNum" sz="quarter" idx="5"/>
          </p:nvPr>
        </p:nvSpPr>
        <p:spPr/>
        <p:txBody>
          <a:bodyPr/>
          <a:lstStyle/>
          <a:p>
            <a:fld id="{F10B2870-B0ED-4556-8BC9-29F84A64811B}" type="slidenum">
              <a:rPr lang="en-GB" smtClean="0"/>
              <a:t>37</a:t>
            </a:fld>
            <a:endParaRPr lang="en-GB"/>
          </a:p>
        </p:txBody>
      </p:sp>
    </p:spTree>
    <p:extLst>
      <p:ext uri="{BB962C8B-B14F-4D97-AF65-F5344CB8AC3E}">
        <p14:creationId xmlns:p14="http://schemas.microsoft.com/office/powerpoint/2010/main" val="51503094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[PAUSE]</a:t>
            </a:r>
          </a:p>
          <a:p>
            <a:endParaRPr/>
          </a:p>
          <a:p>
            <a:r>
              <a:t>If you’re interested in exploring how these AI methods might apply to your work, I’d love to hear from you.</a:t>
            </a:r>
          </a:p>
          <a:p>
            <a:endParaRPr/>
          </a:p>
          <a:p>
            <a:r>
              <a:t>[Contact details]</a:t>
            </a:r>
          </a:p>
          <a:p>
            <a:endParaRPr/>
          </a:p>
          <a:p>
            <a:r>
              <a:t>I’m happy to discuss healthcare AI research partnerships, patient safety data projects, or ethical AI frameworks. You can reach me at g.cosma@lboro.ac.uk.</a:t>
            </a:r>
          </a:p>
        </p:txBody>
      </p:sp>
      <p:sp>
        <p:nvSpPr>
          <p:cNvPr id="4" name="Slide Number Placeholder 3"/>
          <p:cNvSpPr>
            <a:spLocks noGrp="1"/>
          </p:cNvSpPr>
          <p:nvPr>
            <p:ph type="sldNum" sz="quarter" idx="5"/>
          </p:nvPr>
        </p:nvSpPr>
        <p:spPr/>
        <p:txBody>
          <a:bodyPr/>
          <a:lstStyle/>
          <a:p>
            <a:fld id="{F10B2870-B0ED-4556-8BC9-29F84A64811B}" type="slidenum">
              <a:rPr lang="en-GB" smtClean="0"/>
              <a:t>38</a:t>
            </a:fld>
            <a:endParaRPr lang="en-GB"/>
          </a:p>
        </p:txBody>
      </p:sp>
    </p:spTree>
    <p:extLst>
      <p:ext uri="{BB962C8B-B14F-4D97-AF65-F5344CB8AC3E}">
        <p14:creationId xmlns:p14="http://schemas.microsoft.com/office/powerpoint/2010/main" val="144481428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for listening. Our selected publications are listed here, and I’m very happy to take any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32435" y="1005903"/>
            <a:ext cx="4900930" cy="681418"/>
          </a:xfrm>
          <a:prstGeom prst="rect">
            <a:avLst/>
          </a:prstGeom>
        </p:spPr>
        <p:txBody>
          <a:bodyPr wrap="square" lIns="0" tIns="0" rIns="0" bIns="0">
            <a:spAutoFit/>
          </a:bodyPr>
          <a:lstStyle>
            <a:lvl1pPr>
              <a:defRPr sz="1400" b="1" i="0">
                <a:solidFill>
                  <a:srgbClr val="202429"/>
                </a:solidFill>
                <a:latin typeface="Arial"/>
                <a:cs typeface="Arial"/>
              </a:defRPr>
            </a:lvl1pPr>
          </a:lstStyle>
          <a:p>
            <a:endParaRPr/>
          </a:p>
        </p:txBody>
      </p:sp>
      <p:sp>
        <p:nvSpPr>
          <p:cNvPr id="3" name="Holder 3"/>
          <p:cNvSpPr>
            <a:spLocks noGrp="1"/>
          </p:cNvSpPr>
          <p:nvPr>
            <p:ph type="subTitle" idx="4"/>
          </p:nvPr>
        </p:nvSpPr>
        <p:spPr>
          <a:xfrm>
            <a:off x="864870" y="1817116"/>
            <a:ext cx="4036060" cy="811212"/>
          </a:xfrm>
          <a:prstGeom prst="rect">
            <a:avLst/>
          </a:prstGeom>
        </p:spPr>
        <p:txBody>
          <a:bodyPr wrap="square" lIns="0" tIns="0" rIns="0" bIns="0">
            <a:spAutoFit/>
          </a:bodyPr>
          <a:lstStyle>
            <a:lvl1pPr>
              <a:defRPr sz="800" b="1" i="0">
                <a:solidFill>
                  <a:srgbClr val="202429"/>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defRPr sz="800" b="0" i="0">
                <a:solidFill>
                  <a:srgbClr val="6C757C"/>
                </a:solidFill>
                <a:latin typeface="Tahoma"/>
                <a:cs typeface="Tahoma"/>
              </a:defRPr>
            </a:lvl1pPr>
          </a:lstStyle>
          <a:p>
            <a:pPr marL="12700">
              <a:lnSpc>
                <a:spcPct val="100000"/>
              </a:lnSpc>
              <a:spcBef>
                <a:spcPts val="219"/>
              </a:spcBef>
            </a:pPr>
            <a:r>
              <a:rPr spc="-10" dirty="0"/>
              <a:t>Responsible</a:t>
            </a:r>
            <a:r>
              <a:rPr spc="20" dirty="0"/>
              <a:t> </a:t>
            </a:r>
            <a:r>
              <a:rPr dirty="0"/>
              <a:t>AI</a:t>
            </a:r>
            <a:r>
              <a:rPr spc="25" dirty="0"/>
              <a:t> </a:t>
            </a:r>
            <a:r>
              <a:rPr dirty="0"/>
              <a:t>in</a:t>
            </a:r>
            <a:r>
              <a:rPr spc="25" dirty="0"/>
              <a:t> </a:t>
            </a:r>
            <a:r>
              <a:rPr spc="-10" dirty="0"/>
              <a:t>Healthcare</a:t>
            </a:r>
          </a:p>
        </p:txBody>
      </p:sp>
      <p:sp>
        <p:nvSpPr>
          <p:cNvPr id="6" name="Holder 6"/>
          <p:cNvSpPr>
            <a:spLocks noGrp="1"/>
          </p:cNvSpPr>
          <p:nvPr>
            <p:ph type="sldNum" sz="quarter" idx="7"/>
          </p:nvPr>
        </p:nvSpPr>
        <p:spPr>
          <a:xfrm>
            <a:off x="4857076" y="3028689"/>
            <a:ext cx="464224" cy="173989"/>
          </a:xfrm>
        </p:spPr>
        <p:txBody>
          <a:bodyPr lIns="0" tIns="0" rIns="0" bIns="0"/>
          <a:lstStyle>
            <a:lvl1pPr>
              <a:defRPr sz="800" b="0" i="0">
                <a:solidFill>
                  <a:srgbClr val="6C757C"/>
                </a:solidFill>
                <a:latin typeface="Tahoma"/>
                <a:cs typeface="Tahoma"/>
              </a:defRPr>
            </a:lvl1pPr>
          </a:lstStyle>
          <a:p>
            <a:pPr marL="39370">
              <a:lnSpc>
                <a:spcPct val="100000"/>
              </a:lnSpc>
              <a:spcBef>
                <a:spcPts val="219"/>
              </a:spcBef>
            </a:pPr>
            <a:fld id="{81D60167-4931-47E6-BA6A-407CBD079E47}" type="slidenum">
              <a:rPr dirty="0"/>
              <a:t>‹#›</a:t>
            </a:fld>
            <a:r>
              <a:rPr spc="20" dirty="0"/>
              <a:t> </a:t>
            </a:r>
            <a:r>
              <a:rPr spc="120" dirty="0"/>
              <a:t>/</a:t>
            </a:r>
            <a:r>
              <a:rPr spc="25" dirty="0"/>
              <a:t> </a:t>
            </a:r>
            <a:r>
              <a:rPr spc="-25" dirty="0"/>
              <a:t>41</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1" i="0">
                <a:solidFill>
                  <a:srgbClr val="202429"/>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800" b="1" i="0">
                <a:solidFill>
                  <a:srgbClr val="202429"/>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defRPr sz="800" b="0" i="0">
                <a:solidFill>
                  <a:srgbClr val="6C757C"/>
                </a:solidFill>
                <a:latin typeface="Tahoma"/>
                <a:cs typeface="Tahoma"/>
              </a:defRPr>
            </a:lvl1pPr>
          </a:lstStyle>
          <a:p>
            <a:pPr marL="12700">
              <a:lnSpc>
                <a:spcPct val="100000"/>
              </a:lnSpc>
              <a:spcBef>
                <a:spcPts val="219"/>
              </a:spcBef>
            </a:pPr>
            <a:r>
              <a:rPr spc="-10" dirty="0"/>
              <a:t>Responsible</a:t>
            </a:r>
            <a:r>
              <a:rPr spc="20" dirty="0"/>
              <a:t> </a:t>
            </a:r>
            <a:r>
              <a:rPr dirty="0"/>
              <a:t>AI</a:t>
            </a:r>
            <a:r>
              <a:rPr spc="25" dirty="0"/>
              <a:t> </a:t>
            </a:r>
            <a:r>
              <a:rPr dirty="0"/>
              <a:t>in</a:t>
            </a:r>
            <a:r>
              <a:rPr spc="25" dirty="0"/>
              <a:t> </a:t>
            </a:r>
            <a:r>
              <a:rPr spc="-10" dirty="0"/>
              <a:t>Healthcare</a:t>
            </a:r>
          </a:p>
        </p:txBody>
      </p:sp>
      <p:sp>
        <p:nvSpPr>
          <p:cNvPr id="6" name="Holder 6"/>
          <p:cNvSpPr>
            <a:spLocks noGrp="1"/>
          </p:cNvSpPr>
          <p:nvPr>
            <p:ph type="sldNum" sz="quarter" idx="7"/>
          </p:nvPr>
        </p:nvSpPr>
        <p:spPr>
          <a:xfrm>
            <a:off x="4787900" y="3028689"/>
            <a:ext cx="435571" cy="173989"/>
          </a:xfrm>
        </p:spPr>
        <p:txBody>
          <a:bodyPr lIns="0" tIns="0" rIns="0" bIns="0"/>
          <a:lstStyle>
            <a:lvl1pPr>
              <a:defRPr sz="800" b="0" i="0">
                <a:solidFill>
                  <a:srgbClr val="6C757C"/>
                </a:solidFill>
                <a:latin typeface="Tahoma"/>
                <a:cs typeface="Tahoma"/>
              </a:defRPr>
            </a:lvl1pPr>
          </a:lstStyle>
          <a:p>
            <a:pPr marL="39370">
              <a:lnSpc>
                <a:spcPct val="100000"/>
              </a:lnSpc>
              <a:spcBef>
                <a:spcPts val="219"/>
              </a:spcBef>
            </a:pPr>
            <a:fld id="{81D60167-4931-47E6-BA6A-407CBD079E47}" type="slidenum">
              <a:rPr dirty="0"/>
              <a:t>‹#›</a:t>
            </a:fld>
            <a:r>
              <a:rPr spc="20" dirty="0"/>
              <a:t> </a:t>
            </a:r>
            <a:r>
              <a:rPr spc="120" dirty="0"/>
              <a:t>/</a:t>
            </a:r>
            <a:r>
              <a:rPr spc="25" dirty="0"/>
              <a:t> </a:t>
            </a:r>
            <a:r>
              <a:rPr spc="-25" dirty="0"/>
              <a:t>41</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1" i="0">
                <a:solidFill>
                  <a:srgbClr val="202429"/>
                </a:solidFill>
                <a:latin typeface="Arial"/>
                <a:cs typeface="Arial"/>
              </a:defRPr>
            </a:lvl1pPr>
          </a:lstStyle>
          <a:p>
            <a:endParaRPr/>
          </a:p>
        </p:txBody>
      </p:sp>
      <p:sp>
        <p:nvSpPr>
          <p:cNvPr id="3" name="Holder 3"/>
          <p:cNvSpPr>
            <a:spLocks noGrp="1"/>
          </p:cNvSpPr>
          <p:nvPr>
            <p:ph sz="half" idx="2"/>
          </p:nvPr>
        </p:nvSpPr>
        <p:spPr>
          <a:xfrm>
            <a:off x="242874" y="680350"/>
            <a:ext cx="2272665" cy="2247900"/>
          </a:xfrm>
          <a:prstGeom prst="rect">
            <a:avLst/>
          </a:prstGeom>
        </p:spPr>
        <p:txBody>
          <a:bodyPr wrap="square" lIns="0" tIns="0" rIns="0" bIns="0">
            <a:spAutoFit/>
          </a:bodyPr>
          <a:lstStyle>
            <a:lvl1pPr>
              <a:defRPr sz="1000" b="1" i="0">
                <a:solidFill>
                  <a:srgbClr val="005F73"/>
                </a:solidFill>
                <a:latin typeface="Arial"/>
                <a:cs typeface="Arial"/>
              </a:defRPr>
            </a:lvl1pPr>
          </a:lstStyle>
          <a:p>
            <a:endParaRPr/>
          </a:p>
        </p:txBody>
      </p:sp>
      <p:sp>
        <p:nvSpPr>
          <p:cNvPr id="4" name="Holder 4"/>
          <p:cNvSpPr>
            <a:spLocks noGrp="1"/>
          </p:cNvSpPr>
          <p:nvPr>
            <p:ph sz="half" idx="3"/>
          </p:nvPr>
        </p:nvSpPr>
        <p:spPr>
          <a:xfrm>
            <a:off x="3173285" y="680350"/>
            <a:ext cx="2191385" cy="1748155"/>
          </a:xfrm>
          <a:prstGeom prst="rect">
            <a:avLst/>
          </a:prstGeom>
        </p:spPr>
        <p:txBody>
          <a:bodyPr wrap="square" lIns="0" tIns="0" rIns="0" bIns="0">
            <a:spAutoFit/>
          </a:bodyPr>
          <a:lstStyle>
            <a:lvl1pPr>
              <a:defRPr sz="800" b="0" i="0">
                <a:solidFill>
                  <a:srgbClr val="202429"/>
                </a:solidFill>
                <a:latin typeface="Tahoma"/>
                <a:cs typeface="Tahoma"/>
              </a:defRPr>
            </a:lvl1pPr>
          </a:lstStyle>
          <a:p>
            <a:endParaRPr/>
          </a:p>
        </p:txBody>
      </p:sp>
      <p:sp>
        <p:nvSpPr>
          <p:cNvPr id="5" name="Holder 5"/>
          <p:cNvSpPr>
            <a:spLocks noGrp="1"/>
          </p:cNvSpPr>
          <p:nvPr>
            <p:ph type="ftr" sz="quarter" idx="5"/>
          </p:nvPr>
        </p:nvSpPr>
        <p:spPr/>
        <p:txBody>
          <a:bodyPr lIns="0" tIns="0" rIns="0" bIns="0"/>
          <a:lstStyle>
            <a:lvl1pPr>
              <a:defRPr sz="800" b="0" i="0">
                <a:solidFill>
                  <a:srgbClr val="6C757C"/>
                </a:solidFill>
                <a:latin typeface="Tahoma"/>
                <a:cs typeface="Tahoma"/>
              </a:defRPr>
            </a:lvl1pPr>
          </a:lstStyle>
          <a:p>
            <a:pPr marL="12700">
              <a:lnSpc>
                <a:spcPct val="100000"/>
              </a:lnSpc>
              <a:spcBef>
                <a:spcPts val="219"/>
              </a:spcBef>
            </a:pPr>
            <a:r>
              <a:rPr spc="-10" dirty="0"/>
              <a:t>Responsible</a:t>
            </a:r>
            <a:r>
              <a:rPr spc="20" dirty="0"/>
              <a:t> </a:t>
            </a:r>
            <a:r>
              <a:rPr dirty="0"/>
              <a:t>AI</a:t>
            </a:r>
            <a:r>
              <a:rPr spc="25" dirty="0"/>
              <a:t> </a:t>
            </a:r>
            <a:r>
              <a:rPr dirty="0"/>
              <a:t>in</a:t>
            </a:r>
            <a:r>
              <a:rPr spc="25" dirty="0"/>
              <a:t> </a:t>
            </a:r>
            <a:r>
              <a:rPr spc="-10" dirty="0"/>
              <a:t>Healthcare</a:t>
            </a:r>
          </a:p>
        </p:txBody>
      </p:sp>
      <p:sp>
        <p:nvSpPr>
          <p:cNvPr id="7" name="Holder 7"/>
          <p:cNvSpPr>
            <a:spLocks noGrp="1"/>
          </p:cNvSpPr>
          <p:nvPr>
            <p:ph type="sldNum" sz="quarter" idx="7"/>
          </p:nvPr>
        </p:nvSpPr>
        <p:spPr>
          <a:xfrm>
            <a:off x="4857076" y="3028689"/>
            <a:ext cx="464172" cy="173989"/>
          </a:xfrm>
        </p:spPr>
        <p:txBody>
          <a:bodyPr lIns="0" tIns="0" rIns="0" bIns="0"/>
          <a:lstStyle>
            <a:lvl1pPr>
              <a:defRPr sz="800" b="0" i="0">
                <a:solidFill>
                  <a:srgbClr val="6C757C"/>
                </a:solidFill>
                <a:latin typeface="Tahoma"/>
                <a:cs typeface="Tahoma"/>
              </a:defRPr>
            </a:lvl1pPr>
          </a:lstStyle>
          <a:p>
            <a:pPr marL="39370">
              <a:lnSpc>
                <a:spcPct val="100000"/>
              </a:lnSpc>
              <a:spcBef>
                <a:spcPts val="219"/>
              </a:spcBef>
            </a:pPr>
            <a:fld id="{81D60167-4931-47E6-BA6A-407CBD079E47}" type="slidenum">
              <a:rPr dirty="0"/>
              <a:t>‹#›</a:t>
            </a:fld>
            <a:r>
              <a:rPr spc="20" dirty="0"/>
              <a:t> </a:t>
            </a:r>
            <a:r>
              <a:rPr spc="120" dirty="0"/>
              <a:t>/</a:t>
            </a:r>
            <a:r>
              <a:rPr spc="25" dirty="0"/>
              <a:t> </a:t>
            </a:r>
            <a:r>
              <a:rPr spc="-25" dirty="0"/>
              <a:t>41</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0" y="0"/>
            <a:ext cx="1620520" cy="3240405"/>
          </a:xfrm>
          <a:custGeom>
            <a:avLst/>
            <a:gdLst/>
            <a:ahLst/>
            <a:cxnLst/>
            <a:rect l="l" t="t" r="r" b="b"/>
            <a:pathLst>
              <a:path w="1620520" h="3240405">
                <a:moveTo>
                  <a:pt x="1620020" y="3240023"/>
                </a:moveTo>
                <a:lnTo>
                  <a:pt x="1620020" y="0"/>
                </a:lnTo>
                <a:lnTo>
                  <a:pt x="0" y="0"/>
                </a:lnTo>
                <a:lnTo>
                  <a:pt x="10" y="3240052"/>
                </a:lnTo>
                <a:lnTo>
                  <a:pt x="1620020" y="3240023"/>
                </a:lnTo>
                <a:close/>
              </a:path>
            </a:pathLst>
          </a:custGeom>
          <a:solidFill>
            <a:srgbClr val="005F73"/>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400" b="1" i="0">
                <a:solidFill>
                  <a:srgbClr val="202429"/>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800" b="0" i="0">
                <a:solidFill>
                  <a:srgbClr val="6C757C"/>
                </a:solidFill>
                <a:latin typeface="Tahoma"/>
                <a:cs typeface="Tahoma"/>
              </a:defRPr>
            </a:lvl1pPr>
          </a:lstStyle>
          <a:p>
            <a:pPr marL="12700">
              <a:lnSpc>
                <a:spcPct val="100000"/>
              </a:lnSpc>
              <a:spcBef>
                <a:spcPts val="219"/>
              </a:spcBef>
            </a:pPr>
            <a:r>
              <a:rPr spc="-10" dirty="0"/>
              <a:t>Responsible</a:t>
            </a:r>
            <a:r>
              <a:rPr spc="20" dirty="0"/>
              <a:t> </a:t>
            </a:r>
            <a:r>
              <a:rPr dirty="0"/>
              <a:t>AI</a:t>
            </a:r>
            <a:r>
              <a:rPr spc="25" dirty="0"/>
              <a:t> </a:t>
            </a:r>
            <a:r>
              <a:rPr dirty="0"/>
              <a:t>in</a:t>
            </a:r>
            <a:r>
              <a:rPr spc="25" dirty="0"/>
              <a:t> </a:t>
            </a:r>
            <a:r>
              <a:rPr spc="-10" dirty="0"/>
              <a:t>Healthcare</a:t>
            </a:r>
          </a:p>
        </p:txBody>
      </p:sp>
      <p:sp>
        <p:nvSpPr>
          <p:cNvPr id="5" name="Holder 5"/>
          <p:cNvSpPr>
            <a:spLocks noGrp="1"/>
          </p:cNvSpPr>
          <p:nvPr>
            <p:ph type="sldNum" sz="quarter" idx="7"/>
          </p:nvPr>
        </p:nvSpPr>
        <p:spPr>
          <a:xfrm>
            <a:off x="4857076" y="3028689"/>
            <a:ext cx="464172" cy="173989"/>
          </a:xfrm>
        </p:spPr>
        <p:txBody>
          <a:bodyPr lIns="0" tIns="0" rIns="0" bIns="0"/>
          <a:lstStyle>
            <a:lvl1pPr>
              <a:defRPr sz="800" b="0" i="0">
                <a:solidFill>
                  <a:srgbClr val="6C757C"/>
                </a:solidFill>
                <a:latin typeface="Tahoma"/>
                <a:cs typeface="Tahoma"/>
              </a:defRPr>
            </a:lvl1pPr>
          </a:lstStyle>
          <a:p>
            <a:pPr marL="39370">
              <a:lnSpc>
                <a:spcPct val="100000"/>
              </a:lnSpc>
              <a:spcBef>
                <a:spcPts val="219"/>
              </a:spcBef>
            </a:pPr>
            <a:fld id="{81D60167-4931-47E6-BA6A-407CBD079E47}" type="slidenum">
              <a:rPr dirty="0"/>
              <a:t>‹#›</a:t>
            </a:fld>
            <a:r>
              <a:rPr spc="20" dirty="0"/>
              <a:t> </a:t>
            </a:r>
            <a:r>
              <a:rPr spc="120" dirty="0"/>
              <a:t>/</a:t>
            </a:r>
            <a:r>
              <a:rPr spc="25" dirty="0"/>
              <a:t> </a:t>
            </a:r>
            <a:r>
              <a:rPr spc="-25" dirty="0"/>
              <a:t>41</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800" b="0" i="0">
                <a:solidFill>
                  <a:srgbClr val="6C757C"/>
                </a:solidFill>
                <a:latin typeface="Tahoma"/>
                <a:cs typeface="Tahoma"/>
              </a:defRPr>
            </a:lvl1pPr>
          </a:lstStyle>
          <a:p>
            <a:pPr marL="12700">
              <a:lnSpc>
                <a:spcPct val="100000"/>
              </a:lnSpc>
              <a:spcBef>
                <a:spcPts val="219"/>
              </a:spcBef>
            </a:pPr>
            <a:r>
              <a:rPr spc="-10" dirty="0"/>
              <a:t>Responsible</a:t>
            </a:r>
            <a:r>
              <a:rPr spc="20" dirty="0"/>
              <a:t> </a:t>
            </a:r>
            <a:r>
              <a:rPr dirty="0"/>
              <a:t>AI</a:t>
            </a:r>
            <a:r>
              <a:rPr spc="25" dirty="0"/>
              <a:t> </a:t>
            </a:r>
            <a:r>
              <a:rPr dirty="0"/>
              <a:t>in</a:t>
            </a:r>
            <a:r>
              <a:rPr spc="25" dirty="0"/>
              <a:t> </a:t>
            </a:r>
            <a:r>
              <a:rPr spc="-10" dirty="0"/>
              <a:t>Healthcare</a:t>
            </a:r>
          </a:p>
        </p:txBody>
      </p:sp>
      <p:sp>
        <p:nvSpPr>
          <p:cNvPr id="4" name="Holder 4"/>
          <p:cNvSpPr>
            <a:spLocks noGrp="1"/>
          </p:cNvSpPr>
          <p:nvPr>
            <p:ph type="sldNum" sz="quarter" idx="7"/>
          </p:nvPr>
        </p:nvSpPr>
        <p:spPr>
          <a:xfrm>
            <a:off x="4857076" y="3028689"/>
            <a:ext cx="464224" cy="173989"/>
          </a:xfrm>
        </p:spPr>
        <p:txBody>
          <a:bodyPr lIns="0" tIns="0" rIns="0" bIns="0"/>
          <a:lstStyle>
            <a:lvl1pPr>
              <a:defRPr sz="800" b="0" i="0">
                <a:solidFill>
                  <a:srgbClr val="6C757C"/>
                </a:solidFill>
                <a:latin typeface="Tahoma"/>
                <a:cs typeface="Tahoma"/>
              </a:defRPr>
            </a:lvl1pPr>
          </a:lstStyle>
          <a:p>
            <a:pPr marL="39370">
              <a:lnSpc>
                <a:spcPct val="100000"/>
              </a:lnSpc>
              <a:spcBef>
                <a:spcPts val="219"/>
              </a:spcBef>
            </a:pPr>
            <a:fld id="{81D60167-4931-47E6-BA6A-407CBD079E47}" type="slidenum">
              <a:rPr dirty="0"/>
              <a:t>‹#›</a:t>
            </a:fld>
            <a:r>
              <a:rPr spc="20" dirty="0"/>
              <a:t> </a:t>
            </a:r>
            <a:r>
              <a:rPr spc="120" dirty="0"/>
              <a:t>/</a:t>
            </a:r>
            <a:r>
              <a:rPr spc="25" dirty="0"/>
              <a:t> </a:t>
            </a:r>
            <a:r>
              <a:rPr spc="-25" dirty="0"/>
              <a:t>41</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60908" y="-13844"/>
            <a:ext cx="5060340" cy="663359"/>
          </a:xfrm>
          <a:prstGeom prst="rect">
            <a:avLst/>
          </a:prstGeom>
        </p:spPr>
        <p:txBody>
          <a:bodyPr wrap="square" lIns="0" tIns="0" rIns="0" bIns="0">
            <a:spAutoFit/>
          </a:bodyPr>
          <a:lstStyle>
            <a:lvl1pPr>
              <a:defRPr sz="1400" b="1" i="0">
                <a:solidFill>
                  <a:srgbClr val="202429"/>
                </a:solidFill>
                <a:latin typeface="Arial"/>
                <a:cs typeface="Arial"/>
              </a:defRPr>
            </a:lvl1pPr>
          </a:lstStyle>
          <a:p>
            <a:endParaRPr/>
          </a:p>
        </p:txBody>
      </p:sp>
      <p:sp>
        <p:nvSpPr>
          <p:cNvPr id="3" name="Holder 3"/>
          <p:cNvSpPr>
            <a:spLocks noGrp="1"/>
          </p:cNvSpPr>
          <p:nvPr>
            <p:ph type="body" idx="1"/>
          </p:nvPr>
        </p:nvSpPr>
        <p:spPr>
          <a:xfrm>
            <a:off x="347294" y="750035"/>
            <a:ext cx="5071211" cy="1856739"/>
          </a:xfrm>
          <a:prstGeom prst="rect">
            <a:avLst/>
          </a:prstGeom>
        </p:spPr>
        <p:txBody>
          <a:bodyPr wrap="square" lIns="0" tIns="0" rIns="0" bIns="0">
            <a:spAutoFit/>
          </a:bodyPr>
          <a:lstStyle>
            <a:lvl1pPr>
              <a:defRPr sz="800" b="1" i="0">
                <a:solidFill>
                  <a:srgbClr val="202429"/>
                </a:solidFill>
                <a:latin typeface="Arial"/>
                <a:cs typeface="Arial"/>
              </a:defRPr>
            </a:lvl1pPr>
          </a:lstStyle>
          <a:p>
            <a:endParaRPr/>
          </a:p>
        </p:txBody>
      </p:sp>
      <p:sp>
        <p:nvSpPr>
          <p:cNvPr id="4" name="Holder 4"/>
          <p:cNvSpPr>
            <a:spLocks noGrp="1"/>
          </p:cNvSpPr>
          <p:nvPr>
            <p:ph type="ftr" sz="quarter" idx="5"/>
          </p:nvPr>
        </p:nvSpPr>
        <p:spPr>
          <a:xfrm>
            <a:off x="70497" y="3034315"/>
            <a:ext cx="1315085" cy="173989"/>
          </a:xfrm>
          <a:prstGeom prst="rect">
            <a:avLst/>
          </a:prstGeom>
        </p:spPr>
        <p:txBody>
          <a:bodyPr wrap="square" lIns="0" tIns="0" rIns="0" bIns="0">
            <a:spAutoFit/>
          </a:bodyPr>
          <a:lstStyle>
            <a:lvl1pPr>
              <a:defRPr sz="800" b="0" i="0">
                <a:solidFill>
                  <a:srgbClr val="6C757C"/>
                </a:solidFill>
                <a:latin typeface="Tahoma"/>
                <a:cs typeface="Tahoma"/>
              </a:defRPr>
            </a:lvl1pPr>
          </a:lstStyle>
          <a:p>
            <a:pPr marL="12700">
              <a:lnSpc>
                <a:spcPct val="100000"/>
              </a:lnSpc>
              <a:spcBef>
                <a:spcPts val="219"/>
              </a:spcBef>
            </a:pPr>
            <a:r>
              <a:rPr spc="-10" dirty="0"/>
              <a:t>Responsible</a:t>
            </a:r>
            <a:r>
              <a:rPr spc="20" dirty="0"/>
              <a:t> </a:t>
            </a:r>
            <a:r>
              <a:rPr dirty="0"/>
              <a:t>AI</a:t>
            </a:r>
            <a:r>
              <a:rPr spc="25" dirty="0"/>
              <a:t> </a:t>
            </a:r>
            <a:r>
              <a:rPr dirty="0"/>
              <a:t>in</a:t>
            </a:r>
            <a:r>
              <a:rPr spc="25" dirty="0"/>
              <a:t> </a:t>
            </a:r>
            <a:r>
              <a:rPr spc="-10" dirty="0"/>
              <a:t>Healthcare</a:t>
            </a:r>
          </a:p>
        </p:txBody>
      </p:sp>
      <p:sp>
        <p:nvSpPr>
          <p:cNvPr id="5" name="Holder 5"/>
          <p:cNvSpPr>
            <a:spLocks noGrp="1"/>
          </p:cNvSpPr>
          <p:nvPr>
            <p:ph type="dt" sz="half" idx="6"/>
          </p:nvPr>
        </p:nvSpPr>
        <p:spPr>
          <a:xfrm>
            <a:off x="288290" y="3017710"/>
            <a:ext cx="1326134" cy="162242"/>
          </a:xfrm>
          <a:prstGeom prst="rect">
            <a:avLst/>
          </a:prstGeom>
        </p:spPr>
        <p:txBody>
          <a:bodyPr wrap="square" lIns="0" tIns="0" rIns="0" bIns="0">
            <a:spAutoFit/>
          </a:bodyPr>
          <a:lstStyle>
            <a:lvl1pPr algn="l">
              <a:defRPr>
                <a:solidFill>
                  <a:schemeClr val="tx1">
                    <a:tint val="75000"/>
                  </a:schemeClr>
                </a:solidFill>
              </a:defRPr>
            </a:lvl1pPr>
          </a:lstStyle>
          <a:p>
            <a:fld id="{9A78AF5C-8D50-4898-8332-5C084A879377}" type="datetime1">
              <a:rPr lang="en-US" smtClean="0"/>
              <a:t>10/14/2026</a:t>
            </a:fld>
            <a:endParaRPr lang="en-US"/>
          </a:p>
        </p:txBody>
      </p:sp>
      <p:sp>
        <p:nvSpPr>
          <p:cNvPr id="6" name="Holder 6"/>
          <p:cNvSpPr>
            <a:spLocks noGrp="1"/>
          </p:cNvSpPr>
          <p:nvPr>
            <p:ph type="sldNum" sz="quarter" idx="7"/>
          </p:nvPr>
        </p:nvSpPr>
        <p:spPr>
          <a:xfrm>
            <a:off x="4857076" y="3028689"/>
            <a:ext cx="464172" cy="123111"/>
          </a:xfrm>
          <a:prstGeom prst="rect">
            <a:avLst/>
          </a:prstGeom>
        </p:spPr>
        <p:txBody>
          <a:bodyPr wrap="square" lIns="0" tIns="0" rIns="0" bIns="0">
            <a:spAutoFit/>
          </a:bodyPr>
          <a:lstStyle>
            <a:lvl1pPr>
              <a:defRPr sz="800" b="0" i="0">
                <a:solidFill>
                  <a:srgbClr val="6C757C"/>
                </a:solidFill>
                <a:latin typeface="Tahoma"/>
                <a:cs typeface="Tahoma"/>
              </a:defRPr>
            </a:lvl1pPr>
          </a:lstStyle>
          <a:p>
            <a:pPr marL="39370">
              <a:lnSpc>
                <a:spcPct val="100000"/>
              </a:lnSpc>
              <a:spcBef>
                <a:spcPts val="219"/>
              </a:spcBef>
            </a:pPr>
            <a:fld id="{81D60167-4931-47E6-BA6A-407CBD079E47}" type="slidenum">
              <a:rPr dirty="0"/>
              <a:t>‹#›</a:t>
            </a:fld>
            <a:r>
              <a:rPr spc="20" dirty="0"/>
              <a:t> </a:t>
            </a:r>
            <a:r>
              <a:rPr spc="120" dirty="0"/>
              <a:t>/</a:t>
            </a:r>
            <a:r>
              <a:rPr spc="25" dirty="0"/>
              <a:t> </a:t>
            </a:r>
            <a:r>
              <a:rPr spc="-25" dirty="0"/>
              <a:t>41</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www.lboro.ac.uk/schools/design-creative-arts/people/patrick-waterson/" TargetMode="External"/><Relationship Id="rId5" Type="http://schemas.openxmlformats.org/officeDocument/2006/relationships/hyperlink" Target="https://cosmos-ai.com/" TargetMode="External"/><Relationship Id="rId4" Type="http://schemas.openxmlformats.org/officeDocument/2006/relationships/hyperlink" Target="mailto:g.cosma@lboro.ac.uk"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improvementacademy.org/resource/yorkshire-contributory-factors-framework/"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mailto:g.cosma@lboro.ac.uk" TargetMode="External"/><Relationship Id="rId2" Type="http://schemas.openxmlformats.org/officeDocument/2006/relationships/notesSlide" Target="../notesSlides/notesSlide38.xml"/><Relationship Id="rId1" Type="http://schemas.openxmlformats.org/officeDocument/2006/relationships/slideLayout" Target="../slideLayouts/slideLayout3.xml"/><Relationship Id="rId6" Type="http://schemas.openxmlformats.org/officeDocument/2006/relationships/hyperlink" Target="https://www.lboro.ac.uk/schools/design-creative-arts/people/patrick-waterson/" TargetMode="External"/><Relationship Id="rId5" Type="http://schemas.openxmlformats.org/officeDocument/2006/relationships/hyperlink" Target="mailto:P.Waterson@lboro.ac.uk" TargetMode="External"/><Relationship Id="rId4" Type="http://schemas.openxmlformats.org/officeDocument/2006/relationships/hyperlink" Target="https://cosmos-ai.com/" TargetMode="Externa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 y="3060059"/>
            <a:ext cx="5760085" cy="180340"/>
          </a:xfrm>
          <a:custGeom>
            <a:avLst/>
            <a:gdLst/>
            <a:ahLst/>
            <a:cxnLst/>
            <a:rect l="l" t="t" r="r" b="b"/>
            <a:pathLst>
              <a:path w="5760085" h="180339">
                <a:moveTo>
                  <a:pt x="0" y="180002"/>
                </a:moveTo>
                <a:lnTo>
                  <a:pt x="0" y="0"/>
                </a:lnTo>
                <a:lnTo>
                  <a:pt x="5760073" y="0"/>
                </a:lnTo>
                <a:lnTo>
                  <a:pt x="5760073" y="180002"/>
                </a:lnTo>
                <a:lnTo>
                  <a:pt x="0" y="180002"/>
                </a:lnTo>
                <a:close/>
              </a:path>
            </a:pathLst>
          </a:custGeom>
          <a:solidFill>
            <a:srgbClr val="005F73"/>
          </a:solidFill>
        </p:spPr>
        <p:txBody>
          <a:bodyPr wrap="square" lIns="0" tIns="0" rIns="0" bIns="0" rtlCol="0"/>
          <a:lstStyle/>
          <a:p>
            <a:endParaRPr/>
          </a:p>
        </p:txBody>
      </p:sp>
      <p:sp>
        <p:nvSpPr>
          <p:cNvPr id="3" name="object 3" descr="$PPTXTitle"/>
          <p:cNvSpPr txBox="1">
            <a:spLocks noGrp="1"/>
          </p:cNvSpPr>
          <p:nvPr>
            <p:ph type="title"/>
          </p:nvPr>
        </p:nvSpPr>
        <p:spPr>
          <a:xfrm>
            <a:off x="977900" y="394388"/>
            <a:ext cx="3904615" cy="1088760"/>
          </a:xfrm>
          <a:prstGeom prst="rect">
            <a:avLst/>
          </a:prstGeom>
        </p:spPr>
        <p:txBody>
          <a:bodyPr vert="horz" wrap="square" lIns="0" tIns="11430" rIns="0" bIns="0" rtlCol="0">
            <a:spAutoFit/>
          </a:bodyPr>
          <a:lstStyle/>
          <a:p>
            <a:pPr marL="12700" algn="ctr">
              <a:lnSpc>
                <a:spcPct val="100000"/>
              </a:lnSpc>
              <a:spcBef>
                <a:spcPts val="90"/>
              </a:spcBef>
            </a:pPr>
            <a:r>
              <a:rPr lang="en-GB" dirty="0"/>
              <a:t>Extracting Safety Intelligence from Healthcare Incident Reports: </a:t>
            </a:r>
            <a:br>
              <a:rPr lang="en-GB" dirty="0"/>
            </a:br>
            <a:br>
              <a:rPr lang="en-GB" dirty="0"/>
            </a:br>
            <a:r>
              <a:rPr lang="en-GB" dirty="0"/>
              <a:t>Combining Human Factors and </a:t>
            </a:r>
            <a:br>
              <a:rPr lang="en-GB" dirty="0"/>
            </a:br>
            <a:r>
              <a:rPr lang="en-GB" dirty="0"/>
              <a:t>Artificial Intelligence</a:t>
            </a:r>
            <a:endParaRPr sz="1800" dirty="0"/>
          </a:p>
        </p:txBody>
      </p:sp>
      <p:sp>
        <p:nvSpPr>
          <p:cNvPr id="5" name="object 5"/>
          <p:cNvSpPr/>
          <p:nvPr/>
        </p:nvSpPr>
        <p:spPr>
          <a:xfrm>
            <a:off x="2146388" y="1698625"/>
            <a:ext cx="1440180" cy="0"/>
          </a:xfrm>
          <a:custGeom>
            <a:avLst/>
            <a:gdLst/>
            <a:ahLst/>
            <a:cxnLst/>
            <a:rect l="l" t="t" r="r" b="b"/>
            <a:pathLst>
              <a:path w="1440179">
                <a:moveTo>
                  <a:pt x="0" y="0"/>
                </a:moveTo>
                <a:lnTo>
                  <a:pt x="1440002" y="0"/>
                </a:lnTo>
              </a:path>
            </a:pathLst>
          </a:custGeom>
          <a:ln w="25304">
            <a:solidFill>
              <a:srgbClr val="005F73"/>
            </a:solidFill>
          </a:ln>
        </p:spPr>
        <p:txBody>
          <a:bodyPr wrap="square" lIns="0" tIns="0" rIns="0" bIns="0" rtlCol="0"/>
          <a:lstStyle/>
          <a:p>
            <a:endParaRPr/>
          </a:p>
        </p:txBody>
      </p:sp>
      <p:sp>
        <p:nvSpPr>
          <p:cNvPr id="6" name="object 6"/>
          <p:cNvSpPr txBox="1"/>
          <p:nvPr/>
        </p:nvSpPr>
        <p:spPr>
          <a:xfrm>
            <a:off x="1660022" y="2146719"/>
            <a:ext cx="2412912" cy="618246"/>
          </a:xfrm>
          <a:prstGeom prst="rect">
            <a:avLst/>
          </a:prstGeom>
        </p:spPr>
        <p:txBody>
          <a:bodyPr vert="horz" wrap="square" lIns="0" tIns="6350" rIns="0" bIns="0" rtlCol="0">
            <a:spAutoFit/>
          </a:bodyPr>
          <a:lstStyle/>
          <a:p>
            <a:pPr marL="12700" marR="5080" indent="-635" algn="ctr">
              <a:lnSpc>
                <a:spcPct val="121500"/>
              </a:lnSpc>
              <a:spcBef>
                <a:spcPts val="50"/>
              </a:spcBef>
            </a:pPr>
            <a:r>
              <a:rPr lang="en-GB" sz="1200" b="1" spc="-50" dirty="0">
                <a:solidFill>
                  <a:srgbClr val="202429"/>
                </a:solidFill>
                <a:latin typeface="Arial"/>
                <a:cs typeface="Arial"/>
              </a:rPr>
              <a:t>Professor </a:t>
            </a:r>
            <a:r>
              <a:rPr sz="1200" b="1" spc="-50" dirty="0">
                <a:solidFill>
                  <a:srgbClr val="202429"/>
                </a:solidFill>
                <a:latin typeface="Arial"/>
                <a:cs typeface="Arial"/>
              </a:rPr>
              <a:t>Georgina</a:t>
            </a:r>
            <a:r>
              <a:rPr sz="1200" b="1" spc="10" dirty="0">
                <a:solidFill>
                  <a:srgbClr val="202429"/>
                </a:solidFill>
                <a:latin typeface="Arial"/>
                <a:cs typeface="Arial"/>
              </a:rPr>
              <a:t> </a:t>
            </a:r>
            <a:r>
              <a:rPr sz="1200" b="1" spc="-10" dirty="0">
                <a:solidFill>
                  <a:srgbClr val="202429"/>
                </a:solidFill>
                <a:latin typeface="Arial"/>
                <a:cs typeface="Arial"/>
              </a:rPr>
              <a:t>Cosma </a:t>
            </a:r>
            <a:r>
              <a:rPr sz="1100" spc="-50" dirty="0">
                <a:solidFill>
                  <a:srgbClr val="6C757C"/>
                </a:solidFill>
                <a:latin typeface="Tahoma"/>
                <a:cs typeface="Tahoma"/>
              </a:rPr>
              <a:t>Loughborough</a:t>
            </a:r>
            <a:r>
              <a:rPr sz="1100" spc="-5" dirty="0">
                <a:solidFill>
                  <a:srgbClr val="6C757C"/>
                </a:solidFill>
                <a:latin typeface="Tahoma"/>
                <a:cs typeface="Tahoma"/>
              </a:rPr>
              <a:t> </a:t>
            </a:r>
            <a:r>
              <a:rPr sz="1100" spc="-30" dirty="0">
                <a:solidFill>
                  <a:srgbClr val="6C757C"/>
                </a:solidFill>
                <a:latin typeface="Tahoma"/>
                <a:cs typeface="Tahoma"/>
              </a:rPr>
              <a:t>University </a:t>
            </a:r>
            <a:endParaRPr lang="en-GB" sz="1100" spc="-30" dirty="0">
              <a:solidFill>
                <a:srgbClr val="6C757C"/>
              </a:solidFill>
              <a:latin typeface="Tahoma"/>
              <a:cs typeface="Tahoma"/>
            </a:endParaRPr>
          </a:p>
          <a:p>
            <a:pPr marL="12700" marR="5080" indent="-635" algn="ctr">
              <a:lnSpc>
                <a:spcPct val="121500"/>
              </a:lnSpc>
              <a:spcBef>
                <a:spcPts val="50"/>
              </a:spcBef>
            </a:pPr>
            <a:r>
              <a:rPr sz="1000" spc="-20" dirty="0">
                <a:solidFill>
                  <a:srgbClr val="6C757C"/>
                </a:solidFill>
                <a:latin typeface="Tahoma"/>
                <a:cs typeface="Tahoma"/>
              </a:rPr>
              <a:t>14 October 2026</a:t>
            </a:r>
            <a:endParaRPr sz="1000" dirty="0">
              <a:latin typeface="Tahoma"/>
              <a:cs typeface="Tahoma"/>
            </a:endParaRPr>
          </a:p>
        </p:txBody>
      </p:sp>
      <p:sp>
        <p:nvSpPr>
          <p:cNvPr id="7" name="Slide Number Placeholder 6">
            <a:extLst>
              <a:ext uri="{FF2B5EF4-FFF2-40B4-BE49-F238E27FC236}">
                <a16:creationId xmlns:a16="http://schemas.microsoft.com/office/drawing/2014/main" id="{0739E363-4733-611E-3F72-B8E9189B1F8B}"/>
              </a:ext>
            </a:extLst>
          </p:cNvPr>
          <p:cNvSpPr>
            <a:spLocks noGrp="1"/>
          </p:cNvSpPr>
          <p:nvPr>
            <p:ph type="sldNum" sz="quarter" idx="7"/>
          </p:nvPr>
        </p:nvSpPr>
        <p:spPr>
          <a:xfrm>
            <a:off x="5203497" y="3070861"/>
            <a:ext cx="548640" cy="173989"/>
          </a:xfrm>
        </p:spPr>
        <p:txBody>
          <a:bodyPr/>
          <a:lstStyle/>
          <a:p>
            <a:pPr marL="39370">
              <a:lnSpc>
                <a:spcPct val="100000"/>
              </a:lnSpc>
              <a:spcBef>
                <a:spcPts val="219"/>
              </a:spcBef>
            </a:pPr>
            <a:fld id="{81D60167-4931-47E6-BA6A-407CBD079E47}" type="slidenum">
              <a:rPr lang="en-GB" smtClean="0"/>
              <a:t>1</a:t>
            </a:fld>
            <a:r>
              <a:rPr lang="en-GB" spc="20" dirty="0"/>
              <a:t> </a:t>
            </a:r>
            <a:r>
              <a:rPr lang="en-GB" spc="120" dirty="0"/>
              <a:t>/</a:t>
            </a:r>
            <a:r>
              <a:rPr lang="en-GB" spc="25" dirty="0"/>
              <a:t> </a:t>
            </a:r>
            <a:r>
              <a:rPr lang="en-GB" spc="-25" dirty="0"/>
              <a:t>39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80757" rIns="0" bIns="0" rtlCol="0">
            <a:spAutoFit/>
          </a:bodyPr>
          <a:lstStyle/>
          <a:p>
            <a:pPr marL="99060">
              <a:lnSpc>
                <a:spcPct val="100000"/>
              </a:lnSpc>
              <a:spcBef>
                <a:spcPts val="135"/>
              </a:spcBef>
            </a:pPr>
            <a:r>
              <a:rPr dirty="0"/>
              <a:t>About</a:t>
            </a:r>
            <a:r>
              <a:rPr spc="155" dirty="0"/>
              <a:t> </a:t>
            </a:r>
            <a:r>
              <a:rPr spc="70" dirty="0"/>
              <a:t>Me</a:t>
            </a:r>
          </a:p>
        </p:txBody>
      </p:sp>
      <p:sp>
        <p:nvSpPr>
          <p:cNvPr id="3" name="object 3"/>
          <p:cNvSpPr/>
          <p:nvPr/>
        </p:nvSpPr>
        <p:spPr>
          <a:xfrm>
            <a:off x="359994" y="548817"/>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pic>
        <p:nvPicPr>
          <p:cNvPr id="4" name="object 4"/>
          <p:cNvPicPr/>
          <p:nvPr/>
        </p:nvPicPr>
        <p:blipFill>
          <a:blip r:embed="rId3" cstate="print"/>
          <a:stretch>
            <a:fillRect/>
          </a:stretch>
        </p:blipFill>
        <p:spPr>
          <a:xfrm>
            <a:off x="1108798" y="555625"/>
            <a:ext cx="1240698" cy="1063459"/>
          </a:xfrm>
          <a:prstGeom prst="rect">
            <a:avLst/>
          </a:prstGeom>
          <a:ln>
            <a:noFill/>
          </a:ln>
          <a:effectLst>
            <a:outerShdw blurRad="292100" dist="139700" dir="2700000" algn="tl" rotWithShape="0">
              <a:srgbClr val="333333">
                <a:alpha val="65000"/>
              </a:srgbClr>
            </a:outerShdw>
          </a:effectLst>
        </p:spPr>
      </p:pic>
      <p:sp>
        <p:nvSpPr>
          <p:cNvPr id="5" name="object 5"/>
          <p:cNvSpPr txBox="1"/>
          <p:nvPr/>
        </p:nvSpPr>
        <p:spPr>
          <a:xfrm>
            <a:off x="242798" y="1656489"/>
            <a:ext cx="2595880" cy="1140056"/>
          </a:xfrm>
          <a:prstGeom prst="rect">
            <a:avLst/>
          </a:prstGeom>
        </p:spPr>
        <p:txBody>
          <a:bodyPr vert="horz" wrap="square" lIns="0" tIns="11430" rIns="0" bIns="0" rtlCol="0">
            <a:spAutoFit/>
          </a:bodyPr>
          <a:lstStyle/>
          <a:p>
            <a:pPr marL="635" algn="ctr">
              <a:lnSpc>
                <a:spcPct val="100000"/>
              </a:lnSpc>
              <a:spcBef>
                <a:spcPts val="90"/>
              </a:spcBef>
            </a:pPr>
            <a:r>
              <a:rPr sz="2200" b="1" spc="-85" dirty="0">
                <a:solidFill>
                  <a:srgbClr val="202429"/>
                </a:solidFill>
                <a:latin typeface="Arial"/>
                <a:cs typeface="Arial"/>
              </a:rPr>
              <a:t>Georgina</a:t>
            </a:r>
            <a:r>
              <a:rPr sz="2200" b="1" spc="-20" dirty="0">
                <a:solidFill>
                  <a:srgbClr val="202429"/>
                </a:solidFill>
                <a:latin typeface="Arial"/>
                <a:cs typeface="Arial"/>
              </a:rPr>
              <a:t> </a:t>
            </a:r>
            <a:r>
              <a:rPr sz="2200" b="1" spc="-10" dirty="0">
                <a:solidFill>
                  <a:srgbClr val="202429"/>
                </a:solidFill>
                <a:latin typeface="Arial"/>
                <a:cs typeface="Arial"/>
              </a:rPr>
              <a:t>Cosma</a:t>
            </a:r>
            <a:endParaRPr sz="2200" dirty="0">
              <a:latin typeface="Arial"/>
              <a:cs typeface="Arial"/>
            </a:endParaRPr>
          </a:p>
          <a:p>
            <a:pPr algn="ctr">
              <a:lnSpc>
                <a:spcPct val="100000"/>
              </a:lnSpc>
            </a:pPr>
            <a:r>
              <a:rPr sz="800" spc="-60" dirty="0">
                <a:solidFill>
                  <a:schemeClr val="tx1"/>
                </a:solidFill>
                <a:latin typeface="Tahoma" panose="020B0604030504040204" pitchFamily="34" charset="0"/>
                <a:ea typeface="Tahoma" panose="020B0604030504040204" pitchFamily="34" charset="0"/>
                <a:cs typeface="Tahoma" panose="020B0604030504040204" pitchFamily="34" charset="0"/>
              </a:rPr>
              <a:t>Professor</a:t>
            </a:r>
            <a:r>
              <a:rPr sz="800" spc="-35"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sz="800" dirty="0">
                <a:solidFill>
                  <a:schemeClr val="tx1"/>
                </a:solidFill>
                <a:latin typeface="Tahoma" panose="020B0604030504040204" pitchFamily="34" charset="0"/>
                <a:ea typeface="Tahoma" panose="020B0604030504040204" pitchFamily="34" charset="0"/>
                <a:cs typeface="Tahoma" panose="020B0604030504040204" pitchFamily="34" charset="0"/>
              </a:rPr>
              <a:t>of</a:t>
            </a:r>
            <a:r>
              <a:rPr sz="800" spc="-6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sz="800" dirty="0">
                <a:solidFill>
                  <a:schemeClr val="tx1"/>
                </a:solidFill>
                <a:latin typeface="Tahoma" panose="020B0604030504040204" pitchFamily="34" charset="0"/>
                <a:ea typeface="Tahoma" panose="020B0604030504040204" pitchFamily="34" charset="0"/>
                <a:cs typeface="Tahoma" panose="020B0604030504040204" pitchFamily="34" charset="0"/>
              </a:rPr>
              <a:t>AI</a:t>
            </a:r>
            <a:r>
              <a:rPr sz="800" spc="-45"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sz="800" spc="70" dirty="0">
                <a:solidFill>
                  <a:schemeClr val="tx1"/>
                </a:solidFill>
                <a:latin typeface="Tahoma" panose="020B0604030504040204" pitchFamily="34" charset="0"/>
                <a:ea typeface="Tahoma" panose="020B0604030504040204" pitchFamily="34" charset="0"/>
                <a:cs typeface="Tahoma" panose="020B0604030504040204" pitchFamily="34" charset="0"/>
              </a:rPr>
              <a:t>&amp;</a:t>
            </a:r>
            <a:r>
              <a:rPr sz="800" spc="-4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sz="800" spc="-10" dirty="0">
                <a:solidFill>
                  <a:schemeClr val="tx1"/>
                </a:solidFill>
                <a:latin typeface="Tahoma" panose="020B0604030504040204" pitchFamily="34" charset="0"/>
                <a:ea typeface="Tahoma" panose="020B0604030504040204" pitchFamily="34" charset="0"/>
                <a:cs typeface="Tahoma" panose="020B0604030504040204" pitchFamily="34" charset="0"/>
              </a:rPr>
              <a:t>Data</a:t>
            </a:r>
            <a:r>
              <a:rPr sz="800" spc="-5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sz="800" spc="-10" dirty="0">
                <a:solidFill>
                  <a:schemeClr val="tx1"/>
                </a:solidFill>
                <a:latin typeface="Tahoma" panose="020B0604030504040204" pitchFamily="34" charset="0"/>
                <a:ea typeface="Tahoma" panose="020B0604030504040204" pitchFamily="34" charset="0"/>
                <a:cs typeface="Tahoma" panose="020B0604030504040204" pitchFamily="34" charset="0"/>
              </a:rPr>
              <a:t>Science</a:t>
            </a:r>
            <a:endParaRPr sz="8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ctr">
              <a:lnSpc>
                <a:spcPct val="100000"/>
              </a:lnSpc>
            </a:pPr>
            <a:r>
              <a:rPr sz="800" spc="-35" dirty="0">
                <a:solidFill>
                  <a:schemeClr val="tx1"/>
                </a:solidFill>
                <a:latin typeface="Tahoma" panose="020B0604030504040204" pitchFamily="34" charset="0"/>
                <a:ea typeface="Tahoma" panose="020B0604030504040204" pitchFamily="34" charset="0"/>
                <a:cs typeface="Tahoma" panose="020B0604030504040204" pitchFamily="34" charset="0"/>
              </a:rPr>
              <a:t>Computer</a:t>
            </a:r>
            <a:r>
              <a:rPr sz="800" spc="-15"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sz="800" spc="-40" dirty="0">
                <a:solidFill>
                  <a:schemeClr val="tx1"/>
                </a:solidFill>
                <a:latin typeface="Tahoma" panose="020B0604030504040204" pitchFamily="34" charset="0"/>
                <a:ea typeface="Tahoma" panose="020B0604030504040204" pitchFamily="34" charset="0"/>
                <a:cs typeface="Tahoma" panose="020B0604030504040204" pitchFamily="34" charset="0"/>
              </a:rPr>
              <a:t>Science</a:t>
            </a:r>
            <a:endParaRPr lang="en-GB" sz="800" spc="-4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ctr">
              <a:lnSpc>
                <a:spcPct val="100000"/>
              </a:lnSpc>
            </a:pPr>
            <a:r>
              <a:rPr sz="800" spc="-15"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sz="800" spc="-50" dirty="0">
                <a:solidFill>
                  <a:schemeClr val="tx1"/>
                </a:solidFill>
                <a:latin typeface="Tahoma" panose="020B0604030504040204" pitchFamily="34" charset="0"/>
                <a:ea typeface="Tahoma" panose="020B0604030504040204" pitchFamily="34" charset="0"/>
                <a:cs typeface="Tahoma" panose="020B0604030504040204" pitchFamily="34" charset="0"/>
              </a:rPr>
              <a:t>Loughborough</a:t>
            </a:r>
            <a:r>
              <a:rPr sz="800" spc="-15"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sz="800" spc="-10" dirty="0">
                <a:solidFill>
                  <a:schemeClr val="tx1"/>
                </a:solidFill>
                <a:latin typeface="Tahoma" panose="020B0604030504040204" pitchFamily="34" charset="0"/>
                <a:ea typeface="Tahoma" panose="020B0604030504040204" pitchFamily="34" charset="0"/>
                <a:cs typeface="Tahoma" panose="020B0604030504040204" pitchFamily="34" charset="0"/>
              </a:rPr>
              <a:t>University</a:t>
            </a:r>
            <a:endParaRPr sz="8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ctr">
              <a:lnSpc>
                <a:spcPct val="100000"/>
              </a:lnSpc>
            </a:pPr>
            <a:r>
              <a:rPr sz="800" spc="-10" dirty="0">
                <a:solidFill>
                  <a:schemeClr val="tx1"/>
                </a:solidFill>
                <a:latin typeface="Tahoma" panose="020B0604030504040204" pitchFamily="34" charset="0"/>
                <a:ea typeface="Tahoma" panose="020B0604030504040204" pitchFamily="34" charset="0"/>
                <a:cs typeface="Tahoma" panose="020B0604030504040204" pitchFamily="34" charset="0"/>
                <a:hlinkClick r:id="rId4">
                  <a:extLst>
                    <a:ext uri="{A12FA001-AC4F-418D-AE19-62706E023703}">
                      <ahyp:hlinkClr xmlns:ahyp="http://schemas.microsoft.com/office/drawing/2018/hyperlinkcolor" val="tx"/>
                    </a:ext>
                  </a:extLst>
                </a:hlinkClick>
              </a:rPr>
              <a:t>g.cosma@lboro.ac.uk</a:t>
            </a:r>
            <a:r>
              <a:rPr lang="en-GB" sz="800" spc="-10" dirty="0">
                <a:solidFill>
                  <a:schemeClr val="tx1"/>
                </a:solidFill>
                <a:latin typeface="Tahoma" panose="020B0604030504040204" pitchFamily="34" charset="0"/>
                <a:ea typeface="Tahoma" panose="020B0604030504040204" pitchFamily="34" charset="0"/>
                <a:cs typeface="Tahoma" panose="020B0604030504040204" pitchFamily="34" charset="0"/>
              </a:rPr>
              <a:t> </a:t>
            </a:r>
          </a:p>
          <a:p>
            <a:pPr algn="ctr">
              <a:lnSpc>
                <a:spcPct val="100000"/>
              </a:lnSpc>
            </a:pPr>
            <a:endParaRPr sz="8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ctr">
              <a:lnSpc>
                <a:spcPct val="100000"/>
              </a:lnSpc>
              <a:spcBef>
                <a:spcPts val="375"/>
              </a:spcBef>
            </a:pPr>
            <a:r>
              <a:rPr sz="800" spc="70" dirty="0">
                <a:solidFill>
                  <a:srgbClr val="0000FF"/>
                </a:solidFill>
                <a:latin typeface="Tahoma" panose="020B0604030504040204" pitchFamily="34" charset="0"/>
                <a:ea typeface="Tahoma" panose="020B0604030504040204" pitchFamily="34" charset="0"/>
                <a:cs typeface="Tahoma" panose="020B0604030504040204" pitchFamily="34" charset="0"/>
                <a:hlinkClick r:id="rId5">
                  <a:extLst>
                    <a:ext uri="{A12FA001-AC4F-418D-AE19-62706E023703}">
                      <ahyp:hlinkClr xmlns:ahyp="http://schemas.microsoft.com/office/drawing/2018/hyperlinkcolor" val="tx"/>
                    </a:ext>
                  </a:extLst>
                </a:hlinkClick>
              </a:rPr>
              <a:t>https://cosmos-</a:t>
            </a:r>
            <a:r>
              <a:rPr sz="800" spc="45" dirty="0">
                <a:solidFill>
                  <a:schemeClr val="tx1"/>
                </a:solidFill>
                <a:latin typeface="Tahoma" panose="020B0604030504040204" pitchFamily="34" charset="0"/>
                <a:ea typeface="Tahoma" panose="020B0604030504040204" pitchFamily="34" charset="0"/>
                <a:cs typeface="Tahoma" panose="020B0604030504040204" pitchFamily="34" charset="0"/>
                <a:hlinkClick r:id="rId5">
                  <a:extLst>
                    <a:ext uri="{A12FA001-AC4F-418D-AE19-62706E023703}">
                      <ahyp:hlinkClr xmlns:ahyp="http://schemas.microsoft.com/office/drawing/2018/hyperlinkcolor" val="tx"/>
                    </a:ext>
                  </a:extLst>
                </a:hlinkClick>
              </a:rPr>
              <a:t>ai.com/</a:t>
            </a:r>
            <a:endParaRPr sz="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6" name="object 6"/>
          <p:cNvSpPr/>
          <p:nvPr/>
        </p:nvSpPr>
        <p:spPr>
          <a:xfrm>
            <a:off x="3132010" y="912342"/>
            <a:ext cx="0" cy="1800225"/>
          </a:xfrm>
          <a:custGeom>
            <a:avLst/>
            <a:gdLst/>
            <a:ahLst/>
            <a:cxnLst/>
            <a:rect l="l" t="t" r="r" b="b"/>
            <a:pathLst>
              <a:path h="1800225">
                <a:moveTo>
                  <a:pt x="0" y="1799996"/>
                </a:moveTo>
                <a:lnTo>
                  <a:pt x="0" y="0"/>
                </a:lnTo>
              </a:path>
            </a:pathLst>
          </a:custGeom>
          <a:ln w="6325">
            <a:solidFill>
              <a:srgbClr val="CED3DA"/>
            </a:solidFill>
          </a:ln>
        </p:spPr>
        <p:txBody>
          <a:bodyPr wrap="square" lIns="0" tIns="0" rIns="0" bIns="0" rtlCol="0"/>
          <a:lstStyle/>
          <a:p>
            <a:endParaRPr/>
          </a:p>
        </p:txBody>
      </p:sp>
      <p:sp>
        <p:nvSpPr>
          <p:cNvPr id="8" name="object 8"/>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1" name="Slide Number Placeholder 10">
            <a:extLst>
              <a:ext uri="{FF2B5EF4-FFF2-40B4-BE49-F238E27FC236}">
                <a16:creationId xmlns:a16="http://schemas.microsoft.com/office/drawing/2014/main" id="{58710A4D-5CD3-8D1F-0B12-4F640CC7BB06}"/>
              </a:ext>
            </a:extLst>
          </p:cNvPr>
          <p:cNvSpPr>
            <a:spLocks noGrp="1"/>
          </p:cNvSpPr>
          <p:nvPr>
            <p:ph type="sldNum" sz="quarter" idx="7"/>
          </p:nvPr>
        </p:nvSpPr>
        <p:spPr>
          <a:xfrm>
            <a:off x="5217160" y="3060028"/>
            <a:ext cx="548640" cy="173989"/>
          </a:xfrm>
        </p:spPr>
        <p:txBody>
          <a:bodyPr/>
          <a:lstStyle/>
          <a:p>
            <a:pPr marL="39370">
              <a:lnSpc>
                <a:spcPct val="100000"/>
              </a:lnSpc>
              <a:spcBef>
                <a:spcPts val="219"/>
              </a:spcBef>
            </a:pPr>
            <a:fld id="{81D60167-4931-47E6-BA6A-407CBD079E47}" type="slidenum">
              <a:rPr lang="en-GB" smtClean="0"/>
              <a:t>2</a:t>
            </a:fld>
            <a:r>
              <a:rPr lang="en-GB" spc="20" dirty="0"/>
              <a:t> </a:t>
            </a:r>
            <a:r>
              <a:rPr lang="en-GB" spc="120" dirty="0"/>
              <a:t>/</a:t>
            </a:r>
            <a:r>
              <a:rPr lang="en-GB" spc="25" dirty="0"/>
              <a:t> </a:t>
            </a:r>
            <a:r>
              <a:rPr lang="en-GB" spc="-25" dirty="0"/>
              <a:t>39</a:t>
            </a:r>
          </a:p>
        </p:txBody>
      </p:sp>
      <p:sp>
        <p:nvSpPr>
          <p:cNvPr id="10" name="TextBox 9">
            <a:extLst>
              <a:ext uri="{FF2B5EF4-FFF2-40B4-BE49-F238E27FC236}">
                <a16:creationId xmlns:a16="http://schemas.microsoft.com/office/drawing/2014/main" id="{E4A64A42-5215-D184-70F6-BB09C9E41A53}"/>
              </a:ext>
            </a:extLst>
          </p:cNvPr>
          <p:cNvSpPr txBox="1"/>
          <p:nvPr/>
        </p:nvSpPr>
        <p:spPr>
          <a:xfrm>
            <a:off x="3126295" y="1656489"/>
            <a:ext cx="2595879" cy="1292662"/>
          </a:xfrm>
          <a:prstGeom prst="rect">
            <a:avLst/>
          </a:prstGeom>
          <a:noFill/>
        </p:spPr>
        <p:txBody>
          <a:bodyPr wrap="square">
            <a:spAutoFit/>
          </a:bodyPr>
          <a:lstStyle/>
          <a:p>
            <a:pPr algn="l"/>
            <a:r>
              <a:rPr lang="en-GB" sz="2200" b="1" spc="-50" dirty="0">
                <a:solidFill>
                  <a:srgbClr val="202429"/>
                </a:solidFill>
                <a:latin typeface="Arial"/>
                <a:cs typeface="Arial"/>
              </a:rPr>
              <a:t>Patrick Waterson</a:t>
            </a:r>
          </a:p>
          <a:p>
            <a:pPr algn="ctr"/>
            <a:r>
              <a:rPr lang="en-GB" sz="800" dirty="0"/>
              <a:t>Professor of Human Factors and Complex Systems</a:t>
            </a:r>
          </a:p>
          <a:p>
            <a:pPr algn="ctr"/>
            <a:r>
              <a:rPr lang="en-GB" sz="800" dirty="0"/>
              <a:t>School of Design and Creative Arts</a:t>
            </a:r>
          </a:p>
          <a:p>
            <a:pPr algn="ctr"/>
            <a:r>
              <a:rPr lang="en-GB" sz="800" spc="-45" dirty="0">
                <a:solidFill>
                  <a:schemeClr val="tx1"/>
                </a:solidFill>
                <a:latin typeface="Tahoma"/>
                <a:cs typeface="Tahoma"/>
              </a:rPr>
              <a:t>Loughborough</a:t>
            </a:r>
            <a:r>
              <a:rPr lang="en-GB" sz="800" spc="30" dirty="0">
                <a:solidFill>
                  <a:schemeClr val="tx1"/>
                </a:solidFill>
                <a:latin typeface="Tahoma"/>
                <a:cs typeface="Tahoma"/>
              </a:rPr>
              <a:t> </a:t>
            </a:r>
            <a:r>
              <a:rPr lang="en-GB" sz="800" spc="-10" dirty="0">
                <a:solidFill>
                  <a:schemeClr val="tx1"/>
                </a:solidFill>
                <a:latin typeface="Tahoma"/>
                <a:cs typeface="Tahoma"/>
              </a:rPr>
              <a:t>University</a:t>
            </a:r>
          </a:p>
          <a:p>
            <a:pPr marR="372745" algn="ctr"/>
            <a:r>
              <a:rPr lang="en-GB" sz="800" spc="-10" dirty="0">
                <a:solidFill>
                  <a:schemeClr val="tx1"/>
                </a:solidFill>
                <a:latin typeface="Tahoma"/>
                <a:cs typeface="Tahoma"/>
              </a:rPr>
              <a:t>P.Waterson@lboro.ac.uk </a:t>
            </a:r>
          </a:p>
          <a:p>
            <a:pPr marR="372745" algn="l"/>
            <a:endParaRPr lang="en-GB" sz="800" spc="-10" dirty="0">
              <a:solidFill>
                <a:srgbClr val="6C757C"/>
              </a:solidFill>
              <a:latin typeface="Tahoma"/>
              <a:cs typeface="Tahoma"/>
            </a:endParaRPr>
          </a:p>
          <a:p>
            <a:pPr marR="372745" algn="l"/>
            <a:r>
              <a:rPr lang="en-GB" sz="800" spc="-10" dirty="0">
                <a:solidFill>
                  <a:srgbClr val="6C757C"/>
                </a:solidFill>
                <a:latin typeface="Tahoma"/>
                <a:cs typeface="Tahoma"/>
                <a:hlinkClick r:id="rId6"/>
              </a:rPr>
              <a:t>https://www.lboro.ac.uk/schools/design-creative-arts/people/patrick-waterson/</a:t>
            </a:r>
            <a:r>
              <a:rPr lang="en-GB" sz="800" spc="-10" dirty="0">
                <a:solidFill>
                  <a:srgbClr val="6C757C"/>
                </a:solidFill>
                <a:latin typeface="Tahoma"/>
                <a:cs typeface="Tahoma"/>
              </a:rPr>
              <a:t> </a:t>
            </a:r>
            <a:endParaRPr lang="en-GB" sz="800" dirty="0">
              <a:latin typeface="Tahoma"/>
              <a:cs typeface="Tahoma"/>
            </a:endParaRPr>
          </a:p>
        </p:txBody>
      </p:sp>
      <p:pic>
        <p:nvPicPr>
          <p:cNvPr id="12" name="Picture 11">
            <a:extLst>
              <a:ext uri="{FF2B5EF4-FFF2-40B4-BE49-F238E27FC236}">
                <a16:creationId xmlns:a16="http://schemas.microsoft.com/office/drawing/2014/main" id="{2546281E-0CCB-D262-3508-513930696774}"/>
              </a:ext>
            </a:extLst>
          </p:cNvPr>
          <p:cNvPicPr>
            <a:picLocks noChangeAspect="1"/>
          </p:cNvPicPr>
          <p:nvPr/>
        </p:nvPicPr>
        <p:blipFill>
          <a:blip r:embed="rId7"/>
          <a:srcRect t="8507"/>
          <a:stretch>
            <a:fillRect/>
          </a:stretch>
        </p:blipFill>
        <p:spPr>
          <a:xfrm>
            <a:off x="3745283" y="532363"/>
            <a:ext cx="1244935" cy="1109981"/>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47294" y="88046"/>
            <a:ext cx="2496185" cy="244475"/>
          </a:xfrm>
          <a:prstGeom prst="rect">
            <a:avLst/>
          </a:prstGeom>
        </p:spPr>
        <p:txBody>
          <a:bodyPr vert="horz" wrap="square" lIns="0" tIns="17145" rIns="0" bIns="0" rtlCol="0">
            <a:spAutoFit/>
          </a:bodyPr>
          <a:lstStyle/>
          <a:p>
            <a:pPr marL="12700">
              <a:lnSpc>
                <a:spcPct val="100000"/>
              </a:lnSpc>
              <a:spcBef>
                <a:spcPts val="135"/>
              </a:spcBef>
            </a:pPr>
            <a:r>
              <a:rPr dirty="0"/>
              <a:t>Our</a:t>
            </a:r>
            <a:r>
              <a:rPr spc="145" dirty="0"/>
              <a:t> </a:t>
            </a:r>
            <a:r>
              <a:rPr dirty="0"/>
              <a:t>Partner:</a:t>
            </a:r>
            <a:r>
              <a:rPr spc="325" dirty="0"/>
              <a:t> </a:t>
            </a:r>
            <a:r>
              <a:rPr dirty="0"/>
              <a:t>HSIB</a:t>
            </a:r>
            <a:r>
              <a:rPr spc="155" dirty="0"/>
              <a:t> </a:t>
            </a:r>
            <a:r>
              <a:rPr b="0" i="1" dirty="0">
                <a:latin typeface="Times New Roman"/>
                <a:cs typeface="Times New Roman"/>
              </a:rPr>
              <a:t>→</a:t>
            </a:r>
            <a:r>
              <a:rPr b="0" i="1" spc="190" dirty="0">
                <a:latin typeface="Times New Roman"/>
                <a:cs typeface="Times New Roman"/>
              </a:rPr>
              <a:t> </a:t>
            </a:r>
            <a:r>
              <a:rPr spc="-10" dirty="0"/>
              <a:t>HSSIB</a:t>
            </a:r>
          </a:p>
        </p:txBody>
      </p:sp>
      <p:sp>
        <p:nvSpPr>
          <p:cNvPr id="3" name="object 3"/>
          <p:cNvSpPr/>
          <p:nvPr/>
        </p:nvSpPr>
        <p:spPr>
          <a:xfrm>
            <a:off x="359994" y="487083"/>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sp>
        <p:nvSpPr>
          <p:cNvPr id="4" name="object 4"/>
          <p:cNvSpPr txBox="1"/>
          <p:nvPr/>
        </p:nvSpPr>
        <p:spPr>
          <a:xfrm>
            <a:off x="217690" y="552042"/>
            <a:ext cx="2512810" cy="2507225"/>
          </a:xfrm>
          <a:prstGeom prst="rect">
            <a:avLst/>
          </a:prstGeom>
        </p:spPr>
        <p:txBody>
          <a:bodyPr vert="horz" wrap="square" lIns="0" tIns="6985" rIns="0" bIns="0" rtlCol="0">
            <a:spAutoFit/>
          </a:bodyPr>
          <a:lstStyle/>
          <a:p>
            <a:pPr marL="12700" marR="370205">
              <a:lnSpc>
                <a:spcPct val="102600"/>
              </a:lnSpc>
              <a:spcBef>
                <a:spcPts val="55"/>
              </a:spcBef>
            </a:pPr>
            <a:r>
              <a:rPr sz="1100" b="1" spc="-25" dirty="0">
                <a:solidFill>
                  <a:srgbClr val="202429"/>
                </a:solidFill>
                <a:latin typeface="Arial"/>
                <a:cs typeface="Arial"/>
              </a:rPr>
              <a:t>Healthcare</a:t>
            </a:r>
            <a:r>
              <a:rPr sz="1100" b="1" spc="15" dirty="0">
                <a:solidFill>
                  <a:srgbClr val="202429"/>
                </a:solidFill>
                <a:latin typeface="Arial"/>
                <a:cs typeface="Arial"/>
              </a:rPr>
              <a:t> </a:t>
            </a:r>
            <a:r>
              <a:rPr sz="1100" b="1" spc="-20" dirty="0">
                <a:solidFill>
                  <a:srgbClr val="202429"/>
                </a:solidFill>
                <a:latin typeface="Arial"/>
                <a:cs typeface="Arial"/>
              </a:rPr>
              <a:t>Safety</a:t>
            </a:r>
            <a:r>
              <a:rPr sz="1100" b="1" spc="20" dirty="0">
                <a:solidFill>
                  <a:srgbClr val="202429"/>
                </a:solidFill>
                <a:latin typeface="Arial"/>
                <a:cs typeface="Arial"/>
              </a:rPr>
              <a:t> </a:t>
            </a:r>
            <a:r>
              <a:rPr sz="1100" b="1" spc="-35" dirty="0">
                <a:solidFill>
                  <a:srgbClr val="202429"/>
                </a:solidFill>
                <a:latin typeface="Arial"/>
                <a:cs typeface="Arial"/>
              </a:rPr>
              <a:t>Investigation </a:t>
            </a:r>
            <a:r>
              <a:rPr sz="1100" b="1" spc="-30" dirty="0">
                <a:solidFill>
                  <a:srgbClr val="202429"/>
                </a:solidFill>
                <a:latin typeface="Arial"/>
                <a:cs typeface="Arial"/>
              </a:rPr>
              <a:t>Branch</a:t>
            </a:r>
            <a:r>
              <a:rPr sz="1100" b="1" dirty="0">
                <a:solidFill>
                  <a:srgbClr val="202429"/>
                </a:solidFill>
                <a:latin typeface="Arial"/>
                <a:cs typeface="Arial"/>
              </a:rPr>
              <a:t> </a:t>
            </a:r>
            <a:r>
              <a:rPr sz="1100" b="1" spc="-10" dirty="0">
                <a:solidFill>
                  <a:srgbClr val="202429"/>
                </a:solidFill>
                <a:latin typeface="Arial"/>
                <a:cs typeface="Arial"/>
              </a:rPr>
              <a:t>(HSIB)</a:t>
            </a:r>
            <a:endParaRPr sz="1100" dirty="0">
              <a:latin typeface="Arial"/>
              <a:cs typeface="Arial"/>
            </a:endParaRPr>
          </a:p>
          <a:p>
            <a:pPr marL="12700">
              <a:lnSpc>
                <a:spcPct val="100000"/>
              </a:lnSpc>
              <a:spcBef>
                <a:spcPts val="570"/>
              </a:spcBef>
            </a:pPr>
            <a:r>
              <a:rPr sz="1000" spc="-35" dirty="0">
                <a:solidFill>
                  <a:srgbClr val="202429"/>
                </a:solidFill>
                <a:latin typeface="Tahoma"/>
                <a:cs typeface="Tahoma"/>
              </a:rPr>
              <a:t>Established</a:t>
            </a:r>
            <a:r>
              <a:rPr sz="1000" spc="-15" dirty="0">
                <a:solidFill>
                  <a:srgbClr val="202429"/>
                </a:solidFill>
                <a:latin typeface="Tahoma"/>
                <a:cs typeface="Tahoma"/>
              </a:rPr>
              <a:t> </a:t>
            </a:r>
            <a:r>
              <a:rPr sz="1000" dirty="0">
                <a:solidFill>
                  <a:srgbClr val="202429"/>
                </a:solidFill>
                <a:latin typeface="Tahoma"/>
                <a:cs typeface="Tahoma"/>
              </a:rPr>
              <a:t>in</a:t>
            </a:r>
            <a:r>
              <a:rPr sz="1000" spc="-10" dirty="0">
                <a:solidFill>
                  <a:srgbClr val="202429"/>
                </a:solidFill>
                <a:latin typeface="Tahoma"/>
                <a:cs typeface="Tahoma"/>
              </a:rPr>
              <a:t> </a:t>
            </a:r>
            <a:r>
              <a:rPr sz="1000" spc="-50" dirty="0">
                <a:solidFill>
                  <a:srgbClr val="202429"/>
                </a:solidFill>
                <a:latin typeface="Tahoma"/>
                <a:cs typeface="Tahoma"/>
              </a:rPr>
              <a:t>2017</a:t>
            </a:r>
            <a:r>
              <a:rPr sz="1000" spc="-5" dirty="0">
                <a:solidFill>
                  <a:srgbClr val="202429"/>
                </a:solidFill>
                <a:latin typeface="Tahoma"/>
                <a:cs typeface="Tahoma"/>
              </a:rPr>
              <a:t> </a:t>
            </a:r>
            <a:r>
              <a:rPr sz="1000" dirty="0">
                <a:solidFill>
                  <a:srgbClr val="202429"/>
                </a:solidFill>
                <a:latin typeface="Tahoma"/>
                <a:cs typeface="Tahoma"/>
              </a:rPr>
              <a:t>to</a:t>
            </a:r>
            <a:r>
              <a:rPr sz="1000" spc="-10" dirty="0">
                <a:solidFill>
                  <a:srgbClr val="202429"/>
                </a:solidFill>
                <a:latin typeface="Tahoma"/>
                <a:cs typeface="Tahoma"/>
              </a:rPr>
              <a:t> </a:t>
            </a:r>
            <a:r>
              <a:rPr sz="1000" spc="-40" dirty="0">
                <a:solidFill>
                  <a:srgbClr val="202429"/>
                </a:solidFill>
                <a:latin typeface="Tahoma"/>
                <a:cs typeface="Tahoma"/>
              </a:rPr>
              <a:t>improve</a:t>
            </a:r>
            <a:r>
              <a:rPr sz="1000" spc="-10" dirty="0">
                <a:solidFill>
                  <a:srgbClr val="202429"/>
                </a:solidFill>
                <a:latin typeface="Tahoma"/>
                <a:cs typeface="Tahoma"/>
              </a:rPr>
              <a:t> patient</a:t>
            </a:r>
            <a:endParaRPr sz="1000" dirty="0">
              <a:latin typeface="Tahoma"/>
              <a:cs typeface="Tahoma"/>
            </a:endParaRPr>
          </a:p>
          <a:p>
            <a:pPr marL="12700" marR="5080">
              <a:lnSpc>
                <a:spcPct val="112900"/>
              </a:lnSpc>
            </a:pPr>
            <a:r>
              <a:rPr sz="1000" spc="-45" dirty="0">
                <a:solidFill>
                  <a:srgbClr val="202429"/>
                </a:solidFill>
                <a:latin typeface="Tahoma"/>
                <a:cs typeface="Tahoma"/>
              </a:rPr>
              <a:t>safety</a:t>
            </a:r>
            <a:r>
              <a:rPr sz="1000" spc="-5" dirty="0">
                <a:solidFill>
                  <a:srgbClr val="202429"/>
                </a:solidFill>
                <a:latin typeface="Tahoma"/>
                <a:cs typeface="Tahoma"/>
              </a:rPr>
              <a:t> </a:t>
            </a:r>
            <a:r>
              <a:rPr sz="1000" spc="-35" dirty="0">
                <a:solidFill>
                  <a:srgbClr val="202429"/>
                </a:solidFill>
                <a:latin typeface="Tahoma"/>
                <a:cs typeface="Tahoma"/>
              </a:rPr>
              <a:t>through</a:t>
            </a:r>
            <a:r>
              <a:rPr sz="1000" dirty="0">
                <a:solidFill>
                  <a:srgbClr val="202429"/>
                </a:solidFill>
                <a:latin typeface="Tahoma"/>
                <a:cs typeface="Tahoma"/>
              </a:rPr>
              <a:t> </a:t>
            </a:r>
            <a:r>
              <a:rPr sz="1000" spc="-40" dirty="0">
                <a:solidFill>
                  <a:srgbClr val="202429"/>
                </a:solidFill>
                <a:latin typeface="Tahoma"/>
                <a:cs typeface="Tahoma"/>
              </a:rPr>
              <a:t>independent</a:t>
            </a:r>
            <a:r>
              <a:rPr sz="1000" dirty="0">
                <a:solidFill>
                  <a:srgbClr val="202429"/>
                </a:solidFill>
                <a:latin typeface="Tahoma"/>
                <a:cs typeface="Tahoma"/>
              </a:rPr>
              <a:t> </a:t>
            </a:r>
            <a:r>
              <a:rPr sz="1000" spc="-10" dirty="0">
                <a:solidFill>
                  <a:srgbClr val="202429"/>
                </a:solidFill>
                <a:latin typeface="Tahoma"/>
                <a:cs typeface="Tahoma"/>
              </a:rPr>
              <a:t>investigations. </a:t>
            </a:r>
            <a:r>
              <a:rPr sz="1000" dirty="0">
                <a:solidFill>
                  <a:srgbClr val="202429"/>
                </a:solidFill>
                <a:latin typeface="Tahoma"/>
                <a:cs typeface="Tahoma"/>
              </a:rPr>
              <a:t>We</a:t>
            </a:r>
            <a:r>
              <a:rPr sz="1000" spc="-45" dirty="0">
                <a:solidFill>
                  <a:srgbClr val="202429"/>
                </a:solidFill>
                <a:latin typeface="Tahoma"/>
                <a:cs typeface="Tahoma"/>
              </a:rPr>
              <a:t> </a:t>
            </a:r>
            <a:r>
              <a:rPr sz="1000" spc="-35" dirty="0">
                <a:solidFill>
                  <a:srgbClr val="202429"/>
                </a:solidFill>
                <a:latin typeface="Tahoma"/>
                <a:cs typeface="Tahoma"/>
              </a:rPr>
              <a:t>collaborated</a:t>
            </a:r>
            <a:r>
              <a:rPr sz="1000" spc="-45" dirty="0">
                <a:solidFill>
                  <a:srgbClr val="202429"/>
                </a:solidFill>
                <a:latin typeface="Tahoma"/>
                <a:cs typeface="Tahoma"/>
              </a:rPr>
              <a:t> </a:t>
            </a:r>
            <a:r>
              <a:rPr sz="1000" dirty="0">
                <a:solidFill>
                  <a:srgbClr val="202429"/>
                </a:solidFill>
                <a:latin typeface="Tahoma"/>
                <a:cs typeface="Tahoma"/>
              </a:rPr>
              <a:t>with</a:t>
            </a:r>
            <a:r>
              <a:rPr sz="1000" spc="-40" dirty="0">
                <a:solidFill>
                  <a:srgbClr val="202429"/>
                </a:solidFill>
                <a:latin typeface="Tahoma"/>
                <a:cs typeface="Tahoma"/>
              </a:rPr>
              <a:t> </a:t>
            </a:r>
            <a:r>
              <a:rPr sz="1000" dirty="0">
                <a:solidFill>
                  <a:srgbClr val="202429"/>
                </a:solidFill>
                <a:latin typeface="Tahoma"/>
                <a:cs typeface="Tahoma"/>
              </a:rPr>
              <a:t>HSIB</a:t>
            </a:r>
            <a:r>
              <a:rPr sz="1000" spc="-45" dirty="0">
                <a:solidFill>
                  <a:srgbClr val="202429"/>
                </a:solidFill>
                <a:latin typeface="Tahoma"/>
                <a:cs typeface="Tahoma"/>
              </a:rPr>
              <a:t> </a:t>
            </a:r>
            <a:r>
              <a:rPr sz="1000" dirty="0">
                <a:solidFill>
                  <a:srgbClr val="202429"/>
                </a:solidFill>
                <a:latin typeface="Tahoma"/>
                <a:cs typeface="Tahoma"/>
              </a:rPr>
              <a:t>on</a:t>
            </a:r>
            <a:r>
              <a:rPr sz="1000" spc="-40" dirty="0">
                <a:solidFill>
                  <a:srgbClr val="202429"/>
                </a:solidFill>
                <a:latin typeface="Tahoma"/>
                <a:cs typeface="Tahoma"/>
              </a:rPr>
              <a:t> </a:t>
            </a:r>
            <a:r>
              <a:rPr sz="1000" dirty="0">
                <a:solidFill>
                  <a:srgbClr val="202429"/>
                </a:solidFill>
                <a:latin typeface="Tahoma"/>
                <a:cs typeface="Tahoma"/>
              </a:rPr>
              <a:t>this</a:t>
            </a:r>
            <a:r>
              <a:rPr sz="1000" spc="-40" dirty="0">
                <a:solidFill>
                  <a:srgbClr val="202429"/>
                </a:solidFill>
                <a:latin typeface="Tahoma"/>
                <a:cs typeface="Tahoma"/>
              </a:rPr>
              <a:t> </a:t>
            </a:r>
            <a:r>
              <a:rPr sz="1000" spc="-45" dirty="0">
                <a:solidFill>
                  <a:srgbClr val="202429"/>
                </a:solidFill>
                <a:latin typeface="Tahoma"/>
                <a:cs typeface="Tahoma"/>
              </a:rPr>
              <a:t>research, </a:t>
            </a:r>
            <a:r>
              <a:rPr sz="1000" spc="-35" dirty="0">
                <a:solidFill>
                  <a:srgbClr val="202429"/>
                </a:solidFill>
                <a:latin typeface="Tahoma"/>
                <a:cs typeface="Tahoma"/>
              </a:rPr>
              <a:t>analysing</a:t>
            </a:r>
            <a:r>
              <a:rPr sz="1000" spc="-15" dirty="0">
                <a:solidFill>
                  <a:srgbClr val="202429"/>
                </a:solidFill>
                <a:latin typeface="Tahoma"/>
                <a:cs typeface="Tahoma"/>
              </a:rPr>
              <a:t> </a:t>
            </a:r>
            <a:r>
              <a:rPr sz="1000" spc="-20" dirty="0">
                <a:solidFill>
                  <a:srgbClr val="202429"/>
                </a:solidFill>
                <a:latin typeface="Tahoma"/>
                <a:cs typeface="Tahoma"/>
              </a:rPr>
              <a:t>their</a:t>
            </a:r>
            <a:r>
              <a:rPr sz="1000" spc="-15" dirty="0">
                <a:solidFill>
                  <a:srgbClr val="202429"/>
                </a:solidFill>
                <a:latin typeface="Tahoma"/>
                <a:cs typeface="Tahoma"/>
              </a:rPr>
              <a:t> </a:t>
            </a:r>
            <a:r>
              <a:rPr sz="1000" spc="-30" dirty="0">
                <a:solidFill>
                  <a:srgbClr val="202429"/>
                </a:solidFill>
                <a:latin typeface="Tahoma"/>
                <a:cs typeface="Tahoma"/>
              </a:rPr>
              <a:t>maternity</a:t>
            </a:r>
            <a:r>
              <a:rPr sz="1000" spc="-10" dirty="0">
                <a:solidFill>
                  <a:srgbClr val="202429"/>
                </a:solidFill>
                <a:latin typeface="Tahoma"/>
                <a:cs typeface="Tahoma"/>
              </a:rPr>
              <a:t> investigation reports.</a:t>
            </a:r>
            <a:endParaRPr sz="1000" dirty="0">
              <a:latin typeface="Tahoma"/>
              <a:cs typeface="Tahoma"/>
            </a:endParaRPr>
          </a:p>
          <a:p>
            <a:pPr marL="12700">
              <a:lnSpc>
                <a:spcPct val="100000"/>
              </a:lnSpc>
              <a:spcBef>
                <a:spcPts val="710"/>
              </a:spcBef>
            </a:pPr>
            <a:r>
              <a:rPr sz="1100" b="1" spc="-40" dirty="0">
                <a:solidFill>
                  <a:srgbClr val="202429"/>
                </a:solidFill>
                <a:latin typeface="Arial"/>
                <a:cs typeface="Arial"/>
              </a:rPr>
              <a:t>Transformation</a:t>
            </a:r>
            <a:r>
              <a:rPr sz="1100" b="1" spc="15" dirty="0">
                <a:solidFill>
                  <a:srgbClr val="202429"/>
                </a:solidFill>
                <a:latin typeface="Arial"/>
                <a:cs typeface="Arial"/>
              </a:rPr>
              <a:t> </a:t>
            </a:r>
            <a:r>
              <a:rPr sz="1100" b="1" dirty="0">
                <a:solidFill>
                  <a:srgbClr val="202429"/>
                </a:solidFill>
                <a:latin typeface="Arial"/>
                <a:cs typeface="Arial"/>
              </a:rPr>
              <a:t>in</a:t>
            </a:r>
            <a:r>
              <a:rPr sz="1100" b="1" spc="15" dirty="0">
                <a:solidFill>
                  <a:srgbClr val="202429"/>
                </a:solidFill>
                <a:latin typeface="Arial"/>
                <a:cs typeface="Arial"/>
              </a:rPr>
              <a:t> </a:t>
            </a:r>
            <a:r>
              <a:rPr sz="1100" b="1" spc="-10" dirty="0">
                <a:solidFill>
                  <a:srgbClr val="202429"/>
                </a:solidFill>
                <a:latin typeface="Arial"/>
                <a:cs typeface="Arial"/>
              </a:rPr>
              <a:t>October</a:t>
            </a:r>
            <a:r>
              <a:rPr sz="1100" b="1" spc="20" dirty="0">
                <a:solidFill>
                  <a:srgbClr val="202429"/>
                </a:solidFill>
                <a:latin typeface="Arial"/>
                <a:cs typeface="Arial"/>
              </a:rPr>
              <a:t> </a:t>
            </a:r>
            <a:r>
              <a:rPr sz="1100" b="1" spc="-10" dirty="0">
                <a:solidFill>
                  <a:srgbClr val="202429"/>
                </a:solidFill>
                <a:latin typeface="Arial"/>
                <a:cs typeface="Arial"/>
              </a:rPr>
              <a:t>2023:</a:t>
            </a:r>
            <a:endParaRPr sz="1100" dirty="0">
              <a:latin typeface="Arial"/>
              <a:cs typeface="Arial"/>
            </a:endParaRPr>
          </a:p>
          <a:p>
            <a:pPr marL="12700" marR="274320">
              <a:lnSpc>
                <a:spcPct val="102600"/>
              </a:lnSpc>
              <a:spcBef>
                <a:spcPts val="330"/>
              </a:spcBef>
            </a:pPr>
            <a:r>
              <a:rPr sz="1100" dirty="0">
                <a:solidFill>
                  <a:srgbClr val="202429"/>
                </a:solidFill>
                <a:latin typeface="Tahoma"/>
                <a:cs typeface="Tahoma"/>
              </a:rPr>
              <a:t>HSIB</a:t>
            </a:r>
            <a:r>
              <a:rPr sz="1100" spc="-30" dirty="0">
                <a:solidFill>
                  <a:srgbClr val="202429"/>
                </a:solidFill>
                <a:latin typeface="Tahoma"/>
                <a:cs typeface="Tahoma"/>
              </a:rPr>
              <a:t> </a:t>
            </a:r>
            <a:r>
              <a:rPr sz="1100" spc="-45" dirty="0">
                <a:solidFill>
                  <a:srgbClr val="202429"/>
                </a:solidFill>
                <a:latin typeface="Tahoma"/>
                <a:cs typeface="Tahoma"/>
              </a:rPr>
              <a:t>transformed</a:t>
            </a:r>
            <a:r>
              <a:rPr sz="1100" spc="-30" dirty="0">
                <a:solidFill>
                  <a:srgbClr val="202429"/>
                </a:solidFill>
                <a:latin typeface="Tahoma"/>
                <a:cs typeface="Tahoma"/>
              </a:rPr>
              <a:t> </a:t>
            </a:r>
            <a:r>
              <a:rPr sz="1100" dirty="0">
                <a:solidFill>
                  <a:srgbClr val="202429"/>
                </a:solidFill>
                <a:latin typeface="Tahoma"/>
                <a:cs typeface="Tahoma"/>
              </a:rPr>
              <a:t>into</a:t>
            </a:r>
            <a:r>
              <a:rPr sz="1100" spc="-25" dirty="0">
                <a:solidFill>
                  <a:srgbClr val="202429"/>
                </a:solidFill>
                <a:latin typeface="Tahoma"/>
                <a:cs typeface="Tahoma"/>
              </a:rPr>
              <a:t> </a:t>
            </a:r>
            <a:r>
              <a:rPr sz="1100" spc="-40" dirty="0">
                <a:solidFill>
                  <a:srgbClr val="202429"/>
                </a:solidFill>
                <a:latin typeface="Tahoma"/>
                <a:cs typeface="Tahoma"/>
              </a:rPr>
              <a:t>two</a:t>
            </a:r>
            <a:r>
              <a:rPr sz="1100" spc="-25" dirty="0">
                <a:solidFill>
                  <a:srgbClr val="202429"/>
                </a:solidFill>
                <a:latin typeface="Tahoma"/>
                <a:cs typeface="Tahoma"/>
              </a:rPr>
              <a:t> </a:t>
            </a:r>
            <a:r>
              <a:rPr sz="1100" spc="-55" dirty="0">
                <a:solidFill>
                  <a:srgbClr val="202429"/>
                </a:solidFill>
                <a:latin typeface="Tahoma"/>
                <a:cs typeface="Tahoma"/>
              </a:rPr>
              <a:t>separate </a:t>
            </a:r>
            <a:r>
              <a:rPr sz="1100" spc="-10" dirty="0">
                <a:solidFill>
                  <a:srgbClr val="202429"/>
                </a:solidFill>
                <a:latin typeface="Tahoma"/>
                <a:cs typeface="Tahoma"/>
              </a:rPr>
              <a:t>organisations:</a:t>
            </a:r>
            <a:endParaRPr sz="1100" dirty="0">
              <a:latin typeface="Tahoma"/>
              <a:cs typeface="Tahoma"/>
            </a:endParaRPr>
          </a:p>
          <a:p>
            <a:pPr marL="289560" marR="244475" indent="-132715">
              <a:lnSpc>
                <a:spcPts val="950"/>
              </a:lnSpc>
              <a:spcBef>
                <a:spcPts val="265"/>
              </a:spcBef>
              <a:buClr>
                <a:srgbClr val="005F73"/>
              </a:buClr>
              <a:buSzPct val="125000"/>
              <a:buFont typeface="Times New Roman"/>
              <a:buChar char="•"/>
              <a:tabLst>
                <a:tab pos="289560" algn="l"/>
              </a:tabLst>
            </a:pPr>
            <a:r>
              <a:rPr sz="800" b="1" dirty="0">
                <a:solidFill>
                  <a:srgbClr val="202429"/>
                </a:solidFill>
                <a:latin typeface="Arial"/>
                <a:cs typeface="Arial"/>
              </a:rPr>
              <a:t>MNSI</a:t>
            </a:r>
            <a:r>
              <a:rPr sz="800" b="1" spc="75" dirty="0">
                <a:solidFill>
                  <a:srgbClr val="202429"/>
                </a:solidFill>
                <a:latin typeface="Arial"/>
                <a:cs typeface="Arial"/>
              </a:rPr>
              <a:t> </a:t>
            </a:r>
            <a:r>
              <a:rPr sz="800" spc="114" dirty="0">
                <a:solidFill>
                  <a:srgbClr val="202429"/>
                </a:solidFill>
                <a:latin typeface="Tahoma"/>
                <a:cs typeface="Tahoma"/>
              </a:rPr>
              <a:t>—</a:t>
            </a:r>
            <a:r>
              <a:rPr sz="800" spc="50" dirty="0">
                <a:solidFill>
                  <a:srgbClr val="202429"/>
                </a:solidFill>
                <a:latin typeface="Tahoma"/>
                <a:cs typeface="Tahoma"/>
              </a:rPr>
              <a:t> </a:t>
            </a:r>
            <a:r>
              <a:rPr sz="800" dirty="0">
                <a:solidFill>
                  <a:srgbClr val="202429"/>
                </a:solidFill>
                <a:latin typeface="Tahoma"/>
                <a:cs typeface="Tahoma"/>
              </a:rPr>
              <a:t>Maternity</a:t>
            </a:r>
            <a:r>
              <a:rPr sz="800" spc="50" dirty="0">
                <a:solidFill>
                  <a:srgbClr val="202429"/>
                </a:solidFill>
                <a:latin typeface="Tahoma"/>
                <a:cs typeface="Tahoma"/>
              </a:rPr>
              <a:t> </a:t>
            </a:r>
            <a:r>
              <a:rPr sz="800" dirty="0">
                <a:solidFill>
                  <a:srgbClr val="202429"/>
                </a:solidFill>
                <a:latin typeface="Tahoma"/>
                <a:cs typeface="Tahoma"/>
              </a:rPr>
              <a:t>and</a:t>
            </a:r>
            <a:r>
              <a:rPr sz="800" spc="45" dirty="0">
                <a:solidFill>
                  <a:srgbClr val="202429"/>
                </a:solidFill>
                <a:latin typeface="Tahoma"/>
                <a:cs typeface="Tahoma"/>
              </a:rPr>
              <a:t> </a:t>
            </a:r>
            <a:r>
              <a:rPr sz="800" dirty="0">
                <a:solidFill>
                  <a:srgbClr val="202429"/>
                </a:solidFill>
                <a:latin typeface="Tahoma"/>
                <a:cs typeface="Tahoma"/>
              </a:rPr>
              <a:t>Newborn</a:t>
            </a:r>
            <a:r>
              <a:rPr sz="800" spc="50" dirty="0">
                <a:solidFill>
                  <a:srgbClr val="202429"/>
                </a:solidFill>
                <a:latin typeface="Tahoma"/>
                <a:cs typeface="Tahoma"/>
              </a:rPr>
              <a:t> </a:t>
            </a:r>
            <a:r>
              <a:rPr sz="800" spc="-10" dirty="0">
                <a:solidFill>
                  <a:srgbClr val="202429"/>
                </a:solidFill>
                <a:latin typeface="Tahoma"/>
                <a:cs typeface="Tahoma"/>
              </a:rPr>
              <a:t>Safety Investigations</a:t>
            </a:r>
            <a:endParaRPr sz="800" dirty="0">
              <a:latin typeface="Tahoma"/>
              <a:cs typeface="Tahoma"/>
            </a:endParaRPr>
          </a:p>
          <a:p>
            <a:pPr marL="289560" marR="588645" indent="-132715">
              <a:lnSpc>
                <a:spcPts val="950"/>
              </a:lnSpc>
              <a:spcBef>
                <a:spcPts val="290"/>
              </a:spcBef>
              <a:buClr>
                <a:srgbClr val="005F73"/>
              </a:buClr>
              <a:buSzPct val="125000"/>
              <a:buFont typeface="Times New Roman"/>
              <a:buChar char="•"/>
              <a:tabLst>
                <a:tab pos="289560" algn="l"/>
              </a:tabLst>
            </a:pPr>
            <a:r>
              <a:rPr sz="800" b="1" dirty="0">
                <a:solidFill>
                  <a:srgbClr val="202429"/>
                </a:solidFill>
                <a:latin typeface="Arial"/>
                <a:cs typeface="Arial"/>
              </a:rPr>
              <a:t>HSSIB</a:t>
            </a:r>
            <a:r>
              <a:rPr sz="800" b="1" spc="45" dirty="0">
                <a:solidFill>
                  <a:srgbClr val="202429"/>
                </a:solidFill>
                <a:latin typeface="Arial"/>
                <a:cs typeface="Arial"/>
              </a:rPr>
              <a:t> </a:t>
            </a:r>
            <a:r>
              <a:rPr sz="800" spc="114" dirty="0">
                <a:solidFill>
                  <a:srgbClr val="202429"/>
                </a:solidFill>
                <a:latin typeface="Tahoma"/>
                <a:cs typeface="Tahoma"/>
              </a:rPr>
              <a:t>—</a:t>
            </a:r>
            <a:r>
              <a:rPr sz="800" spc="20" dirty="0">
                <a:solidFill>
                  <a:srgbClr val="202429"/>
                </a:solidFill>
                <a:latin typeface="Tahoma"/>
                <a:cs typeface="Tahoma"/>
              </a:rPr>
              <a:t> </a:t>
            </a:r>
            <a:r>
              <a:rPr sz="800" dirty="0">
                <a:solidFill>
                  <a:srgbClr val="202429"/>
                </a:solidFill>
                <a:latin typeface="Tahoma"/>
                <a:cs typeface="Tahoma"/>
              </a:rPr>
              <a:t>Health</a:t>
            </a:r>
            <a:r>
              <a:rPr sz="800" spc="20" dirty="0">
                <a:solidFill>
                  <a:srgbClr val="202429"/>
                </a:solidFill>
                <a:latin typeface="Tahoma"/>
                <a:cs typeface="Tahoma"/>
              </a:rPr>
              <a:t> </a:t>
            </a:r>
            <a:r>
              <a:rPr sz="800" spc="-10" dirty="0">
                <a:solidFill>
                  <a:srgbClr val="202429"/>
                </a:solidFill>
                <a:latin typeface="Tahoma"/>
                <a:cs typeface="Tahoma"/>
              </a:rPr>
              <a:t>Services</a:t>
            </a:r>
            <a:r>
              <a:rPr sz="800" spc="20" dirty="0">
                <a:solidFill>
                  <a:srgbClr val="202429"/>
                </a:solidFill>
                <a:latin typeface="Tahoma"/>
                <a:cs typeface="Tahoma"/>
              </a:rPr>
              <a:t> </a:t>
            </a:r>
            <a:r>
              <a:rPr sz="800" spc="-10" dirty="0">
                <a:solidFill>
                  <a:srgbClr val="202429"/>
                </a:solidFill>
                <a:latin typeface="Tahoma"/>
                <a:cs typeface="Tahoma"/>
              </a:rPr>
              <a:t>Safety Investigations</a:t>
            </a:r>
            <a:r>
              <a:rPr sz="800" spc="-30" dirty="0">
                <a:solidFill>
                  <a:srgbClr val="202429"/>
                </a:solidFill>
                <a:latin typeface="Tahoma"/>
                <a:cs typeface="Tahoma"/>
              </a:rPr>
              <a:t> </a:t>
            </a:r>
            <a:r>
              <a:rPr sz="800" spc="-20" dirty="0">
                <a:solidFill>
                  <a:srgbClr val="202429"/>
                </a:solidFill>
                <a:latin typeface="Tahoma"/>
                <a:cs typeface="Tahoma"/>
              </a:rPr>
              <a:t>Body</a:t>
            </a:r>
            <a:endParaRPr sz="800" dirty="0">
              <a:latin typeface="Tahoma"/>
              <a:cs typeface="Tahoma"/>
            </a:endParaRPr>
          </a:p>
        </p:txBody>
      </p:sp>
      <p:sp>
        <p:nvSpPr>
          <p:cNvPr id="5" name="object 5"/>
          <p:cNvSpPr/>
          <p:nvPr/>
        </p:nvSpPr>
        <p:spPr>
          <a:xfrm>
            <a:off x="2880004" y="782523"/>
            <a:ext cx="0" cy="1980564"/>
          </a:xfrm>
          <a:custGeom>
            <a:avLst/>
            <a:gdLst/>
            <a:ahLst/>
            <a:cxnLst/>
            <a:rect l="l" t="t" r="r" b="b"/>
            <a:pathLst>
              <a:path h="1980564">
                <a:moveTo>
                  <a:pt x="0" y="1980006"/>
                </a:moveTo>
                <a:lnTo>
                  <a:pt x="0" y="0"/>
                </a:lnTo>
              </a:path>
            </a:pathLst>
          </a:custGeom>
          <a:ln w="6325">
            <a:solidFill>
              <a:srgbClr val="CED3DA"/>
            </a:solidFill>
          </a:ln>
        </p:spPr>
        <p:txBody>
          <a:bodyPr wrap="square" lIns="0" tIns="0" rIns="0" bIns="0" rtlCol="0"/>
          <a:lstStyle/>
          <a:p>
            <a:endParaRPr/>
          </a:p>
        </p:txBody>
      </p:sp>
      <p:sp>
        <p:nvSpPr>
          <p:cNvPr id="6" name="object 6"/>
          <p:cNvSpPr txBox="1"/>
          <p:nvPr/>
        </p:nvSpPr>
        <p:spPr>
          <a:xfrm>
            <a:off x="3148100" y="493988"/>
            <a:ext cx="2554193" cy="2020490"/>
          </a:xfrm>
          <a:prstGeom prst="rect">
            <a:avLst/>
          </a:prstGeom>
        </p:spPr>
        <p:txBody>
          <a:bodyPr vert="horz" wrap="square" lIns="0" tIns="69215" rIns="0" bIns="0" rtlCol="0">
            <a:spAutoFit/>
          </a:bodyPr>
          <a:lstStyle/>
          <a:p>
            <a:pPr marL="12700">
              <a:lnSpc>
                <a:spcPct val="100000"/>
              </a:lnSpc>
              <a:spcBef>
                <a:spcPts val="545"/>
              </a:spcBef>
            </a:pPr>
            <a:r>
              <a:rPr sz="1100" b="1" spc="-30" dirty="0">
                <a:solidFill>
                  <a:srgbClr val="202429"/>
                </a:solidFill>
                <a:latin typeface="Arial"/>
                <a:cs typeface="Arial"/>
              </a:rPr>
              <a:t>Core </a:t>
            </a:r>
            <a:r>
              <a:rPr sz="1100" b="1" spc="-10" dirty="0">
                <a:solidFill>
                  <a:srgbClr val="202429"/>
                </a:solidFill>
                <a:latin typeface="Arial"/>
                <a:cs typeface="Arial"/>
              </a:rPr>
              <a:t>functions:</a:t>
            </a:r>
            <a:endParaRPr sz="1100" dirty="0">
              <a:latin typeface="Arial"/>
              <a:cs typeface="Arial"/>
            </a:endParaRPr>
          </a:p>
          <a:p>
            <a:pPr marL="184150" marR="109220" indent="-171450">
              <a:lnSpc>
                <a:spcPct val="100000"/>
              </a:lnSpc>
              <a:spcBef>
                <a:spcPts val="414"/>
              </a:spcBef>
              <a:buClr>
                <a:srgbClr val="005F73"/>
              </a:buClr>
              <a:buFont typeface="Arial" panose="020B0604020202020204" pitchFamily="34" charset="0"/>
              <a:buChar char="•"/>
              <a:tabLst>
                <a:tab pos="117475" algn="l"/>
              </a:tabLst>
            </a:pPr>
            <a:r>
              <a:rPr sz="1000" spc="-10" dirty="0">
                <a:solidFill>
                  <a:srgbClr val="202429"/>
                </a:solidFill>
                <a:latin typeface="Tahoma"/>
                <a:cs typeface="Tahoma"/>
              </a:rPr>
              <a:t>Conduct</a:t>
            </a:r>
            <a:r>
              <a:rPr sz="1000" spc="-35" dirty="0">
                <a:solidFill>
                  <a:srgbClr val="202429"/>
                </a:solidFill>
                <a:latin typeface="Tahoma"/>
                <a:cs typeface="Tahoma"/>
              </a:rPr>
              <a:t> </a:t>
            </a:r>
            <a:r>
              <a:rPr sz="1000" spc="-40" dirty="0">
                <a:solidFill>
                  <a:srgbClr val="202429"/>
                </a:solidFill>
                <a:latin typeface="Tahoma"/>
                <a:cs typeface="Tahoma"/>
              </a:rPr>
              <a:t>independent</a:t>
            </a:r>
            <a:r>
              <a:rPr sz="1000" spc="-30" dirty="0">
                <a:solidFill>
                  <a:srgbClr val="202429"/>
                </a:solidFill>
                <a:latin typeface="Tahoma"/>
                <a:cs typeface="Tahoma"/>
              </a:rPr>
              <a:t> </a:t>
            </a:r>
            <a:r>
              <a:rPr sz="1000" spc="-20" dirty="0">
                <a:solidFill>
                  <a:srgbClr val="202429"/>
                </a:solidFill>
                <a:latin typeface="Tahoma"/>
                <a:cs typeface="Tahoma"/>
              </a:rPr>
              <a:t>patient</a:t>
            </a:r>
            <a:r>
              <a:rPr sz="1000" spc="-35" dirty="0">
                <a:solidFill>
                  <a:srgbClr val="202429"/>
                </a:solidFill>
                <a:latin typeface="Tahoma"/>
                <a:cs typeface="Tahoma"/>
              </a:rPr>
              <a:t> </a:t>
            </a:r>
            <a:r>
              <a:rPr sz="1000" spc="-40" dirty="0">
                <a:solidFill>
                  <a:srgbClr val="202429"/>
                </a:solidFill>
                <a:latin typeface="Tahoma"/>
                <a:cs typeface="Tahoma"/>
              </a:rPr>
              <a:t>safety </a:t>
            </a:r>
            <a:r>
              <a:rPr sz="1000" spc="-30" dirty="0">
                <a:solidFill>
                  <a:srgbClr val="202429"/>
                </a:solidFill>
                <a:latin typeface="Tahoma"/>
                <a:cs typeface="Tahoma"/>
              </a:rPr>
              <a:t>investigations</a:t>
            </a:r>
            <a:r>
              <a:rPr sz="1000" spc="15" dirty="0">
                <a:solidFill>
                  <a:srgbClr val="202429"/>
                </a:solidFill>
                <a:latin typeface="Tahoma"/>
                <a:cs typeface="Tahoma"/>
              </a:rPr>
              <a:t> </a:t>
            </a:r>
            <a:r>
              <a:rPr sz="1000" spc="-40" dirty="0">
                <a:solidFill>
                  <a:srgbClr val="202429"/>
                </a:solidFill>
                <a:latin typeface="Tahoma"/>
                <a:cs typeface="Tahoma"/>
              </a:rPr>
              <a:t>across</a:t>
            </a:r>
            <a:r>
              <a:rPr sz="1000" spc="15" dirty="0">
                <a:solidFill>
                  <a:srgbClr val="202429"/>
                </a:solidFill>
                <a:latin typeface="Tahoma"/>
                <a:cs typeface="Tahoma"/>
              </a:rPr>
              <a:t> </a:t>
            </a:r>
            <a:r>
              <a:rPr sz="1000" dirty="0">
                <a:solidFill>
                  <a:srgbClr val="202429"/>
                </a:solidFill>
                <a:latin typeface="Tahoma"/>
                <a:cs typeface="Tahoma"/>
              </a:rPr>
              <a:t>NHS</a:t>
            </a:r>
            <a:r>
              <a:rPr sz="1000" spc="20" dirty="0">
                <a:solidFill>
                  <a:srgbClr val="202429"/>
                </a:solidFill>
                <a:latin typeface="Tahoma"/>
                <a:cs typeface="Tahoma"/>
              </a:rPr>
              <a:t> </a:t>
            </a:r>
            <a:r>
              <a:rPr sz="1000" spc="-10" dirty="0">
                <a:solidFill>
                  <a:srgbClr val="202429"/>
                </a:solidFill>
                <a:latin typeface="Tahoma"/>
                <a:cs typeface="Tahoma"/>
              </a:rPr>
              <a:t>England</a:t>
            </a:r>
            <a:endParaRPr sz="1000" dirty="0">
              <a:latin typeface="Tahoma"/>
              <a:cs typeface="Tahoma"/>
            </a:endParaRPr>
          </a:p>
          <a:p>
            <a:pPr marL="184150" marR="582295" indent="-171450">
              <a:lnSpc>
                <a:spcPct val="100000"/>
              </a:lnSpc>
              <a:spcBef>
                <a:spcPts val="489"/>
              </a:spcBef>
              <a:buClr>
                <a:srgbClr val="005F73"/>
              </a:buClr>
              <a:buFont typeface="Arial" panose="020B0604020202020204" pitchFamily="34" charset="0"/>
              <a:buChar char="•"/>
              <a:tabLst>
                <a:tab pos="117475" algn="l"/>
              </a:tabLst>
            </a:pPr>
            <a:r>
              <a:rPr sz="1000" spc="-10" dirty="0">
                <a:solidFill>
                  <a:srgbClr val="202429"/>
                </a:solidFill>
                <a:latin typeface="Tahoma"/>
                <a:cs typeface="Tahoma"/>
              </a:rPr>
              <a:t>Publish</a:t>
            </a:r>
            <a:r>
              <a:rPr sz="1000" spc="-45" dirty="0">
                <a:solidFill>
                  <a:srgbClr val="202429"/>
                </a:solidFill>
                <a:latin typeface="Tahoma"/>
                <a:cs typeface="Tahoma"/>
              </a:rPr>
              <a:t> </a:t>
            </a:r>
            <a:r>
              <a:rPr sz="1000" spc="-35" dirty="0">
                <a:solidFill>
                  <a:srgbClr val="202429"/>
                </a:solidFill>
                <a:latin typeface="Tahoma"/>
                <a:cs typeface="Tahoma"/>
              </a:rPr>
              <a:t>reports</a:t>
            </a:r>
            <a:r>
              <a:rPr sz="1000" spc="-40" dirty="0">
                <a:solidFill>
                  <a:srgbClr val="202429"/>
                </a:solidFill>
                <a:latin typeface="Tahoma"/>
                <a:cs typeface="Tahoma"/>
              </a:rPr>
              <a:t> </a:t>
            </a:r>
            <a:r>
              <a:rPr sz="1000" dirty="0">
                <a:solidFill>
                  <a:srgbClr val="202429"/>
                </a:solidFill>
                <a:latin typeface="Tahoma"/>
                <a:cs typeface="Tahoma"/>
              </a:rPr>
              <a:t>with</a:t>
            </a:r>
            <a:r>
              <a:rPr sz="1000" spc="-35" dirty="0">
                <a:solidFill>
                  <a:srgbClr val="202429"/>
                </a:solidFill>
                <a:latin typeface="Tahoma"/>
                <a:cs typeface="Tahoma"/>
              </a:rPr>
              <a:t> </a:t>
            </a:r>
            <a:r>
              <a:rPr sz="1000" spc="-40" dirty="0">
                <a:solidFill>
                  <a:srgbClr val="202429"/>
                </a:solidFill>
                <a:latin typeface="Tahoma"/>
                <a:cs typeface="Tahoma"/>
              </a:rPr>
              <a:t>safety </a:t>
            </a:r>
            <a:r>
              <a:rPr sz="1000" spc="-10" dirty="0">
                <a:solidFill>
                  <a:srgbClr val="202429"/>
                </a:solidFill>
                <a:latin typeface="Tahoma"/>
                <a:cs typeface="Tahoma"/>
              </a:rPr>
              <a:t>recommendations</a:t>
            </a:r>
            <a:r>
              <a:rPr lang="en-GB" sz="1000" spc="-10" dirty="0">
                <a:solidFill>
                  <a:srgbClr val="202429"/>
                </a:solidFill>
                <a:latin typeface="Tahoma"/>
                <a:cs typeface="Tahoma"/>
              </a:rPr>
              <a:t> and learnings</a:t>
            </a:r>
            <a:endParaRPr sz="1000" dirty="0">
              <a:latin typeface="Tahoma"/>
              <a:cs typeface="Tahoma"/>
            </a:endParaRPr>
          </a:p>
          <a:p>
            <a:pPr marL="184150" marR="163830" indent="-171450">
              <a:lnSpc>
                <a:spcPct val="112900"/>
              </a:lnSpc>
              <a:spcBef>
                <a:spcPts val="490"/>
              </a:spcBef>
              <a:buClr>
                <a:srgbClr val="005F73"/>
              </a:buClr>
              <a:buFont typeface="Arial" panose="020B0604020202020204" pitchFamily="34" charset="0"/>
              <a:buChar char="•"/>
              <a:tabLst>
                <a:tab pos="117475" algn="l"/>
              </a:tabLst>
            </a:pPr>
            <a:r>
              <a:rPr sz="1000" spc="-25" dirty="0">
                <a:solidFill>
                  <a:srgbClr val="202429"/>
                </a:solidFill>
                <a:latin typeface="Tahoma"/>
                <a:cs typeface="Tahoma"/>
              </a:rPr>
              <a:t>Deliver</a:t>
            </a:r>
            <a:r>
              <a:rPr sz="1000" spc="-15" dirty="0">
                <a:solidFill>
                  <a:srgbClr val="202429"/>
                </a:solidFill>
                <a:latin typeface="Tahoma"/>
                <a:cs typeface="Tahoma"/>
              </a:rPr>
              <a:t> </a:t>
            </a:r>
            <a:r>
              <a:rPr sz="1000" spc="-20" dirty="0">
                <a:solidFill>
                  <a:srgbClr val="202429"/>
                </a:solidFill>
                <a:latin typeface="Tahoma"/>
                <a:cs typeface="Tahoma"/>
              </a:rPr>
              <a:t>patient</a:t>
            </a:r>
            <a:r>
              <a:rPr sz="1000" spc="-10" dirty="0">
                <a:solidFill>
                  <a:srgbClr val="202429"/>
                </a:solidFill>
                <a:latin typeface="Tahoma"/>
                <a:cs typeface="Tahoma"/>
              </a:rPr>
              <a:t> </a:t>
            </a:r>
            <a:r>
              <a:rPr sz="1000" spc="-45" dirty="0">
                <a:solidFill>
                  <a:srgbClr val="202429"/>
                </a:solidFill>
                <a:latin typeface="Tahoma"/>
                <a:cs typeface="Tahoma"/>
              </a:rPr>
              <a:t>safety</a:t>
            </a:r>
            <a:r>
              <a:rPr sz="1000" spc="-10" dirty="0">
                <a:solidFill>
                  <a:srgbClr val="202429"/>
                </a:solidFill>
                <a:latin typeface="Tahoma"/>
                <a:cs typeface="Tahoma"/>
              </a:rPr>
              <a:t> </a:t>
            </a:r>
            <a:r>
              <a:rPr sz="1000" spc="-30" dirty="0">
                <a:solidFill>
                  <a:srgbClr val="202429"/>
                </a:solidFill>
                <a:latin typeface="Tahoma"/>
                <a:cs typeface="Tahoma"/>
              </a:rPr>
              <a:t>investigation </a:t>
            </a:r>
            <a:r>
              <a:rPr sz="1000" spc="-10" dirty="0">
                <a:solidFill>
                  <a:srgbClr val="202429"/>
                </a:solidFill>
                <a:latin typeface="Tahoma"/>
                <a:cs typeface="Tahoma"/>
              </a:rPr>
              <a:t>training</a:t>
            </a:r>
            <a:endParaRPr sz="1000" dirty="0">
              <a:latin typeface="Tahoma"/>
              <a:cs typeface="Tahoma"/>
            </a:endParaRPr>
          </a:p>
          <a:p>
            <a:pPr>
              <a:lnSpc>
                <a:spcPct val="100000"/>
              </a:lnSpc>
              <a:spcBef>
                <a:spcPts val="40"/>
              </a:spcBef>
            </a:pPr>
            <a:endParaRPr sz="1000" dirty="0">
              <a:latin typeface="Tahoma"/>
              <a:cs typeface="Tahoma"/>
            </a:endParaRPr>
          </a:p>
          <a:p>
            <a:pPr marL="12700">
              <a:lnSpc>
                <a:spcPct val="100000"/>
              </a:lnSpc>
            </a:pPr>
            <a:r>
              <a:rPr sz="1000" spc="-40" dirty="0">
                <a:solidFill>
                  <a:srgbClr val="202429"/>
                </a:solidFill>
                <a:latin typeface="Tahoma"/>
                <a:cs typeface="Tahoma"/>
              </a:rPr>
              <a:t>Investigations</a:t>
            </a:r>
            <a:r>
              <a:rPr sz="1000" spc="-35" dirty="0">
                <a:solidFill>
                  <a:srgbClr val="202429"/>
                </a:solidFill>
                <a:latin typeface="Tahoma"/>
                <a:cs typeface="Tahoma"/>
              </a:rPr>
              <a:t> </a:t>
            </a:r>
            <a:r>
              <a:rPr sz="1000" spc="-25" dirty="0">
                <a:solidFill>
                  <a:srgbClr val="202429"/>
                </a:solidFill>
                <a:latin typeface="Tahoma"/>
                <a:cs typeface="Tahoma"/>
              </a:rPr>
              <a:t>focus</a:t>
            </a:r>
            <a:r>
              <a:rPr sz="1000" spc="-30" dirty="0">
                <a:solidFill>
                  <a:srgbClr val="202429"/>
                </a:solidFill>
                <a:latin typeface="Tahoma"/>
                <a:cs typeface="Tahoma"/>
              </a:rPr>
              <a:t> </a:t>
            </a:r>
            <a:r>
              <a:rPr sz="1000" spc="-10" dirty="0">
                <a:solidFill>
                  <a:srgbClr val="202429"/>
                </a:solidFill>
                <a:latin typeface="Tahoma"/>
                <a:cs typeface="Tahoma"/>
              </a:rPr>
              <a:t>on</a:t>
            </a:r>
            <a:r>
              <a:rPr sz="1000" spc="-35" dirty="0">
                <a:solidFill>
                  <a:srgbClr val="202429"/>
                </a:solidFill>
                <a:latin typeface="Tahoma"/>
                <a:cs typeface="Tahoma"/>
              </a:rPr>
              <a:t> </a:t>
            </a:r>
            <a:r>
              <a:rPr sz="1000" b="1" spc="-30" dirty="0">
                <a:solidFill>
                  <a:srgbClr val="202429"/>
                </a:solidFill>
                <a:latin typeface="Arial"/>
                <a:cs typeface="Arial"/>
              </a:rPr>
              <a:t>learning,</a:t>
            </a:r>
            <a:r>
              <a:rPr sz="1000" b="1" spc="30" dirty="0">
                <a:solidFill>
                  <a:srgbClr val="202429"/>
                </a:solidFill>
                <a:latin typeface="Arial"/>
                <a:cs typeface="Arial"/>
              </a:rPr>
              <a:t> </a:t>
            </a:r>
            <a:r>
              <a:rPr sz="1000" b="1" spc="-25" dirty="0">
                <a:solidFill>
                  <a:srgbClr val="202429"/>
                </a:solidFill>
                <a:latin typeface="Arial"/>
                <a:cs typeface="Arial"/>
              </a:rPr>
              <a:t>not</a:t>
            </a:r>
            <a:endParaRPr sz="1000" dirty="0">
              <a:latin typeface="Arial"/>
              <a:cs typeface="Arial"/>
            </a:endParaRPr>
          </a:p>
          <a:p>
            <a:pPr marL="12700" marR="5080">
              <a:lnSpc>
                <a:spcPct val="112900"/>
              </a:lnSpc>
            </a:pPr>
            <a:r>
              <a:rPr sz="1000" b="1" spc="-10" dirty="0">
                <a:solidFill>
                  <a:srgbClr val="202429"/>
                </a:solidFill>
                <a:latin typeface="Arial"/>
                <a:cs typeface="Arial"/>
              </a:rPr>
              <a:t>blame</a:t>
            </a:r>
            <a:r>
              <a:rPr sz="1000" spc="-10" dirty="0">
                <a:solidFill>
                  <a:srgbClr val="202429"/>
                </a:solidFill>
                <a:latin typeface="Tahoma"/>
                <a:cs typeface="Tahoma"/>
              </a:rPr>
              <a:t>.</a:t>
            </a:r>
            <a:r>
              <a:rPr sz="1000" spc="15" dirty="0">
                <a:solidFill>
                  <a:srgbClr val="202429"/>
                </a:solidFill>
                <a:latin typeface="Tahoma"/>
                <a:cs typeface="Tahoma"/>
              </a:rPr>
              <a:t> </a:t>
            </a:r>
            <a:r>
              <a:rPr sz="1000" dirty="0">
                <a:solidFill>
                  <a:srgbClr val="202429"/>
                </a:solidFill>
                <a:latin typeface="Tahoma"/>
                <a:cs typeface="Tahoma"/>
              </a:rPr>
              <a:t>Staﬀ</a:t>
            </a:r>
            <a:r>
              <a:rPr sz="1000" spc="-50" dirty="0">
                <a:solidFill>
                  <a:srgbClr val="202429"/>
                </a:solidFill>
                <a:latin typeface="Tahoma"/>
                <a:cs typeface="Tahoma"/>
              </a:rPr>
              <a:t> </a:t>
            </a:r>
            <a:r>
              <a:rPr sz="1000" spc="-25" dirty="0">
                <a:solidFill>
                  <a:srgbClr val="202429"/>
                </a:solidFill>
                <a:latin typeface="Tahoma"/>
                <a:cs typeface="Tahoma"/>
              </a:rPr>
              <a:t>who</a:t>
            </a:r>
            <a:r>
              <a:rPr sz="1000" spc="-45" dirty="0">
                <a:solidFill>
                  <a:srgbClr val="202429"/>
                </a:solidFill>
                <a:latin typeface="Tahoma"/>
                <a:cs typeface="Tahoma"/>
              </a:rPr>
              <a:t> </a:t>
            </a:r>
            <a:r>
              <a:rPr sz="1000" spc="-25" dirty="0">
                <a:solidFill>
                  <a:srgbClr val="202429"/>
                </a:solidFill>
                <a:latin typeface="Tahoma"/>
                <a:cs typeface="Tahoma"/>
              </a:rPr>
              <a:t>contribute</a:t>
            </a:r>
            <a:r>
              <a:rPr sz="1000" spc="-50" dirty="0">
                <a:solidFill>
                  <a:srgbClr val="202429"/>
                </a:solidFill>
                <a:latin typeface="Tahoma"/>
                <a:cs typeface="Tahoma"/>
              </a:rPr>
              <a:t> are</a:t>
            </a:r>
            <a:r>
              <a:rPr sz="1000" spc="-30" dirty="0">
                <a:solidFill>
                  <a:srgbClr val="202429"/>
                </a:solidFill>
                <a:latin typeface="Tahoma"/>
                <a:cs typeface="Tahoma"/>
              </a:rPr>
              <a:t> </a:t>
            </a:r>
            <a:r>
              <a:rPr sz="1000" spc="-25" dirty="0">
                <a:solidFill>
                  <a:srgbClr val="202429"/>
                </a:solidFill>
                <a:latin typeface="Tahoma"/>
                <a:cs typeface="Tahoma"/>
              </a:rPr>
              <a:t>legally </a:t>
            </a:r>
            <a:r>
              <a:rPr sz="1000" spc="-10" dirty="0">
                <a:solidFill>
                  <a:srgbClr val="202429"/>
                </a:solidFill>
                <a:latin typeface="Tahoma"/>
                <a:cs typeface="Tahoma"/>
              </a:rPr>
              <a:t>protected.</a:t>
            </a:r>
            <a:endParaRPr sz="1000" dirty="0">
              <a:latin typeface="Tahoma"/>
              <a:cs typeface="Tahoma"/>
            </a:endParaRPr>
          </a:p>
        </p:txBody>
      </p:sp>
      <p:sp>
        <p:nvSpPr>
          <p:cNvPr id="7" name="object 7"/>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0" name="Slide Number Placeholder 9">
            <a:extLst>
              <a:ext uri="{FF2B5EF4-FFF2-40B4-BE49-F238E27FC236}">
                <a16:creationId xmlns:a16="http://schemas.microsoft.com/office/drawing/2014/main" id="{42E590C3-4094-51E1-5D7B-FC2A3EC2E5AD}"/>
              </a:ext>
            </a:extLst>
          </p:cNvPr>
          <p:cNvSpPr>
            <a:spLocks noGrp="1"/>
          </p:cNvSpPr>
          <p:nvPr>
            <p:ph type="sldNum" sz="quarter" idx="7"/>
          </p:nvPr>
        </p:nvSpPr>
        <p:spPr>
          <a:xfrm>
            <a:off x="5217160" y="3050223"/>
            <a:ext cx="548640" cy="173989"/>
          </a:xfrm>
        </p:spPr>
        <p:txBody>
          <a:bodyPr/>
          <a:lstStyle/>
          <a:p>
            <a:pPr marL="39370">
              <a:lnSpc>
                <a:spcPct val="100000"/>
              </a:lnSpc>
              <a:spcBef>
                <a:spcPts val="219"/>
              </a:spcBef>
            </a:pPr>
            <a:fld id="{81D60167-4931-47E6-BA6A-407CBD079E47}" type="slidenum">
              <a:rPr lang="en-GB" smtClean="0"/>
              <a:t>3</a:t>
            </a:fld>
            <a:r>
              <a:rPr lang="en-GB" spc="20" dirty="0"/>
              <a:t> </a:t>
            </a:r>
            <a:r>
              <a:rPr lang="en-GB" spc="120" dirty="0"/>
              <a:t>/</a:t>
            </a:r>
            <a:r>
              <a:rPr lang="en-GB" spc="25" dirty="0"/>
              <a:t> </a:t>
            </a:r>
            <a:r>
              <a:rPr lang="en-GB" spc="-25" dirty="0"/>
              <a:t>39</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28600" y="960120"/>
            <a:ext cx="1051560" cy="1362456"/>
          </a:xfrm>
          <a:custGeom>
            <a:avLst/>
            <a:gdLst/>
            <a:ahLst/>
            <a:cxnLst/>
            <a:rect l="l" t="t" r="r" b="b"/>
            <a:pathLst>
              <a:path w="3757666" h="4858283">
                <a:moveTo>
                  <a:pt x="0" y="0"/>
                </a:moveTo>
                <a:lnTo>
                  <a:pt x="3757665" y="0"/>
                </a:lnTo>
                <a:lnTo>
                  <a:pt x="3757665" y="4858283"/>
                </a:lnTo>
                <a:lnTo>
                  <a:pt x="0" y="4858283"/>
                </a:lnTo>
                <a:lnTo>
                  <a:pt x="0" y="0"/>
                </a:lnTo>
                <a:close/>
              </a:path>
            </a:pathLst>
          </a:custGeom>
          <a:blipFill>
            <a:blip r:embed="rId3"/>
            <a:stretch>
              <a:fillRect l="-48196" r="-46865" b="-706"/>
            </a:stretch>
          </a:blipFill>
        </p:spPr>
        <p:txBody>
          <a:bodyPr/>
          <a:lstStyle/>
          <a:p>
            <a:endParaRPr lang="en-GB"/>
          </a:p>
        </p:txBody>
      </p:sp>
      <p:sp>
        <p:nvSpPr>
          <p:cNvPr id="3" name="Freeform 3"/>
          <p:cNvSpPr/>
          <p:nvPr/>
        </p:nvSpPr>
        <p:spPr>
          <a:xfrm>
            <a:off x="1645920" y="914400"/>
            <a:ext cx="2011680" cy="1874519"/>
          </a:xfrm>
          <a:custGeom>
            <a:avLst/>
            <a:gdLst/>
            <a:ahLst/>
            <a:cxnLst/>
            <a:rect l="l" t="t" r="r" b="b"/>
            <a:pathLst>
              <a:path w="5422940" h="4473925">
                <a:moveTo>
                  <a:pt x="0" y="0"/>
                </a:moveTo>
                <a:lnTo>
                  <a:pt x="5422939" y="0"/>
                </a:lnTo>
                <a:lnTo>
                  <a:pt x="5422939" y="4473925"/>
                </a:lnTo>
                <a:lnTo>
                  <a:pt x="0" y="4473925"/>
                </a:lnTo>
                <a:lnTo>
                  <a:pt x="0" y="0"/>
                </a:lnTo>
                <a:close/>
              </a:path>
            </a:pathLst>
          </a:custGeom>
          <a:blipFill>
            <a:blip r:embed="rId4"/>
            <a:stretch>
              <a:fillRect/>
            </a:stretch>
          </a:blipFill>
        </p:spPr>
        <p:txBody>
          <a:bodyPr/>
          <a:lstStyle/>
          <a:p>
            <a:endParaRPr lang="en-GB"/>
          </a:p>
        </p:txBody>
      </p:sp>
      <p:sp>
        <p:nvSpPr>
          <p:cNvPr id="4" name="Freeform 4"/>
          <p:cNvSpPr/>
          <p:nvPr/>
        </p:nvSpPr>
        <p:spPr>
          <a:xfrm>
            <a:off x="4005072" y="914400"/>
            <a:ext cx="1609344" cy="1783080"/>
          </a:xfrm>
          <a:custGeom>
            <a:avLst/>
            <a:gdLst/>
            <a:ahLst/>
            <a:cxnLst/>
            <a:rect l="l" t="t" r="r" b="b"/>
            <a:pathLst>
              <a:path w="5729209" h="6356958">
                <a:moveTo>
                  <a:pt x="0" y="0"/>
                </a:moveTo>
                <a:lnTo>
                  <a:pt x="5729208" y="0"/>
                </a:lnTo>
                <a:lnTo>
                  <a:pt x="5729208" y="6356958"/>
                </a:lnTo>
                <a:lnTo>
                  <a:pt x="0" y="6356958"/>
                </a:lnTo>
                <a:lnTo>
                  <a:pt x="0" y="0"/>
                </a:lnTo>
                <a:close/>
              </a:path>
            </a:pathLst>
          </a:custGeom>
          <a:blipFill>
            <a:blip r:embed="rId5"/>
            <a:stretch>
              <a:fillRect/>
            </a:stretch>
          </a:blipFill>
        </p:spPr>
        <p:txBody>
          <a:bodyPr/>
          <a:lstStyle/>
          <a:p>
            <a:endParaRPr lang="en-GB" dirty="0"/>
          </a:p>
        </p:txBody>
      </p:sp>
      <p:sp>
        <p:nvSpPr>
          <p:cNvPr id="5" name="Freeform 5"/>
          <p:cNvSpPr/>
          <p:nvPr/>
        </p:nvSpPr>
        <p:spPr>
          <a:xfrm>
            <a:off x="1344168" y="1600200"/>
            <a:ext cx="246888" cy="82296"/>
          </a:xfrm>
          <a:custGeom>
            <a:avLst/>
            <a:gdLst/>
            <a:ahLst/>
            <a:cxnLst/>
            <a:rect l="l" t="t" r="r" b="b"/>
            <a:pathLst>
              <a:path w="1214319" h="367331">
                <a:moveTo>
                  <a:pt x="0" y="0"/>
                </a:moveTo>
                <a:lnTo>
                  <a:pt x="1214319" y="0"/>
                </a:lnTo>
                <a:lnTo>
                  <a:pt x="1214319" y="367331"/>
                </a:lnTo>
                <a:lnTo>
                  <a:pt x="0" y="36733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GB"/>
          </a:p>
        </p:txBody>
      </p:sp>
      <p:sp>
        <p:nvSpPr>
          <p:cNvPr id="6" name="Freeform 6"/>
          <p:cNvSpPr/>
          <p:nvPr/>
        </p:nvSpPr>
        <p:spPr>
          <a:xfrm>
            <a:off x="3712463" y="1600200"/>
            <a:ext cx="246888" cy="82296"/>
          </a:xfrm>
          <a:custGeom>
            <a:avLst/>
            <a:gdLst/>
            <a:ahLst/>
            <a:cxnLst/>
            <a:rect l="l" t="t" r="r" b="b"/>
            <a:pathLst>
              <a:path w="1214319" h="367331">
                <a:moveTo>
                  <a:pt x="0" y="0"/>
                </a:moveTo>
                <a:lnTo>
                  <a:pt x="1214319" y="0"/>
                </a:lnTo>
                <a:lnTo>
                  <a:pt x="1214319" y="367331"/>
                </a:lnTo>
                <a:lnTo>
                  <a:pt x="0" y="36733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GB"/>
          </a:p>
        </p:txBody>
      </p:sp>
      <p:grpSp>
        <p:nvGrpSpPr>
          <p:cNvPr id="9" name="Group 9"/>
          <p:cNvGrpSpPr/>
          <p:nvPr/>
        </p:nvGrpSpPr>
        <p:grpSpPr>
          <a:xfrm>
            <a:off x="84512" y="59983"/>
            <a:ext cx="5681289" cy="466948"/>
            <a:chOff x="-37608" y="-157163"/>
            <a:chExt cx="24228957" cy="2826394"/>
          </a:xfrm>
        </p:grpSpPr>
        <p:sp>
          <p:nvSpPr>
            <p:cNvPr id="10" name="TextBox 10"/>
            <p:cNvSpPr txBox="1"/>
            <p:nvPr/>
          </p:nvSpPr>
          <p:spPr>
            <a:xfrm>
              <a:off x="-37608" y="2105693"/>
              <a:ext cx="24190191" cy="563538"/>
            </a:xfrm>
            <a:prstGeom prst="rect">
              <a:avLst/>
            </a:prstGeom>
          </p:spPr>
          <p:txBody>
            <a:bodyPr wrap="square" lIns="0" tIns="0" rIns="0" bIns="0" rtlCol="0" anchor="t">
              <a:spAutoFit/>
            </a:bodyPr>
            <a:lstStyle/>
            <a:p>
              <a:pPr algn="l">
                <a:lnSpc>
                  <a:spcPts val="749"/>
                </a:lnSpc>
              </a:pPr>
              <a:r>
                <a:rPr lang="en-US" sz="883" dirty="0">
                  <a:latin typeface="Arial"/>
                  <a:ea typeface="Droid Serif Bold Italics"/>
                  <a:cs typeface="Arial"/>
                  <a:sym typeface="Droid Serif Bold Italics"/>
                </a:rPr>
                <a:t>From long, free-text reports to structured human factors insight</a:t>
              </a:r>
              <a:endParaRPr lang="en-US" sz="883" dirty="0">
                <a:latin typeface="Arial"/>
                <a:ea typeface="Droid Serif Bold Italics"/>
                <a:cs typeface="Arial"/>
              </a:endParaRPr>
            </a:p>
          </p:txBody>
        </p:sp>
        <p:sp>
          <p:nvSpPr>
            <p:cNvPr id="11" name="TextBox 11"/>
            <p:cNvSpPr txBox="1"/>
            <p:nvPr/>
          </p:nvSpPr>
          <p:spPr>
            <a:xfrm>
              <a:off x="-2" y="-157163"/>
              <a:ext cx="24191351" cy="1328898"/>
            </a:xfrm>
            <a:prstGeom prst="rect">
              <a:avLst/>
            </a:prstGeom>
          </p:spPr>
          <p:txBody>
            <a:bodyPr wrap="square" lIns="0" tIns="0" rIns="0" bIns="0" rtlCol="0" anchor="t">
              <a:spAutoFit/>
            </a:bodyPr>
            <a:lstStyle/>
            <a:p>
              <a:pPr algn="l">
                <a:lnSpc>
                  <a:spcPts val="1876"/>
                </a:lnSpc>
              </a:pPr>
              <a:r>
                <a:rPr lang="en-US" sz="1261" b="1" spc="2" dirty="0">
                  <a:solidFill>
                    <a:schemeClr val="tx1"/>
                  </a:solidFill>
                  <a:latin typeface="Droid Serif Bold Italics"/>
                  <a:ea typeface="Droid Serif Bold Italics"/>
                  <a:cs typeface="Droid Serif Bold Italics"/>
                  <a:sym typeface="Droid Serif Bold Italics"/>
                </a:rPr>
                <a:t>Extracting Insights from Maternity Incident Investigation Reports</a:t>
              </a:r>
            </a:p>
          </p:txBody>
        </p:sp>
      </p:grpSp>
      <p:sp>
        <p:nvSpPr>
          <p:cNvPr id="12" name="object 15">
            <a:extLst>
              <a:ext uri="{FF2B5EF4-FFF2-40B4-BE49-F238E27FC236}">
                <a16:creationId xmlns:a16="http://schemas.microsoft.com/office/drawing/2014/main" id="{F5CE07DD-7538-C54C-5954-F2A3D39D8FC8}"/>
              </a:ext>
            </a:extLst>
          </p:cNvPr>
          <p:cNvSpPr/>
          <p:nvPr/>
        </p:nvSpPr>
        <p:spPr>
          <a:xfrm>
            <a:off x="2857" y="3057315"/>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5" name="Slide Number Placeholder 14">
            <a:extLst>
              <a:ext uri="{FF2B5EF4-FFF2-40B4-BE49-F238E27FC236}">
                <a16:creationId xmlns:a16="http://schemas.microsoft.com/office/drawing/2014/main" id="{D039CC82-BA51-7DC5-28B1-4ACFB89F943C}"/>
              </a:ext>
            </a:extLst>
          </p:cNvPr>
          <p:cNvSpPr>
            <a:spLocks noGrp="1"/>
          </p:cNvSpPr>
          <p:nvPr>
            <p:ph type="sldNum" sz="quarter" idx="7"/>
          </p:nvPr>
        </p:nvSpPr>
        <p:spPr>
          <a:xfrm>
            <a:off x="5228496" y="3080176"/>
            <a:ext cx="548640" cy="173989"/>
          </a:xfrm>
        </p:spPr>
        <p:txBody>
          <a:bodyPr/>
          <a:lstStyle/>
          <a:p>
            <a:pPr marL="39370">
              <a:lnSpc>
                <a:spcPct val="100000"/>
              </a:lnSpc>
              <a:spcBef>
                <a:spcPts val="219"/>
              </a:spcBef>
            </a:pPr>
            <a:fld id="{81D60167-4931-47E6-BA6A-407CBD079E47}" type="slidenum">
              <a:rPr lang="en-GB" smtClean="0"/>
              <a:t>4</a:t>
            </a:fld>
            <a:r>
              <a:rPr lang="en-GB" spc="20" dirty="0"/>
              <a:t> </a:t>
            </a:r>
            <a:r>
              <a:rPr lang="en-GB" spc="120" dirty="0"/>
              <a:t>/</a:t>
            </a:r>
            <a:r>
              <a:rPr lang="en-GB" spc="25" dirty="0"/>
              <a:t> </a:t>
            </a:r>
            <a:r>
              <a:rPr lang="en-GB" spc="-25" dirty="0"/>
              <a:t>39</a:t>
            </a:r>
          </a:p>
        </p:txBody>
      </p:sp>
      <p:sp>
        <p:nvSpPr>
          <p:cNvPr id="16" name="Panel label 1"/>
          <p:cNvSpPr txBox="1"/>
          <p:nvPr/>
        </p:nvSpPr>
        <p:spPr>
          <a:xfrm>
            <a:off x="137160" y="658368"/>
            <a:ext cx="1234439" cy="201168"/>
          </a:xfrm>
          <a:prstGeom prst="rect">
            <a:avLst/>
          </a:prstGeom>
          <a:noFill/>
        </p:spPr>
        <p:txBody>
          <a:bodyPr wrap="square" lIns="0" tIns="0" rIns="0" bIns="0" anchor="t">
            <a:spAutoFit/>
          </a:bodyPr>
          <a:lstStyle/>
          <a:p>
            <a:pPr algn="ctr"/>
            <a:r>
              <a:rPr sz="950" b="1">
                <a:solidFill>
                  <a:srgbClr val="005F73"/>
                </a:solidFill>
                <a:latin typeface="Arial"/>
              </a:rPr>
              <a:t>1  The reports</a:t>
            </a:r>
          </a:p>
        </p:txBody>
      </p:sp>
      <p:sp>
        <p:nvSpPr>
          <p:cNvPr id="17" name="Panel label 2"/>
          <p:cNvSpPr txBox="1"/>
          <p:nvPr/>
        </p:nvSpPr>
        <p:spPr>
          <a:xfrm>
            <a:off x="1554480" y="658368"/>
            <a:ext cx="2194560" cy="201168"/>
          </a:xfrm>
          <a:prstGeom prst="rect">
            <a:avLst/>
          </a:prstGeom>
          <a:noFill/>
        </p:spPr>
        <p:txBody>
          <a:bodyPr wrap="square" lIns="0" tIns="0" rIns="0" bIns="0" anchor="t">
            <a:spAutoFit/>
          </a:bodyPr>
          <a:lstStyle/>
          <a:p>
            <a:pPr algn="ctr"/>
            <a:r>
              <a:rPr sz="950" b="1">
                <a:solidFill>
                  <a:srgbClr val="005F73"/>
                </a:solidFill>
                <a:latin typeface="Arial"/>
              </a:rPr>
              <a:t>2  The SEIPS model</a:t>
            </a:r>
          </a:p>
        </p:txBody>
      </p:sp>
      <p:sp>
        <p:nvSpPr>
          <p:cNvPr id="18" name="Panel label 3"/>
          <p:cNvSpPr txBox="1"/>
          <p:nvPr/>
        </p:nvSpPr>
        <p:spPr>
          <a:xfrm>
            <a:off x="3913632" y="658368"/>
            <a:ext cx="1792224" cy="201168"/>
          </a:xfrm>
          <a:prstGeom prst="rect">
            <a:avLst/>
          </a:prstGeom>
          <a:noFill/>
        </p:spPr>
        <p:txBody>
          <a:bodyPr wrap="square" lIns="0" tIns="0" rIns="0" bIns="0" anchor="t">
            <a:spAutoFit/>
          </a:bodyPr>
          <a:lstStyle/>
          <a:p>
            <a:pPr algn="ctr"/>
            <a:r>
              <a:rPr sz="950" b="1">
                <a:solidFill>
                  <a:srgbClr val="005F73"/>
                </a:solidFill>
                <a:latin typeface="Arial"/>
              </a:rPr>
              <a:t>3  The SIRch taxonomy</a:t>
            </a:r>
          </a:p>
        </p:txBody>
      </p:sp>
      <p:sp>
        <p:nvSpPr>
          <p:cNvPr id="19" name="Panel 1 caption"/>
          <p:cNvSpPr txBox="1"/>
          <p:nvPr/>
        </p:nvSpPr>
        <p:spPr>
          <a:xfrm>
            <a:off x="137160" y="2432304"/>
            <a:ext cx="1234440" cy="365760"/>
          </a:xfrm>
          <a:prstGeom prst="rect">
            <a:avLst/>
          </a:prstGeom>
          <a:noFill/>
        </p:spPr>
        <p:txBody>
          <a:bodyPr wrap="square" lIns="0" tIns="0" rIns="0" bIns="0" anchor="t">
            <a:spAutoFit/>
          </a:bodyPr>
          <a:lstStyle/>
          <a:p>
            <a:pPr algn="ctr"/>
            <a:r>
              <a:rPr sz="800" b="0">
                <a:solidFill>
                  <a:srgbClr val="6C757C"/>
                </a:solidFill>
                <a:latin typeface="Tahoma"/>
              </a:rPr>
              <a:t>Many long reports, analysed by hand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47294" y="181520"/>
            <a:ext cx="5029200" cy="467995"/>
          </a:xfrm>
          <a:prstGeom prst="rect">
            <a:avLst/>
          </a:prstGeom>
        </p:spPr>
        <p:txBody>
          <a:bodyPr vert="horz" wrap="square" lIns="0" tIns="49530" rIns="0" bIns="0" rtlCol="0">
            <a:spAutoFit/>
          </a:bodyPr>
          <a:lstStyle/>
          <a:p>
            <a:pPr marL="12700">
              <a:lnSpc>
                <a:spcPct val="100000"/>
              </a:lnSpc>
              <a:spcBef>
                <a:spcPts val="390"/>
              </a:spcBef>
            </a:pPr>
            <a:r>
              <a:rPr dirty="0"/>
              <a:t>The</a:t>
            </a:r>
            <a:r>
              <a:rPr spc="229" dirty="0"/>
              <a:t> </a:t>
            </a:r>
            <a:r>
              <a:rPr spc="-10" dirty="0"/>
              <a:t>Challenge</a:t>
            </a:r>
          </a:p>
          <a:p>
            <a:pPr marL="12700">
              <a:lnSpc>
                <a:spcPct val="100000"/>
              </a:lnSpc>
              <a:spcBef>
                <a:spcPts val="195"/>
              </a:spcBef>
            </a:pPr>
            <a:r>
              <a:rPr sz="1100" b="0" dirty="0">
                <a:solidFill>
                  <a:srgbClr val="6C757C"/>
                </a:solidFill>
                <a:latin typeface="Tahoma"/>
                <a:cs typeface="Tahoma"/>
              </a:rPr>
              <a:t>Making</a:t>
            </a:r>
            <a:r>
              <a:rPr sz="1100" b="0" spc="-55" dirty="0">
                <a:solidFill>
                  <a:srgbClr val="6C757C"/>
                </a:solidFill>
                <a:latin typeface="Tahoma"/>
                <a:cs typeface="Tahoma"/>
              </a:rPr>
              <a:t> </a:t>
            </a:r>
            <a:r>
              <a:rPr sz="1100" b="0" spc="-75" dirty="0">
                <a:solidFill>
                  <a:srgbClr val="6C757C"/>
                </a:solidFill>
                <a:latin typeface="Tahoma"/>
                <a:cs typeface="Tahoma"/>
              </a:rPr>
              <a:t>sense</a:t>
            </a:r>
            <a:r>
              <a:rPr sz="1100" b="0" spc="-10" dirty="0">
                <a:solidFill>
                  <a:srgbClr val="6C757C"/>
                </a:solidFill>
                <a:latin typeface="Tahoma"/>
                <a:cs typeface="Tahoma"/>
              </a:rPr>
              <a:t> </a:t>
            </a:r>
            <a:r>
              <a:rPr sz="1100" b="0" dirty="0">
                <a:solidFill>
                  <a:srgbClr val="6C757C"/>
                </a:solidFill>
                <a:latin typeface="Tahoma"/>
                <a:cs typeface="Tahoma"/>
              </a:rPr>
              <a:t>of</a:t>
            </a:r>
            <a:r>
              <a:rPr sz="1100" b="0" spc="-35" dirty="0">
                <a:solidFill>
                  <a:srgbClr val="6C757C"/>
                </a:solidFill>
                <a:latin typeface="Tahoma"/>
                <a:cs typeface="Tahoma"/>
              </a:rPr>
              <a:t> </a:t>
            </a:r>
            <a:r>
              <a:rPr sz="1100" b="0" spc="-40" dirty="0">
                <a:solidFill>
                  <a:srgbClr val="6C757C"/>
                </a:solidFill>
                <a:latin typeface="Tahoma"/>
                <a:cs typeface="Tahoma"/>
              </a:rPr>
              <a:t>safety</a:t>
            </a:r>
            <a:r>
              <a:rPr sz="1100" b="0" spc="-30" dirty="0">
                <a:solidFill>
                  <a:srgbClr val="6C757C"/>
                </a:solidFill>
                <a:latin typeface="Tahoma"/>
                <a:cs typeface="Tahoma"/>
              </a:rPr>
              <a:t> </a:t>
            </a:r>
            <a:r>
              <a:rPr sz="1100" b="0" spc="-20" dirty="0">
                <a:solidFill>
                  <a:srgbClr val="6C757C"/>
                </a:solidFill>
                <a:latin typeface="Tahoma"/>
                <a:cs typeface="Tahoma"/>
              </a:rPr>
              <a:t>data</a:t>
            </a:r>
            <a:r>
              <a:rPr sz="1100" b="0" spc="-35" dirty="0">
                <a:solidFill>
                  <a:srgbClr val="6C757C"/>
                </a:solidFill>
                <a:latin typeface="Tahoma"/>
                <a:cs typeface="Tahoma"/>
              </a:rPr>
              <a:t> </a:t>
            </a:r>
            <a:r>
              <a:rPr sz="1100" b="0" dirty="0">
                <a:solidFill>
                  <a:srgbClr val="6C757C"/>
                </a:solidFill>
                <a:latin typeface="Tahoma"/>
                <a:cs typeface="Tahoma"/>
              </a:rPr>
              <a:t>at</a:t>
            </a:r>
            <a:r>
              <a:rPr sz="1100" b="0" spc="-30" dirty="0">
                <a:solidFill>
                  <a:srgbClr val="6C757C"/>
                </a:solidFill>
                <a:latin typeface="Tahoma"/>
                <a:cs typeface="Tahoma"/>
              </a:rPr>
              <a:t> scale</a:t>
            </a:r>
            <a:endParaRPr sz="1100">
              <a:latin typeface="Tahoma"/>
              <a:cs typeface="Tahoma"/>
            </a:endParaRPr>
          </a:p>
        </p:txBody>
      </p:sp>
      <p:sp>
        <p:nvSpPr>
          <p:cNvPr id="3" name="object 3"/>
          <p:cNvSpPr/>
          <p:nvPr/>
        </p:nvSpPr>
        <p:spPr>
          <a:xfrm>
            <a:off x="359994" y="799109"/>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sp>
        <p:nvSpPr>
          <p:cNvPr id="4" name="object 4"/>
          <p:cNvSpPr txBox="1"/>
          <p:nvPr/>
        </p:nvSpPr>
        <p:spPr>
          <a:xfrm>
            <a:off x="142100" y="875280"/>
            <a:ext cx="2535555" cy="1082675"/>
          </a:xfrm>
          <a:prstGeom prst="rect">
            <a:avLst/>
          </a:prstGeom>
        </p:spPr>
        <p:txBody>
          <a:bodyPr vert="horz" wrap="square" lIns="0" tIns="69215" rIns="0" bIns="0" rtlCol="0">
            <a:spAutoFit/>
          </a:bodyPr>
          <a:lstStyle/>
          <a:p>
            <a:pPr marL="12700">
              <a:lnSpc>
                <a:spcPct val="100000"/>
              </a:lnSpc>
              <a:spcBef>
                <a:spcPts val="545"/>
              </a:spcBef>
            </a:pPr>
            <a:r>
              <a:rPr sz="1100" b="1" dirty="0">
                <a:solidFill>
                  <a:srgbClr val="202429"/>
                </a:solidFill>
                <a:latin typeface="Arial"/>
                <a:cs typeface="Arial"/>
              </a:rPr>
              <a:t>The</a:t>
            </a:r>
            <a:r>
              <a:rPr sz="1100" b="1" spc="90" dirty="0">
                <a:solidFill>
                  <a:srgbClr val="202429"/>
                </a:solidFill>
                <a:latin typeface="Arial"/>
                <a:cs typeface="Arial"/>
              </a:rPr>
              <a:t> </a:t>
            </a:r>
            <a:r>
              <a:rPr sz="1100" b="1" spc="-10" dirty="0">
                <a:solidFill>
                  <a:srgbClr val="202429"/>
                </a:solidFill>
                <a:latin typeface="Arial"/>
                <a:cs typeface="Arial"/>
              </a:rPr>
              <a:t>problem:</a:t>
            </a:r>
            <a:endParaRPr sz="1100">
              <a:latin typeface="Arial"/>
              <a:cs typeface="Arial"/>
            </a:endParaRPr>
          </a:p>
          <a:p>
            <a:pPr marL="117475" indent="-104775">
              <a:lnSpc>
                <a:spcPct val="100000"/>
              </a:lnSpc>
              <a:spcBef>
                <a:spcPts val="414"/>
              </a:spcBef>
              <a:buClr>
                <a:srgbClr val="005F73"/>
              </a:buClr>
              <a:buFont typeface="Times New Roman"/>
              <a:buChar char="•"/>
              <a:tabLst>
                <a:tab pos="117475" algn="l"/>
              </a:tabLst>
            </a:pPr>
            <a:r>
              <a:rPr sz="1000" spc="-35" dirty="0">
                <a:solidFill>
                  <a:srgbClr val="202429"/>
                </a:solidFill>
                <a:latin typeface="Tahoma"/>
                <a:cs typeface="Tahoma"/>
              </a:rPr>
              <a:t>Healthcare</a:t>
            </a:r>
            <a:r>
              <a:rPr sz="1000" spc="-15" dirty="0">
                <a:solidFill>
                  <a:srgbClr val="202429"/>
                </a:solidFill>
                <a:latin typeface="Tahoma"/>
                <a:cs typeface="Tahoma"/>
              </a:rPr>
              <a:t> </a:t>
            </a:r>
            <a:r>
              <a:rPr sz="1000" spc="-50" dirty="0">
                <a:solidFill>
                  <a:srgbClr val="202429"/>
                </a:solidFill>
                <a:latin typeface="Tahoma"/>
                <a:cs typeface="Tahoma"/>
              </a:rPr>
              <a:t>generates</a:t>
            </a:r>
            <a:r>
              <a:rPr sz="1000" spc="-15" dirty="0">
                <a:solidFill>
                  <a:srgbClr val="202429"/>
                </a:solidFill>
                <a:latin typeface="Tahoma"/>
                <a:cs typeface="Tahoma"/>
              </a:rPr>
              <a:t> </a:t>
            </a:r>
            <a:r>
              <a:rPr sz="1000" spc="-20" dirty="0">
                <a:solidFill>
                  <a:srgbClr val="202429"/>
                </a:solidFill>
                <a:latin typeface="Tahoma"/>
                <a:cs typeface="Tahoma"/>
              </a:rPr>
              <a:t>vast</a:t>
            </a:r>
            <a:r>
              <a:rPr sz="1000" spc="-10" dirty="0">
                <a:solidFill>
                  <a:srgbClr val="202429"/>
                </a:solidFill>
                <a:latin typeface="Tahoma"/>
                <a:cs typeface="Tahoma"/>
              </a:rPr>
              <a:t> </a:t>
            </a:r>
            <a:r>
              <a:rPr sz="1000" b="1" spc="-35" dirty="0">
                <a:solidFill>
                  <a:srgbClr val="202429"/>
                </a:solidFill>
                <a:latin typeface="Arial"/>
                <a:cs typeface="Arial"/>
              </a:rPr>
              <a:t>unstructured</a:t>
            </a:r>
            <a:r>
              <a:rPr sz="1000" b="1" spc="55" dirty="0">
                <a:solidFill>
                  <a:srgbClr val="202429"/>
                </a:solidFill>
                <a:latin typeface="Arial"/>
                <a:cs typeface="Arial"/>
              </a:rPr>
              <a:t> </a:t>
            </a:r>
            <a:r>
              <a:rPr sz="1000" b="1" spc="-20" dirty="0">
                <a:solidFill>
                  <a:srgbClr val="202429"/>
                </a:solidFill>
                <a:latin typeface="Arial"/>
                <a:cs typeface="Arial"/>
              </a:rPr>
              <a:t>text</a:t>
            </a:r>
            <a:endParaRPr sz="1000">
              <a:latin typeface="Arial"/>
              <a:cs typeface="Arial"/>
            </a:endParaRPr>
          </a:p>
          <a:p>
            <a:pPr marL="117475" indent="-104775">
              <a:lnSpc>
                <a:spcPct val="100000"/>
              </a:lnSpc>
              <a:spcBef>
                <a:spcPts val="390"/>
              </a:spcBef>
              <a:buClr>
                <a:srgbClr val="005F73"/>
              </a:buClr>
              <a:buFont typeface="Times New Roman"/>
              <a:buChar char="•"/>
              <a:tabLst>
                <a:tab pos="117475" algn="l"/>
              </a:tabLst>
            </a:pPr>
            <a:r>
              <a:rPr sz="1000" spc="-25" dirty="0">
                <a:solidFill>
                  <a:srgbClr val="202429"/>
                </a:solidFill>
                <a:latin typeface="Tahoma"/>
                <a:cs typeface="Tahoma"/>
              </a:rPr>
              <a:t>Safety </a:t>
            </a:r>
            <a:r>
              <a:rPr sz="1000" spc="-35" dirty="0">
                <a:solidFill>
                  <a:srgbClr val="202429"/>
                </a:solidFill>
                <a:latin typeface="Tahoma"/>
                <a:cs typeface="Tahoma"/>
              </a:rPr>
              <a:t>reports</a:t>
            </a:r>
            <a:r>
              <a:rPr sz="1000" spc="-25" dirty="0">
                <a:solidFill>
                  <a:srgbClr val="202429"/>
                </a:solidFill>
                <a:latin typeface="Tahoma"/>
                <a:cs typeface="Tahoma"/>
              </a:rPr>
              <a:t> contain</a:t>
            </a:r>
            <a:r>
              <a:rPr sz="1000" spc="-15" dirty="0">
                <a:solidFill>
                  <a:srgbClr val="202429"/>
                </a:solidFill>
                <a:latin typeface="Tahoma"/>
                <a:cs typeface="Tahoma"/>
              </a:rPr>
              <a:t> </a:t>
            </a:r>
            <a:r>
              <a:rPr sz="1000" spc="-25" dirty="0">
                <a:solidFill>
                  <a:srgbClr val="202429"/>
                </a:solidFill>
                <a:latin typeface="Tahoma"/>
                <a:cs typeface="Tahoma"/>
              </a:rPr>
              <a:t>actionable </a:t>
            </a:r>
            <a:r>
              <a:rPr sz="1000" spc="-10" dirty="0">
                <a:solidFill>
                  <a:srgbClr val="202429"/>
                </a:solidFill>
                <a:latin typeface="Tahoma"/>
                <a:cs typeface="Tahoma"/>
              </a:rPr>
              <a:t>insights</a:t>
            </a:r>
            <a:endParaRPr sz="1000">
              <a:latin typeface="Tahoma"/>
              <a:cs typeface="Tahoma"/>
            </a:endParaRPr>
          </a:p>
          <a:p>
            <a:pPr marL="117475" indent="-104775">
              <a:lnSpc>
                <a:spcPct val="100000"/>
              </a:lnSpc>
              <a:spcBef>
                <a:spcPts val="395"/>
              </a:spcBef>
              <a:buClr>
                <a:srgbClr val="005F73"/>
              </a:buClr>
              <a:buFont typeface="Times New Roman"/>
              <a:buChar char="•"/>
              <a:tabLst>
                <a:tab pos="117475" algn="l"/>
              </a:tabLst>
            </a:pPr>
            <a:r>
              <a:rPr sz="1000" spc="-20" dirty="0">
                <a:solidFill>
                  <a:srgbClr val="202429"/>
                </a:solidFill>
                <a:latin typeface="Tahoma"/>
                <a:cs typeface="Tahoma"/>
              </a:rPr>
              <a:t>Patterns</a:t>
            </a:r>
            <a:r>
              <a:rPr sz="1000" spc="-30" dirty="0">
                <a:solidFill>
                  <a:srgbClr val="202429"/>
                </a:solidFill>
                <a:latin typeface="Tahoma"/>
                <a:cs typeface="Tahoma"/>
              </a:rPr>
              <a:t> </a:t>
            </a:r>
            <a:r>
              <a:rPr sz="1000" spc="-50" dirty="0">
                <a:solidFill>
                  <a:srgbClr val="202429"/>
                </a:solidFill>
                <a:latin typeface="Tahoma"/>
                <a:cs typeface="Tahoma"/>
              </a:rPr>
              <a:t>are</a:t>
            </a:r>
            <a:r>
              <a:rPr sz="1000" spc="-25" dirty="0">
                <a:solidFill>
                  <a:srgbClr val="202429"/>
                </a:solidFill>
                <a:latin typeface="Tahoma"/>
                <a:cs typeface="Tahoma"/>
              </a:rPr>
              <a:t> </a:t>
            </a:r>
            <a:r>
              <a:rPr sz="1000" b="1" spc="-25" dirty="0">
                <a:solidFill>
                  <a:srgbClr val="202429"/>
                </a:solidFill>
                <a:latin typeface="Arial"/>
                <a:cs typeface="Arial"/>
              </a:rPr>
              <a:t>hard</a:t>
            </a:r>
            <a:r>
              <a:rPr sz="1000" b="1" spc="35" dirty="0">
                <a:solidFill>
                  <a:srgbClr val="202429"/>
                </a:solidFill>
                <a:latin typeface="Arial"/>
                <a:cs typeface="Arial"/>
              </a:rPr>
              <a:t> </a:t>
            </a:r>
            <a:r>
              <a:rPr sz="1000" b="1" dirty="0">
                <a:solidFill>
                  <a:srgbClr val="202429"/>
                </a:solidFill>
                <a:latin typeface="Arial"/>
                <a:cs typeface="Arial"/>
              </a:rPr>
              <a:t>to</a:t>
            </a:r>
            <a:r>
              <a:rPr sz="1000" b="1" spc="40" dirty="0">
                <a:solidFill>
                  <a:srgbClr val="202429"/>
                </a:solidFill>
                <a:latin typeface="Arial"/>
                <a:cs typeface="Arial"/>
              </a:rPr>
              <a:t> </a:t>
            </a:r>
            <a:r>
              <a:rPr sz="1000" b="1" spc="-20" dirty="0">
                <a:solidFill>
                  <a:srgbClr val="202429"/>
                </a:solidFill>
                <a:latin typeface="Arial"/>
                <a:cs typeface="Arial"/>
              </a:rPr>
              <a:t>spot</a:t>
            </a:r>
            <a:r>
              <a:rPr sz="1000" b="1" spc="5" dirty="0">
                <a:solidFill>
                  <a:srgbClr val="202429"/>
                </a:solidFill>
                <a:latin typeface="Arial"/>
                <a:cs typeface="Arial"/>
              </a:rPr>
              <a:t> </a:t>
            </a:r>
            <a:r>
              <a:rPr sz="1000" dirty="0">
                <a:solidFill>
                  <a:srgbClr val="202429"/>
                </a:solidFill>
                <a:latin typeface="Tahoma"/>
                <a:cs typeface="Tahoma"/>
              </a:rPr>
              <a:t>at</a:t>
            </a:r>
            <a:r>
              <a:rPr sz="1000" spc="-25" dirty="0">
                <a:solidFill>
                  <a:srgbClr val="202429"/>
                </a:solidFill>
                <a:latin typeface="Tahoma"/>
                <a:cs typeface="Tahoma"/>
              </a:rPr>
              <a:t> </a:t>
            </a:r>
            <a:r>
              <a:rPr sz="1000" spc="-10" dirty="0">
                <a:solidFill>
                  <a:srgbClr val="202429"/>
                </a:solidFill>
                <a:latin typeface="Tahoma"/>
                <a:cs typeface="Tahoma"/>
              </a:rPr>
              <a:t>scale</a:t>
            </a:r>
            <a:endParaRPr sz="1000">
              <a:latin typeface="Tahoma"/>
              <a:cs typeface="Tahoma"/>
            </a:endParaRPr>
          </a:p>
          <a:p>
            <a:pPr marL="117475" indent="-104775">
              <a:lnSpc>
                <a:spcPct val="100000"/>
              </a:lnSpc>
              <a:spcBef>
                <a:spcPts val="555"/>
              </a:spcBef>
              <a:buClr>
                <a:srgbClr val="005F73"/>
              </a:buClr>
              <a:buFont typeface="Times New Roman"/>
              <a:buChar char="•"/>
              <a:tabLst>
                <a:tab pos="117475" algn="l"/>
              </a:tabLst>
            </a:pPr>
            <a:r>
              <a:rPr sz="1000" spc="-10" dirty="0">
                <a:solidFill>
                  <a:srgbClr val="202429"/>
                </a:solidFill>
                <a:latin typeface="Tahoma"/>
                <a:cs typeface="Tahoma"/>
              </a:rPr>
              <a:t>Manual</a:t>
            </a:r>
            <a:r>
              <a:rPr sz="1000" spc="-40" dirty="0">
                <a:solidFill>
                  <a:srgbClr val="202429"/>
                </a:solidFill>
                <a:latin typeface="Tahoma"/>
                <a:cs typeface="Tahoma"/>
              </a:rPr>
              <a:t> </a:t>
            </a:r>
            <a:r>
              <a:rPr sz="1000" spc="-35" dirty="0">
                <a:solidFill>
                  <a:srgbClr val="202429"/>
                </a:solidFill>
                <a:latin typeface="Tahoma"/>
                <a:cs typeface="Tahoma"/>
              </a:rPr>
              <a:t>analysis</a:t>
            </a:r>
            <a:r>
              <a:rPr sz="1000" spc="-30" dirty="0">
                <a:solidFill>
                  <a:srgbClr val="202429"/>
                </a:solidFill>
                <a:latin typeface="Tahoma"/>
                <a:cs typeface="Tahoma"/>
              </a:rPr>
              <a:t> </a:t>
            </a:r>
            <a:r>
              <a:rPr sz="1000" spc="-20" dirty="0">
                <a:solidFill>
                  <a:srgbClr val="202429"/>
                </a:solidFill>
                <a:latin typeface="Tahoma"/>
                <a:cs typeface="Tahoma"/>
              </a:rPr>
              <a:t>cannot</a:t>
            </a:r>
            <a:r>
              <a:rPr sz="1000" spc="-30" dirty="0">
                <a:solidFill>
                  <a:srgbClr val="202429"/>
                </a:solidFill>
                <a:latin typeface="Tahoma"/>
                <a:cs typeface="Tahoma"/>
              </a:rPr>
              <a:t> </a:t>
            </a:r>
            <a:r>
              <a:rPr sz="1000" spc="-60" dirty="0">
                <a:solidFill>
                  <a:srgbClr val="202429"/>
                </a:solidFill>
                <a:latin typeface="Tahoma"/>
                <a:cs typeface="Tahoma"/>
              </a:rPr>
              <a:t>keep</a:t>
            </a:r>
            <a:r>
              <a:rPr sz="1000" spc="-15" dirty="0">
                <a:solidFill>
                  <a:srgbClr val="202429"/>
                </a:solidFill>
                <a:latin typeface="Tahoma"/>
                <a:cs typeface="Tahoma"/>
              </a:rPr>
              <a:t> </a:t>
            </a:r>
            <a:r>
              <a:rPr sz="1000" spc="-20" dirty="0">
                <a:solidFill>
                  <a:srgbClr val="202429"/>
                </a:solidFill>
                <a:latin typeface="Tahoma"/>
                <a:cs typeface="Tahoma"/>
              </a:rPr>
              <a:t>pace</a:t>
            </a:r>
            <a:endParaRPr sz="1000">
              <a:latin typeface="Tahoma"/>
              <a:cs typeface="Tahoma"/>
            </a:endParaRPr>
          </a:p>
        </p:txBody>
      </p:sp>
      <p:sp>
        <p:nvSpPr>
          <p:cNvPr id="5" name="object 5"/>
          <p:cNvSpPr txBox="1"/>
          <p:nvPr/>
        </p:nvSpPr>
        <p:spPr>
          <a:xfrm>
            <a:off x="157327" y="2247239"/>
            <a:ext cx="2241550" cy="421005"/>
          </a:xfrm>
          <a:prstGeom prst="rect">
            <a:avLst/>
          </a:prstGeom>
          <a:solidFill>
            <a:srgbClr val="E8F4F8"/>
          </a:solidFill>
          <a:ln w="5060">
            <a:solidFill>
              <a:srgbClr val="005F73"/>
            </a:solidFill>
          </a:ln>
        </p:spPr>
        <p:txBody>
          <a:bodyPr vert="horz" wrap="square" lIns="0" tIns="9525" rIns="0" bIns="0" rtlCol="0">
            <a:spAutoFit/>
          </a:bodyPr>
          <a:lstStyle/>
          <a:p>
            <a:pPr marL="415925" marR="63500" indent="-345440">
              <a:lnSpc>
                <a:spcPct val="112900"/>
              </a:lnSpc>
              <a:spcBef>
                <a:spcPts val="75"/>
              </a:spcBef>
            </a:pPr>
            <a:r>
              <a:rPr sz="1000" dirty="0">
                <a:solidFill>
                  <a:srgbClr val="202429"/>
                </a:solidFill>
                <a:latin typeface="Tahoma"/>
                <a:cs typeface="Tahoma"/>
              </a:rPr>
              <a:t>By </a:t>
            </a:r>
            <a:r>
              <a:rPr sz="1000" spc="-25" dirty="0">
                <a:solidFill>
                  <a:srgbClr val="202429"/>
                </a:solidFill>
                <a:latin typeface="Tahoma"/>
                <a:cs typeface="Tahoma"/>
              </a:rPr>
              <a:t>identifying</a:t>
            </a:r>
            <a:r>
              <a:rPr sz="1000" spc="5" dirty="0">
                <a:solidFill>
                  <a:srgbClr val="202429"/>
                </a:solidFill>
                <a:latin typeface="Tahoma"/>
                <a:cs typeface="Tahoma"/>
              </a:rPr>
              <a:t> </a:t>
            </a:r>
            <a:r>
              <a:rPr sz="1000" spc="-30" dirty="0">
                <a:solidFill>
                  <a:srgbClr val="202429"/>
                </a:solidFill>
                <a:latin typeface="Tahoma"/>
                <a:cs typeface="Tahoma"/>
              </a:rPr>
              <a:t>recurring</a:t>
            </a:r>
            <a:r>
              <a:rPr sz="1000" spc="10" dirty="0">
                <a:solidFill>
                  <a:srgbClr val="202429"/>
                </a:solidFill>
                <a:latin typeface="Tahoma"/>
                <a:cs typeface="Tahoma"/>
              </a:rPr>
              <a:t> </a:t>
            </a:r>
            <a:r>
              <a:rPr sz="1000" spc="-50" dirty="0">
                <a:solidFill>
                  <a:srgbClr val="202429"/>
                </a:solidFill>
                <a:latin typeface="Tahoma"/>
                <a:cs typeface="Tahoma"/>
              </a:rPr>
              <a:t>themes,</a:t>
            </a:r>
            <a:r>
              <a:rPr sz="1000" spc="5" dirty="0">
                <a:solidFill>
                  <a:srgbClr val="202429"/>
                </a:solidFill>
                <a:latin typeface="Tahoma"/>
                <a:cs typeface="Tahoma"/>
              </a:rPr>
              <a:t> </a:t>
            </a:r>
            <a:r>
              <a:rPr sz="1000" spc="-85" dirty="0">
                <a:solidFill>
                  <a:srgbClr val="202429"/>
                </a:solidFill>
                <a:latin typeface="Tahoma"/>
                <a:cs typeface="Tahoma"/>
              </a:rPr>
              <a:t>we</a:t>
            </a:r>
            <a:r>
              <a:rPr sz="1000" spc="5" dirty="0">
                <a:solidFill>
                  <a:srgbClr val="202429"/>
                </a:solidFill>
                <a:latin typeface="Tahoma"/>
                <a:cs typeface="Tahoma"/>
              </a:rPr>
              <a:t> </a:t>
            </a:r>
            <a:r>
              <a:rPr sz="1000" spc="-25" dirty="0">
                <a:solidFill>
                  <a:srgbClr val="202429"/>
                </a:solidFill>
                <a:latin typeface="Tahoma"/>
                <a:cs typeface="Tahoma"/>
              </a:rPr>
              <a:t>can </a:t>
            </a:r>
            <a:r>
              <a:rPr sz="1000" spc="-30" dirty="0">
                <a:solidFill>
                  <a:srgbClr val="202429"/>
                </a:solidFill>
                <a:latin typeface="Tahoma"/>
                <a:cs typeface="Tahoma"/>
              </a:rPr>
              <a:t>help</a:t>
            </a:r>
            <a:r>
              <a:rPr sz="1000" spc="-45" dirty="0">
                <a:solidFill>
                  <a:srgbClr val="202429"/>
                </a:solidFill>
                <a:latin typeface="Tahoma"/>
                <a:cs typeface="Tahoma"/>
              </a:rPr>
              <a:t> </a:t>
            </a:r>
            <a:r>
              <a:rPr sz="1000" spc="-40" dirty="0">
                <a:solidFill>
                  <a:srgbClr val="202429"/>
                </a:solidFill>
                <a:latin typeface="Tahoma"/>
                <a:cs typeface="Tahoma"/>
              </a:rPr>
              <a:t>prevent </a:t>
            </a:r>
            <a:r>
              <a:rPr sz="1000" spc="-20" dirty="0">
                <a:solidFill>
                  <a:srgbClr val="202429"/>
                </a:solidFill>
                <a:latin typeface="Tahoma"/>
                <a:cs typeface="Tahoma"/>
              </a:rPr>
              <a:t>future</a:t>
            </a:r>
            <a:r>
              <a:rPr sz="1000" spc="-40" dirty="0">
                <a:solidFill>
                  <a:srgbClr val="202429"/>
                </a:solidFill>
                <a:latin typeface="Tahoma"/>
                <a:cs typeface="Tahoma"/>
              </a:rPr>
              <a:t> </a:t>
            </a:r>
            <a:r>
              <a:rPr sz="1000" spc="-10" dirty="0">
                <a:solidFill>
                  <a:srgbClr val="202429"/>
                </a:solidFill>
                <a:latin typeface="Tahoma"/>
                <a:cs typeface="Tahoma"/>
              </a:rPr>
              <a:t>harm.</a:t>
            </a:r>
            <a:endParaRPr sz="1000">
              <a:latin typeface="Tahoma"/>
              <a:cs typeface="Tahoma"/>
            </a:endParaRPr>
          </a:p>
        </p:txBody>
      </p:sp>
      <p:sp>
        <p:nvSpPr>
          <p:cNvPr id="6" name="object 6"/>
          <p:cNvSpPr/>
          <p:nvPr/>
        </p:nvSpPr>
        <p:spPr>
          <a:xfrm>
            <a:off x="2880004" y="1163815"/>
            <a:ext cx="0" cy="1440180"/>
          </a:xfrm>
          <a:custGeom>
            <a:avLst/>
            <a:gdLst/>
            <a:ahLst/>
            <a:cxnLst/>
            <a:rect l="l" t="t" r="r" b="b"/>
            <a:pathLst>
              <a:path h="1440180">
                <a:moveTo>
                  <a:pt x="0" y="1440002"/>
                </a:moveTo>
                <a:lnTo>
                  <a:pt x="0" y="0"/>
                </a:lnTo>
              </a:path>
            </a:pathLst>
          </a:custGeom>
          <a:ln w="6325">
            <a:solidFill>
              <a:srgbClr val="CED3DA"/>
            </a:solidFill>
          </a:ln>
        </p:spPr>
        <p:txBody>
          <a:bodyPr wrap="square" lIns="0" tIns="0" rIns="0" bIns="0" rtlCol="0"/>
          <a:lstStyle/>
          <a:p>
            <a:endParaRPr/>
          </a:p>
        </p:txBody>
      </p:sp>
      <p:sp>
        <p:nvSpPr>
          <p:cNvPr id="7" name="object 7"/>
          <p:cNvSpPr txBox="1"/>
          <p:nvPr/>
        </p:nvSpPr>
        <p:spPr>
          <a:xfrm>
            <a:off x="3072510" y="875280"/>
            <a:ext cx="2419985" cy="1234440"/>
          </a:xfrm>
          <a:prstGeom prst="rect">
            <a:avLst/>
          </a:prstGeom>
        </p:spPr>
        <p:txBody>
          <a:bodyPr vert="horz" wrap="square" lIns="0" tIns="69215" rIns="0" bIns="0" rtlCol="0">
            <a:spAutoFit/>
          </a:bodyPr>
          <a:lstStyle/>
          <a:p>
            <a:pPr marL="12700">
              <a:lnSpc>
                <a:spcPct val="100000"/>
              </a:lnSpc>
              <a:spcBef>
                <a:spcPts val="545"/>
              </a:spcBef>
            </a:pPr>
            <a:r>
              <a:rPr sz="1100" b="1" dirty="0">
                <a:solidFill>
                  <a:srgbClr val="202429"/>
                </a:solidFill>
                <a:latin typeface="Arial"/>
                <a:cs typeface="Arial"/>
              </a:rPr>
              <a:t>The</a:t>
            </a:r>
            <a:r>
              <a:rPr sz="1100" b="1" spc="90" dirty="0">
                <a:solidFill>
                  <a:srgbClr val="202429"/>
                </a:solidFill>
                <a:latin typeface="Arial"/>
                <a:cs typeface="Arial"/>
              </a:rPr>
              <a:t> </a:t>
            </a:r>
            <a:r>
              <a:rPr sz="1100" b="1" spc="-10" dirty="0">
                <a:solidFill>
                  <a:srgbClr val="202429"/>
                </a:solidFill>
                <a:latin typeface="Arial"/>
                <a:cs typeface="Arial"/>
              </a:rPr>
              <a:t>considerations:</a:t>
            </a:r>
            <a:endParaRPr sz="1100">
              <a:latin typeface="Arial"/>
              <a:cs typeface="Arial"/>
            </a:endParaRPr>
          </a:p>
          <a:p>
            <a:pPr marL="117475" marR="5080" indent="-104775">
              <a:lnSpc>
                <a:spcPct val="100000"/>
              </a:lnSpc>
              <a:spcBef>
                <a:spcPts val="414"/>
              </a:spcBef>
              <a:buClr>
                <a:srgbClr val="D65F2C"/>
              </a:buClr>
              <a:buFont typeface="Times New Roman"/>
              <a:buChar char="•"/>
              <a:tabLst>
                <a:tab pos="117475" algn="l"/>
              </a:tabLst>
            </a:pPr>
            <a:r>
              <a:rPr sz="1000" spc="-10" dirty="0">
                <a:solidFill>
                  <a:srgbClr val="202429"/>
                </a:solidFill>
                <a:latin typeface="Tahoma"/>
                <a:cs typeface="Tahoma"/>
              </a:rPr>
              <a:t>Health</a:t>
            </a:r>
            <a:r>
              <a:rPr sz="1000" spc="-35" dirty="0">
                <a:solidFill>
                  <a:srgbClr val="202429"/>
                </a:solidFill>
                <a:latin typeface="Tahoma"/>
                <a:cs typeface="Tahoma"/>
              </a:rPr>
              <a:t> </a:t>
            </a:r>
            <a:r>
              <a:rPr sz="1000" spc="-20" dirty="0">
                <a:solidFill>
                  <a:srgbClr val="202429"/>
                </a:solidFill>
                <a:latin typeface="Tahoma"/>
                <a:cs typeface="Tahoma"/>
              </a:rPr>
              <a:t>data</a:t>
            </a:r>
            <a:r>
              <a:rPr sz="1000" spc="-30" dirty="0">
                <a:solidFill>
                  <a:srgbClr val="202429"/>
                </a:solidFill>
                <a:latin typeface="Tahoma"/>
                <a:cs typeface="Tahoma"/>
              </a:rPr>
              <a:t> </a:t>
            </a:r>
            <a:r>
              <a:rPr sz="1000" spc="-40" dirty="0">
                <a:solidFill>
                  <a:srgbClr val="202429"/>
                </a:solidFill>
                <a:latin typeface="Tahoma"/>
                <a:cs typeface="Tahoma"/>
              </a:rPr>
              <a:t>requires</a:t>
            </a:r>
            <a:r>
              <a:rPr sz="1000" spc="-30" dirty="0">
                <a:solidFill>
                  <a:srgbClr val="202429"/>
                </a:solidFill>
                <a:latin typeface="Tahoma"/>
                <a:cs typeface="Tahoma"/>
              </a:rPr>
              <a:t> </a:t>
            </a:r>
            <a:r>
              <a:rPr sz="1000" spc="-35" dirty="0">
                <a:solidFill>
                  <a:srgbClr val="202429"/>
                </a:solidFill>
                <a:latin typeface="Tahoma"/>
                <a:cs typeface="Tahoma"/>
              </a:rPr>
              <a:t>careful</a:t>
            </a:r>
            <a:r>
              <a:rPr sz="1000" spc="-30" dirty="0">
                <a:solidFill>
                  <a:srgbClr val="202429"/>
                </a:solidFill>
                <a:latin typeface="Tahoma"/>
                <a:cs typeface="Tahoma"/>
              </a:rPr>
              <a:t> handling under </a:t>
            </a:r>
            <a:r>
              <a:rPr sz="1000" spc="-20" dirty="0">
                <a:solidFill>
                  <a:srgbClr val="202429"/>
                </a:solidFill>
                <a:latin typeface="Tahoma"/>
                <a:cs typeface="Tahoma"/>
              </a:rPr>
              <a:t>GDPR</a:t>
            </a:r>
            <a:endParaRPr sz="1000">
              <a:latin typeface="Tahoma"/>
              <a:cs typeface="Tahoma"/>
            </a:endParaRPr>
          </a:p>
          <a:p>
            <a:pPr marL="117475" indent="-104775">
              <a:lnSpc>
                <a:spcPct val="100000"/>
              </a:lnSpc>
              <a:spcBef>
                <a:spcPts val="390"/>
              </a:spcBef>
              <a:buClr>
                <a:srgbClr val="D65F2C"/>
              </a:buClr>
              <a:buFont typeface="Times New Roman"/>
              <a:buChar char="•"/>
              <a:tabLst>
                <a:tab pos="117475" algn="l"/>
              </a:tabLst>
            </a:pPr>
            <a:r>
              <a:rPr sz="1000" dirty="0">
                <a:solidFill>
                  <a:srgbClr val="202429"/>
                </a:solidFill>
                <a:latin typeface="Tahoma"/>
                <a:cs typeface="Tahoma"/>
              </a:rPr>
              <a:t>AI</a:t>
            </a:r>
            <a:r>
              <a:rPr sz="1000" spc="-50" dirty="0">
                <a:solidFill>
                  <a:srgbClr val="202429"/>
                </a:solidFill>
                <a:latin typeface="Tahoma"/>
                <a:cs typeface="Tahoma"/>
              </a:rPr>
              <a:t> </a:t>
            </a:r>
            <a:r>
              <a:rPr sz="1000" spc="-25" dirty="0">
                <a:solidFill>
                  <a:srgbClr val="202429"/>
                </a:solidFill>
                <a:latin typeface="Tahoma"/>
                <a:cs typeface="Tahoma"/>
              </a:rPr>
              <a:t>must</a:t>
            </a:r>
            <a:r>
              <a:rPr sz="1000" spc="-45" dirty="0">
                <a:solidFill>
                  <a:srgbClr val="202429"/>
                </a:solidFill>
                <a:latin typeface="Tahoma"/>
                <a:cs typeface="Tahoma"/>
              </a:rPr>
              <a:t> </a:t>
            </a:r>
            <a:r>
              <a:rPr sz="1000" spc="-35" dirty="0">
                <a:solidFill>
                  <a:srgbClr val="202429"/>
                </a:solidFill>
                <a:latin typeface="Tahoma"/>
                <a:cs typeface="Tahoma"/>
              </a:rPr>
              <a:t>perform</a:t>
            </a:r>
            <a:r>
              <a:rPr sz="1000" spc="-40" dirty="0">
                <a:solidFill>
                  <a:srgbClr val="202429"/>
                </a:solidFill>
                <a:latin typeface="Tahoma"/>
                <a:cs typeface="Tahoma"/>
              </a:rPr>
              <a:t> </a:t>
            </a:r>
            <a:r>
              <a:rPr sz="1000" b="1" spc="-10" dirty="0">
                <a:solidFill>
                  <a:srgbClr val="202429"/>
                </a:solidFill>
                <a:latin typeface="Arial"/>
                <a:cs typeface="Arial"/>
              </a:rPr>
              <a:t>fairly</a:t>
            </a:r>
            <a:r>
              <a:rPr sz="1000" b="1" spc="15" dirty="0">
                <a:solidFill>
                  <a:srgbClr val="202429"/>
                </a:solidFill>
                <a:latin typeface="Arial"/>
                <a:cs typeface="Arial"/>
              </a:rPr>
              <a:t> </a:t>
            </a:r>
            <a:r>
              <a:rPr sz="1000" b="1" spc="-65" dirty="0">
                <a:solidFill>
                  <a:srgbClr val="202429"/>
                </a:solidFill>
                <a:latin typeface="Arial"/>
                <a:cs typeface="Arial"/>
              </a:rPr>
              <a:t>across</a:t>
            </a:r>
            <a:r>
              <a:rPr sz="1000" b="1" spc="20" dirty="0">
                <a:solidFill>
                  <a:srgbClr val="202429"/>
                </a:solidFill>
                <a:latin typeface="Arial"/>
                <a:cs typeface="Arial"/>
              </a:rPr>
              <a:t> </a:t>
            </a:r>
            <a:r>
              <a:rPr sz="1000" b="1" dirty="0">
                <a:solidFill>
                  <a:srgbClr val="202429"/>
                </a:solidFill>
                <a:latin typeface="Arial"/>
                <a:cs typeface="Arial"/>
              </a:rPr>
              <a:t>all</a:t>
            </a:r>
            <a:r>
              <a:rPr sz="1000" b="1" spc="20" dirty="0">
                <a:solidFill>
                  <a:srgbClr val="202429"/>
                </a:solidFill>
                <a:latin typeface="Arial"/>
                <a:cs typeface="Arial"/>
              </a:rPr>
              <a:t> </a:t>
            </a:r>
            <a:r>
              <a:rPr sz="1000" b="1" spc="-10" dirty="0">
                <a:solidFill>
                  <a:srgbClr val="202429"/>
                </a:solidFill>
                <a:latin typeface="Arial"/>
                <a:cs typeface="Arial"/>
              </a:rPr>
              <a:t>groups</a:t>
            </a:r>
            <a:endParaRPr sz="1000">
              <a:latin typeface="Arial"/>
              <a:cs typeface="Arial"/>
            </a:endParaRPr>
          </a:p>
          <a:p>
            <a:pPr marL="117475" indent="-104775">
              <a:lnSpc>
                <a:spcPct val="100000"/>
              </a:lnSpc>
              <a:spcBef>
                <a:spcPts val="390"/>
              </a:spcBef>
              <a:buClr>
                <a:srgbClr val="D65F2C"/>
              </a:buClr>
              <a:buFont typeface="Times New Roman"/>
              <a:buChar char="•"/>
              <a:tabLst>
                <a:tab pos="117475" algn="l"/>
              </a:tabLst>
            </a:pPr>
            <a:r>
              <a:rPr sz="1000" spc="-20" dirty="0">
                <a:solidFill>
                  <a:srgbClr val="202429"/>
                </a:solidFill>
                <a:latin typeface="Tahoma"/>
                <a:cs typeface="Tahoma"/>
              </a:rPr>
              <a:t>Findings</a:t>
            </a:r>
            <a:r>
              <a:rPr sz="1000" spc="-40" dirty="0">
                <a:solidFill>
                  <a:srgbClr val="202429"/>
                </a:solidFill>
                <a:latin typeface="Tahoma"/>
                <a:cs typeface="Tahoma"/>
              </a:rPr>
              <a:t> </a:t>
            </a:r>
            <a:r>
              <a:rPr sz="1000" spc="-25" dirty="0">
                <a:solidFill>
                  <a:srgbClr val="202429"/>
                </a:solidFill>
                <a:latin typeface="Tahoma"/>
                <a:cs typeface="Tahoma"/>
              </a:rPr>
              <a:t>must</a:t>
            </a:r>
            <a:r>
              <a:rPr sz="1000" spc="-35" dirty="0">
                <a:solidFill>
                  <a:srgbClr val="202429"/>
                </a:solidFill>
                <a:latin typeface="Tahoma"/>
                <a:cs typeface="Tahoma"/>
              </a:rPr>
              <a:t> </a:t>
            </a:r>
            <a:r>
              <a:rPr sz="1000" spc="-10" dirty="0">
                <a:solidFill>
                  <a:srgbClr val="202429"/>
                </a:solidFill>
                <a:latin typeface="Tahoma"/>
                <a:cs typeface="Tahoma"/>
              </a:rPr>
              <a:t>be</a:t>
            </a:r>
            <a:r>
              <a:rPr sz="1000" spc="-35" dirty="0">
                <a:solidFill>
                  <a:srgbClr val="202429"/>
                </a:solidFill>
                <a:latin typeface="Tahoma"/>
                <a:cs typeface="Tahoma"/>
              </a:rPr>
              <a:t> </a:t>
            </a:r>
            <a:r>
              <a:rPr sz="1000" b="1" spc="-25" dirty="0">
                <a:solidFill>
                  <a:srgbClr val="202429"/>
                </a:solidFill>
                <a:latin typeface="Arial"/>
                <a:cs typeface="Arial"/>
              </a:rPr>
              <a:t>traceable</a:t>
            </a:r>
            <a:r>
              <a:rPr sz="1000" b="1" dirty="0">
                <a:solidFill>
                  <a:srgbClr val="202429"/>
                </a:solidFill>
                <a:latin typeface="Arial"/>
                <a:cs typeface="Arial"/>
              </a:rPr>
              <a:t> </a:t>
            </a:r>
            <a:r>
              <a:rPr sz="1000" spc="-25" dirty="0">
                <a:solidFill>
                  <a:srgbClr val="202429"/>
                </a:solidFill>
                <a:latin typeface="Tahoma"/>
                <a:cs typeface="Tahoma"/>
              </a:rPr>
              <a:t>and</a:t>
            </a:r>
            <a:r>
              <a:rPr sz="1000" spc="-40" dirty="0">
                <a:solidFill>
                  <a:srgbClr val="202429"/>
                </a:solidFill>
                <a:latin typeface="Tahoma"/>
                <a:cs typeface="Tahoma"/>
              </a:rPr>
              <a:t> </a:t>
            </a:r>
            <a:r>
              <a:rPr sz="1000" spc="-10" dirty="0">
                <a:solidFill>
                  <a:srgbClr val="202429"/>
                </a:solidFill>
                <a:latin typeface="Tahoma"/>
                <a:cs typeface="Tahoma"/>
              </a:rPr>
              <a:t>veriﬁable</a:t>
            </a:r>
            <a:endParaRPr sz="1000">
              <a:latin typeface="Tahoma"/>
              <a:cs typeface="Tahoma"/>
            </a:endParaRPr>
          </a:p>
          <a:p>
            <a:pPr marL="117475" indent="-104775">
              <a:lnSpc>
                <a:spcPct val="100000"/>
              </a:lnSpc>
              <a:spcBef>
                <a:spcPts val="555"/>
              </a:spcBef>
              <a:buClr>
                <a:srgbClr val="D65F2C"/>
              </a:buClr>
              <a:buFont typeface="Times New Roman"/>
              <a:buChar char="•"/>
              <a:tabLst>
                <a:tab pos="117475" algn="l"/>
              </a:tabLst>
            </a:pPr>
            <a:r>
              <a:rPr sz="1000" spc="-25" dirty="0">
                <a:solidFill>
                  <a:srgbClr val="202429"/>
                </a:solidFill>
                <a:latin typeface="Tahoma"/>
                <a:cs typeface="Tahoma"/>
              </a:rPr>
              <a:t>Human</a:t>
            </a:r>
            <a:r>
              <a:rPr sz="1000" spc="-20" dirty="0">
                <a:solidFill>
                  <a:srgbClr val="202429"/>
                </a:solidFill>
                <a:latin typeface="Tahoma"/>
                <a:cs typeface="Tahoma"/>
              </a:rPr>
              <a:t> </a:t>
            </a:r>
            <a:r>
              <a:rPr sz="1000" spc="-35" dirty="0">
                <a:solidFill>
                  <a:srgbClr val="202429"/>
                </a:solidFill>
                <a:latin typeface="Tahoma"/>
                <a:cs typeface="Tahoma"/>
              </a:rPr>
              <a:t>oversight</a:t>
            </a:r>
            <a:r>
              <a:rPr sz="1000" spc="-15" dirty="0">
                <a:solidFill>
                  <a:srgbClr val="202429"/>
                </a:solidFill>
                <a:latin typeface="Tahoma"/>
                <a:cs typeface="Tahoma"/>
              </a:rPr>
              <a:t> </a:t>
            </a:r>
            <a:r>
              <a:rPr sz="1000" spc="-40" dirty="0">
                <a:solidFill>
                  <a:srgbClr val="202429"/>
                </a:solidFill>
                <a:latin typeface="Tahoma"/>
                <a:cs typeface="Tahoma"/>
              </a:rPr>
              <a:t>remains</a:t>
            </a:r>
            <a:r>
              <a:rPr sz="1000" spc="-20" dirty="0">
                <a:solidFill>
                  <a:srgbClr val="202429"/>
                </a:solidFill>
                <a:latin typeface="Tahoma"/>
                <a:cs typeface="Tahoma"/>
              </a:rPr>
              <a:t> </a:t>
            </a:r>
            <a:r>
              <a:rPr sz="1000" spc="-10" dirty="0">
                <a:solidFill>
                  <a:srgbClr val="202429"/>
                </a:solidFill>
                <a:latin typeface="Tahoma"/>
                <a:cs typeface="Tahoma"/>
              </a:rPr>
              <a:t>essential</a:t>
            </a:r>
            <a:endParaRPr sz="1000">
              <a:latin typeface="Tahoma"/>
              <a:cs typeface="Tahoma"/>
            </a:endParaRPr>
          </a:p>
        </p:txBody>
      </p:sp>
      <p:sp>
        <p:nvSpPr>
          <p:cNvPr id="8" name="object 8"/>
          <p:cNvSpPr txBox="1"/>
          <p:nvPr/>
        </p:nvSpPr>
        <p:spPr>
          <a:xfrm>
            <a:off x="3082354" y="2232254"/>
            <a:ext cx="2241550" cy="421005"/>
          </a:xfrm>
          <a:prstGeom prst="rect">
            <a:avLst/>
          </a:prstGeom>
          <a:solidFill>
            <a:srgbClr val="FFF3EB"/>
          </a:solidFill>
          <a:ln w="5060">
            <a:solidFill>
              <a:srgbClr val="D65F2C"/>
            </a:solidFill>
          </a:ln>
        </p:spPr>
        <p:txBody>
          <a:bodyPr vert="horz" wrap="square" lIns="0" tIns="8890" rIns="0" bIns="0" rtlCol="0">
            <a:spAutoFit/>
          </a:bodyPr>
          <a:lstStyle/>
          <a:p>
            <a:pPr marL="408305" marR="203200" indent="-197485">
              <a:lnSpc>
                <a:spcPct val="112900"/>
              </a:lnSpc>
              <a:spcBef>
                <a:spcPts val="70"/>
              </a:spcBef>
            </a:pPr>
            <a:r>
              <a:rPr sz="1000" spc="-40" dirty="0">
                <a:solidFill>
                  <a:srgbClr val="202429"/>
                </a:solidFill>
                <a:latin typeface="Tahoma"/>
                <a:cs typeface="Tahoma"/>
              </a:rPr>
              <a:t>Responsible</a:t>
            </a:r>
            <a:r>
              <a:rPr sz="1000" spc="5" dirty="0">
                <a:solidFill>
                  <a:srgbClr val="202429"/>
                </a:solidFill>
                <a:latin typeface="Tahoma"/>
                <a:cs typeface="Tahoma"/>
              </a:rPr>
              <a:t> </a:t>
            </a:r>
            <a:r>
              <a:rPr sz="1000" dirty="0">
                <a:solidFill>
                  <a:srgbClr val="202429"/>
                </a:solidFill>
                <a:latin typeface="Tahoma"/>
                <a:cs typeface="Tahoma"/>
              </a:rPr>
              <a:t>AI </a:t>
            </a:r>
            <a:r>
              <a:rPr sz="1000" spc="-65" dirty="0">
                <a:solidFill>
                  <a:srgbClr val="202429"/>
                </a:solidFill>
                <a:latin typeface="Tahoma"/>
                <a:cs typeface="Tahoma"/>
              </a:rPr>
              <a:t>means</a:t>
            </a:r>
            <a:r>
              <a:rPr sz="1000" dirty="0">
                <a:solidFill>
                  <a:srgbClr val="202429"/>
                </a:solidFill>
                <a:latin typeface="Tahoma"/>
                <a:cs typeface="Tahoma"/>
              </a:rPr>
              <a:t> </a:t>
            </a:r>
            <a:r>
              <a:rPr sz="1000" spc="-40" dirty="0">
                <a:solidFill>
                  <a:srgbClr val="202429"/>
                </a:solidFill>
                <a:latin typeface="Tahoma"/>
                <a:cs typeface="Tahoma"/>
              </a:rPr>
              <a:t>designing</a:t>
            </a:r>
            <a:r>
              <a:rPr sz="1000" spc="10" dirty="0">
                <a:solidFill>
                  <a:srgbClr val="202429"/>
                </a:solidFill>
                <a:latin typeface="Tahoma"/>
                <a:cs typeface="Tahoma"/>
              </a:rPr>
              <a:t> </a:t>
            </a:r>
            <a:r>
              <a:rPr sz="1000" spc="-25" dirty="0">
                <a:solidFill>
                  <a:srgbClr val="202429"/>
                </a:solidFill>
                <a:latin typeface="Tahoma"/>
                <a:cs typeface="Tahoma"/>
              </a:rPr>
              <a:t>in </a:t>
            </a:r>
            <a:r>
              <a:rPr sz="1000" spc="-55" dirty="0">
                <a:solidFill>
                  <a:srgbClr val="202429"/>
                </a:solidFill>
                <a:latin typeface="Tahoma"/>
                <a:cs typeface="Tahoma"/>
              </a:rPr>
              <a:t>safeguards</a:t>
            </a:r>
            <a:r>
              <a:rPr sz="1000" spc="-25" dirty="0">
                <a:solidFill>
                  <a:srgbClr val="202429"/>
                </a:solidFill>
                <a:latin typeface="Tahoma"/>
                <a:cs typeface="Tahoma"/>
              </a:rPr>
              <a:t> </a:t>
            </a:r>
            <a:r>
              <a:rPr sz="1000" spc="-10" dirty="0">
                <a:solidFill>
                  <a:srgbClr val="202429"/>
                </a:solidFill>
                <a:latin typeface="Tahoma"/>
                <a:cs typeface="Tahoma"/>
              </a:rPr>
              <a:t>from</a:t>
            </a:r>
            <a:r>
              <a:rPr sz="1000" spc="-70" dirty="0">
                <a:solidFill>
                  <a:srgbClr val="202429"/>
                </a:solidFill>
                <a:latin typeface="Tahoma"/>
                <a:cs typeface="Tahoma"/>
              </a:rPr>
              <a:t> </a:t>
            </a:r>
            <a:r>
              <a:rPr sz="1000" spc="-10" dirty="0">
                <a:solidFill>
                  <a:srgbClr val="202429"/>
                </a:solidFill>
                <a:latin typeface="Tahoma"/>
                <a:cs typeface="Tahoma"/>
              </a:rPr>
              <a:t>the</a:t>
            </a:r>
            <a:r>
              <a:rPr sz="1000" spc="-50" dirty="0">
                <a:solidFill>
                  <a:srgbClr val="202429"/>
                </a:solidFill>
                <a:latin typeface="Tahoma"/>
                <a:cs typeface="Tahoma"/>
              </a:rPr>
              <a:t> </a:t>
            </a:r>
            <a:r>
              <a:rPr sz="1000" spc="-10" dirty="0">
                <a:solidFill>
                  <a:srgbClr val="202429"/>
                </a:solidFill>
                <a:latin typeface="Tahoma"/>
                <a:cs typeface="Tahoma"/>
              </a:rPr>
              <a:t>start.</a:t>
            </a:r>
            <a:endParaRPr sz="1000" dirty="0">
              <a:latin typeface="Tahoma"/>
              <a:cs typeface="Tahoma"/>
            </a:endParaRPr>
          </a:p>
        </p:txBody>
      </p:sp>
      <p:sp>
        <p:nvSpPr>
          <p:cNvPr id="9" name="object 9"/>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2" name="Slide Number Placeholder 11">
            <a:extLst>
              <a:ext uri="{FF2B5EF4-FFF2-40B4-BE49-F238E27FC236}">
                <a16:creationId xmlns:a16="http://schemas.microsoft.com/office/drawing/2014/main" id="{10F6926D-6B45-6EB4-F8AB-A4355883AFA4}"/>
              </a:ext>
            </a:extLst>
          </p:cNvPr>
          <p:cNvSpPr>
            <a:spLocks noGrp="1"/>
          </p:cNvSpPr>
          <p:nvPr>
            <p:ph type="sldNum" sz="quarter" idx="7"/>
          </p:nvPr>
        </p:nvSpPr>
        <p:spPr>
          <a:xfrm>
            <a:off x="5211445" y="3070861"/>
            <a:ext cx="548640" cy="173989"/>
          </a:xfrm>
        </p:spPr>
        <p:txBody>
          <a:bodyPr/>
          <a:lstStyle/>
          <a:p>
            <a:pPr marL="39370">
              <a:lnSpc>
                <a:spcPct val="100000"/>
              </a:lnSpc>
              <a:spcBef>
                <a:spcPts val="219"/>
              </a:spcBef>
            </a:pPr>
            <a:fld id="{81D60167-4931-47E6-BA6A-407CBD079E47}" type="slidenum">
              <a:rPr lang="en-GB" smtClean="0"/>
              <a:t>5</a:t>
            </a:fld>
            <a:r>
              <a:rPr lang="en-GB" spc="20"/>
              <a:t> </a:t>
            </a:r>
            <a:r>
              <a:rPr lang="en-GB" spc="120"/>
              <a:t>/</a:t>
            </a:r>
            <a:r>
              <a:rPr lang="en-GB" spc="25"/>
              <a:t> </a:t>
            </a:r>
            <a:r>
              <a:rPr lang="en-GB" spc="-25"/>
              <a:t>39</a:t>
            </a:r>
            <a:endParaRPr lang="en-GB" spc="-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081239" y="345842"/>
            <a:ext cx="3574415" cy="1691639"/>
          </a:xfrm>
          <a:prstGeom prst="rect">
            <a:avLst/>
          </a:prstGeom>
        </p:spPr>
        <p:txBody>
          <a:bodyPr vert="horz" wrap="square" lIns="0" tIns="79375" rIns="0" bIns="0" rtlCol="0">
            <a:spAutoFit/>
          </a:bodyPr>
          <a:lstStyle/>
          <a:p>
            <a:pPr marL="12700" marR="5080" algn="ctr">
              <a:lnSpc>
                <a:spcPts val="2330"/>
              </a:lnSpc>
              <a:spcBef>
                <a:spcPts val="625"/>
              </a:spcBef>
            </a:pPr>
            <a:r>
              <a:rPr sz="2400" i="1" spc="-25" dirty="0">
                <a:solidFill>
                  <a:srgbClr val="202429"/>
                </a:solidFill>
                <a:latin typeface="Calibri"/>
                <a:cs typeface="Calibri"/>
              </a:rPr>
              <a:t>How</a:t>
            </a:r>
            <a:r>
              <a:rPr sz="2400" i="1" spc="20" dirty="0">
                <a:solidFill>
                  <a:srgbClr val="202429"/>
                </a:solidFill>
                <a:latin typeface="Calibri"/>
                <a:cs typeface="Calibri"/>
              </a:rPr>
              <a:t> </a:t>
            </a:r>
            <a:r>
              <a:rPr sz="2400" i="1" dirty="0">
                <a:solidFill>
                  <a:srgbClr val="202429"/>
                </a:solidFill>
                <a:latin typeface="Calibri"/>
                <a:cs typeface="Calibri"/>
              </a:rPr>
              <a:t>can</a:t>
            </a:r>
            <a:r>
              <a:rPr sz="2400" i="1" spc="25" dirty="0">
                <a:solidFill>
                  <a:srgbClr val="202429"/>
                </a:solidFill>
                <a:latin typeface="Calibri"/>
                <a:cs typeface="Calibri"/>
              </a:rPr>
              <a:t> </a:t>
            </a:r>
            <a:r>
              <a:rPr sz="2400" i="1" spc="-85" dirty="0">
                <a:solidFill>
                  <a:srgbClr val="202429"/>
                </a:solidFill>
                <a:latin typeface="Calibri"/>
                <a:cs typeface="Calibri"/>
              </a:rPr>
              <a:t>we</a:t>
            </a:r>
            <a:r>
              <a:rPr sz="2400" i="1" spc="30" dirty="0">
                <a:solidFill>
                  <a:srgbClr val="202429"/>
                </a:solidFill>
                <a:latin typeface="Calibri"/>
                <a:cs typeface="Calibri"/>
              </a:rPr>
              <a:t> </a:t>
            </a:r>
            <a:r>
              <a:rPr sz="2400" i="1" spc="-30" dirty="0">
                <a:solidFill>
                  <a:srgbClr val="202429"/>
                </a:solidFill>
                <a:latin typeface="Calibri"/>
                <a:cs typeface="Calibri"/>
              </a:rPr>
              <a:t>use</a:t>
            </a:r>
            <a:r>
              <a:rPr sz="2400" i="1" spc="25" dirty="0">
                <a:solidFill>
                  <a:srgbClr val="202429"/>
                </a:solidFill>
                <a:latin typeface="Calibri"/>
                <a:cs typeface="Calibri"/>
              </a:rPr>
              <a:t> </a:t>
            </a:r>
            <a:r>
              <a:rPr sz="2400" i="1" spc="55" dirty="0">
                <a:solidFill>
                  <a:srgbClr val="202429"/>
                </a:solidFill>
                <a:latin typeface="Calibri"/>
                <a:cs typeface="Calibri"/>
              </a:rPr>
              <a:t>AI</a:t>
            </a:r>
            <a:r>
              <a:rPr sz="2400" i="1" spc="25" dirty="0">
                <a:solidFill>
                  <a:srgbClr val="202429"/>
                </a:solidFill>
                <a:latin typeface="Calibri"/>
                <a:cs typeface="Calibri"/>
              </a:rPr>
              <a:t> </a:t>
            </a:r>
            <a:r>
              <a:rPr sz="2400" i="1" dirty="0">
                <a:solidFill>
                  <a:srgbClr val="202429"/>
                </a:solidFill>
                <a:latin typeface="Calibri"/>
                <a:cs typeface="Calibri"/>
              </a:rPr>
              <a:t>to</a:t>
            </a:r>
            <a:r>
              <a:rPr sz="2400" i="1" spc="25" dirty="0">
                <a:solidFill>
                  <a:srgbClr val="202429"/>
                </a:solidFill>
                <a:latin typeface="Calibri"/>
                <a:cs typeface="Calibri"/>
              </a:rPr>
              <a:t> </a:t>
            </a:r>
            <a:r>
              <a:rPr sz="2400" i="1" spc="-40" dirty="0">
                <a:solidFill>
                  <a:srgbClr val="202429"/>
                </a:solidFill>
                <a:latin typeface="Calibri"/>
                <a:cs typeface="Calibri"/>
              </a:rPr>
              <a:t>extract </a:t>
            </a:r>
            <a:r>
              <a:rPr sz="2400" i="1" spc="-65" dirty="0">
                <a:solidFill>
                  <a:srgbClr val="202429"/>
                </a:solidFill>
                <a:latin typeface="Calibri"/>
                <a:cs typeface="Calibri"/>
              </a:rPr>
              <a:t>actionable</a:t>
            </a:r>
            <a:r>
              <a:rPr sz="2400" i="1" spc="15" dirty="0">
                <a:solidFill>
                  <a:srgbClr val="202429"/>
                </a:solidFill>
                <a:latin typeface="Calibri"/>
                <a:cs typeface="Calibri"/>
              </a:rPr>
              <a:t> </a:t>
            </a:r>
            <a:r>
              <a:rPr sz="2400" i="1" spc="-60" dirty="0">
                <a:solidFill>
                  <a:srgbClr val="202429"/>
                </a:solidFill>
                <a:latin typeface="Calibri"/>
                <a:cs typeface="Calibri"/>
              </a:rPr>
              <a:t>safety</a:t>
            </a:r>
            <a:r>
              <a:rPr sz="2400" i="1" spc="15" dirty="0">
                <a:solidFill>
                  <a:srgbClr val="202429"/>
                </a:solidFill>
                <a:latin typeface="Calibri"/>
                <a:cs typeface="Calibri"/>
              </a:rPr>
              <a:t> </a:t>
            </a:r>
            <a:r>
              <a:rPr sz="2400" i="1" spc="-10" dirty="0">
                <a:solidFill>
                  <a:srgbClr val="202429"/>
                </a:solidFill>
                <a:latin typeface="Calibri"/>
                <a:cs typeface="Calibri"/>
              </a:rPr>
              <a:t>intelligence</a:t>
            </a:r>
            <a:endParaRPr sz="2400" dirty="0">
              <a:latin typeface="Calibri"/>
              <a:cs typeface="Calibri"/>
            </a:endParaRPr>
          </a:p>
          <a:p>
            <a:pPr marL="577850" marR="569595" indent="-41275" algn="ctr">
              <a:lnSpc>
                <a:spcPts val="2330"/>
              </a:lnSpc>
              <a:spcBef>
                <a:spcPts val="465"/>
              </a:spcBef>
            </a:pPr>
            <a:r>
              <a:rPr sz="2400" i="1" spc="-35" dirty="0">
                <a:solidFill>
                  <a:srgbClr val="202429"/>
                </a:solidFill>
                <a:latin typeface="Calibri"/>
                <a:cs typeface="Calibri"/>
              </a:rPr>
              <a:t>from</a:t>
            </a:r>
            <a:r>
              <a:rPr sz="2400" i="1" spc="-20" dirty="0">
                <a:solidFill>
                  <a:srgbClr val="202429"/>
                </a:solidFill>
                <a:latin typeface="Calibri"/>
                <a:cs typeface="Calibri"/>
              </a:rPr>
              <a:t> </a:t>
            </a:r>
            <a:r>
              <a:rPr lang="en-GB" sz="2400" i="1" spc="-65" dirty="0">
                <a:solidFill>
                  <a:srgbClr val="202429"/>
                </a:solidFill>
                <a:latin typeface="Calibri"/>
                <a:cs typeface="Calibri"/>
              </a:rPr>
              <a:t>hundreds</a:t>
            </a:r>
            <a:r>
              <a:rPr lang="en-GB" sz="2400" i="1" spc="-15" dirty="0">
                <a:solidFill>
                  <a:srgbClr val="202429"/>
                </a:solidFill>
                <a:latin typeface="Calibri"/>
                <a:cs typeface="Calibri"/>
              </a:rPr>
              <a:t> </a:t>
            </a:r>
            <a:r>
              <a:rPr lang="en-GB" sz="2400" i="1" spc="-25" dirty="0">
                <a:solidFill>
                  <a:srgbClr val="202429"/>
                </a:solidFill>
                <a:latin typeface="Calibri"/>
                <a:cs typeface="Calibri"/>
              </a:rPr>
              <a:t>of </a:t>
            </a:r>
            <a:r>
              <a:rPr sz="2400" i="1" spc="-55" dirty="0">
                <a:solidFill>
                  <a:srgbClr val="202429"/>
                </a:solidFill>
                <a:latin typeface="Calibri"/>
                <a:cs typeface="Calibri"/>
              </a:rPr>
              <a:t>unstructured</a:t>
            </a:r>
            <a:r>
              <a:rPr sz="2400" i="1" spc="55" dirty="0">
                <a:solidFill>
                  <a:srgbClr val="202429"/>
                </a:solidFill>
                <a:latin typeface="Calibri"/>
                <a:cs typeface="Calibri"/>
              </a:rPr>
              <a:t> </a:t>
            </a:r>
            <a:r>
              <a:rPr sz="2400" i="1" spc="-75" dirty="0">
                <a:solidFill>
                  <a:srgbClr val="202429"/>
                </a:solidFill>
                <a:latin typeface="Calibri"/>
                <a:cs typeface="Calibri"/>
              </a:rPr>
              <a:t>reports</a:t>
            </a:r>
            <a:endParaRPr sz="2400" dirty="0">
              <a:latin typeface="Calibri"/>
              <a:cs typeface="Calibri"/>
            </a:endParaRPr>
          </a:p>
          <a:p>
            <a:pPr algn="ctr">
              <a:lnSpc>
                <a:spcPts val="2810"/>
              </a:lnSpc>
            </a:pPr>
            <a:r>
              <a:rPr sz="2400" i="1" spc="65" dirty="0">
                <a:solidFill>
                  <a:srgbClr val="202429"/>
                </a:solidFill>
                <a:latin typeface="Calibri"/>
                <a:cs typeface="Calibri"/>
              </a:rPr>
              <a:t>— </a:t>
            </a:r>
            <a:r>
              <a:rPr sz="2400" i="1" spc="-60" dirty="0">
                <a:solidFill>
                  <a:srgbClr val="202429"/>
                </a:solidFill>
                <a:latin typeface="Calibri"/>
                <a:cs typeface="Calibri"/>
              </a:rPr>
              <a:t>responsibly</a:t>
            </a:r>
            <a:r>
              <a:rPr sz="2400" i="1" spc="65" dirty="0">
                <a:solidFill>
                  <a:srgbClr val="202429"/>
                </a:solidFill>
                <a:latin typeface="Calibri"/>
                <a:cs typeface="Calibri"/>
              </a:rPr>
              <a:t> </a:t>
            </a:r>
            <a:r>
              <a:rPr sz="2400" i="1" spc="-35" dirty="0">
                <a:solidFill>
                  <a:srgbClr val="202429"/>
                </a:solidFill>
                <a:latin typeface="Calibri"/>
                <a:cs typeface="Calibri"/>
              </a:rPr>
              <a:t>and</a:t>
            </a:r>
            <a:r>
              <a:rPr sz="2400" i="1" spc="65" dirty="0">
                <a:solidFill>
                  <a:srgbClr val="202429"/>
                </a:solidFill>
                <a:latin typeface="Calibri"/>
                <a:cs typeface="Calibri"/>
              </a:rPr>
              <a:t> </a:t>
            </a:r>
            <a:r>
              <a:rPr sz="2400" i="1" spc="-10" dirty="0">
                <a:solidFill>
                  <a:srgbClr val="202429"/>
                </a:solidFill>
                <a:latin typeface="Calibri"/>
                <a:cs typeface="Calibri"/>
              </a:rPr>
              <a:t>fairly?</a:t>
            </a:r>
            <a:endParaRPr sz="2400" dirty="0">
              <a:latin typeface="Calibri"/>
              <a:cs typeface="Calibri"/>
            </a:endParaRPr>
          </a:p>
        </p:txBody>
      </p:sp>
      <p:sp>
        <p:nvSpPr>
          <p:cNvPr id="3" name="object 3"/>
          <p:cNvSpPr/>
          <p:nvPr/>
        </p:nvSpPr>
        <p:spPr>
          <a:xfrm>
            <a:off x="2430005" y="2375979"/>
            <a:ext cx="900430" cy="0"/>
          </a:xfrm>
          <a:custGeom>
            <a:avLst/>
            <a:gdLst/>
            <a:ahLst/>
            <a:cxnLst/>
            <a:rect l="l" t="t" r="r" b="b"/>
            <a:pathLst>
              <a:path w="900429">
                <a:moveTo>
                  <a:pt x="0" y="0"/>
                </a:moveTo>
                <a:lnTo>
                  <a:pt x="899998" y="0"/>
                </a:lnTo>
              </a:path>
            </a:pathLst>
          </a:custGeom>
          <a:ln w="18978">
            <a:solidFill>
              <a:srgbClr val="005F73"/>
            </a:solidFill>
          </a:ln>
        </p:spPr>
        <p:txBody>
          <a:bodyPr wrap="square" lIns="0" tIns="0" rIns="0" bIns="0" rtlCol="0"/>
          <a:lstStyle/>
          <a:p>
            <a:endParaRPr/>
          </a:p>
        </p:txBody>
      </p:sp>
      <p:sp>
        <p:nvSpPr>
          <p:cNvPr id="4" name="object 4"/>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7" name="Slide Number Placeholder 6">
            <a:extLst>
              <a:ext uri="{FF2B5EF4-FFF2-40B4-BE49-F238E27FC236}">
                <a16:creationId xmlns:a16="http://schemas.microsoft.com/office/drawing/2014/main" id="{3D953E9D-0688-6E4D-8B31-399FEC225D1D}"/>
              </a:ext>
            </a:extLst>
          </p:cNvPr>
          <p:cNvSpPr>
            <a:spLocks noGrp="1"/>
          </p:cNvSpPr>
          <p:nvPr>
            <p:ph type="sldNum" sz="quarter" idx="7"/>
          </p:nvPr>
        </p:nvSpPr>
        <p:spPr>
          <a:xfrm>
            <a:off x="5211445" y="3060028"/>
            <a:ext cx="548640" cy="173989"/>
          </a:xfrm>
        </p:spPr>
        <p:txBody>
          <a:bodyPr/>
          <a:lstStyle/>
          <a:p>
            <a:pPr marL="39370">
              <a:lnSpc>
                <a:spcPct val="100000"/>
              </a:lnSpc>
              <a:spcBef>
                <a:spcPts val="219"/>
              </a:spcBef>
            </a:pPr>
            <a:fld id="{81D60167-4931-47E6-BA6A-407CBD079E47}" type="slidenum">
              <a:rPr lang="en-GB" smtClean="0"/>
              <a:t>6</a:t>
            </a:fld>
            <a:r>
              <a:rPr lang="en-GB" spc="20" dirty="0"/>
              <a:t> </a:t>
            </a:r>
            <a:r>
              <a:rPr lang="en-GB" spc="120" dirty="0"/>
              <a:t>/</a:t>
            </a:r>
            <a:r>
              <a:rPr lang="en-GB" spc="25" dirty="0"/>
              <a:t> </a:t>
            </a:r>
            <a:r>
              <a:rPr lang="en-GB" spc="-25" dirty="0"/>
              <a:t>39</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8EB98-8C11-67B2-2BD2-6F66D703A265}"/>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ADF8DDCA-EBEC-190A-CD66-22966305899D}"/>
              </a:ext>
            </a:extLst>
          </p:cNvPr>
          <p:cNvSpPr txBox="1"/>
          <p:nvPr/>
        </p:nvSpPr>
        <p:spPr>
          <a:xfrm>
            <a:off x="2239657" y="1131437"/>
            <a:ext cx="2433320" cy="502061"/>
          </a:xfrm>
          <a:prstGeom prst="rect">
            <a:avLst/>
          </a:prstGeom>
        </p:spPr>
        <p:txBody>
          <a:bodyPr vert="horz" wrap="square" lIns="0" tIns="17145" rIns="0" bIns="0" rtlCol="0">
            <a:spAutoFit/>
          </a:bodyPr>
          <a:lstStyle/>
          <a:p>
            <a:pPr marL="12700">
              <a:lnSpc>
                <a:spcPct val="100000"/>
              </a:lnSpc>
              <a:spcBef>
                <a:spcPts val="135"/>
              </a:spcBef>
            </a:pPr>
            <a:r>
              <a:rPr sz="3150" b="1" dirty="0">
                <a:solidFill>
                  <a:srgbClr val="202429"/>
                </a:solidFill>
                <a:latin typeface="Arial"/>
                <a:cs typeface="Arial"/>
              </a:rPr>
              <a:t>The</a:t>
            </a:r>
            <a:r>
              <a:rPr sz="3150" b="1" spc="400" dirty="0">
                <a:solidFill>
                  <a:srgbClr val="202429"/>
                </a:solidFill>
                <a:latin typeface="Arial"/>
                <a:cs typeface="Arial"/>
              </a:rPr>
              <a:t> </a:t>
            </a:r>
            <a:r>
              <a:rPr lang="en-GB" sz="3150" b="1" spc="-130" dirty="0">
                <a:solidFill>
                  <a:srgbClr val="202429"/>
                </a:solidFill>
                <a:latin typeface="Arial"/>
                <a:cs typeface="Arial"/>
              </a:rPr>
              <a:t>Methods </a:t>
            </a:r>
            <a:endParaRPr sz="3150" dirty="0">
              <a:latin typeface="Arial"/>
              <a:cs typeface="Arial"/>
            </a:endParaRPr>
          </a:p>
        </p:txBody>
      </p:sp>
      <p:sp>
        <p:nvSpPr>
          <p:cNvPr id="4" name="object 4">
            <a:extLst>
              <a:ext uri="{FF2B5EF4-FFF2-40B4-BE49-F238E27FC236}">
                <a16:creationId xmlns:a16="http://schemas.microsoft.com/office/drawing/2014/main" id="{B7096BB4-F82A-0B62-03BD-4B851666AA6F}"/>
              </a:ext>
            </a:extLst>
          </p:cNvPr>
          <p:cNvSpPr/>
          <p:nvPr/>
        </p:nvSpPr>
        <p:spPr>
          <a:xfrm>
            <a:off x="2252357" y="1794738"/>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sp>
        <p:nvSpPr>
          <p:cNvPr id="2" name="object 2" descr="$PPTXTitle">
            <a:extLst>
              <a:ext uri="{FF2B5EF4-FFF2-40B4-BE49-F238E27FC236}">
                <a16:creationId xmlns:a16="http://schemas.microsoft.com/office/drawing/2014/main" id="{2D2883E6-90F7-19A4-36B6-9408F067D5E5}"/>
              </a:ext>
            </a:extLst>
          </p:cNvPr>
          <p:cNvSpPr txBox="1">
            <a:spLocks noGrp="1"/>
          </p:cNvSpPr>
          <p:nvPr>
            <p:ph type="title"/>
          </p:nvPr>
        </p:nvSpPr>
        <p:spPr>
          <a:xfrm>
            <a:off x="444500" y="936625"/>
            <a:ext cx="914400" cy="993221"/>
          </a:xfrm>
          <a:prstGeom prst="rect">
            <a:avLst/>
          </a:prstGeom>
        </p:spPr>
        <p:txBody>
          <a:bodyPr vert="horz" wrap="square" lIns="0" tIns="15875" rIns="0" bIns="0" rtlCol="0">
            <a:spAutoFit/>
          </a:bodyPr>
          <a:lstStyle/>
          <a:p>
            <a:pPr marL="12700">
              <a:lnSpc>
                <a:spcPct val="100000"/>
              </a:lnSpc>
              <a:spcBef>
                <a:spcPts val="125"/>
              </a:spcBef>
            </a:pPr>
            <a:r>
              <a:rPr lang="en-GB" sz="6350" spc="-150" dirty="0">
                <a:solidFill>
                  <a:srgbClr val="FFFFFF"/>
                </a:solidFill>
              </a:rPr>
              <a:t>01</a:t>
            </a:r>
            <a:endParaRPr lang="en-GB" sz="6350" dirty="0"/>
          </a:p>
        </p:txBody>
      </p:sp>
      <p:sp>
        <p:nvSpPr>
          <p:cNvPr id="7" name="TextBox 6">
            <a:extLst>
              <a:ext uri="{FF2B5EF4-FFF2-40B4-BE49-F238E27FC236}">
                <a16:creationId xmlns:a16="http://schemas.microsoft.com/office/drawing/2014/main" id="{F6659014-FBF5-E446-5D53-7A6C81B94DAF}"/>
              </a:ext>
            </a:extLst>
          </p:cNvPr>
          <p:cNvSpPr txBox="1"/>
          <p:nvPr/>
        </p:nvSpPr>
        <p:spPr>
          <a:xfrm>
            <a:off x="2207907" y="1794738"/>
            <a:ext cx="3276600" cy="246221"/>
          </a:xfrm>
          <a:prstGeom prst="rect">
            <a:avLst/>
          </a:prstGeom>
          <a:noFill/>
        </p:spPr>
        <p:txBody>
          <a:bodyPr wrap="square">
            <a:spAutoFit/>
          </a:bodyPr>
          <a:lstStyle/>
          <a:p>
            <a:pPr>
              <a:buNone/>
            </a:pPr>
            <a:r>
              <a:rPr lang="en-GB" sz="1000" dirty="0">
                <a:solidFill>
                  <a:schemeClr val="bg1">
                    <a:lumMod val="65000"/>
                  </a:schemeClr>
                </a:solidFill>
              </a:rPr>
              <a:t>How we built and tested the AI models</a:t>
            </a:r>
          </a:p>
        </p:txBody>
      </p:sp>
    </p:spTree>
    <p:extLst>
      <p:ext uri="{BB962C8B-B14F-4D97-AF65-F5344CB8AC3E}">
        <p14:creationId xmlns:p14="http://schemas.microsoft.com/office/powerpoint/2010/main" val="29719061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91097" rIns="0" bIns="0" rtlCol="0">
            <a:spAutoFit/>
          </a:bodyPr>
          <a:lstStyle/>
          <a:p>
            <a:pPr marL="99060">
              <a:lnSpc>
                <a:spcPct val="100000"/>
              </a:lnSpc>
              <a:spcBef>
                <a:spcPts val="390"/>
              </a:spcBef>
            </a:pPr>
            <a:r>
              <a:rPr spc="50" dirty="0"/>
              <a:t>What</a:t>
            </a:r>
            <a:r>
              <a:rPr spc="20" dirty="0"/>
              <a:t> </a:t>
            </a:r>
            <a:r>
              <a:rPr spc="-10" dirty="0"/>
              <a:t>is</a:t>
            </a:r>
            <a:r>
              <a:rPr spc="15" dirty="0"/>
              <a:t> </a:t>
            </a:r>
            <a:r>
              <a:rPr dirty="0"/>
              <a:t>Concept</a:t>
            </a:r>
            <a:r>
              <a:rPr spc="20" dirty="0"/>
              <a:t> </a:t>
            </a:r>
            <a:r>
              <a:rPr spc="-10" dirty="0"/>
              <a:t>Annotation?</a:t>
            </a:r>
          </a:p>
          <a:p>
            <a:pPr marL="99060">
              <a:lnSpc>
                <a:spcPct val="100000"/>
              </a:lnSpc>
              <a:spcBef>
                <a:spcPts val="195"/>
              </a:spcBef>
            </a:pPr>
            <a:r>
              <a:rPr sz="1100" b="0" spc="-20" dirty="0">
                <a:solidFill>
                  <a:srgbClr val="6C757C"/>
                </a:solidFill>
                <a:latin typeface="Tahoma"/>
                <a:cs typeface="Tahoma"/>
              </a:rPr>
              <a:t>Extracting </a:t>
            </a:r>
            <a:r>
              <a:rPr sz="1100" b="0" spc="-55" dirty="0">
                <a:solidFill>
                  <a:srgbClr val="6C757C"/>
                </a:solidFill>
                <a:latin typeface="Tahoma"/>
                <a:cs typeface="Tahoma"/>
              </a:rPr>
              <a:t>human</a:t>
            </a:r>
            <a:r>
              <a:rPr sz="1100" b="0" spc="-15" dirty="0">
                <a:solidFill>
                  <a:srgbClr val="6C757C"/>
                </a:solidFill>
                <a:latin typeface="Tahoma"/>
                <a:cs typeface="Tahoma"/>
              </a:rPr>
              <a:t> </a:t>
            </a:r>
            <a:r>
              <a:rPr sz="1100" b="0" spc="-30" dirty="0">
                <a:solidFill>
                  <a:srgbClr val="6C757C"/>
                </a:solidFill>
                <a:latin typeface="Tahoma"/>
                <a:cs typeface="Tahoma"/>
              </a:rPr>
              <a:t>factors</a:t>
            </a:r>
            <a:r>
              <a:rPr sz="1100" b="0" spc="-15" dirty="0">
                <a:solidFill>
                  <a:srgbClr val="6C757C"/>
                </a:solidFill>
                <a:latin typeface="Tahoma"/>
                <a:cs typeface="Tahoma"/>
              </a:rPr>
              <a:t> </a:t>
            </a:r>
            <a:r>
              <a:rPr sz="1100" b="0" spc="-20" dirty="0">
                <a:solidFill>
                  <a:srgbClr val="6C757C"/>
                </a:solidFill>
                <a:latin typeface="Tahoma"/>
                <a:cs typeface="Tahoma"/>
              </a:rPr>
              <a:t>from</a:t>
            </a:r>
            <a:r>
              <a:rPr sz="1100" b="0" spc="-10" dirty="0">
                <a:solidFill>
                  <a:srgbClr val="6C757C"/>
                </a:solidFill>
                <a:latin typeface="Tahoma"/>
                <a:cs typeface="Tahoma"/>
              </a:rPr>
              <a:t> </a:t>
            </a:r>
            <a:r>
              <a:rPr sz="1100" b="0" spc="-35" dirty="0">
                <a:solidFill>
                  <a:srgbClr val="6C757C"/>
                </a:solidFill>
                <a:latin typeface="Tahoma"/>
                <a:cs typeface="Tahoma"/>
              </a:rPr>
              <a:t>investigation</a:t>
            </a:r>
            <a:r>
              <a:rPr sz="1100" b="0" spc="-15" dirty="0">
                <a:solidFill>
                  <a:srgbClr val="6C757C"/>
                </a:solidFill>
                <a:latin typeface="Tahoma"/>
                <a:cs typeface="Tahoma"/>
              </a:rPr>
              <a:t> </a:t>
            </a:r>
            <a:r>
              <a:rPr sz="1100" b="0" spc="-20" dirty="0">
                <a:solidFill>
                  <a:srgbClr val="6C757C"/>
                </a:solidFill>
                <a:latin typeface="Tahoma"/>
                <a:cs typeface="Tahoma"/>
              </a:rPr>
              <a:t>text</a:t>
            </a:r>
            <a:endParaRPr sz="1100">
              <a:latin typeface="Tahoma"/>
              <a:cs typeface="Tahoma"/>
            </a:endParaRPr>
          </a:p>
        </p:txBody>
      </p:sp>
      <p:sp>
        <p:nvSpPr>
          <p:cNvPr id="3" name="object 3"/>
          <p:cNvSpPr/>
          <p:nvPr/>
        </p:nvSpPr>
        <p:spPr>
          <a:xfrm>
            <a:off x="359994" y="645299"/>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sp>
        <p:nvSpPr>
          <p:cNvPr id="4" name="object 4"/>
          <p:cNvSpPr txBox="1"/>
          <p:nvPr/>
        </p:nvSpPr>
        <p:spPr>
          <a:xfrm>
            <a:off x="142100" y="788522"/>
            <a:ext cx="1490980" cy="177800"/>
          </a:xfrm>
          <a:prstGeom prst="rect">
            <a:avLst/>
          </a:prstGeom>
        </p:spPr>
        <p:txBody>
          <a:bodyPr vert="horz" wrap="square" lIns="0" tIns="12065" rIns="0" bIns="0" rtlCol="0">
            <a:spAutoFit/>
          </a:bodyPr>
          <a:lstStyle/>
          <a:p>
            <a:pPr marL="12700">
              <a:lnSpc>
                <a:spcPct val="100000"/>
              </a:lnSpc>
              <a:spcBef>
                <a:spcPts val="95"/>
              </a:spcBef>
            </a:pPr>
            <a:r>
              <a:rPr sz="1000" b="1" dirty="0">
                <a:solidFill>
                  <a:srgbClr val="202429"/>
                </a:solidFill>
                <a:latin typeface="Arial"/>
                <a:cs typeface="Arial"/>
              </a:rPr>
              <a:t>Step</a:t>
            </a:r>
            <a:r>
              <a:rPr sz="1000" b="1" spc="10" dirty="0">
                <a:solidFill>
                  <a:srgbClr val="202429"/>
                </a:solidFill>
                <a:latin typeface="Arial"/>
                <a:cs typeface="Arial"/>
              </a:rPr>
              <a:t> </a:t>
            </a:r>
            <a:r>
              <a:rPr sz="1000" b="1" dirty="0">
                <a:solidFill>
                  <a:srgbClr val="202429"/>
                </a:solidFill>
                <a:latin typeface="Arial"/>
                <a:cs typeface="Arial"/>
              </a:rPr>
              <a:t>1</a:t>
            </a:r>
            <a:r>
              <a:rPr sz="1000" b="1" spc="20" dirty="0">
                <a:solidFill>
                  <a:srgbClr val="202429"/>
                </a:solidFill>
                <a:latin typeface="Arial"/>
                <a:cs typeface="Arial"/>
              </a:rPr>
              <a:t> </a:t>
            </a:r>
            <a:r>
              <a:rPr sz="1000" spc="-114" dirty="0">
                <a:solidFill>
                  <a:srgbClr val="6C757C"/>
                </a:solidFill>
                <a:latin typeface="Tahoma"/>
                <a:cs typeface="Tahoma"/>
              </a:rPr>
              <a:t>|</a:t>
            </a:r>
            <a:r>
              <a:rPr sz="1000" spc="15" dirty="0">
                <a:solidFill>
                  <a:srgbClr val="6C757C"/>
                </a:solidFill>
                <a:latin typeface="Tahoma"/>
                <a:cs typeface="Tahoma"/>
              </a:rPr>
              <a:t> </a:t>
            </a:r>
            <a:r>
              <a:rPr sz="1000" spc="-35" dirty="0">
                <a:solidFill>
                  <a:srgbClr val="6C757C"/>
                </a:solidFill>
                <a:latin typeface="Tahoma"/>
                <a:cs typeface="Tahoma"/>
              </a:rPr>
              <a:t>Read</a:t>
            </a:r>
            <a:r>
              <a:rPr sz="1000" spc="-15" dirty="0">
                <a:solidFill>
                  <a:srgbClr val="6C757C"/>
                </a:solidFill>
                <a:latin typeface="Tahoma"/>
                <a:cs typeface="Tahoma"/>
              </a:rPr>
              <a:t> </a:t>
            </a:r>
            <a:r>
              <a:rPr sz="1000" spc="-20" dirty="0">
                <a:solidFill>
                  <a:srgbClr val="6C757C"/>
                </a:solidFill>
                <a:latin typeface="Tahoma"/>
                <a:cs typeface="Tahoma"/>
              </a:rPr>
              <a:t>the </a:t>
            </a:r>
            <a:r>
              <a:rPr sz="1000" spc="-45" dirty="0">
                <a:solidFill>
                  <a:srgbClr val="6C757C"/>
                </a:solidFill>
                <a:latin typeface="Tahoma"/>
                <a:cs typeface="Tahoma"/>
              </a:rPr>
              <a:t>sentence</a:t>
            </a:r>
            <a:endParaRPr sz="1000">
              <a:latin typeface="Tahoma"/>
              <a:cs typeface="Tahoma"/>
            </a:endParaRPr>
          </a:p>
        </p:txBody>
      </p:sp>
      <p:sp>
        <p:nvSpPr>
          <p:cNvPr id="5" name="object 5"/>
          <p:cNvSpPr txBox="1"/>
          <p:nvPr/>
        </p:nvSpPr>
        <p:spPr>
          <a:xfrm>
            <a:off x="197815" y="1014915"/>
            <a:ext cx="915035" cy="419100"/>
          </a:xfrm>
          <a:prstGeom prst="rect">
            <a:avLst/>
          </a:prstGeom>
        </p:spPr>
        <p:txBody>
          <a:bodyPr vert="horz" wrap="square" lIns="0" tIns="65405" rIns="0" bIns="0" rtlCol="0">
            <a:spAutoFit/>
          </a:bodyPr>
          <a:lstStyle/>
          <a:p>
            <a:pPr>
              <a:lnSpc>
                <a:spcPct val="100000"/>
              </a:lnSpc>
              <a:spcBef>
                <a:spcPts val="515"/>
              </a:spcBef>
            </a:pPr>
            <a:r>
              <a:rPr sz="800" spc="-10" dirty="0">
                <a:solidFill>
                  <a:srgbClr val="6C757C"/>
                </a:solidFill>
                <a:latin typeface="Tahoma"/>
                <a:cs typeface="Tahoma"/>
              </a:rPr>
              <a:t>Investigation</a:t>
            </a:r>
            <a:r>
              <a:rPr sz="800" spc="-40" dirty="0">
                <a:solidFill>
                  <a:srgbClr val="6C757C"/>
                </a:solidFill>
                <a:latin typeface="Tahoma"/>
                <a:cs typeface="Tahoma"/>
              </a:rPr>
              <a:t> </a:t>
            </a:r>
            <a:r>
              <a:rPr sz="800" spc="-10" dirty="0">
                <a:solidFill>
                  <a:srgbClr val="6C757C"/>
                </a:solidFill>
                <a:latin typeface="Tahoma"/>
                <a:cs typeface="Tahoma"/>
              </a:rPr>
              <a:t>report:</a:t>
            </a:r>
            <a:endParaRPr sz="800">
              <a:latin typeface="Tahoma"/>
              <a:cs typeface="Tahoma"/>
            </a:endParaRPr>
          </a:p>
          <a:p>
            <a:pPr>
              <a:lnSpc>
                <a:spcPct val="100000"/>
              </a:lnSpc>
              <a:spcBef>
                <a:spcPts val="525"/>
              </a:spcBef>
            </a:pPr>
            <a:r>
              <a:rPr sz="1000" spc="-20" dirty="0">
                <a:solidFill>
                  <a:srgbClr val="202429"/>
                </a:solidFill>
                <a:latin typeface="Tahoma"/>
                <a:cs typeface="Tahoma"/>
              </a:rPr>
              <a:t>“The</a:t>
            </a:r>
            <a:endParaRPr sz="1000">
              <a:latin typeface="Tahoma"/>
              <a:cs typeface="Tahoma"/>
            </a:endParaRPr>
          </a:p>
        </p:txBody>
      </p:sp>
      <p:sp>
        <p:nvSpPr>
          <p:cNvPr id="6" name="object 6"/>
          <p:cNvSpPr txBox="1"/>
          <p:nvPr/>
        </p:nvSpPr>
        <p:spPr>
          <a:xfrm>
            <a:off x="785101" y="1270139"/>
            <a:ext cx="926465" cy="163830"/>
          </a:xfrm>
          <a:prstGeom prst="rect">
            <a:avLst/>
          </a:prstGeom>
          <a:solidFill>
            <a:srgbClr val="B9E5FA"/>
          </a:solidFill>
        </p:spPr>
        <p:txBody>
          <a:bodyPr vert="horz" wrap="square" lIns="0" tIns="0" rIns="0" bIns="0" rtlCol="0">
            <a:spAutoFit/>
          </a:bodyPr>
          <a:lstStyle/>
          <a:p>
            <a:pPr marL="37465">
              <a:lnSpc>
                <a:spcPts val="1190"/>
              </a:lnSpc>
            </a:pPr>
            <a:r>
              <a:rPr sz="1000" b="1" spc="-35" dirty="0">
                <a:solidFill>
                  <a:srgbClr val="202429"/>
                </a:solidFill>
                <a:latin typeface="Arial"/>
                <a:cs typeface="Arial"/>
              </a:rPr>
              <a:t>abnormal</a:t>
            </a:r>
            <a:r>
              <a:rPr sz="1000" b="1" dirty="0">
                <a:solidFill>
                  <a:srgbClr val="202429"/>
                </a:solidFill>
                <a:latin typeface="Arial"/>
                <a:cs typeface="Arial"/>
              </a:rPr>
              <a:t> </a:t>
            </a:r>
            <a:r>
              <a:rPr sz="1000" b="1" spc="-25" dirty="0">
                <a:solidFill>
                  <a:srgbClr val="202429"/>
                </a:solidFill>
                <a:latin typeface="Arial"/>
                <a:cs typeface="Arial"/>
              </a:rPr>
              <a:t>CTG</a:t>
            </a:r>
            <a:endParaRPr sz="1000">
              <a:latin typeface="Arial"/>
              <a:cs typeface="Arial"/>
            </a:endParaRPr>
          </a:p>
        </p:txBody>
      </p:sp>
      <p:sp>
        <p:nvSpPr>
          <p:cNvPr id="7" name="object 7"/>
          <p:cNvSpPr txBox="1"/>
          <p:nvPr/>
        </p:nvSpPr>
        <p:spPr>
          <a:xfrm>
            <a:off x="2031390" y="1256746"/>
            <a:ext cx="699770" cy="177800"/>
          </a:xfrm>
          <a:prstGeom prst="rect">
            <a:avLst/>
          </a:prstGeom>
        </p:spPr>
        <p:txBody>
          <a:bodyPr vert="horz" wrap="square" lIns="0" tIns="12065" rIns="0" bIns="0" rtlCol="0">
            <a:spAutoFit/>
          </a:bodyPr>
          <a:lstStyle/>
          <a:p>
            <a:pPr>
              <a:lnSpc>
                <a:spcPct val="100000"/>
              </a:lnSpc>
              <a:spcBef>
                <a:spcPts val="95"/>
              </a:spcBef>
              <a:tabLst>
                <a:tab pos="511809" algn="l"/>
              </a:tabLst>
            </a:pPr>
            <a:r>
              <a:rPr sz="1000" spc="-25" dirty="0">
                <a:solidFill>
                  <a:srgbClr val="202429"/>
                </a:solidFill>
                <a:latin typeface="Tahoma"/>
                <a:cs typeface="Tahoma"/>
              </a:rPr>
              <a:t>was</a:t>
            </a:r>
            <a:r>
              <a:rPr sz="1000" dirty="0">
                <a:solidFill>
                  <a:srgbClr val="202429"/>
                </a:solidFill>
                <a:latin typeface="Tahoma"/>
                <a:cs typeface="Tahoma"/>
              </a:rPr>
              <a:t>	</a:t>
            </a:r>
            <a:r>
              <a:rPr sz="1000" spc="-25" dirty="0">
                <a:solidFill>
                  <a:srgbClr val="202429"/>
                </a:solidFill>
                <a:latin typeface="Tahoma"/>
                <a:cs typeface="Tahoma"/>
              </a:rPr>
              <a:t>not</a:t>
            </a:r>
            <a:endParaRPr sz="1000">
              <a:latin typeface="Tahoma"/>
              <a:cs typeface="Tahoma"/>
            </a:endParaRPr>
          </a:p>
        </p:txBody>
      </p:sp>
      <p:grpSp>
        <p:nvGrpSpPr>
          <p:cNvPr id="8" name="object 8"/>
          <p:cNvGrpSpPr/>
          <p:nvPr/>
        </p:nvGrpSpPr>
        <p:grpSpPr>
          <a:xfrm>
            <a:off x="154797" y="1027452"/>
            <a:ext cx="2606040" cy="1032510"/>
            <a:chOff x="154797" y="1027452"/>
            <a:chExt cx="2606040" cy="1032510"/>
          </a:xfrm>
        </p:grpSpPr>
        <p:sp>
          <p:nvSpPr>
            <p:cNvPr id="9" name="object 9"/>
            <p:cNvSpPr/>
            <p:nvPr/>
          </p:nvSpPr>
          <p:spPr>
            <a:xfrm>
              <a:off x="197815" y="1614296"/>
              <a:ext cx="1932305" cy="163830"/>
            </a:xfrm>
            <a:custGeom>
              <a:avLst/>
              <a:gdLst/>
              <a:ahLst/>
              <a:cxnLst/>
              <a:rect l="l" t="t" r="r" b="b"/>
              <a:pathLst>
                <a:path w="1932305" h="163830">
                  <a:moveTo>
                    <a:pt x="1932177" y="0"/>
                  </a:moveTo>
                  <a:lnTo>
                    <a:pt x="0" y="0"/>
                  </a:lnTo>
                  <a:lnTo>
                    <a:pt x="0" y="163779"/>
                  </a:lnTo>
                  <a:lnTo>
                    <a:pt x="1932177" y="163779"/>
                  </a:lnTo>
                  <a:lnTo>
                    <a:pt x="1932177" y="0"/>
                  </a:lnTo>
                  <a:close/>
                </a:path>
              </a:pathLst>
            </a:custGeom>
            <a:solidFill>
              <a:srgbClr val="FFD8B2"/>
            </a:solidFill>
          </p:spPr>
          <p:txBody>
            <a:bodyPr wrap="square" lIns="0" tIns="0" rIns="0" bIns="0" rtlCol="0"/>
            <a:lstStyle/>
            <a:p>
              <a:endParaRPr/>
            </a:p>
          </p:txBody>
        </p:sp>
        <p:sp>
          <p:nvSpPr>
            <p:cNvPr id="10" name="object 10"/>
            <p:cNvSpPr/>
            <p:nvPr/>
          </p:nvSpPr>
          <p:spPr>
            <a:xfrm>
              <a:off x="691959" y="1786369"/>
              <a:ext cx="896619" cy="188595"/>
            </a:xfrm>
            <a:custGeom>
              <a:avLst/>
              <a:gdLst/>
              <a:ahLst/>
              <a:cxnLst/>
              <a:rect l="l" t="t" r="r" b="b"/>
              <a:pathLst>
                <a:path w="896619" h="188594">
                  <a:moveTo>
                    <a:pt x="896569" y="0"/>
                  </a:moveTo>
                  <a:lnTo>
                    <a:pt x="0" y="0"/>
                  </a:lnTo>
                  <a:lnTo>
                    <a:pt x="0" y="188379"/>
                  </a:lnTo>
                  <a:lnTo>
                    <a:pt x="896569" y="188379"/>
                  </a:lnTo>
                  <a:lnTo>
                    <a:pt x="896569" y="0"/>
                  </a:lnTo>
                  <a:close/>
                </a:path>
              </a:pathLst>
            </a:custGeom>
            <a:solidFill>
              <a:srgbClr val="DFBFDF"/>
            </a:solidFill>
          </p:spPr>
          <p:txBody>
            <a:bodyPr wrap="square" lIns="0" tIns="0" rIns="0" bIns="0" rtlCol="0"/>
            <a:lstStyle/>
            <a:p>
              <a:endParaRPr/>
            </a:p>
          </p:txBody>
        </p:sp>
        <p:sp>
          <p:nvSpPr>
            <p:cNvPr id="11" name="object 11"/>
            <p:cNvSpPr/>
            <p:nvPr/>
          </p:nvSpPr>
          <p:spPr>
            <a:xfrm>
              <a:off x="154800" y="1029982"/>
              <a:ext cx="2606040" cy="1027430"/>
            </a:xfrm>
            <a:custGeom>
              <a:avLst/>
              <a:gdLst/>
              <a:ahLst/>
              <a:cxnLst/>
              <a:rect l="l" t="t" r="r" b="b"/>
              <a:pathLst>
                <a:path w="2606040" h="1027430">
                  <a:moveTo>
                    <a:pt x="0" y="0"/>
                  </a:moveTo>
                  <a:lnTo>
                    <a:pt x="2606027" y="0"/>
                  </a:lnTo>
                </a:path>
                <a:path w="2606040" h="1027430">
                  <a:moveTo>
                    <a:pt x="2527" y="1026820"/>
                  </a:moveTo>
                  <a:lnTo>
                    <a:pt x="2527" y="0"/>
                  </a:lnTo>
                </a:path>
                <a:path w="2606040" h="1027430">
                  <a:moveTo>
                    <a:pt x="2603500" y="1026820"/>
                  </a:moveTo>
                  <a:lnTo>
                    <a:pt x="2603500" y="0"/>
                  </a:lnTo>
                </a:path>
                <a:path w="2606040" h="1027430">
                  <a:moveTo>
                    <a:pt x="0" y="1026820"/>
                  </a:moveTo>
                  <a:lnTo>
                    <a:pt x="2606027" y="1026820"/>
                  </a:lnTo>
                </a:path>
              </a:pathLst>
            </a:custGeom>
            <a:ln w="5060">
              <a:solidFill>
                <a:srgbClr val="CED3DA"/>
              </a:solidFill>
            </a:ln>
          </p:spPr>
          <p:txBody>
            <a:bodyPr wrap="square" lIns="0" tIns="0" rIns="0" bIns="0" rtlCol="0"/>
            <a:lstStyle/>
            <a:p>
              <a:endParaRPr/>
            </a:p>
          </p:txBody>
        </p:sp>
      </p:grpSp>
      <p:sp>
        <p:nvSpPr>
          <p:cNvPr id="12" name="object 12"/>
          <p:cNvSpPr txBox="1"/>
          <p:nvPr/>
        </p:nvSpPr>
        <p:spPr>
          <a:xfrm>
            <a:off x="142100" y="1408576"/>
            <a:ext cx="2588895" cy="878205"/>
          </a:xfrm>
          <a:prstGeom prst="rect">
            <a:avLst/>
          </a:prstGeom>
        </p:spPr>
        <p:txBody>
          <a:bodyPr vert="horz" wrap="square" lIns="0" tIns="12700" rIns="0" bIns="0" rtlCol="0">
            <a:spAutoFit/>
          </a:bodyPr>
          <a:lstStyle/>
          <a:p>
            <a:pPr marL="55244" marR="5080" algn="just">
              <a:lnSpc>
                <a:spcPct val="112900"/>
              </a:lnSpc>
              <a:spcBef>
                <a:spcPts val="100"/>
              </a:spcBef>
              <a:tabLst>
                <a:tab pos="2441575" algn="l"/>
              </a:tabLst>
            </a:pPr>
            <a:r>
              <a:rPr sz="1000" dirty="0">
                <a:solidFill>
                  <a:srgbClr val="202429"/>
                </a:solidFill>
                <a:latin typeface="Tahoma"/>
                <a:cs typeface="Tahoma"/>
              </a:rPr>
              <a:t>recognised</a:t>
            </a:r>
            <a:r>
              <a:rPr sz="1000" spc="315" dirty="0">
                <a:solidFill>
                  <a:srgbClr val="202429"/>
                </a:solidFill>
                <a:latin typeface="Tahoma"/>
                <a:cs typeface="Tahoma"/>
              </a:rPr>
              <a:t>   </a:t>
            </a:r>
            <a:r>
              <a:rPr sz="1000" dirty="0">
                <a:solidFill>
                  <a:srgbClr val="202429"/>
                </a:solidFill>
                <a:latin typeface="Tahoma"/>
                <a:cs typeface="Tahoma"/>
              </a:rPr>
              <a:t>and</a:t>
            </a:r>
            <a:r>
              <a:rPr sz="1000" spc="320" dirty="0">
                <a:solidFill>
                  <a:srgbClr val="202429"/>
                </a:solidFill>
                <a:latin typeface="Tahoma"/>
                <a:cs typeface="Tahoma"/>
              </a:rPr>
              <a:t>   </a:t>
            </a:r>
            <a:r>
              <a:rPr sz="1000" dirty="0">
                <a:solidFill>
                  <a:srgbClr val="202429"/>
                </a:solidFill>
                <a:latin typeface="Tahoma"/>
                <a:cs typeface="Tahoma"/>
              </a:rPr>
              <a:t>did</a:t>
            </a:r>
            <a:r>
              <a:rPr sz="1000" spc="315" dirty="0">
                <a:solidFill>
                  <a:srgbClr val="202429"/>
                </a:solidFill>
                <a:latin typeface="Tahoma"/>
                <a:cs typeface="Tahoma"/>
              </a:rPr>
              <a:t>   </a:t>
            </a:r>
            <a:r>
              <a:rPr sz="1000" dirty="0">
                <a:solidFill>
                  <a:srgbClr val="202429"/>
                </a:solidFill>
                <a:latin typeface="Tahoma"/>
                <a:cs typeface="Tahoma"/>
              </a:rPr>
              <a:t>not</a:t>
            </a:r>
            <a:r>
              <a:rPr sz="1000" spc="320" dirty="0">
                <a:solidFill>
                  <a:srgbClr val="202429"/>
                </a:solidFill>
                <a:latin typeface="Tahoma"/>
                <a:cs typeface="Tahoma"/>
              </a:rPr>
              <a:t>   </a:t>
            </a:r>
            <a:r>
              <a:rPr sz="1000" spc="-20" dirty="0">
                <a:solidFill>
                  <a:srgbClr val="202429"/>
                </a:solidFill>
                <a:latin typeface="Tahoma"/>
                <a:cs typeface="Tahoma"/>
              </a:rPr>
              <a:t>prompt </a:t>
            </a:r>
            <a:r>
              <a:rPr sz="1000" b="1" spc="-35" dirty="0">
                <a:solidFill>
                  <a:srgbClr val="202429"/>
                </a:solidFill>
                <a:latin typeface="Arial"/>
                <a:cs typeface="Arial"/>
              </a:rPr>
              <a:t>escalation</a:t>
            </a:r>
            <a:r>
              <a:rPr sz="1000" b="1" spc="40" dirty="0">
                <a:solidFill>
                  <a:srgbClr val="202429"/>
                </a:solidFill>
                <a:latin typeface="Arial"/>
                <a:cs typeface="Arial"/>
              </a:rPr>
              <a:t> </a:t>
            </a:r>
            <a:r>
              <a:rPr sz="1000" b="1" dirty="0">
                <a:solidFill>
                  <a:srgbClr val="202429"/>
                </a:solidFill>
                <a:latin typeface="Arial"/>
                <a:cs typeface="Arial"/>
              </a:rPr>
              <a:t>to</a:t>
            </a:r>
            <a:r>
              <a:rPr sz="1000" b="1" spc="45" dirty="0">
                <a:solidFill>
                  <a:srgbClr val="202429"/>
                </a:solidFill>
                <a:latin typeface="Arial"/>
                <a:cs typeface="Arial"/>
              </a:rPr>
              <a:t> </a:t>
            </a:r>
            <a:r>
              <a:rPr sz="1000" b="1" dirty="0">
                <a:solidFill>
                  <a:srgbClr val="202429"/>
                </a:solidFill>
                <a:latin typeface="Arial"/>
                <a:cs typeface="Arial"/>
              </a:rPr>
              <a:t>the</a:t>
            </a:r>
            <a:r>
              <a:rPr sz="1000" b="1" spc="45" dirty="0">
                <a:solidFill>
                  <a:srgbClr val="202429"/>
                </a:solidFill>
                <a:latin typeface="Arial"/>
                <a:cs typeface="Arial"/>
              </a:rPr>
              <a:t> </a:t>
            </a:r>
            <a:r>
              <a:rPr sz="1000" b="1" spc="-30" dirty="0">
                <a:solidFill>
                  <a:srgbClr val="202429"/>
                </a:solidFill>
                <a:latin typeface="Arial"/>
                <a:cs typeface="Arial"/>
              </a:rPr>
              <a:t>obstetric</a:t>
            </a:r>
            <a:r>
              <a:rPr sz="1000" b="1" spc="45" dirty="0">
                <a:solidFill>
                  <a:srgbClr val="202429"/>
                </a:solidFill>
                <a:latin typeface="Arial"/>
                <a:cs typeface="Arial"/>
              </a:rPr>
              <a:t> </a:t>
            </a:r>
            <a:r>
              <a:rPr sz="1000" b="1" dirty="0">
                <a:solidFill>
                  <a:srgbClr val="202429"/>
                </a:solidFill>
                <a:latin typeface="Arial"/>
                <a:cs typeface="Arial"/>
              </a:rPr>
              <a:t>team</a:t>
            </a:r>
            <a:r>
              <a:rPr sz="1000" b="1" spc="-15" dirty="0">
                <a:solidFill>
                  <a:srgbClr val="202429"/>
                </a:solidFill>
                <a:latin typeface="Arial"/>
                <a:cs typeface="Arial"/>
              </a:rPr>
              <a:t> </a:t>
            </a:r>
            <a:r>
              <a:rPr sz="1000" spc="-50" dirty="0">
                <a:solidFill>
                  <a:srgbClr val="202429"/>
                </a:solidFill>
                <a:latin typeface="Tahoma"/>
                <a:cs typeface="Tahoma"/>
              </a:rPr>
              <a:t>,</a:t>
            </a:r>
            <a:r>
              <a:rPr sz="1000" dirty="0">
                <a:solidFill>
                  <a:srgbClr val="202429"/>
                </a:solidFill>
                <a:latin typeface="Tahoma"/>
                <a:cs typeface="Tahoma"/>
              </a:rPr>
              <a:t>	</a:t>
            </a:r>
            <a:r>
              <a:rPr sz="1000" spc="-25" dirty="0">
                <a:solidFill>
                  <a:srgbClr val="202429"/>
                </a:solidFill>
                <a:latin typeface="Tahoma"/>
                <a:cs typeface="Tahoma"/>
              </a:rPr>
              <a:t>in </a:t>
            </a:r>
            <a:r>
              <a:rPr sz="1000" spc="-10" dirty="0">
                <a:solidFill>
                  <a:srgbClr val="202429"/>
                </a:solidFill>
                <a:latin typeface="Tahoma"/>
                <a:cs typeface="Tahoma"/>
              </a:rPr>
              <a:t>line</a:t>
            </a:r>
            <a:r>
              <a:rPr sz="1000" spc="-50" dirty="0">
                <a:solidFill>
                  <a:srgbClr val="202429"/>
                </a:solidFill>
                <a:latin typeface="Tahoma"/>
                <a:cs typeface="Tahoma"/>
              </a:rPr>
              <a:t> </a:t>
            </a:r>
            <a:r>
              <a:rPr sz="1000" dirty="0">
                <a:solidFill>
                  <a:srgbClr val="202429"/>
                </a:solidFill>
                <a:latin typeface="Tahoma"/>
                <a:cs typeface="Tahoma"/>
              </a:rPr>
              <a:t>with</a:t>
            </a:r>
            <a:r>
              <a:rPr sz="1000" spc="210" dirty="0">
                <a:solidFill>
                  <a:srgbClr val="202429"/>
                </a:solidFill>
                <a:latin typeface="Tahoma"/>
                <a:cs typeface="Tahoma"/>
              </a:rPr>
              <a:t> </a:t>
            </a:r>
            <a:r>
              <a:rPr sz="1000" b="1" spc="-20" dirty="0">
                <a:solidFill>
                  <a:srgbClr val="202429"/>
                </a:solidFill>
                <a:latin typeface="Arial"/>
                <a:cs typeface="Arial"/>
              </a:rPr>
              <a:t>local</a:t>
            </a:r>
            <a:r>
              <a:rPr sz="1000" b="1" spc="20" dirty="0">
                <a:solidFill>
                  <a:srgbClr val="202429"/>
                </a:solidFill>
                <a:latin typeface="Arial"/>
                <a:cs typeface="Arial"/>
              </a:rPr>
              <a:t> </a:t>
            </a:r>
            <a:r>
              <a:rPr sz="1000" b="1" spc="-45" dirty="0">
                <a:solidFill>
                  <a:srgbClr val="202429"/>
                </a:solidFill>
                <a:latin typeface="Arial"/>
                <a:cs typeface="Arial"/>
              </a:rPr>
              <a:t>guidance</a:t>
            </a:r>
            <a:r>
              <a:rPr sz="1000" b="1" spc="-20" dirty="0">
                <a:solidFill>
                  <a:srgbClr val="202429"/>
                </a:solidFill>
                <a:latin typeface="Arial"/>
                <a:cs typeface="Arial"/>
              </a:rPr>
              <a:t> </a:t>
            </a:r>
            <a:r>
              <a:rPr sz="1000" spc="-25" dirty="0">
                <a:solidFill>
                  <a:srgbClr val="202429"/>
                </a:solidFill>
                <a:latin typeface="Tahoma"/>
                <a:cs typeface="Tahoma"/>
              </a:rPr>
              <a:t>.”</a:t>
            </a:r>
            <a:endParaRPr sz="1000">
              <a:latin typeface="Tahoma"/>
              <a:cs typeface="Tahoma"/>
            </a:endParaRPr>
          </a:p>
          <a:p>
            <a:pPr>
              <a:lnSpc>
                <a:spcPct val="100000"/>
              </a:lnSpc>
              <a:spcBef>
                <a:spcPts val="240"/>
              </a:spcBef>
            </a:pPr>
            <a:endParaRPr sz="1000">
              <a:latin typeface="Tahoma"/>
              <a:cs typeface="Tahoma"/>
            </a:endParaRPr>
          </a:p>
          <a:p>
            <a:pPr marL="12700" algn="just">
              <a:lnSpc>
                <a:spcPct val="100000"/>
              </a:lnSpc>
            </a:pPr>
            <a:r>
              <a:rPr sz="1000" b="1" dirty="0">
                <a:solidFill>
                  <a:srgbClr val="202429"/>
                </a:solidFill>
                <a:latin typeface="Arial"/>
                <a:cs typeface="Arial"/>
              </a:rPr>
              <a:t>Step</a:t>
            </a:r>
            <a:r>
              <a:rPr sz="1000" b="1" spc="15" dirty="0">
                <a:solidFill>
                  <a:srgbClr val="202429"/>
                </a:solidFill>
                <a:latin typeface="Arial"/>
                <a:cs typeface="Arial"/>
              </a:rPr>
              <a:t> </a:t>
            </a:r>
            <a:r>
              <a:rPr sz="1000" b="1" dirty="0">
                <a:solidFill>
                  <a:srgbClr val="202429"/>
                </a:solidFill>
                <a:latin typeface="Arial"/>
                <a:cs typeface="Arial"/>
              </a:rPr>
              <a:t>2</a:t>
            </a:r>
            <a:r>
              <a:rPr sz="1000" b="1" spc="20" dirty="0">
                <a:solidFill>
                  <a:srgbClr val="202429"/>
                </a:solidFill>
                <a:latin typeface="Arial"/>
                <a:cs typeface="Arial"/>
              </a:rPr>
              <a:t> </a:t>
            </a:r>
            <a:r>
              <a:rPr sz="1000" spc="-114" dirty="0">
                <a:solidFill>
                  <a:srgbClr val="6C757C"/>
                </a:solidFill>
                <a:latin typeface="Tahoma"/>
                <a:cs typeface="Tahoma"/>
              </a:rPr>
              <a:t>|</a:t>
            </a:r>
            <a:r>
              <a:rPr sz="1000" spc="15" dirty="0">
                <a:solidFill>
                  <a:srgbClr val="6C757C"/>
                </a:solidFill>
                <a:latin typeface="Tahoma"/>
                <a:cs typeface="Tahoma"/>
              </a:rPr>
              <a:t> </a:t>
            </a:r>
            <a:r>
              <a:rPr sz="1000" spc="-25" dirty="0">
                <a:solidFill>
                  <a:srgbClr val="6C757C"/>
                </a:solidFill>
                <a:latin typeface="Tahoma"/>
                <a:cs typeface="Tahoma"/>
              </a:rPr>
              <a:t>Assign</a:t>
            </a:r>
            <a:r>
              <a:rPr sz="1000" spc="-15" dirty="0">
                <a:solidFill>
                  <a:srgbClr val="6C757C"/>
                </a:solidFill>
                <a:latin typeface="Tahoma"/>
                <a:cs typeface="Tahoma"/>
              </a:rPr>
              <a:t> </a:t>
            </a:r>
            <a:r>
              <a:rPr sz="1000" spc="-30" dirty="0">
                <a:solidFill>
                  <a:srgbClr val="6C757C"/>
                </a:solidFill>
                <a:latin typeface="Tahoma"/>
                <a:cs typeface="Tahoma"/>
              </a:rPr>
              <a:t>concept</a:t>
            </a:r>
            <a:r>
              <a:rPr sz="1000" spc="-20" dirty="0">
                <a:solidFill>
                  <a:srgbClr val="6C757C"/>
                </a:solidFill>
                <a:latin typeface="Tahoma"/>
                <a:cs typeface="Tahoma"/>
              </a:rPr>
              <a:t> </a:t>
            </a:r>
            <a:r>
              <a:rPr sz="1000" spc="-10" dirty="0">
                <a:solidFill>
                  <a:srgbClr val="6C757C"/>
                </a:solidFill>
                <a:latin typeface="Tahoma"/>
                <a:cs typeface="Tahoma"/>
              </a:rPr>
              <a:t>labels</a:t>
            </a:r>
            <a:endParaRPr sz="1000">
              <a:latin typeface="Tahoma"/>
              <a:cs typeface="Tahoma"/>
            </a:endParaRPr>
          </a:p>
        </p:txBody>
      </p:sp>
      <p:graphicFrame>
        <p:nvGraphicFramePr>
          <p:cNvPr id="13" name="object 13"/>
          <p:cNvGraphicFramePr>
            <a:graphicFrameLocks noGrp="1"/>
          </p:cNvGraphicFramePr>
          <p:nvPr/>
        </p:nvGraphicFramePr>
        <p:xfrm>
          <a:off x="154797" y="2348633"/>
          <a:ext cx="2414269" cy="200660"/>
        </p:xfrm>
        <a:graphic>
          <a:graphicData uri="http://schemas.openxmlformats.org/drawingml/2006/table">
            <a:tbl>
              <a:tblPr firstRow="1" bandRow="1">
                <a:tableStyleId>{2D5ABB26-0587-4C30-8999-92F81FD0307C}</a:tableStyleId>
              </a:tblPr>
              <a:tblGrid>
                <a:gridCol w="707390">
                  <a:extLst>
                    <a:ext uri="{9D8B030D-6E8A-4147-A177-3AD203B41FA5}">
                      <a16:colId xmlns:a16="http://schemas.microsoft.com/office/drawing/2014/main" val="20000"/>
                    </a:ext>
                  </a:extLst>
                </a:gridCol>
                <a:gridCol w="939799">
                  <a:extLst>
                    <a:ext uri="{9D8B030D-6E8A-4147-A177-3AD203B41FA5}">
                      <a16:colId xmlns:a16="http://schemas.microsoft.com/office/drawing/2014/main" val="20001"/>
                    </a:ext>
                  </a:extLst>
                </a:gridCol>
                <a:gridCol w="767080">
                  <a:extLst>
                    <a:ext uri="{9D8B030D-6E8A-4147-A177-3AD203B41FA5}">
                      <a16:colId xmlns:a16="http://schemas.microsoft.com/office/drawing/2014/main" val="20002"/>
                    </a:ext>
                  </a:extLst>
                </a:gridCol>
              </a:tblGrid>
              <a:tr h="200660">
                <a:tc>
                  <a:txBody>
                    <a:bodyPr/>
                    <a:lstStyle/>
                    <a:p>
                      <a:pPr marL="40005">
                        <a:lnSpc>
                          <a:spcPct val="100000"/>
                        </a:lnSpc>
                        <a:spcBef>
                          <a:spcPts val="180"/>
                        </a:spcBef>
                      </a:pPr>
                      <a:r>
                        <a:rPr sz="800" spc="-10" dirty="0">
                          <a:solidFill>
                            <a:srgbClr val="202429"/>
                          </a:solidFill>
                          <a:latin typeface="Tahoma"/>
                          <a:cs typeface="Tahoma"/>
                        </a:rPr>
                        <a:t>Interpretation</a:t>
                      </a:r>
                      <a:endParaRPr sz="800">
                        <a:latin typeface="Tahoma"/>
                        <a:cs typeface="Tahoma"/>
                      </a:endParaRPr>
                    </a:p>
                  </a:txBody>
                  <a:tcPr marL="0" marR="0" marT="22860" marB="0">
                    <a:lnL w="6350">
                      <a:solidFill>
                        <a:srgbClr val="44C8F4"/>
                      </a:solidFill>
                      <a:prstDash val="solid"/>
                    </a:lnL>
                    <a:lnR w="6350">
                      <a:solidFill>
                        <a:srgbClr val="FFB266"/>
                      </a:solidFill>
                      <a:prstDash val="solid"/>
                    </a:lnR>
                    <a:lnT w="6350">
                      <a:solidFill>
                        <a:srgbClr val="44C8F4"/>
                      </a:solidFill>
                      <a:prstDash val="solid"/>
                    </a:lnT>
                    <a:lnB w="6350">
                      <a:solidFill>
                        <a:srgbClr val="44C8F4"/>
                      </a:solidFill>
                      <a:prstDash val="solid"/>
                    </a:lnB>
                    <a:solidFill>
                      <a:srgbClr val="D4EFFC"/>
                    </a:solidFill>
                  </a:tcPr>
                </a:tc>
                <a:tc>
                  <a:txBody>
                    <a:bodyPr/>
                    <a:lstStyle/>
                    <a:p>
                      <a:pPr marL="56515">
                        <a:lnSpc>
                          <a:spcPct val="100000"/>
                        </a:lnSpc>
                        <a:spcBef>
                          <a:spcPts val="180"/>
                        </a:spcBef>
                      </a:pPr>
                      <a:r>
                        <a:rPr sz="800" spc="-10" dirty="0">
                          <a:solidFill>
                            <a:srgbClr val="202429"/>
                          </a:solidFill>
                          <a:latin typeface="Tahoma"/>
                          <a:cs typeface="Tahoma"/>
                        </a:rPr>
                        <a:t>Escalation/referral</a:t>
                      </a:r>
                      <a:endParaRPr sz="800">
                        <a:latin typeface="Tahoma"/>
                        <a:cs typeface="Tahoma"/>
                      </a:endParaRPr>
                    </a:p>
                  </a:txBody>
                  <a:tcPr marL="0" marR="0" marT="22860" marB="0">
                    <a:lnL w="6350">
                      <a:solidFill>
                        <a:srgbClr val="FFB266"/>
                      </a:solidFill>
                      <a:prstDash val="solid"/>
                    </a:lnL>
                    <a:lnR w="6350">
                      <a:solidFill>
                        <a:srgbClr val="B266B2"/>
                      </a:solidFill>
                      <a:prstDash val="solid"/>
                    </a:lnR>
                    <a:lnT w="6350">
                      <a:solidFill>
                        <a:srgbClr val="FFB266"/>
                      </a:solidFill>
                      <a:prstDash val="solid"/>
                    </a:lnT>
                    <a:lnB w="6350">
                      <a:solidFill>
                        <a:srgbClr val="FFB266"/>
                      </a:solidFill>
                      <a:prstDash val="solid"/>
                    </a:lnB>
                    <a:solidFill>
                      <a:srgbClr val="FFE5CC"/>
                    </a:solidFill>
                  </a:tcPr>
                </a:tc>
                <a:tc>
                  <a:txBody>
                    <a:bodyPr/>
                    <a:lstStyle/>
                    <a:p>
                      <a:pPr marL="56515">
                        <a:lnSpc>
                          <a:spcPct val="100000"/>
                        </a:lnSpc>
                        <a:spcBef>
                          <a:spcPts val="180"/>
                        </a:spcBef>
                      </a:pPr>
                      <a:r>
                        <a:rPr sz="800" dirty="0">
                          <a:solidFill>
                            <a:srgbClr val="202429"/>
                          </a:solidFill>
                          <a:latin typeface="Tahoma"/>
                          <a:cs typeface="Tahoma"/>
                        </a:rPr>
                        <a:t>Local</a:t>
                      </a:r>
                      <a:r>
                        <a:rPr sz="800" spc="80" dirty="0">
                          <a:solidFill>
                            <a:srgbClr val="202429"/>
                          </a:solidFill>
                          <a:latin typeface="Tahoma"/>
                          <a:cs typeface="Tahoma"/>
                        </a:rPr>
                        <a:t> </a:t>
                      </a:r>
                      <a:r>
                        <a:rPr sz="800" spc="-10" dirty="0">
                          <a:solidFill>
                            <a:srgbClr val="202429"/>
                          </a:solidFill>
                          <a:latin typeface="Tahoma"/>
                          <a:cs typeface="Tahoma"/>
                        </a:rPr>
                        <a:t>guidance</a:t>
                      </a:r>
                      <a:endParaRPr sz="800">
                        <a:latin typeface="Tahoma"/>
                        <a:cs typeface="Tahoma"/>
                      </a:endParaRPr>
                    </a:p>
                  </a:txBody>
                  <a:tcPr marL="0" marR="0" marT="22860" marB="0">
                    <a:lnL w="6350">
                      <a:solidFill>
                        <a:srgbClr val="B266B2"/>
                      </a:solidFill>
                      <a:prstDash val="solid"/>
                    </a:lnL>
                    <a:lnR w="6350">
                      <a:solidFill>
                        <a:srgbClr val="B266B2"/>
                      </a:solidFill>
                      <a:prstDash val="solid"/>
                    </a:lnR>
                    <a:lnT w="6350">
                      <a:solidFill>
                        <a:srgbClr val="B266B2"/>
                      </a:solidFill>
                      <a:prstDash val="solid"/>
                    </a:lnT>
                    <a:lnB w="6350">
                      <a:solidFill>
                        <a:srgbClr val="B266B2"/>
                      </a:solidFill>
                      <a:prstDash val="solid"/>
                    </a:lnB>
                    <a:solidFill>
                      <a:srgbClr val="E5CCE5"/>
                    </a:solidFill>
                  </a:tcPr>
                </a:tc>
                <a:extLst>
                  <a:ext uri="{0D108BD9-81ED-4DB2-BD59-A6C34878D82A}">
                    <a16:rowId xmlns:a16="http://schemas.microsoft.com/office/drawing/2014/main" val="10000"/>
                  </a:ext>
                </a:extLst>
              </a:tr>
            </a:tbl>
          </a:graphicData>
        </a:graphic>
      </p:graphicFrame>
      <p:sp>
        <p:nvSpPr>
          <p:cNvPr id="14" name="object 14"/>
          <p:cNvSpPr txBox="1"/>
          <p:nvPr/>
        </p:nvSpPr>
        <p:spPr>
          <a:xfrm>
            <a:off x="215176" y="2637763"/>
            <a:ext cx="2399665" cy="349885"/>
          </a:xfrm>
          <a:prstGeom prst="rect">
            <a:avLst/>
          </a:prstGeom>
        </p:spPr>
        <p:txBody>
          <a:bodyPr vert="horz" wrap="square" lIns="0" tIns="32384" rIns="0" bIns="0" rtlCol="0">
            <a:spAutoFit/>
          </a:bodyPr>
          <a:lstStyle/>
          <a:p>
            <a:pPr marL="12700" marR="5080" algn="ctr">
              <a:lnSpc>
                <a:spcPts val="800"/>
              </a:lnSpc>
              <a:spcBef>
                <a:spcPts val="254"/>
              </a:spcBef>
            </a:pPr>
            <a:r>
              <a:rPr sz="800" i="1" dirty="0">
                <a:solidFill>
                  <a:srgbClr val="202429"/>
                </a:solidFill>
                <a:latin typeface="Arial"/>
                <a:cs typeface="Arial"/>
              </a:rPr>
              <a:t>A</a:t>
            </a:r>
            <a:r>
              <a:rPr sz="800" i="1" spc="-10" dirty="0">
                <a:solidFill>
                  <a:srgbClr val="202429"/>
                </a:solidFill>
                <a:latin typeface="Arial"/>
                <a:cs typeface="Arial"/>
              </a:rPr>
              <a:t> single</a:t>
            </a:r>
            <a:r>
              <a:rPr sz="800" i="1" spc="-5" dirty="0">
                <a:solidFill>
                  <a:srgbClr val="202429"/>
                </a:solidFill>
                <a:latin typeface="Arial"/>
                <a:cs typeface="Arial"/>
              </a:rPr>
              <a:t> </a:t>
            </a:r>
            <a:r>
              <a:rPr sz="800" i="1" spc="-30" dirty="0">
                <a:solidFill>
                  <a:srgbClr val="202429"/>
                </a:solidFill>
                <a:latin typeface="Arial"/>
                <a:cs typeface="Arial"/>
              </a:rPr>
              <a:t>sentence</a:t>
            </a:r>
            <a:r>
              <a:rPr sz="800" i="1" spc="-5" dirty="0">
                <a:solidFill>
                  <a:srgbClr val="202429"/>
                </a:solidFill>
                <a:latin typeface="Arial"/>
                <a:cs typeface="Arial"/>
              </a:rPr>
              <a:t> </a:t>
            </a:r>
            <a:r>
              <a:rPr sz="800" i="1" spc="-10" dirty="0">
                <a:solidFill>
                  <a:srgbClr val="202429"/>
                </a:solidFill>
                <a:latin typeface="Arial"/>
                <a:cs typeface="Arial"/>
              </a:rPr>
              <a:t>can</a:t>
            </a:r>
            <a:r>
              <a:rPr sz="800" i="1" spc="-5" dirty="0">
                <a:solidFill>
                  <a:srgbClr val="202429"/>
                </a:solidFill>
                <a:latin typeface="Arial"/>
                <a:cs typeface="Arial"/>
              </a:rPr>
              <a:t> </a:t>
            </a:r>
            <a:r>
              <a:rPr sz="800" i="1" spc="-10" dirty="0">
                <a:solidFill>
                  <a:srgbClr val="202429"/>
                </a:solidFill>
                <a:latin typeface="Arial"/>
                <a:cs typeface="Arial"/>
              </a:rPr>
              <a:t>reveal </a:t>
            </a:r>
            <a:r>
              <a:rPr sz="800" b="1" i="1" spc="-10" dirty="0">
                <a:solidFill>
                  <a:srgbClr val="202429"/>
                </a:solidFill>
                <a:latin typeface="Arial"/>
                <a:cs typeface="Arial"/>
              </a:rPr>
              <a:t>multiple </a:t>
            </a:r>
            <a:r>
              <a:rPr sz="800" i="1" dirty="0">
                <a:solidFill>
                  <a:srgbClr val="202429"/>
                </a:solidFill>
                <a:latin typeface="Arial"/>
                <a:cs typeface="Arial"/>
              </a:rPr>
              <a:t>human</a:t>
            </a:r>
            <a:r>
              <a:rPr sz="800" i="1" spc="-10" dirty="0">
                <a:solidFill>
                  <a:srgbClr val="202429"/>
                </a:solidFill>
                <a:latin typeface="Arial"/>
                <a:cs typeface="Arial"/>
              </a:rPr>
              <a:t> factors. Systematic</a:t>
            </a:r>
            <a:r>
              <a:rPr sz="800" i="1" spc="15" dirty="0">
                <a:solidFill>
                  <a:srgbClr val="202429"/>
                </a:solidFill>
                <a:latin typeface="Arial"/>
                <a:cs typeface="Arial"/>
              </a:rPr>
              <a:t> </a:t>
            </a:r>
            <a:r>
              <a:rPr sz="800" i="1" dirty="0">
                <a:solidFill>
                  <a:srgbClr val="202429"/>
                </a:solidFill>
                <a:latin typeface="Arial"/>
                <a:cs typeface="Arial"/>
              </a:rPr>
              <a:t>annotation</a:t>
            </a:r>
            <a:r>
              <a:rPr sz="800" i="1" spc="10" dirty="0">
                <a:solidFill>
                  <a:srgbClr val="202429"/>
                </a:solidFill>
                <a:latin typeface="Arial"/>
                <a:cs typeface="Arial"/>
              </a:rPr>
              <a:t> </a:t>
            </a:r>
            <a:r>
              <a:rPr sz="800" i="1" dirty="0">
                <a:solidFill>
                  <a:srgbClr val="202429"/>
                </a:solidFill>
                <a:latin typeface="Arial"/>
                <a:cs typeface="Arial"/>
              </a:rPr>
              <a:t>lets</a:t>
            </a:r>
            <a:r>
              <a:rPr sz="800" i="1" spc="15" dirty="0">
                <a:solidFill>
                  <a:srgbClr val="202429"/>
                </a:solidFill>
                <a:latin typeface="Arial"/>
                <a:cs typeface="Arial"/>
              </a:rPr>
              <a:t> </a:t>
            </a:r>
            <a:r>
              <a:rPr sz="800" i="1" dirty="0">
                <a:solidFill>
                  <a:srgbClr val="202429"/>
                </a:solidFill>
                <a:latin typeface="Arial"/>
                <a:cs typeface="Arial"/>
              </a:rPr>
              <a:t>us</a:t>
            </a:r>
            <a:r>
              <a:rPr sz="800" i="1" spc="15" dirty="0">
                <a:solidFill>
                  <a:srgbClr val="202429"/>
                </a:solidFill>
                <a:latin typeface="Arial"/>
                <a:cs typeface="Arial"/>
              </a:rPr>
              <a:t> </a:t>
            </a:r>
            <a:r>
              <a:rPr sz="800" i="1" dirty="0">
                <a:solidFill>
                  <a:srgbClr val="202429"/>
                </a:solidFill>
                <a:latin typeface="Arial"/>
                <a:cs typeface="Arial"/>
              </a:rPr>
              <a:t>spot</a:t>
            </a:r>
            <a:r>
              <a:rPr sz="800" i="1" spc="10" dirty="0">
                <a:solidFill>
                  <a:srgbClr val="202429"/>
                </a:solidFill>
                <a:latin typeface="Arial"/>
                <a:cs typeface="Arial"/>
              </a:rPr>
              <a:t> </a:t>
            </a:r>
            <a:r>
              <a:rPr sz="800" i="1" dirty="0">
                <a:solidFill>
                  <a:srgbClr val="202429"/>
                </a:solidFill>
                <a:latin typeface="Arial"/>
                <a:cs typeface="Arial"/>
              </a:rPr>
              <a:t>patterns</a:t>
            </a:r>
            <a:r>
              <a:rPr sz="800" i="1" spc="20" dirty="0">
                <a:solidFill>
                  <a:srgbClr val="202429"/>
                </a:solidFill>
                <a:latin typeface="Arial"/>
                <a:cs typeface="Arial"/>
              </a:rPr>
              <a:t> </a:t>
            </a:r>
            <a:r>
              <a:rPr sz="800" i="1" spc="-10" dirty="0">
                <a:solidFill>
                  <a:srgbClr val="202429"/>
                </a:solidFill>
                <a:latin typeface="Arial"/>
                <a:cs typeface="Arial"/>
              </a:rPr>
              <a:t>across </a:t>
            </a:r>
            <a:r>
              <a:rPr sz="800" i="1" spc="-20" dirty="0">
                <a:solidFill>
                  <a:srgbClr val="202429"/>
                </a:solidFill>
                <a:latin typeface="Arial"/>
                <a:cs typeface="Arial"/>
              </a:rPr>
              <a:t>hundreds</a:t>
            </a:r>
            <a:r>
              <a:rPr sz="800" i="1" spc="35" dirty="0">
                <a:solidFill>
                  <a:srgbClr val="202429"/>
                </a:solidFill>
                <a:latin typeface="Arial"/>
                <a:cs typeface="Arial"/>
              </a:rPr>
              <a:t> </a:t>
            </a:r>
            <a:r>
              <a:rPr sz="800" i="1" dirty="0">
                <a:solidFill>
                  <a:srgbClr val="202429"/>
                </a:solidFill>
                <a:latin typeface="Arial"/>
                <a:cs typeface="Arial"/>
              </a:rPr>
              <a:t>of</a:t>
            </a:r>
            <a:r>
              <a:rPr sz="800" i="1" spc="40" dirty="0">
                <a:solidFill>
                  <a:srgbClr val="202429"/>
                </a:solidFill>
                <a:latin typeface="Arial"/>
                <a:cs typeface="Arial"/>
              </a:rPr>
              <a:t> </a:t>
            </a:r>
            <a:r>
              <a:rPr sz="800" i="1" spc="-10" dirty="0">
                <a:solidFill>
                  <a:srgbClr val="202429"/>
                </a:solidFill>
                <a:latin typeface="Arial"/>
                <a:cs typeface="Arial"/>
              </a:rPr>
              <a:t>reports.</a:t>
            </a:r>
            <a:endParaRPr sz="800">
              <a:latin typeface="Arial"/>
              <a:cs typeface="Arial"/>
            </a:endParaRPr>
          </a:p>
        </p:txBody>
      </p:sp>
      <p:sp>
        <p:nvSpPr>
          <p:cNvPr id="15" name="object 15"/>
          <p:cNvSpPr/>
          <p:nvPr/>
        </p:nvSpPr>
        <p:spPr>
          <a:xfrm>
            <a:off x="2880004" y="1010018"/>
            <a:ext cx="0" cy="1980564"/>
          </a:xfrm>
          <a:custGeom>
            <a:avLst/>
            <a:gdLst/>
            <a:ahLst/>
            <a:cxnLst/>
            <a:rect l="l" t="t" r="r" b="b"/>
            <a:pathLst>
              <a:path h="1980564">
                <a:moveTo>
                  <a:pt x="0" y="1979993"/>
                </a:moveTo>
                <a:lnTo>
                  <a:pt x="0" y="0"/>
                </a:lnTo>
              </a:path>
            </a:pathLst>
          </a:custGeom>
          <a:ln w="6325">
            <a:solidFill>
              <a:srgbClr val="CED3DA"/>
            </a:solidFill>
          </a:ln>
        </p:spPr>
        <p:txBody>
          <a:bodyPr wrap="square" lIns="0" tIns="0" rIns="0" bIns="0" rtlCol="0"/>
          <a:lstStyle/>
          <a:p>
            <a:endParaRPr/>
          </a:p>
        </p:txBody>
      </p:sp>
      <p:sp>
        <p:nvSpPr>
          <p:cNvPr id="16" name="object 16"/>
          <p:cNvSpPr txBox="1"/>
          <p:nvPr/>
        </p:nvSpPr>
        <p:spPr>
          <a:xfrm>
            <a:off x="3072510" y="788522"/>
            <a:ext cx="1798955" cy="177800"/>
          </a:xfrm>
          <a:prstGeom prst="rect">
            <a:avLst/>
          </a:prstGeom>
        </p:spPr>
        <p:txBody>
          <a:bodyPr vert="horz" wrap="square" lIns="0" tIns="12065" rIns="0" bIns="0" rtlCol="0">
            <a:spAutoFit/>
          </a:bodyPr>
          <a:lstStyle/>
          <a:p>
            <a:pPr marL="12700">
              <a:lnSpc>
                <a:spcPct val="100000"/>
              </a:lnSpc>
              <a:spcBef>
                <a:spcPts val="95"/>
              </a:spcBef>
            </a:pPr>
            <a:r>
              <a:rPr sz="1000" b="1" dirty="0">
                <a:solidFill>
                  <a:srgbClr val="202429"/>
                </a:solidFill>
                <a:latin typeface="Arial"/>
                <a:cs typeface="Arial"/>
              </a:rPr>
              <a:t>SEIPS</a:t>
            </a:r>
            <a:r>
              <a:rPr sz="1000" b="1" spc="25" dirty="0">
                <a:solidFill>
                  <a:srgbClr val="202429"/>
                </a:solidFill>
                <a:latin typeface="Arial"/>
                <a:cs typeface="Arial"/>
              </a:rPr>
              <a:t> </a:t>
            </a:r>
            <a:r>
              <a:rPr sz="1000" b="1" spc="-35" dirty="0">
                <a:solidFill>
                  <a:srgbClr val="202429"/>
                </a:solidFill>
                <a:latin typeface="Arial"/>
                <a:cs typeface="Arial"/>
              </a:rPr>
              <a:t>Taxonomy</a:t>
            </a:r>
            <a:r>
              <a:rPr sz="1000" b="1" spc="-5" dirty="0">
                <a:solidFill>
                  <a:srgbClr val="202429"/>
                </a:solidFill>
                <a:latin typeface="Arial"/>
                <a:cs typeface="Arial"/>
              </a:rPr>
              <a:t> </a:t>
            </a:r>
            <a:r>
              <a:rPr sz="1000" dirty="0">
                <a:solidFill>
                  <a:srgbClr val="6C757C"/>
                </a:solidFill>
                <a:latin typeface="Tahoma"/>
                <a:cs typeface="Tahoma"/>
              </a:rPr>
              <a:t>(main</a:t>
            </a:r>
            <a:r>
              <a:rPr sz="1000" spc="-35" dirty="0">
                <a:solidFill>
                  <a:srgbClr val="6C757C"/>
                </a:solidFill>
                <a:latin typeface="Tahoma"/>
                <a:cs typeface="Tahoma"/>
              </a:rPr>
              <a:t> areas)</a:t>
            </a:r>
            <a:endParaRPr sz="1000">
              <a:latin typeface="Tahoma"/>
              <a:cs typeface="Tahoma"/>
            </a:endParaRPr>
          </a:p>
        </p:txBody>
      </p:sp>
      <p:sp>
        <p:nvSpPr>
          <p:cNvPr id="17" name="object 17"/>
          <p:cNvSpPr txBox="1"/>
          <p:nvPr/>
        </p:nvSpPr>
        <p:spPr>
          <a:xfrm>
            <a:off x="3085210" y="1041311"/>
            <a:ext cx="2236470" cy="300355"/>
          </a:xfrm>
          <a:prstGeom prst="rect">
            <a:avLst/>
          </a:prstGeom>
          <a:solidFill>
            <a:srgbClr val="F2F2F2"/>
          </a:solidFill>
        </p:spPr>
        <p:txBody>
          <a:bodyPr vert="horz" wrap="square" lIns="0" tIns="25400" rIns="0" bIns="0" rtlCol="0">
            <a:spAutoFit/>
          </a:bodyPr>
          <a:lstStyle/>
          <a:p>
            <a:pPr marL="37465" marR="30480">
              <a:lnSpc>
                <a:spcPts val="950"/>
              </a:lnSpc>
              <a:spcBef>
                <a:spcPts val="200"/>
              </a:spcBef>
            </a:pPr>
            <a:r>
              <a:rPr sz="800" b="1" spc="-10" dirty="0">
                <a:solidFill>
                  <a:srgbClr val="202429"/>
                </a:solidFill>
                <a:latin typeface="Arial"/>
                <a:cs typeface="Arial"/>
              </a:rPr>
              <a:t>External</a:t>
            </a:r>
            <a:r>
              <a:rPr sz="800" b="1" spc="145" dirty="0">
                <a:solidFill>
                  <a:srgbClr val="202429"/>
                </a:solidFill>
                <a:latin typeface="Arial"/>
                <a:cs typeface="Arial"/>
              </a:rPr>
              <a:t> </a:t>
            </a:r>
            <a:r>
              <a:rPr sz="800" b="1" spc="-20" dirty="0">
                <a:solidFill>
                  <a:srgbClr val="202429"/>
                </a:solidFill>
                <a:latin typeface="Arial"/>
                <a:cs typeface="Arial"/>
              </a:rPr>
              <a:t>Environment</a:t>
            </a:r>
            <a:r>
              <a:rPr sz="800" b="1" spc="130" dirty="0">
                <a:solidFill>
                  <a:srgbClr val="202429"/>
                </a:solidFill>
                <a:latin typeface="Arial"/>
                <a:cs typeface="Arial"/>
              </a:rPr>
              <a:t> </a:t>
            </a:r>
            <a:r>
              <a:rPr sz="800" dirty="0">
                <a:solidFill>
                  <a:srgbClr val="202429"/>
                </a:solidFill>
                <a:latin typeface="Tahoma"/>
                <a:cs typeface="Tahoma"/>
              </a:rPr>
              <a:t>–</a:t>
            </a:r>
            <a:r>
              <a:rPr sz="800" spc="100" dirty="0">
                <a:solidFill>
                  <a:srgbClr val="202429"/>
                </a:solidFill>
                <a:latin typeface="Tahoma"/>
                <a:cs typeface="Tahoma"/>
              </a:rPr>
              <a:t> </a:t>
            </a:r>
            <a:r>
              <a:rPr sz="800" dirty="0">
                <a:solidFill>
                  <a:srgbClr val="202429"/>
                </a:solidFill>
                <a:latin typeface="Tahoma"/>
                <a:cs typeface="Tahoma"/>
              </a:rPr>
              <a:t>Policy,</a:t>
            </a:r>
            <a:r>
              <a:rPr sz="800" spc="130" dirty="0">
                <a:solidFill>
                  <a:srgbClr val="202429"/>
                </a:solidFill>
                <a:latin typeface="Tahoma"/>
                <a:cs typeface="Tahoma"/>
              </a:rPr>
              <a:t> </a:t>
            </a:r>
            <a:r>
              <a:rPr sz="800" dirty="0">
                <a:solidFill>
                  <a:srgbClr val="202429"/>
                </a:solidFill>
                <a:latin typeface="Tahoma"/>
                <a:cs typeface="Tahoma"/>
              </a:rPr>
              <a:t>Societal,</a:t>
            </a:r>
            <a:r>
              <a:rPr sz="800" spc="130" dirty="0">
                <a:solidFill>
                  <a:srgbClr val="202429"/>
                </a:solidFill>
                <a:latin typeface="Tahoma"/>
                <a:cs typeface="Tahoma"/>
              </a:rPr>
              <a:t> </a:t>
            </a:r>
            <a:r>
              <a:rPr sz="800" spc="-20" dirty="0">
                <a:solidFill>
                  <a:srgbClr val="202429"/>
                </a:solidFill>
                <a:latin typeface="Tahoma"/>
                <a:cs typeface="Tahoma"/>
              </a:rPr>
              <a:t>Eco-</a:t>
            </a:r>
            <a:r>
              <a:rPr sz="800" dirty="0">
                <a:solidFill>
                  <a:srgbClr val="202429"/>
                </a:solidFill>
                <a:latin typeface="Tahoma"/>
                <a:cs typeface="Tahoma"/>
              </a:rPr>
              <a:t>nomic,</a:t>
            </a:r>
            <a:r>
              <a:rPr sz="800" spc="110" dirty="0">
                <a:solidFill>
                  <a:srgbClr val="202429"/>
                </a:solidFill>
                <a:latin typeface="Tahoma"/>
                <a:cs typeface="Tahoma"/>
              </a:rPr>
              <a:t> </a:t>
            </a:r>
            <a:r>
              <a:rPr sz="800" dirty="0">
                <a:solidFill>
                  <a:srgbClr val="202429"/>
                </a:solidFill>
                <a:latin typeface="Tahoma"/>
                <a:cs typeface="Tahoma"/>
              </a:rPr>
              <a:t>COVID,</a:t>
            </a:r>
            <a:r>
              <a:rPr sz="800" spc="110" dirty="0">
                <a:solidFill>
                  <a:srgbClr val="202429"/>
                </a:solidFill>
                <a:latin typeface="Tahoma"/>
                <a:cs typeface="Tahoma"/>
              </a:rPr>
              <a:t> </a:t>
            </a:r>
            <a:r>
              <a:rPr sz="800" spc="-10" dirty="0">
                <a:solidFill>
                  <a:srgbClr val="202429"/>
                </a:solidFill>
                <a:latin typeface="Tahoma"/>
                <a:cs typeface="Tahoma"/>
              </a:rPr>
              <a:t>Geographical</a:t>
            </a:r>
            <a:endParaRPr sz="800">
              <a:latin typeface="Tahoma"/>
              <a:cs typeface="Tahoma"/>
            </a:endParaRPr>
          </a:p>
        </p:txBody>
      </p:sp>
      <p:sp>
        <p:nvSpPr>
          <p:cNvPr id="18" name="object 18"/>
          <p:cNvSpPr txBox="1"/>
          <p:nvPr/>
        </p:nvSpPr>
        <p:spPr>
          <a:xfrm>
            <a:off x="3085210" y="1380781"/>
            <a:ext cx="2236470" cy="300355"/>
          </a:xfrm>
          <a:prstGeom prst="rect">
            <a:avLst/>
          </a:prstGeom>
          <a:solidFill>
            <a:srgbClr val="F2F2F2"/>
          </a:solidFill>
        </p:spPr>
        <p:txBody>
          <a:bodyPr vert="horz" wrap="square" lIns="0" tIns="25400" rIns="0" bIns="0" rtlCol="0">
            <a:spAutoFit/>
          </a:bodyPr>
          <a:lstStyle/>
          <a:p>
            <a:pPr marL="37465" marR="29845">
              <a:lnSpc>
                <a:spcPts val="950"/>
              </a:lnSpc>
              <a:spcBef>
                <a:spcPts val="200"/>
              </a:spcBef>
            </a:pPr>
            <a:r>
              <a:rPr sz="800" b="1" spc="-10" dirty="0">
                <a:solidFill>
                  <a:srgbClr val="202429"/>
                </a:solidFill>
                <a:latin typeface="Arial"/>
                <a:cs typeface="Arial"/>
              </a:rPr>
              <a:t>Internal</a:t>
            </a:r>
            <a:r>
              <a:rPr sz="800" b="1" spc="60" dirty="0">
                <a:solidFill>
                  <a:srgbClr val="202429"/>
                </a:solidFill>
                <a:latin typeface="Arial"/>
                <a:cs typeface="Arial"/>
              </a:rPr>
              <a:t> </a:t>
            </a:r>
            <a:r>
              <a:rPr sz="800" b="1" spc="-25" dirty="0">
                <a:solidFill>
                  <a:srgbClr val="202429"/>
                </a:solidFill>
                <a:latin typeface="Arial"/>
                <a:cs typeface="Arial"/>
              </a:rPr>
              <a:t>Environment</a:t>
            </a:r>
            <a:r>
              <a:rPr sz="800" b="1" spc="55" dirty="0">
                <a:solidFill>
                  <a:srgbClr val="202429"/>
                </a:solidFill>
                <a:latin typeface="Arial"/>
                <a:cs typeface="Arial"/>
              </a:rPr>
              <a:t> </a:t>
            </a:r>
            <a:r>
              <a:rPr sz="800" dirty="0">
                <a:solidFill>
                  <a:srgbClr val="202429"/>
                </a:solidFill>
                <a:latin typeface="Tahoma"/>
                <a:cs typeface="Tahoma"/>
              </a:rPr>
              <a:t>–</a:t>
            </a:r>
            <a:r>
              <a:rPr sz="800" spc="20" dirty="0">
                <a:solidFill>
                  <a:srgbClr val="202429"/>
                </a:solidFill>
                <a:latin typeface="Tahoma"/>
                <a:cs typeface="Tahoma"/>
              </a:rPr>
              <a:t> </a:t>
            </a:r>
            <a:r>
              <a:rPr sz="800" dirty="0">
                <a:solidFill>
                  <a:srgbClr val="202429"/>
                </a:solidFill>
                <a:latin typeface="Tahoma"/>
                <a:cs typeface="Tahoma"/>
              </a:rPr>
              <a:t>Physical</a:t>
            </a:r>
            <a:r>
              <a:rPr sz="800" spc="25" dirty="0">
                <a:solidFill>
                  <a:srgbClr val="202429"/>
                </a:solidFill>
                <a:latin typeface="Tahoma"/>
                <a:cs typeface="Tahoma"/>
              </a:rPr>
              <a:t> </a:t>
            </a:r>
            <a:r>
              <a:rPr sz="800" dirty="0">
                <a:solidFill>
                  <a:srgbClr val="202429"/>
                </a:solidFill>
                <a:latin typeface="Tahoma"/>
                <a:cs typeface="Tahoma"/>
              </a:rPr>
              <a:t>layout,</a:t>
            </a:r>
            <a:r>
              <a:rPr sz="800" spc="30" dirty="0">
                <a:solidFill>
                  <a:srgbClr val="202429"/>
                </a:solidFill>
                <a:latin typeface="Tahoma"/>
                <a:cs typeface="Tahoma"/>
              </a:rPr>
              <a:t> </a:t>
            </a:r>
            <a:r>
              <a:rPr sz="800" spc="-10" dirty="0">
                <a:solidFill>
                  <a:srgbClr val="202429"/>
                </a:solidFill>
                <a:latin typeface="Tahoma"/>
                <a:cs typeface="Tahoma"/>
              </a:rPr>
              <a:t>Acuity, </a:t>
            </a:r>
            <a:r>
              <a:rPr sz="800" dirty="0">
                <a:solidFill>
                  <a:srgbClr val="202429"/>
                </a:solidFill>
                <a:latin typeface="Tahoma"/>
                <a:cs typeface="Tahoma"/>
              </a:rPr>
              <a:t>Availability,</a:t>
            </a:r>
            <a:r>
              <a:rPr sz="800" spc="30" dirty="0">
                <a:solidFill>
                  <a:srgbClr val="202429"/>
                </a:solidFill>
                <a:latin typeface="Tahoma"/>
                <a:cs typeface="Tahoma"/>
              </a:rPr>
              <a:t> </a:t>
            </a:r>
            <a:r>
              <a:rPr sz="800" dirty="0">
                <a:solidFill>
                  <a:srgbClr val="202429"/>
                </a:solidFill>
                <a:latin typeface="Tahoma"/>
                <a:cs typeface="Tahoma"/>
              </a:rPr>
              <a:t>Time</a:t>
            </a:r>
            <a:r>
              <a:rPr sz="800" spc="35" dirty="0">
                <a:solidFill>
                  <a:srgbClr val="202429"/>
                </a:solidFill>
                <a:latin typeface="Tahoma"/>
                <a:cs typeface="Tahoma"/>
              </a:rPr>
              <a:t> </a:t>
            </a:r>
            <a:r>
              <a:rPr sz="800" dirty="0">
                <a:solidFill>
                  <a:srgbClr val="202429"/>
                </a:solidFill>
                <a:latin typeface="Tahoma"/>
                <a:cs typeface="Tahoma"/>
              </a:rPr>
              <a:t>of</a:t>
            </a:r>
            <a:r>
              <a:rPr sz="800" spc="35" dirty="0">
                <a:solidFill>
                  <a:srgbClr val="202429"/>
                </a:solidFill>
                <a:latin typeface="Tahoma"/>
                <a:cs typeface="Tahoma"/>
              </a:rPr>
              <a:t> </a:t>
            </a:r>
            <a:r>
              <a:rPr sz="800" spc="-25" dirty="0">
                <a:solidFill>
                  <a:srgbClr val="202429"/>
                </a:solidFill>
                <a:latin typeface="Tahoma"/>
                <a:cs typeface="Tahoma"/>
              </a:rPr>
              <a:t>day</a:t>
            </a:r>
            <a:endParaRPr sz="800">
              <a:latin typeface="Tahoma"/>
              <a:cs typeface="Tahoma"/>
            </a:endParaRPr>
          </a:p>
        </p:txBody>
      </p:sp>
      <p:sp>
        <p:nvSpPr>
          <p:cNvPr id="19" name="object 19"/>
          <p:cNvSpPr txBox="1"/>
          <p:nvPr/>
        </p:nvSpPr>
        <p:spPr>
          <a:xfrm>
            <a:off x="3085210" y="1720252"/>
            <a:ext cx="2236470" cy="306070"/>
          </a:xfrm>
          <a:prstGeom prst="rect">
            <a:avLst/>
          </a:prstGeom>
          <a:solidFill>
            <a:srgbClr val="FFEBD8"/>
          </a:solidFill>
        </p:spPr>
        <p:txBody>
          <a:bodyPr vert="horz" wrap="square" lIns="0" tIns="25400" rIns="0" bIns="0" rtlCol="0">
            <a:spAutoFit/>
          </a:bodyPr>
          <a:lstStyle/>
          <a:p>
            <a:pPr marL="37465" marR="29845">
              <a:lnSpc>
                <a:spcPts val="950"/>
              </a:lnSpc>
              <a:spcBef>
                <a:spcPts val="200"/>
              </a:spcBef>
            </a:pPr>
            <a:r>
              <a:rPr sz="800" b="1" spc="-25" dirty="0">
                <a:solidFill>
                  <a:srgbClr val="B25900"/>
                </a:solidFill>
                <a:latin typeface="Arial"/>
                <a:cs typeface="Arial"/>
              </a:rPr>
              <a:t>Organisation</a:t>
            </a:r>
            <a:r>
              <a:rPr sz="800" b="1" spc="125" dirty="0">
                <a:solidFill>
                  <a:srgbClr val="B25900"/>
                </a:solidFill>
                <a:latin typeface="Arial"/>
                <a:cs typeface="Arial"/>
              </a:rPr>
              <a:t> </a:t>
            </a:r>
            <a:r>
              <a:rPr sz="800" dirty="0">
                <a:solidFill>
                  <a:srgbClr val="202429"/>
                </a:solidFill>
                <a:latin typeface="Tahoma"/>
                <a:cs typeface="Tahoma"/>
              </a:rPr>
              <a:t>–</a:t>
            </a:r>
            <a:r>
              <a:rPr sz="800" spc="100" dirty="0">
                <a:solidFill>
                  <a:srgbClr val="202429"/>
                </a:solidFill>
                <a:latin typeface="Tahoma"/>
                <a:cs typeface="Tahoma"/>
              </a:rPr>
              <a:t> </a:t>
            </a:r>
            <a:r>
              <a:rPr sz="800" dirty="0">
                <a:solidFill>
                  <a:srgbClr val="202429"/>
                </a:solidFill>
                <a:latin typeface="Tahoma"/>
                <a:cs typeface="Tahoma"/>
              </a:rPr>
              <a:t>Teamworking,</a:t>
            </a:r>
            <a:r>
              <a:rPr sz="800" spc="125" dirty="0">
                <a:solidFill>
                  <a:srgbClr val="202429"/>
                </a:solidFill>
                <a:latin typeface="Tahoma"/>
                <a:cs typeface="Tahoma"/>
              </a:rPr>
              <a:t> </a:t>
            </a:r>
            <a:r>
              <a:rPr sz="800" spc="-10" dirty="0">
                <a:solidFill>
                  <a:srgbClr val="202429"/>
                </a:solidFill>
                <a:latin typeface="Tahoma"/>
                <a:cs typeface="Tahoma"/>
              </a:rPr>
              <a:t>Communication, </a:t>
            </a:r>
            <a:r>
              <a:rPr sz="800" dirty="0">
                <a:solidFill>
                  <a:srgbClr val="202429"/>
                </a:solidFill>
                <a:latin typeface="Tahoma"/>
                <a:cs typeface="Tahoma"/>
              </a:rPr>
              <a:t>Escalation/referral,</a:t>
            </a:r>
            <a:r>
              <a:rPr sz="800" spc="20" dirty="0">
                <a:solidFill>
                  <a:srgbClr val="202429"/>
                </a:solidFill>
                <a:latin typeface="Tahoma"/>
                <a:cs typeface="Tahoma"/>
              </a:rPr>
              <a:t> </a:t>
            </a:r>
            <a:r>
              <a:rPr sz="800" spc="-10" dirty="0">
                <a:solidFill>
                  <a:srgbClr val="202429"/>
                </a:solidFill>
                <a:latin typeface="Tahoma"/>
                <a:cs typeface="Tahoma"/>
              </a:rPr>
              <a:t>Guidance</a:t>
            </a:r>
            <a:endParaRPr sz="800">
              <a:latin typeface="Tahoma"/>
              <a:cs typeface="Tahoma"/>
            </a:endParaRPr>
          </a:p>
        </p:txBody>
      </p:sp>
      <p:sp>
        <p:nvSpPr>
          <p:cNvPr id="20" name="object 20"/>
          <p:cNvSpPr txBox="1"/>
          <p:nvPr/>
        </p:nvSpPr>
        <p:spPr>
          <a:xfrm>
            <a:off x="3085210" y="2065350"/>
            <a:ext cx="2236470" cy="300355"/>
          </a:xfrm>
          <a:prstGeom prst="rect">
            <a:avLst/>
          </a:prstGeom>
          <a:solidFill>
            <a:srgbClr val="F2F2F2"/>
          </a:solidFill>
        </p:spPr>
        <p:txBody>
          <a:bodyPr vert="horz" wrap="square" lIns="0" tIns="25400" rIns="0" bIns="0" rtlCol="0">
            <a:spAutoFit/>
          </a:bodyPr>
          <a:lstStyle/>
          <a:p>
            <a:pPr marL="37465" marR="29845">
              <a:lnSpc>
                <a:spcPts val="950"/>
              </a:lnSpc>
              <a:spcBef>
                <a:spcPts val="200"/>
              </a:spcBef>
            </a:pPr>
            <a:r>
              <a:rPr sz="800" b="1" dirty="0">
                <a:solidFill>
                  <a:srgbClr val="202429"/>
                </a:solidFill>
                <a:latin typeface="Arial"/>
                <a:cs typeface="Arial"/>
              </a:rPr>
              <a:t>Job/Task</a:t>
            </a:r>
            <a:r>
              <a:rPr sz="800" b="1" spc="110" dirty="0">
                <a:solidFill>
                  <a:srgbClr val="202429"/>
                </a:solidFill>
                <a:latin typeface="Arial"/>
                <a:cs typeface="Arial"/>
              </a:rPr>
              <a:t> </a:t>
            </a:r>
            <a:r>
              <a:rPr sz="800" dirty="0">
                <a:solidFill>
                  <a:srgbClr val="202429"/>
                </a:solidFill>
                <a:latin typeface="Tahoma"/>
                <a:cs typeface="Tahoma"/>
              </a:rPr>
              <a:t>–</a:t>
            </a:r>
            <a:r>
              <a:rPr sz="800" spc="80" dirty="0">
                <a:solidFill>
                  <a:srgbClr val="202429"/>
                </a:solidFill>
                <a:latin typeface="Tahoma"/>
                <a:cs typeface="Tahoma"/>
              </a:rPr>
              <a:t> </a:t>
            </a:r>
            <a:r>
              <a:rPr sz="800" spc="-10" dirty="0">
                <a:solidFill>
                  <a:srgbClr val="202429"/>
                </a:solidFill>
                <a:latin typeface="Tahoma"/>
                <a:cs typeface="Tahoma"/>
              </a:rPr>
              <a:t>Assessment,</a:t>
            </a:r>
            <a:r>
              <a:rPr sz="800" spc="105" dirty="0">
                <a:solidFill>
                  <a:srgbClr val="202429"/>
                </a:solidFill>
                <a:latin typeface="Tahoma"/>
                <a:cs typeface="Tahoma"/>
              </a:rPr>
              <a:t> </a:t>
            </a:r>
            <a:r>
              <a:rPr sz="800" dirty="0">
                <a:solidFill>
                  <a:srgbClr val="202429"/>
                </a:solidFill>
                <a:latin typeface="Tahoma"/>
                <a:cs typeface="Tahoma"/>
              </a:rPr>
              <a:t>Care</a:t>
            </a:r>
            <a:r>
              <a:rPr sz="800" spc="80" dirty="0">
                <a:solidFill>
                  <a:srgbClr val="202429"/>
                </a:solidFill>
                <a:latin typeface="Tahoma"/>
                <a:cs typeface="Tahoma"/>
              </a:rPr>
              <a:t> </a:t>
            </a:r>
            <a:r>
              <a:rPr sz="800" dirty="0">
                <a:solidFill>
                  <a:srgbClr val="202429"/>
                </a:solidFill>
                <a:latin typeface="Tahoma"/>
                <a:cs typeface="Tahoma"/>
              </a:rPr>
              <a:t>planning,</a:t>
            </a:r>
            <a:r>
              <a:rPr sz="800" spc="105" dirty="0">
                <a:solidFill>
                  <a:srgbClr val="202429"/>
                </a:solidFill>
                <a:latin typeface="Tahoma"/>
                <a:cs typeface="Tahoma"/>
              </a:rPr>
              <a:t> </a:t>
            </a:r>
            <a:r>
              <a:rPr sz="800" spc="-10" dirty="0">
                <a:solidFill>
                  <a:srgbClr val="202429"/>
                </a:solidFill>
                <a:latin typeface="Tahoma"/>
                <a:cs typeface="Tahoma"/>
              </a:rPr>
              <a:t>Moni-</a:t>
            </a:r>
            <a:r>
              <a:rPr sz="800" dirty="0">
                <a:solidFill>
                  <a:srgbClr val="202429"/>
                </a:solidFill>
                <a:latin typeface="Tahoma"/>
                <a:cs typeface="Tahoma"/>
              </a:rPr>
              <a:t>toring,</a:t>
            </a:r>
            <a:r>
              <a:rPr sz="800" spc="35" dirty="0">
                <a:solidFill>
                  <a:srgbClr val="202429"/>
                </a:solidFill>
                <a:latin typeface="Tahoma"/>
                <a:cs typeface="Tahoma"/>
              </a:rPr>
              <a:t> </a:t>
            </a:r>
            <a:r>
              <a:rPr sz="800" dirty="0">
                <a:solidFill>
                  <a:srgbClr val="202429"/>
                </a:solidFill>
                <a:latin typeface="Tahoma"/>
                <a:cs typeface="Tahoma"/>
              </a:rPr>
              <a:t>Risk</a:t>
            </a:r>
            <a:r>
              <a:rPr sz="800" spc="40" dirty="0">
                <a:solidFill>
                  <a:srgbClr val="202429"/>
                </a:solidFill>
                <a:latin typeface="Tahoma"/>
                <a:cs typeface="Tahoma"/>
              </a:rPr>
              <a:t> </a:t>
            </a:r>
            <a:r>
              <a:rPr sz="800" spc="-10" dirty="0">
                <a:solidFill>
                  <a:srgbClr val="202429"/>
                </a:solidFill>
                <a:latin typeface="Tahoma"/>
                <a:cs typeface="Tahoma"/>
              </a:rPr>
              <a:t>assessment</a:t>
            </a:r>
            <a:endParaRPr sz="800">
              <a:latin typeface="Tahoma"/>
              <a:cs typeface="Tahoma"/>
            </a:endParaRPr>
          </a:p>
        </p:txBody>
      </p:sp>
      <p:sp>
        <p:nvSpPr>
          <p:cNvPr id="21" name="object 21"/>
          <p:cNvSpPr txBox="1"/>
          <p:nvPr/>
        </p:nvSpPr>
        <p:spPr>
          <a:xfrm>
            <a:off x="3085210" y="2404821"/>
            <a:ext cx="2236470" cy="306070"/>
          </a:xfrm>
          <a:prstGeom prst="rect">
            <a:avLst/>
          </a:prstGeom>
          <a:solidFill>
            <a:srgbClr val="D4EFFC"/>
          </a:solidFill>
        </p:spPr>
        <p:txBody>
          <a:bodyPr vert="horz" wrap="square" lIns="0" tIns="25400" rIns="0" bIns="0" rtlCol="0">
            <a:spAutoFit/>
          </a:bodyPr>
          <a:lstStyle/>
          <a:p>
            <a:pPr marL="37465" marR="30480">
              <a:lnSpc>
                <a:spcPts val="950"/>
              </a:lnSpc>
              <a:spcBef>
                <a:spcPts val="200"/>
              </a:spcBef>
            </a:pPr>
            <a:r>
              <a:rPr sz="800" b="1" spc="-45" dirty="0">
                <a:solidFill>
                  <a:srgbClr val="3E7C94"/>
                </a:solidFill>
                <a:latin typeface="Arial"/>
                <a:cs typeface="Arial"/>
              </a:rPr>
              <a:t>Technologies</a:t>
            </a:r>
            <a:r>
              <a:rPr sz="800" b="1" spc="165" dirty="0">
                <a:solidFill>
                  <a:srgbClr val="3E7C94"/>
                </a:solidFill>
                <a:latin typeface="Arial"/>
                <a:cs typeface="Arial"/>
              </a:rPr>
              <a:t> </a:t>
            </a:r>
            <a:r>
              <a:rPr sz="800" b="1" spc="85" dirty="0">
                <a:solidFill>
                  <a:srgbClr val="3E7C94"/>
                </a:solidFill>
                <a:latin typeface="Arial"/>
                <a:cs typeface="Arial"/>
              </a:rPr>
              <a:t>&amp;</a:t>
            </a:r>
            <a:r>
              <a:rPr sz="800" b="1" spc="165" dirty="0">
                <a:solidFill>
                  <a:srgbClr val="3E7C94"/>
                </a:solidFill>
                <a:latin typeface="Arial"/>
                <a:cs typeface="Arial"/>
              </a:rPr>
              <a:t> </a:t>
            </a:r>
            <a:r>
              <a:rPr sz="800" b="1" spc="-20" dirty="0">
                <a:solidFill>
                  <a:srgbClr val="3E7C94"/>
                </a:solidFill>
                <a:latin typeface="Arial"/>
                <a:cs typeface="Arial"/>
              </a:rPr>
              <a:t>Tools</a:t>
            </a:r>
            <a:r>
              <a:rPr sz="800" b="1" spc="155" dirty="0">
                <a:solidFill>
                  <a:srgbClr val="3E7C94"/>
                </a:solidFill>
                <a:latin typeface="Arial"/>
                <a:cs typeface="Arial"/>
              </a:rPr>
              <a:t> </a:t>
            </a:r>
            <a:r>
              <a:rPr sz="800" dirty="0">
                <a:solidFill>
                  <a:srgbClr val="202429"/>
                </a:solidFill>
                <a:latin typeface="Tahoma"/>
                <a:cs typeface="Tahoma"/>
              </a:rPr>
              <a:t>–</a:t>
            </a:r>
            <a:r>
              <a:rPr sz="800" spc="125" dirty="0">
                <a:solidFill>
                  <a:srgbClr val="202429"/>
                </a:solidFill>
                <a:latin typeface="Tahoma"/>
                <a:cs typeface="Tahoma"/>
              </a:rPr>
              <a:t> </a:t>
            </a:r>
            <a:r>
              <a:rPr sz="800" spc="-20" dirty="0">
                <a:solidFill>
                  <a:srgbClr val="202429"/>
                </a:solidFill>
                <a:latin typeface="Tahoma"/>
                <a:cs typeface="Tahoma"/>
              </a:rPr>
              <a:t>Issues,</a:t>
            </a:r>
            <a:r>
              <a:rPr sz="800" spc="160" dirty="0">
                <a:solidFill>
                  <a:srgbClr val="202429"/>
                </a:solidFill>
                <a:latin typeface="Tahoma"/>
                <a:cs typeface="Tahoma"/>
              </a:rPr>
              <a:t> </a:t>
            </a:r>
            <a:r>
              <a:rPr sz="800" spc="-10" dirty="0">
                <a:solidFill>
                  <a:srgbClr val="202429"/>
                </a:solidFill>
                <a:latin typeface="Tahoma"/>
                <a:cs typeface="Tahoma"/>
              </a:rPr>
              <a:t>Interpretation (CTG)</a:t>
            </a:r>
            <a:endParaRPr sz="800">
              <a:latin typeface="Tahoma"/>
              <a:cs typeface="Tahoma"/>
            </a:endParaRPr>
          </a:p>
        </p:txBody>
      </p:sp>
      <p:sp>
        <p:nvSpPr>
          <p:cNvPr id="22" name="object 22"/>
          <p:cNvSpPr txBox="1"/>
          <p:nvPr/>
        </p:nvSpPr>
        <p:spPr>
          <a:xfrm>
            <a:off x="3085210" y="2749930"/>
            <a:ext cx="2236470" cy="280670"/>
          </a:xfrm>
          <a:prstGeom prst="rect">
            <a:avLst/>
          </a:prstGeom>
          <a:solidFill>
            <a:srgbClr val="F2F2F2"/>
          </a:solidFill>
        </p:spPr>
        <p:txBody>
          <a:bodyPr vert="horz" wrap="square" lIns="0" tIns="25400" rIns="0" bIns="0" rtlCol="0">
            <a:spAutoFit/>
          </a:bodyPr>
          <a:lstStyle/>
          <a:p>
            <a:pPr marL="37465" marR="30480">
              <a:lnSpc>
                <a:spcPts val="950"/>
              </a:lnSpc>
              <a:spcBef>
                <a:spcPts val="200"/>
              </a:spcBef>
            </a:pPr>
            <a:r>
              <a:rPr sz="800" b="1" spc="-30" dirty="0">
                <a:solidFill>
                  <a:srgbClr val="202429"/>
                </a:solidFill>
                <a:latin typeface="Arial"/>
                <a:cs typeface="Arial"/>
              </a:rPr>
              <a:t>Person</a:t>
            </a:r>
            <a:r>
              <a:rPr sz="800" b="1" spc="160" dirty="0">
                <a:solidFill>
                  <a:srgbClr val="202429"/>
                </a:solidFill>
                <a:latin typeface="Arial"/>
                <a:cs typeface="Arial"/>
              </a:rPr>
              <a:t> </a:t>
            </a:r>
            <a:r>
              <a:rPr sz="800" dirty="0">
                <a:solidFill>
                  <a:srgbClr val="202429"/>
                </a:solidFill>
                <a:latin typeface="Tahoma"/>
                <a:cs typeface="Tahoma"/>
              </a:rPr>
              <a:t>–</a:t>
            </a:r>
            <a:r>
              <a:rPr sz="800" spc="130" dirty="0">
                <a:solidFill>
                  <a:srgbClr val="202429"/>
                </a:solidFill>
                <a:latin typeface="Tahoma"/>
                <a:cs typeface="Tahoma"/>
              </a:rPr>
              <a:t> </a:t>
            </a:r>
            <a:r>
              <a:rPr sz="800" dirty="0">
                <a:solidFill>
                  <a:srgbClr val="202429"/>
                </a:solidFill>
                <a:latin typeface="Tahoma"/>
                <a:cs typeface="Tahoma"/>
              </a:rPr>
              <a:t>Physical,</a:t>
            </a:r>
            <a:r>
              <a:rPr sz="800" spc="165" dirty="0">
                <a:solidFill>
                  <a:srgbClr val="202429"/>
                </a:solidFill>
                <a:latin typeface="Tahoma"/>
                <a:cs typeface="Tahoma"/>
              </a:rPr>
              <a:t> </a:t>
            </a:r>
            <a:r>
              <a:rPr sz="800" dirty="0">
                <a:solidFill>
                  <a:srgbClr val="202429"/>
                </a:solidFill>
                <a:latin typeface="Tahoma"/>
                <a:cs typeface="Tahoma"/>
              </a:rPr>
              <a:t>Psychological,</a:t>
            </a:r>
            <a:r>
              <a:rPr sz="800" spc="160" dirty="0">
                <a:solidFill>
                  <a:srgbClr val="202429"/>
                </a:solidFill>
                <a:latin typeface="Tahoma"/>
                <a:cs typeface="Tahoma"/>
              </a:rPr>
              <a:t> </a:t>
            </a:r>
            <a:r>
              <a:rPr sz="800" spc="-10" dirty="0">
                <a:solidFill>
                  <a:srgbClr val="202429"/>
                </a:solidFill>
                <a:latin typeface="Tahoma"/>
                <a:cs typeface="Tahoma"/>
              </a:rPr>
              <a:t>Slips/lapses, </a:t>
            </a:r>
            <a:r>
              <a:rPr sz="800" dirty="0">
                <a:solidFill>
                  <a:srgbClr val="202429"/>
                </a:solidFill>
                <a:latin typeface="Tahoma"/>
                <a:cs typeface="Tahoma"/>
              </a:rPr>
              <a:t>Decision</a:t>
            </a:r>
            <a:r>
              <a:rPr sz="800" spc="-35" dirty="0">
                <a:solidFill>
                  <a:srgbClr val="202429"/>
                </a:solidFill>
                <a:latin typeface="Tahoma"/>
                <a:cs typeface="Tahoma"/>
              </a:rPr>
              <a:t> </a:t>
            </a:r>
            <a:r>
              <a:rPr sz="800" spc="-10" dirty="0">
                <a:solidFill>
                  <a:srgbClr val="202429"/>
                </a:solidFill>
                <a:latin typeface="Tahoma"/>
                <a:cs typeface="Tahoma"/>
              </a:rPr>
              <a:t>errors</a:t>
            </a:r>
            <a:endParaRPr sz="800">
              <a:latin typeface="Tahoma"/>
              <a:cs typeface="Tahoma"/>
            </a:endParaRPr>
          </a:p>
        </p:txBody>
      </p:sp>
      <p:sp>
        <p:nvSpPr>
          <p:cNvPr id="23" name="object 23"/>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26" name="Slide Number Placeholder 25">
            <a:extLst>
              <a:ext uri="{FF2B5EF4-FFF2-40B4-BE49-F238E27FC236}">
                <a16:creationId xmlns:a16="http://schemas.microsoft.com/office/drawing/2014/main" id="{171C6E24-5C36-493E-1C49-7199E1D9F937}"/>
              </a:ext>
            </a:extLst>
          </p:cNvPr>
          <p:cNvSpPr>
            <a:spLocks noGrp="1"/>
          </p:cNvSpPr>
          <p:nvPr>
            <p:ph type="sldNum" sz="quarter" idx="7"/>
          </p:nvPr>
        </p:nvSpPr>
        <p:spPr>
          <a:xfrm>
            <a:off x="5217160" y="3070861"/>
            <a:ext cx="548640" cy="173989"/>
          </a:xfrm>
        </p:spPr>
        <p:txBody>
          <a:bodyPr/>
          <a:lstStyle/>
          <a:p>
            <a:pPr marL="39370">
              <a:lnSpc>
                <a:spcPct val="100000"/>
              </a:lnSpc>
              <a:spcBef>
                <a:spcPts val="219"/>
              </a:spcBef>
            </a:pPr>
            <a:fld id="{81D60167-4931-47E6-BA6A-407CBD079E47}" type="slidenum">
              <a:rPr lang="en-GB" smtClean="0"/>
              <a:t>8</a:t>
            </a:fld>
            <a:r>
              <a:rPr lang="en-GB" spc="20" dirty="0"/>
              <a:t> </a:t>
            </a:r>
            <a:r>
              <a:rPr lang="en-GB" spc="120" dirty="0"/>
              <a:t>/</a:t>
            </a:r>
            <a:r>
              <a:rPr lang="en-GB" spc="25" dirty="0"/>
              <a:t> </a:t>
            </a:r>
            <a:r>
              <a:rPr lang="en-GB" spc="-25" dirty="0"/>
              <a:t>39</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49530" rIns="0" bIns="0" rtlCol="0">
            <a:spAutoFit/>
          </a:bodyPr>
          <a:lstStyle/>
          <a:p>
            <a:pPr marL="99060">
              <a:lnSpc>
                <a:spcPct val="100000"/>
              </a:lnSpc>
              <a:spcBef>
                <a:spcPts val="390"/>
              </a:spcBef>
            </a:pPr>
            <a:r>
              <a:rPr dirty="0"/>
              <a:t>The</a:t>
            </a:r>
            <a:r>
              <a:rPr spc="90" dirty="0"/>
              <a:t> </a:t>
            </a:r>
            <a:r>
              <a:rPr dirty="0"/>
              <a:t>SIRch</a:t>
            </a:r>
            <a:r>
              <a:rPr spc="90" dirty="0"/>
              <a:t> </a:t>
            </a:r>
            <a:r>
              <a:rPr spc="-20" dirty="0"/>
              <a:t>Taxonomy:</a:t>
            </a:r>
            <a:r>
              <a:rPr spc="250" dirty="0"/>
              <a:t> </a:t>
            </a:r>
            <a:r>
              <a:rPr dirty="0"/>
              <a:t>SEIPS</a:t>
            </a:r>
            <a:r>
              <a:rPr spc="90" dirty="0"/>
              <a:t> </a:t>
            </a:r>
            <a:r>
              <a:rPr spc="-10" dirty="0"/>
              <a:t>Framework</a:t>
            </a:r>
          </a:p>
          <a:p>
            <a:pPr marL="99060">
              <a:lnSpc>
                <a:spcPct val="100000"/>
              </a:lnSpc>
              <a:spcBef>
                <a:spcPts val="195"/>
              </a:spcBef>
            </a:pPr>
            <a:r>
              <a:rPr sz="1100" b="0" spc="-25" dirty="0">
                <a:solidFill>
                  <a:srgbClr val="6C757C"/>
                </a:solidFill>
                <a:latin typeface="Tahoma"/>
                <a:cs typeface="Tahoma"/>
              </a:rPr>
              <a:t>Human</a:t>
            </a:r>
            <a:r>
              <a:rPr sz="1100" b="0" spc="-20" dirty="0">
                <a:solidFill>
                  <a:srgbClr val="6C757C"/>
                </a:solidFill>
                <a:latin typeface="Tahoma"/>
                <a:cs typeface="Tahoma"/>
              </a:rPr>
              <a:t> </a:t>
            </a:r>
            <a:r>
              <a:rPr sz="1100" b="0" spc="-30" dirty="0">
                <a:solidFill>
                  <a:srgbClr val="6C757C"/>
                </a:solidFill>
                <a:latin typeface="Tahoma"/>
                <a:cs typeface="Tahoma"/>
              </a:rPr>
              <a:t>factors</a:t>
            </a:r>
            <a:r>
              <a:rPr sz="1100" b="0" spc="-20" dirty="0">
                <a:solidFill>
                  <a:srgbClr val="6C757C"/>
                </a:solidFill>
                <a:latin typeface="Tahoma"/>
                <a:cs typeface="Tahoma"/>
              </a:rPr>
              <a:t> </a:t>
            </a:r>
            <a:r>
              <a:rPr sz="1100" b="0" spc="-60" dirty="0">
                <a:solidFill>
                  <a:srgbClr val="6C757C"/>
                </a:solidFill>
                <a:latin typeface="Tahoma"/>
                <a:cs typeface="Tahoma"/>
              </a:rPr>
              <a:t>framework</a:t>
            </a:r>
            <a:r>
              <a:rPr sz="1100" b="0" spc="-20" dirty="0">
                <a:solidFill>
                  <a:srgbClr val="6C757C"/>
                </a:solidFill>
                <a:latin typeface="Tahoma"/>
                <a:cs typeface="Tahoma"/>
              </a:rPr>
              <a:t> for </a:t>
            </a:r>
            <a:r>
              <a:rPr sz="1100" b="0" spc="-30" dirty="0">
                <a:solidFill>
                  <a:srgbClr val="6C757C"/>
                </a:solidFill>
                <a:latin typeface="Tahoma"/>
                <a:cs typeface="Tahoma"/>
              </a:rPr>
              <a:t>maternity</a:t>
            </a:r>
            <a:r>
              <a:rPr sz="1100" b="0" spc="-20" dirty="0">
                <a:solidFill>
                  <a:srgbClr val="6C757C"/>
                </a:solidFill>
                <a:latin typeface="Tahoma"/>
                <a:cs typeface="Tahoma"/>
              </a:rPr>
              <a:t> </a:t>
            </a:r>
            <a:r>
              <a:rPr sz="1100" b="0" spc="-40" dirty="0">
                <a:solidFill>
                  <a:srgbClr val="6C757C"/>
                </a:solidFill>
                <a:latin typeface="Tahoma"/>
                <a:cs typeface="Tahoma"/>
              </a:rPr>
              <a:t>safety</a:t>
            </a:r>
            <a:r>
              <a:rPr sz="1100" b="0" spc="-20" dirty="0">
                <a:solidFill>
                  <a:srgbClr val="6C757C"/>
                </a:solidFill>
                <a:latin typeface="Tahoma"/>
                <a:cs typeface="Tahoma"/>
              </a:rPr>
              <a:t> </a:t>
            </a:r>
            <a:r>
              <a:rPr sz="1100" b="0" spc="-30" dirty="0">
                <a:solidFill>
                  <a:srgbClr val="6C757C"/>
                </a:solidFill>
                <a:latin typeface="Tahoma"/>
                <a:cs typeface="Tahoma"/>
              </a:rPr>
              <a:t>investigations</a:t>
            </a:r>
            <a:endParaRPr sz="1100">
              <a:latin typeface="Tahoma"/>
              <a:cs typeface="Tahoma"/>
            </a:endParaRPr>
          </a:p>
        </p:txBody>
      </p:sp>
      <p:sp>
        <p:nvSpPr>
          <p:cNvPr id="3" name="object 3"/>
          <p:cNvSpPr/>
          <p:nvPr/>
        </p:nvSpPr>
        <p:spPr>
          <a:xfrm>
            <a:off x="359994" y="617600"/>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sp>
        <p:nvSpPr>
          <p:cNvPr id="8" name="object 8"/>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1" name="Slide Number Placeholder 10">
            <a:extLst>
              <a:ext uri="{FF2B5EF4-FFF2-40B4-BE49-F238E27FC236}">
                <a16:creationId xmlns:a16="http://schemas.microsoft.com/office/drawing/2014/main" id="{266CC2C7-A9F5-6006-9763-8DCE99F41C96}"/>
              </a:ext>
            </a:extLst>
          </p:cNvPr>
          <p:cNvSpPr>
            <a:spLocks noGrp="1"/>
          </p:cNvSpPr>
          <p:nvPr>
            <p:ph type="sldNum" sz="quarter" idx="7"/>
          </p:nvPr>
        </p:nvSpPr>
        <p:spPr>
          <a:xfrm>
            <a:off x="5211445" y="3070861"/>
            <a:ext cx="548640" cy="173989"/>
          </a:xfrm>
        </p:spPr>
        <p:txBody>
          <a:bodyPr/>
          <a:lstStyle/>
          <a:p>
            <a:pPr marL="39370">
              <a:lnSpc>
                <a:spcPct val="100000"/>
              </a:lnSpc>
              <a:spcBef>
                <a:spcPts val="219"/>
              </a:spcBef>
            </a:pPr>
            <a:fld id="{81D60167-4931-47E6-BA6A-407CBD079E47}" type="slidenum">
              <a:rPr lang="en-GB" smtClean="0"/>
              <a:t>9</a:t>
            </a:fld>
            <a:r>
              <a:rPr lang="en-GB" spc="20" dirty="0"/>
              <a:t> </a:t>
            </a:r>
            <a:r>
              <a:rPr lang="en-GB" spc="120" dirty="0"/>
              <a:t>/</a:t>
            </a:r>
            <a:r>
              <a:rPr lang="en-GB" spc="25" dirty="0"/>
              <a:t> </a:t>
            </a:r>
            <a:r>
              <a:rPr lang="en-GB" spc="-25" dirty="0"/>
              <a:t>39</a:t>
            </a:r>
          </a:p>
        </p:txBody>
      </p:sp>
      <p:sp>
        <p:nvSpPr>
          <p:cNvPr id="12" name="Area 1 box"/>
          <p:cNvSpPr/>
          <p:nvPr/>
        </p:nvSpPr>
        <p:spPr>
          <a:xfrm>
            <a:off x="347472" y="731520"/>
            <a:ext cx="2480564" cy="402336"/>
          </a:xfrm>
          <a:prstGeom prst="roundRect">
            <a:avLst>
              <a:gd name="adj" fmla="val 6000"/>
            </a:avLst>
          </a:prstGeom>
          <a:solidFill>
            <a:srgbClr val="F2F6F7"/>
          </a:solidFill>
          <a:ln w="9525">
            <a:solidFill>
              <a:srgbClr val="CED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Area 1 text"/>
          <p:cNvSpPr txBox="1"/>
          <p:nvPr/>
        </p:nvSpPr>
        <p:spPr>
          <a:xfrm>
            <a:off x="420624" y="758952"/>
            <a:ext cx="2334260" cy="356616"/>
          </a:xfrm>
          <a:prstGeom prst="rect">
            <a:avLst/>
          </a:prstGeom>
          <a:noFill/>
        </p:spPr>
        <p:txBody>
          <a:bodyPr wrap="square" lIns="0" tIns="0" rIns="0" bIns="0" anchor="t">
            <a:spAutoFit/>
          </a:bodyPr>
          <a:lstStyle/>
          <a:p>
            <a:pPr algn="l"/>
            <a:r>
              <a:rPr sz="800" b="1">
                <a:solidFill>
                  <a:srgbClr val="005F73"/>
                </a:solidFill>
                <a:latin typeface="Arial"/>
              </a:rPr>
              <a:t>1  External Environment</a:t>
            </a:r>
          </a:p>
          <a:p>
            <a:pPr algn="l">
              <a:spcBef>
                <a:spcPts val="100"/>
              </a:spcBef>
            </a:pPr>
            <a:r>
              <a:rPr sz="680" b="0">
                <a:solidFill>
                  <a:srgbClr val="202429"/>
                </a:solidFill>
                <a:latin typeface="Tahoma"/>
              </a:rPr>
              <a:t>Policy · Societal · Economic · COVID · Geographical (e.g. location of patient)</a:t>
            </a:r>
          </a:p>
        </p:txBody>
      </p:sp>
      <p:sp>
        <p:nvSpPr>
          <p:cNvPr id="14" name="Area 2 box"/>
          <p:cNvSpPr/>
          <p:nvPr/>
        </p:nvSpPr>
        <p:spPr>
          <a:xfrm>
            <a:off x="347472" y="1188720"/>
            <a:ext cx="2480564" cy="676656"/>
          </a:xfrm>
          <a:prstGeom prst="roundRect">
            <a:avLst>
              <a:gd name="adj" fmla="val 6000"/>
            </a:avLst>
          </a:prstGeom>
          <a:solidFill>
            <a:srgbClr val="F2F6F7"/>
          </a:solidFill>
          <a:ln w="9525">
            <a:solidFill>
              <a:srgbClr val="CED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Area 2 text"/>
          <p:cNvSpPr txBox="1"/>
          <p:nvPr/>
        </p:nvSpPr>
        <p:spPr>
          <a:xfrm>
            <a:off x="420624" y="1216152"/>
            <a:ext cx="2334260" cy="630936"/>
          </a:xfrm>
          <a:prstGeom prst="rect">
            <a:avLst/>
          </a:prstGeom>
          <a:noFill/>
        </p:spPr>
        <p:txBody>
          <a:bodyPr wrap="square" lIns="0" tIns="0" rIns="0" bIns="0" anchor="t">
            <a:spAutoFit/>
          </a:bodyPr>
          <a:lstStyle/>
          <a:p>
            <a:pPr algn="l"/>
            <a:r>
              <a:rPr sz="800" b="1">
                <a:solidFill>
                  <a:srgbClr val="005F73"/>
                </a:solidFill>
                <a:latin typeface="Arial"/>
              </a:rPr>
              <a:t>2  Internal Environment</a:t>
            </a:r>
          </a:p>
          <a:p>
            <a:pPr algn="l">
              <a:spcBef>
                <a:spcPts val="100"/>
              </a:spcBef>
            </a:pPr>
            <a:r>
              <a:rPr sz="680" b="0">
                <a:solidFill>
                  <a:srgbClr val="202429"/>
                </a:solidFill>
                <a:latin typeface="Tahoma"/>
              </a:rPr>
              <a:t>Physical layout and environment · Acuity (capacity of the maternity unit as a whole) · Availability (e.g. operating theatres) · Time of day (e.g. night working, day of the week)</a:t>
            </a:r>
          </a:p>
        </p:txBody>
      </p:sp>
      <p:sp>
        <p:nvSpPr>
          <p:cNvPr id="16" name="Area 3 box"/>
          <p:cNvSpPr/>
          <p:nvPr/>
        </p:nvSpPr>
        <p:spPr>
          <a:xfrm>
            <a:off x="347472" y="1920240"/>
            <a:ext cx="2480564" cy="841248"/>
          </a:xfrm>
          <a:prstGeom prst="roundRect">
            <a:avLst>
              <a:gd name="adj" fmla="val 6000"/>
            </a:avLst>
          </a:prstGeom>
          <a:solidFill>
            <a:srgbClr val="F2F6F7"/>
          </a:solidFill>
          <a:ln w="9525">
            <a:solidFill>
              <a:srgbClr val="CED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Area 3 text"/>
          <p:cNvSpPr txBox="1"/>
          <p:nvPr/>
        </p:nvSpPr>
        <p:spPr>
          <a:xfrm>
            <a:off x="420624" y="1947672"/>
            <a:ext cx="2334260" cy="795528"/>
          </a:xfrm>
          <a:prstGeom prst="rect">
            <a:avLst/>
          </a:prstGeom>
          <a:noFill/>
        </p:spPr>
        <p:txBody>
          <a:bodyPr wrap="square" lIns="0" tIns="0" rIns="0" bIns="0" anchor="t">
            <a:spAutoFit/>
          </a:bodyPr>
          <a:lstStyle/>
          <a:p>
            <a:pPr algn="l"/>
            <a:r>
              <a:rPr sz="800" b="1">
                <a:solidFill>
                  <a:srgbClr val="005F73"/>
                </a:solidFill>
                <a:latin typeface="Arial"/>
              </a:rPr>
              <a:t>3  Organisation</a:t>
            </a:r>
          </a:p>
          <a:p>
            <a:pPr algn="l">
              <a:spcBef>
                <a:spcPts val="100"/>
              </a:spcBef>
            </a:pPr>
            <a:r>
              <a:rPr sz="680" b="0">
                <a:solidFill>
                  <a:srgbClr val="202429"/>
                </a:solidFill>
                <a:latin typeface="Tahoma"/>
              </a:rPr>
              <a:t>Team culture (e.g. patient safety culture) · Incentive (e.g. performance evaluation) · Teamworking · Communication (between staff, and between staff and patient) · Documentation · Escalation/referral (including fresh eyes reviews) · National and/or local guidance · Language barrier</a:t>
            </a:r>
          </a:p>
        </p:txBody>
      </p:sp>
      <p:sp>
        <p:nvSpPr>
          <p:cNvPr id="18" name="Area 4 box"/>
          <p:cNvSpPr/>
          <p:nvPr/>
        </p:nvSpPr>
        <p:spPr>
          <a:xfrm>
            <a:off x="2937764" y="731520"/>
            <a:ext cx="2480564" cy="621792"/>
          </a:xfrm>
          <a:prstGeom prst="roundRect">
            <a:avLst>
              <a:gd name="adj" fmla="val 6000"/>
            </a:avLst>
          </a:prstGeom>
          <a:solidFill>
            <a:srgbClr val="F2F6F7"/>
          </a:solidFill>
          <a:ln w="9525">
            <a:solidFill>
              <a:srgbClr val="CED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Area 4 text"/>
          <p:cNvSpPr txBox="1"/>
          <p:nvPr/>
        </p:nvSpPr>
        <p:spPr>
          <a:xfrm>
            <a:off x="3010916" y="758952"/>
            <a:ext cx="2334260" cy="576072"/>
          </a:xfrm>
          <a:prstGeom prst="rect">
            <a:avLst/>
          </a:prstGeom>
          <a:noFill/>
        </p:spPr>
        <p:txBody>
          <a:bodyPr wrap="square" lIns="0" tIns="0" rIns="0" bIns="0" anchor="t">
            <a:spAutoFit/>
          </a:bodyPr>
          <a:lstStyle/>
          <a:p>
            <a:pPr algn="l"/>
            <a:r>
              <a:rPr sz="800" b="1">
                <a:solidFill>
                  <a:srgbClr val="005F73"/>
                </a:solidFill>
                <a:latin typeface="Arial"/>
              </a:rPr>
              <a:t>4  Jobs/Task</a:t>
            </a:r>
          </a:p>
          <a:p>
            <a:pPr algn="l">
              <a:spcBef>
                <a:spcPts val="100"/>
              </a:spcBef>
            </a:pPr>
            <a:r>
              <a:rPr sz="680" b="0">
                <a:solidFill>
                  <a:srgbClr val="202429"/>
                </a:solidFill>
                <a:latin typeface="Tahoma"/>
              </a:rPr>
              <a:t>Assessment, investigation, testing, screening (e.g. holistic review) · Care planning · Dispensing, administering · Monitoring · Risk assessment · Situation awareness (e.g. loss of helicopter view) · Obstetric review</a:t>
            </a:r>
          </a:p>
        </p:txBody>
      </p:sp>
      <p:sp>
        <p:nvSpPr>
          <p:cNvPr id="20" name="Area 5 box"/>
          <p:cNvSpPr/>
          <p:nvPr/>
        </p:nvSpPr>
        <p:spPr>
          <a:xfrm>
            <a:off x="2937764" y="1408176"/>
            <a:ext cx="2480564" cy="329184"/>
          </a:xfrm>
          <a:prstGeom prst="roundRect">
            <a:avLst>
              <a:gd name="adj" fmla="val 6000"/>
            </a:avLst>
          </a:prstGeom>
          <a:solidFill>
            <a:srgbClr val="F2F6F7"/>
          </a:solidFill>
          <a:ln w="9525">
            <a:solidFill>
              <a:srgbClr val="CED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Area 5 text"/>
          <p:cNvSpPr txBox="1"/>
          <p:nvPr/>
        </p:nvSpPr>
        <p:spPr>
          <a:xfrm>
            <a:off x="3010916" y="1435608"/>
            <a:ext cx="2334260" cy="283464"/>
          </a:xfrm>
          <a:prstGeom prst="rect">
            <a:avLst/>
          </a:prstGeom>
          <a:noFill/>
        </p:spPr>
        <p:txBody>
          <a:bodyPr wrap="square" lIns="0" tIns="0" rIns="0" bIns="0" anchor="t">
            <a:spAutoFit/>
          </a:bodyPr>
          <a:lstStyle/>
          <a:p>
            <a:pPr algn="l"/>
            <a:r>
              <a:rPr sz="800" b="1">
                <a:solidFill>
                  <a:srgbClr val="005F73"/>
                </a:solidFill>
                <a:latin typeface="Arial"/>
              </a:rPr>
              <a:t>5  Technologies and Tools</a:t>
            </a:r>
          </a:p>
          <a:p>
            <a:pPr algn="l">
              <a:spcBef>
                <a:spcPts val="100"/>
              </a:spcBef>
            </a:pPr>
            <a:r>
              <a:rPr sz="680" b="0">
                <a:solidFill>
                  <a:srgbClr val="202429"/>
                </a:solidFill>
                <a:latin typeface="Tahoma"/>
              </a:rPr>
              <a:t>Issues · Interpretation (e.g. CTG)</a:t>
            </a:r>
          </a:p>
        </p:txBody>
      </p:sp>
      <p:sp>
        <p:nvSpPr>
          <p:cNvPr id="22" name="Area 6 box"/>
          <p:cNvSpPr/>
          <p:nvPr/>
        </p:nvSpPr>
        <p:spPr>
          <a:xfrm>
            <a:off x="2937764" y="1792224"/>
            <a:ext cx="2480564" cy="969264"/>
          </a:xfrm>
          <a:prstGeom prst="roundRect">
            <a:avLst>
              <a:gd name="adj" fmla="val 6000"/>
            </a:avLst>
          </a:prstGeom>
          <a:solidFill>
            <a:srgbClr val="F2F6F7"/>
          </a:solidFill>
          <a:ln w="9525">
            <a:solidFill>
              <a:srgbClr val="CED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Area 6 text"/>
          <p:cNvSpPr txBox="1"/>
          <p:nvPr/>
        </p:nvSpPr>
        <p:spPr>
          <a:xfrm>
            <a:off x="3010916" y="1819656"/>
            <a:ext cx="2334260" cy="923544"/>
          </a:xfrm>
          <a:prstGeom prst="rect">
            <a:avLst/>
          </a:prstGeom>
          <a:noFill/>
        </p:spPr>
        <p:txBody>
          <a:bodyPr wrap="square" lIns="0" tIns="0" rIns="0" bIns="0" anchor="t">
            <a:spAutoFit/>
          </a:bodyPr>
          <a:lstStyle/>
          <a:p>
            <a:pPr algn="l"/>
            <a:r>
              <a:rPr sz="800" b="1">
                <a:solidFill>
                  <a:srgbClr val="005F73"/>
                </a:solidFill>
                <a:latin typeface="Arial"/>
              </a:rPr>
              <a:t>6  Person, for patient and for staff</a:t>
            </a:r>
          </a:p>
          <a:p>
            <a:pPr algn="l">
              <a:spcBef>
                <a:spcPts val="100"/>
              </a:spcBef>
            </a:pPr>
            <a:r>
              <a:rPr sz="680" b="0">
                <a:solidFill>
                  <a:srgbClr val="202429"/>
                </a:solidFill>
                <a:latin typeface="Tahoma"/>
              </a:rPr>
              <a:t>Characteristics, physical · psychological (e.g. stress, mental health) · language competence (English) · disability (e.g. hearing problems) · training and education · record of attendance</a:t>
            </a:r>
          </a:p>
          <a:p>
            <a:pPr algn="l">
              <a:spcBef>
                <a:spcPts val="100"/>
              </a:spcBef>
            </a:pPr>
            <a:r>
              <a:rPr sz="680" b="0">
                <a:solidFill>
                  <a:srgbClr val="202429"/>
                </a:solidFill>
                <a:latin typeface="Tahoma"/>
              </a:rPr>
              <a:t>Performance, slip or lapse · decision error · intentional rule breaking</a:t>
            </a:r>
          </a:p>
        </p:txBody>
      </p:sp>
      <p:sp>
        <p:nvSpPr>
          <p:cNvPr id="24" name="Taxonomy footer"/>
          <p:cNvSpPr txBox="1"/>
          <p:nvPr/>
        </p:nvSpPr>
        <p:spPr>
          <a:xfrm>
            <a:off x="347472" y="2816352"/>
            <a:ext cx="5070856" cy="182880"/>
          </a:xfrm>
          <a:prstGeom prst="rect">
            <a:avLst/>
          </a:prstGeom>
          <a:noFill/>
        </p:spPr>
        <p:txBody>
          <a:bodyPr wrap="square" lIns="0" tIns="0" rIns="0" bIns="0" anchor="t">
            <a:spAutoFit/>
          </a:bodyPr>
          <a:lstStyle/>
          <a:p>
            <a:pPr algn="l"/>
            <a:r>
              <a:rPr sz="700" b="1">
                <a:solidFill>
                  <a:srgbClr val="202429"/>
                </a:solidFill>
                <a:latin typeface="Arial"/>
              </a:rPr>
              <a:t>44 factors in total, 27 found in our 188 maternity reports.  </a:t>
            </a:r>
            <a:r>
              <a:rPr sz="700" b="0">
                <a:solidFill>
                  <a:srgbClr val="6C757C"/>
                </a:solidFill>
                <a:latin typeface="Tahoma"/>
              </a:rPr>
              <a:t>Source, Supplementary File SF1, SIRch taxonomy of human factors for maternity investigations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0505" rIns="0" bIns="0" rtlCol="0">
            <a:spAutoFit/>
          </a:bodyPr>
          <a:lstStyle/>
          <a:p>
            <a:pPr marL="99060">
              <a:lnSpc>
                <a:spcPct val="100000"/>
              </a:lnSpc>
              <a:spcBef>
                <a:spcPts val="390"/>
              </a:spcBef>
            </a:pPr>
            <a:r>
              <a:rPr dirty="0"/>
              <a:t>I-SIRch: How It Works</a:t>
            </a:r>
          </a:p>
          <a:p>
            <a:pPr marL="99060">
              <a:lnSpc>
                <a:spcPct val="100000"/>
              </a:lnSpc>
              <a:spcBef>
                <a:spcPts val="195"/>
              </a:spcBef>
            </a:pPr>
            <a:r>
              <a:rPr sz="1100" b="0" dirty="0">
                <a:solidFill>
                  <a:srgbClr val="6C757C"/>
                </a:solidFill>
                <a:latin typeface="Tahoma"/>
                <a:cs typeface="Tahoma"/>
              </a:rPr>
              <a:t>Human expertise at every stage, fully offline</a:t>
            </a:r>
            <a:endParaRPr sz="1100">
              <a:latin typeface="Tahoma"/>
              <a:cs typeface="Tahoma"/>
            </a:endParaRPr>
          </a:p>
        </p:txBody>
      </p:sp>
      <p:sp>
        <p:nvSpPr>
          <p:cNvPr id="18" name="object 18"/>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21" name="Slide Number Placeholder 20">
            <a:extLst>
              <a:ext uri="{FF2B5EF4-FFF2-40B4-BE49-F238E27FC236}">
                <a16:creationId xmlns:a16="http://schemas.microsoft.com/office/drawing/2014/main" id="{1BFA169D-533E-7344-BCFE-53797A753876}"/>
              </a:ext>
            </a:extLst>
          </p:cNvPr>
          <p:cNvSpPr>
            <a:spLocks noGrp="1"/>
          </p:cNvSpPr>
          <p:nvPr>
            <p:ph type="sldNum" sz="quarter" idx="7"/>
          </p:nvPr>
        </p:nvSpPr>
        <p:spPr>
          <a:xfrm>
            <a:off x="5211445" y="3070861"/>
            <a:ext cx="548640" cy="173989"/>
          </a:xfrm>
        </p:spPr>
        <p:txBody>
          <a:bodyPr/>
          <a:lstStyle/>
          <a:p>
            <a:pPr marL="39370">
              <a:lnSpc>
                <a:spcPct val="100000"/>
              </a:lnSpc>
              <a:spcBef>
                <a:spcPts val="219"/>
              </a:spcBef>
            </a:pPr>
            <a:fld id="{81D60167-4931-47E6-BA6A-407CBD079E47}" type="slidenum">
              <a:rPr lang="en-GB" smtClean="0"/>
              <a:t>10</a:t>
            </a:fld>
            <a:r>
              <a:rPr lang="en-GB" spc="20" dirty="0"/>
              <a:t> </a:t>
            </a:r>
            <a:r>
              <a:rPr lang="en-GB" spc="120" dirty="0"/>
              <a:t>/</a:t>
            </a:r>
            <a:r>
              <a:rPr lang="en-GB" spc="25" dirty="0"/>
              <a:t> </a:t>
            </a:r>
            <a:r>
              <a:rPr lang="en-GB" spc="-25" dirty="0"/>
              <a:t>39</a:t>
            </a:r>
          </a:p>
        </p:txBody>
      </p:sp>
      <p:sp>
        <p:nvSpPr>
          <p:cNvPr id="22" name="Stage Data preparation"/>
          <p:cNvSpPr txBox="1"/>
          <p:nvPr/>
        </p:nvSpPr>
        <p:spPr>
          <a:xfrm>
            <a:off x="347472" y="658368"/>
            <a:ext cx="1940560" cy="182880"/>
          </a:xfrm>
          <a:prstGeom prst="rect">
            <a:avLst/>
          </a:prstGeom>
          <a:noFill/>
        </p:spPr>
        <p:txBody>
          <a:bodyPr wrap="square" lIns="0" tIns="0" rIns="0" bIns="0" anchor="t">
            <a:spAutoFit/>
          </a:bodyPr>
          <a:lstStyle/>
          <a:p>
            <a:pPr algn="ctr"/>
            <a:r>
              <a:rPr sz="850" b="1">
                <a:solidFill>
                  <a:srgbClr val="005F73"/>
                </a:solidFill>
                <a:latin typeface="Arial"/>
              </a:rPr>
              <a:t>Data preparation</a:t>
            </a:r>
          </a:p>
        </p:txBody>
      </p:sp>
      <p:sp>
        <p:nvSpPr>
          <p:cNvPr id="23" name="Stage rule Data preparation"/>
          <p:cNvSpPr/>
          <p:nvPr/>
        </p:nvSpPr>
        <p:spPr>
          <a:xfrm>
            <a:off x="347472" y="841248"/>
            <a:ext cx="1940560" cy="22860"/>
          </a:xfrm>
          <a:prstGeom prst="rect">
            <a:avLst/>
          </a:prstGeom>
          <a:solidFill>
            <a:srgbClr val="005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Stage Training and learning"/>
          <p:cNvSpPr txBox="1"/>
          <p:nvPr/>
        </p:nvSpPr>
        <p:spPr>
          <a:xfrm>
            <a:off x="2434336" y="658368"/>
            <a:ext cx="1940560" cy="182880"/>
          </a:xfrm>
          <a:prstGeom prst="rect">
            <a:avLst/>
          </a:prstGeom>
          <a:noFill/>
        </p:spPr>
        <p:txBody>
          <a:bodyPr wrap="square" lIns="0" tIns="0" rIns="0" bIns="0" anchor="t">
            <a:spAutoFit/>
          </a:bodyPr>
          <a:lstStyle/>
          <a:p>
            <a:pPr algn="ctr"/>
            <a:r>
              <a:rPr sz="850" b="1">
                <a:solidFill>
                  <a:srgbClr val="005F73"/>
                </a:solidFill>
                <a:latin typeface="Arial"/>
              </a:rPr>
              <a:t>Training and learning</a:t>
            </a:r>
          </a:p>
        </p:txBody>
      </p:sp>
      <p:sp>
        <p:nvSpPr>
          <p:cNvPr id="25" name="Stage rule Training and learning"/>
          <p:cNvSpPr/>
          <p:nvPr/>
        </p:nvSpPr>
        <p:spPr>
          <a:xfrm>
            <a:off x="2434336" y="841248"/>
            <a:ext cx="1940560" cy="22860"/>
          </a:xfrm>
          <a:prstGeom prst="rect">
            <a:avLst/>
          </a:prstGeom>
          <a:solidFill>
            <a:srgbClr val="005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Stage Monitoring"/>
          <p:cNvSpPr txBox="1"/>
          <p:nvPr/>
        </p:nvSpPr>
        <p:spPr>
          <a:xfrm>
            <a:off x="4521200" y="658368"/>
            <a:ext cx="897127" cy="182880"/>
          </a:xfrm>
          <a:prstGeom prst="rect">
            <a:avLst/>
          </a:prstGeom>
          <a:noFill/>
        </p:spPr>
        <p:txBody>
          <a:bodyPr wrap="square" lIns="0" tIns="0" rIns="0" bIns="0" anchor="t">
            <a:spAutoFit/>
          </a:bodyPr>
          <a:lstStyle/>
          <a:p>
            <a:pPr algn="ctr"/>
            <a:r>
              <a:rPr sz="850" b="1">
                <a:solidFill>
                  <a:srgbClr val="005F73"/>
                </a:solidFill>
                <a:latin typeface="Arial"/>
              </a:rPr>
              <a:t>Monitoring</a:t>
            </a:r>
          </a:p>
        </p:txBody>
      </p:sp>
      <p:sp>
        <p:nvSpPr>
          <p:cNvPr id="27" name="Stage rule Monitoring"/>
          <p:cNvSpPr/>
          <p:nvPr/>
        </p:nvSpPr>
        <p:spPr>
          <a:xfrm>
            <a:off x="4521200" y="841248"/>
            <a:ext cx="897127" cy="22860"/>
          </a:xfrm>
          <a:prstGeom prst="rect">
            <a:avLst/>
          </a:prstGeom>
          <a:solidFill>
            <a:srgbClr val="005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I-SIRch step 1 box"/>
          <p:cNvSpPr/>
          <p:nvPr/>
        </p:nvSpPr>
        <p:spPr>
          <a:xfrm>
            <a:off x="347472" y="896112"/>
            <a:ext cx="897128" cy="676656"/>
          </a:xfrm>
          <a:prstGeom prst="roundRect">
            <a:avLst>
              <a:gd name="adj" fmla="val 6000"/>
            </a:avLst>
          </a:prstGeom>
          <a:solidFill>
            <a:srgbClr val="F2F6F7"/>
          </a:solidFill>
          <a:ln w="9525">
            <a:solidFill>
              <a:srgbClr val="CED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I-SIRch step 1 text"/>
          <p:cNvSpPr txBox="1"/>
          <p:nvPr/>
        </p:nvSpPr>
        <p:spPr>
          <a:xfrm>
            <a:off x="411480" y="960120"/>
            <a:ext cx="769112" cy="585216"/>
          </a:xfrm>
          <a:prstGeom prst="rect">
            <a:avLst/>
          </a:prstGeom>
          <a:noFill/>
        </p:spPr>
        <p:txBody>
          <a:bodyPr wrap="square" lIns="0" tIns="0" rIns="0" bIns="0" anchor="t">
            <a:spAutoFit/>
          </a:bodyPr>
          <a:lstStyle/>
          <a:p>
            <a:pPr algn="l"/>
            <a:r>
              <a:rPr sz="800" b="1">
                <a:solidFill>
                  <a:srgbClr val="005F73"/>
                </a:solidFill>
                <a:latin typeface="Arial"/>
              </a:rPr>
              <a:t>1  Reports</a:t>
            </a:r>
          </a:p>
          <a:p>
            <a:pPr algn="l">
              <a:spcBef>
                <a:spcPts val="400"/>
              </a:spcBef>
            </a:pPr>
            <a:r>
              <a:rPr sz="750" b="0">
                <a:solidFill>
                  <a:srgbClr val="202429"/>
                </a:solidFill>
                <a:latin typeface="Tahoma"/>
              </a:rPr>
              <a:t>188 maternity reports, 2019 to 2022</a:t>
            </a:r>
          </a:p>
        </p:txBody>
      </p:sp>
      <p:cxnSp>
        <p:nvCxnSpPr>
          <p:cNvPr id="30" name="I-SIRch arrow 1"/>
          <p:cNvCxnSpPr/>
          <p:nvPr/>
        </p:nvCxnSpPr>
        <p:spPr>
          <a:xfrm>
            <a:off x="1253744" y="1234440"/>
            <a:ext cx="128016" cy="0"/>
          </a:xfrm>
          <a:prstGeom prst="line">
            <a:avLst/>
          </a:prstGeom>
          <a:ln w="19050">
            <a:solidFill>
              <a:srgbClr val="005F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I-SIRch step 2 box"/>
          <p:cNvSpPr/>
          <p:nvPr/>
        </p:nvSpPr>
        <p:spPr>
          <a:xfrm>
            <a:off x="1390904" y="896112"/>
            <a:ext cx="897128" cy="676656"/>
          </a:xfrm>
          <a:prstGeom prst="roundRect">
            <a:avLst>
              <a:gd name="adj" fmla="val 6000"/>
            </a:avLst>
          </a:prstGeom>
          <a:solidFill>
            <a:srgbClr val="F2F6F7"/>
          </a:solidFill>
          <a:ln w="9525">
            <a:solidFill>
              <a:srgbClr val="CED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I-SIRch step 2 text"/>
          <p:cNvSpPr txBox="1"/>
          <p:nvPr/>
        </p:nvSpPr>
        <p:spPr>
          <a:xfrm>
            <a:off x="1454912" y="960120"/>
            <a:ext cx="769112" cy="585216"/>
          </a:xfrm>
          <a:prstGeom prst="rect">
            <a:avLst/>
          </a:prstGeom>
          <a:noFill/>
        </p:spPr>
        <p:txBody>
          <a:bodyPr wrap="square" lIns="0" tIns="0" rIns="0" bIns="0" anchor="t">
            <a:spAutoFit/>
          </a:bodyPr>
          <a:lstStyle/>
          <a:p>
            <a:pPr algn="l"/>
            <a:r>
              <a:rPr sz="800" b="1">
                <a:solidFill>
                  <a:srgbClr val="005F73"/>
                </a:solidFill>
                <a:latin typeface="Arial"/>
              </a:rPr>
              <a:t>2  Select text</a:t>
            </a:r>
          </a:p>
          <a:p>
            <a:pPr algn="l">
              <a:spcBef>
                <a:spcPts val="400"/>
              </a:spcBef>
            </a:pPr>
            <a:r>
              <a:rPr sz="750" b="0">
                <a:solidFill>
                  <a:srgbClr val="202429"/>
                </a:solidFill>
                <a:latin typeface="Tahoma"/>
              </a:rPr>
              <a:t>Negative sentences selected</a:t>
            </a:r>
          </a:p>
        </p:txBody>
      </p:sp>
      <p:cxnSp>
        <p:nvCxnSpPr>
          <p:cNvPr id="33" name="I-SIRch arrow 2"/>
          <p:cNvCxnSpPr/>
          <p:nvPr/>
        </p:nvCxnSpPr>
        <p:spPr>
          <a:xfrm>
            <a:off x="2297176" y="1234440"/>
            <a:ext cx="128016" cy="0"/>
          </a:xfrm>
          <a:prstGeom prst="line">
            <a:avLst/>
          </a:prstGeom>
          <a:ln w="19050">
            <a:solidFill>
              <a:srgbClr val="005F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I-SIRch step 3 box"/>
          <p:cNvSpPr/>
          <p:nvPr/>
        </p:nvSpPr>
        <p:spPr>
          <a:xfrm>
            <a:off x="2434336" y="896112"/>
            <a:ext cx="897128" cy="676656"/>
          </a:xfrm>
          <a:prstGeom prst="roundRect">
            <a:avLst>
              <a:gd name="adj" fmla="val 6000"/>
            </a:avLst>
          </a:prstGeom>
          <a:solidFill>
            <a:srgbClr val="FDF1E7"/>
          </a:solidFill>
          <a:ln w="9525">
            <a:solidFill>
              <a:srgbClr val="E8B4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I-SIRch step 3 text"/>
          <p:cNvSpPr txBox="1"/>
          <p:nvPr/>
        </p:nvSpPr>
        <p:spPr>
          <a:xfrm>
            <a:off x="2498344" y="960120"/>
            <a:ext cx="769112" cy="585216"/>
          </a:xfrm>
          <a:prstGeom prst="rect">
            <a:avLst/>
          </a:prstGeom>
          <a:noFill/>
        </p:spPr>
        <p:txBody>
          <a:bodyPr wrap="square" lIns="0" tIns="0" rIns="0" bIns="0" anchor="t">
            <a:spAutoFit/>
          </a:bodyPr>
          <a:lstStyle/>
          <a:p>
            <a:pPr algn="l"/>
            <a:r>
              <a:rPr sz="800" b="1">
                <a:solidFill>
                  <a:srgbClr val="C2571A"/>
                </a:solidFill>
                <a:latin typeface="Arial"/>
              </a:rPr>
              <a:t>3  Experts label</a:t>
            </a:r>
          </a:p>
          <a:p>
            <a:pPr algn="l">
              <a:spcBef>
                <a:spcPts val="400"/>
              </a:spcBef>
            </a:pPr>
            <a:r>
              <a:rPr sz="750" b="0">
                <a:solidFill>
                  <a:srgbClr val="202429"/>
                </a:solidFill>
                <a:latin typeface="Tahoma"/>
              </a:rPr>
              <a:t>3 experts, ethnicity hidden</a:t>
            </a:r>
          </a:p>
        </p:txBody>
      </p:sp>
      <p:cxnSp>
        <p:nvCxnSpPr>
          <p:cNvPr id="36" name="I-SIRch arrow 3"/>
          <p:cNvCxnSpPr/>
          <p:nvPr/>
        </p:nvCxnSpPr>
        <p:spPr>
          <a:xfrm>
            <a:off x="3340608" y="1234440"/>
            <a:ext cx="128016" cy="0"/>
          </a:xfrm>
          <a:prstGeom prst="line">
            <a:avLst/>
          </a:prstGeom>
          <a:ln w="19050">
            <a:solidFill>
              <a:srgbClr val="005F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I-SIRch step 4 box"/>
          <p:cNvSpPr/>
          <p:nvPr/>
        </p:nvSpPr>
        <p:spPr>
          <a:xfrm>
            <a:off x="3477768" y="896112"/>
            <a:ext cx="897128" cy="676656"/>
          </a:xfrm>
          <a:prstGeom prst="roundRect">
            <a:avLst>
              <a:gd name="adj" fmla="val 6000"/>
            </a:avLst>
          </a:prstGeom>
          <a:solidFill>
            <a:srgbClr val="F2F6F7"/>
          </a:solidFill>
          <a:ln w="9525">
            <a:solidFill>
              <a:srgbClr val="CED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I-SIRch step 4 text"/>
          <p:cNvSpPr txBox="1"/>
          <p:nvPr/>
        </p:nvSpPr>
        <p:spPr>
          <a:xfrm>
            <a:off x="3541776" y="960120"/>
            <a:ext cx="769112" cy="585216"/>
          </a:xfrm>
          <a:prstGeom prst="rect">
            <a:avLst/>
          </a:prstGeom>
          <a:noFill/>
        </p:spPr>
        <p:txBody>
          <a:bodyPr wrap="square" lIns="0" tIns="0" rIns="0" bIns="0" anchor="t">
            <a:spAutoFit/>
          </a:bodyPr>
          <a:lstStyle/>
          <a:p>
            <a:pPr algn="l"/>
            <a:r>
              <a:rPr sz="800" b="1">
                <a:solidFill>
                  <a:srgbClr val="005F73"/>
                </a:solidFill>
                <a:latin typeface="Arial"/>
              </a:rPr>
              <a:t>4  AI learns</a:t>
            </a:r>
          </a:p>
          <a:p>
            <a:pPr algn="l">
              <a:spcBef>
                <a:spcPts val="400"/>
              </a:spcBef>
            </a:pPr>
            <a:r>
              <a:rPr sz="750" b="0">
                <a:solidFill>
                  <a:srgbClr val="202429"/>
                </a:solidFill>
                <a:latin typeface="Tahoma"/>
              </a:rPr>
              <a:t>Trained on 91 reports</a:t>
            </a:r>
          </a:p>
        </p:txBody>
      </p:sp>
      <p:cxnSp>
        <p:nvCxnSpPr>
          <p:cNvPr id="39" name="I-SIRch arrow 4"/>
          <p:cNvCxnSpPr/>
          <p:nvPr/>
        </p:nvCxnSpPr>
        <p:spPr>
          <a:xfrm>
            <a:off x="4384040" y="1234440"/>
            <a:ext cx="128016" cy="0"/>
          </a:xfrm>
          <a:prstGeom prst="line">
            <a:avLst/>
          </a:prstGeom>
          <a:ln w="19050">
            <a:solidFill>
              <a:srgbClr val="005F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I-SIRch step 5 box"/>
          <p:cNvSpPr/>
          <p:nvPr/>
        </p:nvSpPr>
        <p:spPr>
          <a:xfrm>
            <a:off x="4521200" y="896112"/>
            <a:ext cx="897128" cy="676656"/>
          </a:xfrm>
          <a:prstGeom prst="roundRect">
            <a:avLst>
              <a:gd name="adj" fmla="val 6000"/>
            </a:avLst>
          </a:prstGeom>
          <a:solidFill>
            <a:srgbClr val="FDF1E7"/>
          </a:solidFill>
          <a:ln w="9525">
            <a:solidFill>
              <a:srgbClr val="E8B4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I-SIRch step 5 text"/>
          <p:cNvSpPr txBox="1"/>
          <p:nvPr/>
        </p:nvSpPr>
        <p:spPr>
          <a:xfrm>
            <a:off x="4585208" y="960120"/>
            <a:ext cx="769112" cy="585216"/>
          </a:xfrm>
          <a:prstGeom prst="rect">
            <a:avLst/>
          </a:prstGeom>
          <a:noFill/>
        </p:spPr>
        <p:txBody>
          <a:bodyPr wrap="square" lIns="0" tIns="0" rIns="0" bIns="0" anchor="t">
            <a:spAutoFit/>
          </a:bodyPr>
          <a:lstStyle/>
          <a:p>
            <a:pPr algn="l"/>
            <a:r>
              <a:rPr sz="800" b="1">
                <a:solidFill>
                  <a:srgbClr val="C2571A"/>
                </a:solidFill>
                <a:latin typeface="Arial"/>
              </a:rPr>
              <a:t>5  People check</a:t>
            </a:r>
          </a:p>
          <a:p>
            <a:pPr algn="l">
              <a:spcBef>
                <a:spcPts val="400"/>
              </a:spcBef>
            </a:pPr>
            <a:r>
              <a:rPr sz="750" b="0">
                <a:solidFill>
                  <a:srgbClr val="202429"/>
                </a:solidFill>
                <a:latin typeface="Tahoma"/>
              </a:rPr>
              <a:t>Tested on 97 unseen reports</a:t>
            </a:r>
          </a:p>
        </p:txBody>
      </p:sp>
      <p:cxnSp>
        <p:nvCxnSpPr>
          <p:cNvPr id="42" name="Retrain down"/>
          <p:cNvCxnSpPr/>
          <p:nvPr/>
        </p:nvCxnSpPr>
        <p:spPr>
          <a:xfrm>
            <a:off x="4969764" y="1572768"/>
            <a:ext cx="0" cy="164592"/>
          </a:xfrm>
          <a:prstGeom prst="line">
            <a:avLst/>
          </a:prstGeom>
          <a:ln w="19050">
            <a:solidFill>
              <a:srgbClr val="005F73"/>
            </a:solidFill>
          </a:ln>
        </p:spPr>
        <p:style>
          <a:lnRef idx="2">
            <a:schemeClr val="accent1"/>
          </a:lnRef>
          <a:fillRef idx="0">
            <a:schemeClr val="accent1"/>
          </a:fillRef>
          <a:effectRef idx="1">
            <a:schemeClr val="accent1"/>
          </a:effectRef>
          <a:fontRef idx="minor">
            <a:schemeClr val="tx1"/>
          </a:fontRef>
        </p:style>
      </p:cxnSp>
      <p:cxnSp>
        <p:nvCxnSpPr>
          <p:cNvPr id="43" name="Retrain across"/>
          <p:cNvCxnSpPr/>
          <p:nvPr/>
        </p:nvCxnSpPr>
        <p:spPr>
          <a:xfrm flipH="1">
            <a:off x="2882900" y="1737360"/>
            <a:ext cx="2086864" cy="0"/>
          </a:xfrm>
          <a:prstGeom prst="line">
            <a:avLst/>
          </a:prstGeom>
          <a:ln w="19050">
            <a:solidFill>
              <a:srgbClr val="005F73"/>
            </a:solidFill>
          </a:ln>
        </p:spPr>
        <p:style>
          <a:lnRef idx="2">
            <a:schemeClr val="accent1"/>
          </a:lnRef>
          <a:fillRef idx="0">
            <a:schemeClr val="accent1"/>
          </a:fillRef>
          <a:effectRef idx="1">
            <a:schemeClr val="accent1"/>
          </a:effectRef>
          <a:fontRef idx="minor">
            <a:schemeClr val="tx1"/>
          </a:fontRef>
        </p:style>
      </p:cxnSp>
      <p:cxnSp>
        <p:nvCxnSpPr>
          <p:cNvPr id="44" name="Retrain up"/>
          <p:cNvCxnSpPr/>
          <p:nvPr/>
        </p:nvCxnSpPr>
        <p:spPr>
          <a:xfrm flipV="1">
            <a:off x="2882900" y="1581912"/>
            <a:ext cx="0" cy="155448"/>
          </a:xfrm>
          <a:prstGeom prst="line">
            <a:avLst/>
          </a:prstGeom>
          <a:ln w="19050">
            <a:solidFill>
              <a:srgbClr val="005F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Retrain label"/>
          <p:cNvSpPr txBox="1"/>
          <p:nvPr/>
        </p:nvSpPr>
        <p:spPr>
          <a:xfrm>
            <a:off x="2992628" y="1664207"/>
            <a:ext cx="1867408" cy="146304"/>
          </a:xfrm>
          <a:prstGeom prst="rect">
            <a:avLst/>
          </a:prstGeom>
          <a:solidFill>
            <a:srgbClr val="FFFFFF"/>
          </a:solidFill>
        </p:spPr>
        <p:txBody>
          <a:bodyPr wrap="square" lIns="0" tIns="0" rIns="0" bIns="0" anchor="ctr">
            <a:spAutoFit/>
          </a:bodyPr>
          <a:lstStyle/>
          <a:p>
            <a:pPr algn="ctr"/>
            <a:r>
              <a:rPr sz="750" b="0">
                <a:solidFill>
                  <a:srgbClr val="6C757C"/>
                </a:solidFill>
                <a:latin typeface="Tahoma"/>
              </a:rPr>
              <a:t>New batches labelled, then used to retrain</a:t>
            </a:r>
          </a:p>
        </p:txBody>
      </p:sp>
      <p:sp>
        <p:nvSpPr>
          <p:cNvPr id="46" name="Result box"/>
          <p:cNvSpPr/>
          <p:nvPr/>
        </p:nvSpPr>
        <p:spPr>
          <a:xfrm>
            <a:off x="347472" y="2029968"/>
            <a:ext cx="5070856" cy="384048"/>
          </a:xfrm>
          <a:prstGeom prst="roundRect">
            <a:avLst>
              <a:gd name="adj" fmla="val 6000"/>
            </a:avLst>
          </a:prstGeom>
          <a:solidFill>
            <a:srgbClr val="E6F0F2"/>
          </a:solidFill>
          <a:ln w="9525">
            <a:solidFill>
              <a:srgbClr val="005F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sult text"/>
          <p:cNvSpPr txBox="1"/>
          <p:nvPr/>
        </p:nvSpPr>
        <p:spPr>
          <a:xfrm>
            <a:off x="457200" y="2029968"/>
            <a:ext cx="4851400" cy="384048"/>
          </a:xfrm>
          <a:prstGeom prst="rect">
            <a:avLst/>
          </a:prstGeom>
          <a:noFill/>
        </p:spPr>
        <p:txBody>
          <a:bodyPr wrap="square" lIns="0" tIns="0" rIns="0" bIns="0" anchor="ctr">
            <a:spAutoFit/>
          </a:bodyPr>
          <a:lstStyle/>
          <a:p>
            <a:pPr algn="ctr"/>
            <a:r>
              <a:rPr sz="900" b="1">
                <a:solidFill>
                  <a:srgbClr val="005F73"/>
                </a:solidFill>
                <a:latin typeface="Arial"/>
              </a:rPr>
              <a:t>The result </a:t>
            </a:r>
            <a:r>
              <a:rPr sz="900" b="0">
                <a:solidFill>
                  <a:srgbClr val="202429"/>
                </a:solidFill>
                <a:latin typeface="Tahoma"/>
              </a:rPr>
              <a:t>is patterns across all 188 reports, traceable to source</a:t>
            </a:r>
          </a:p>
        </p:txBody>
      </p:sp>
      <p:sp>
        <p:nvSpPr>
          <p:cNvPr id="48" name="Legend note"/>
          <p:cNvSpPr txBox="1"/>
          <p:nvPr/>
        </p:nvSpPr>
        <p:spPr>
          <a:xfrm>
            <a:off x="347472" y="2560320"/>
            <a:ext cx="5070856" cy="274320"/>
          </a:xfrm>
          <a:prstGeom prst="rect">
            <a:avLst/>
          </a:prstGeom>
          <a:noFill/>
        </p:spPr>
        <p:txBody>
          <a:bodyPr wrap="square" lIns="0" tIns="0" rIns="0" bIns="0" anchor="t">
            <a:spAutoFit/>
          </a:bodyPr>
          <a:lstStyle/>
          <a:p>
            <a:pPr algn="ctr"/>
            <a:r>
              <a:rPr sz="800" b="1">
                <a:solidFill>
                  <a:srgbClr val="202429"/>
                </a:solidFill>
                <a:latin typeface="Arial"/>
              </a:rPr>
              <a:t>Orange steps are done by people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91097" rIns="0" bIns="0" rtlCol="0">
            <a:spAutoFit/>
          </a:bodyPr>
          <a:lstStyle/>
          <a:p>
            <a:pPr marL="99060">
              <a:lnSpc>
                <a:spcPct val="100000"/>
              </a:lnSpc>
              <a:spcBef>
                <a:spcPts val="390"/>
              </a:spcBef>
            </a:pPr>
            <a:r>
              <a:rPr spc="65" dirty="0"/>
              <a:t>I-</a:t>
            </a:r>
            <a:r>
              <a:rPr dirty="0"/>
              <a:t>SIRch:</a:t>
            </a:r>
            <a:r>
              <a:rPr spc="114" dirty="0"/>
              <a:t> </a:t>
            </a:r>
            <a:r>
              <a:rPr dirty="0"/>
              <a:t>Overall</a:t>
            </a:r>
            <a:r>
              <a:rPr spc="-5" dirty="0"/>
              <a:t> </a:t>
            </a:r>
            <a:r>
              <a:rPr spc="-20" dirty="0"/>
              <a:t>Performance</a:t>
            </a:r>
          </a:p>
          <a:p>
            <a:pPr marL="99060">
              <a:lnSpc>
                <a:spcPct val="100000"/>
              </a:lnSpc>
              <a:spcBef>
                <a:spcPts val="195"/>
              </a:spcBef>
            </a:pPr>
            <a:r>
              <a:rPr sz="1100" b="0" spc="-40" dirty="0">
                <a:solidFill>
                  <a:srgbClr val="6C757C"/>
                </a:solidFill>
                <a:latin typeface="Tahoma"/>
                <a:cs typeface="Tahoma"/>
              </a:rPr>
              <a:t>Tested</a:t>
            </a:r>
            <a:r>
              <a:rPr sz="1100" b="0" spc="-50" dirty="0">
                <a:solidFill>
                  <a:srgbClr val="6C757C"/>
                </a:solidFill>
                <a:latin typeface="Tahoma"/>
                <a:cs typeface="Tahoma"/>
              </a:rPr>
              <a:t> </a:t>
            </a:r>
            <a:r>
              <a:rPr sz="1100" b="0" spc="-20" dirty="0">
                <a:solidFill>
                  <a:srgbClr val="6C757C"/>
                </a:solidFill>
                <a:latin typeface="Tahoma"/>
                <a:cs typeface="Tahoma"/>
              </a:rPr>
              <a:t>on</a:t>
            </a:r>
            <a:r>
              <a:rPr sz="1100" b="0" spc="-65" dirty="0">
                <a:solidFill>
                  <a:srgbClr val="6C757C"/>
                </a:solidFill>
                <a:latin typeface="Tahoma"/>
                <a:cs typeface="Tahoma"/>
              </a:rPr>
              <a:t> </a:t>
            </a:r>
            <a:r>
              <a:rPr sz="1100" b="0" spc="-20" dirty="0">
                <a:solidFill>
                  <a:srgbClr val="6C757C"/>
                </a:solidFill>
                <a:latin typeface="Tahoma"/>
                <a:cs typeface="Tahoma"/>
              </a:rPr>
              <a:t>97</a:t>
            </a:r>
            <a:r>
              <a:rPr sz="1100" b="0" spc="-40" dirty="0">
                <a:solidFill>
                  <a:srgbClr val="6C757C"/>
                </a:solidFill>
                <a:latin typeface="Tahoma"/>
                <a:cs typeface="Tahoma"/>
              </a:rPr>
              <a:t> </a:t>
            </a:r>
            <a:r>
              <a:rPr sz="1100" b="0" spc="-25" dirty="0">
                <a:solidFill>
                  <a:srgbClr val="6C757C"/>
                </a:solidFill>
                <a:latin typeface="Tahoma"/>
                <a:cs typeface="Tahoma"/>
              </a:rPr>
              <a:t>real</a:t>
            </a:r>
            <a:r>
              <a:rPr sz="1100" b="0" spc="-40" dirty="0">
                <a:solidFill>
                  <a:srgbClr val="6C757C"/>
                </a:solidFill>
                <a:latin typeface="Tahoma"/>
                <a:cs typeface="Tahoma"/>
              </a:rPr>
              <a:t> </a:t>
            </a:r>
            <a:r>
              <a:rPr sz="1100" b="0" spc="-75" dirty="0">
                <a:solidFill>
                  <a:srgbClr val="6C757C"/>
                </a:solidFill>
                <a:latin typeface="Tahoma"/>
                <a:cs typeface="Tahoma"/>
              </a:rPr>
              <a:t>unseen</a:t>
            </a:r>
            <a:r>
              <a:rPr sz="1100" b="0" spc="-10" dirty="0">
                <a:solidFill>
                  <a:srgbClr val="6C757C"/>
                </a:solidFill>
                <a:latin typeface="Tahoma"/>
                <a:cs typeface="Tahoma"/>
              </a:rPr>
              <a:t> reports</a:t>
            </a:r>
            <a:endParaRPr sz="1100">
              <a:latin typeface="Tahoma"/>
              <a:cs typeface="Tahoma"/>
            </a:endParaRPr>
          </a:p>
        </p:txBody>
      </p:sp>
      <p:sp>
        <p:nvSpPr>
          <p:cNvPr id="3" name="object 3"/>
          <p:cNvSpPr/>
          <p:nvPr/>
        </p:nvSpPr>
        <p:spPr>
          <a:xfrm>
            <a:off x="359994" y="645299"/>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sp>
        <p:nvSpPr>
          <p:cNvPr id="6" name="object 6"/>
          <p:cNvSpPr/>
          <p:nvPr/>
        </p:nvSpPr>
        <p:spPr>
          <a:xfrm>
            <a:off x="2804401" y="945184"/>
            <a:ext cx="0" cy="1620520"/>
          </a:xfrm>
          <a:custGeom>
            <a:avLst/>
            <a:gdLst/>
            <a:ahLst/>
            <a:cxnLst/>
            <a:rect l="l" t="t" r="r" b="b"/>
            <a:pathLst>
              <a:path h="1620520">
                <a:moveTo>
                  <a:pt x="0" y="1619999"/>
                </a:moveTo>
                <a:lnTo>
                  <a:pt x="0" y="0"/>
                </a:lnTo>
              </a:path>
            </a:pathLst>
          </a:custGeom>
          <a:ln w="6325">
            <a:solidFill>
              <a:srgbClr val="CED3DA"/>
            </a:solidFill>
          </a:ln>
        </p:spPr>
        <p:txBody>
          <a:bodyPr wrap="square" lIns="0" tIns="0" rIns="0" bIns="0" rtlCol="0"/>
          <a:lstStyle/>
          <a:p>
            <a:endParaRPr/>
          </a:p>
        </p:txBody>
      </p:sp>
      <p:sp>
        <p:nvSpPr>
          <p:cNvPr id="7" name="object 7"/>
          <p:cNvSpPr txBox="1"/>
          <p:nvPr/>
        </p:nvSpPr>
        <p:spPr>
          <a:xfrm>
            <a:off x="3007652" y="820194"/>
            <a:ext cx="2241550" cy="626110"/>
          </a:xfrm>
          <a:prstGeom prst="rect">
            <a:avLst/>
          </a:prstGeom>
          <a:solidFill>
            <a:srgbClr val="E8F4F8"/>
          </a:solidFill>
          <a:ln w="5060">
            <a:solidFill>
              <a:srgbClr val="005F73"/>
            </a:solidFill>
          </a:ln>
        </p:spPr>
        <p:txBody>
          <a:bodyPr vert="horz" wrap="square" lIns="0" tIns="28575" rIns="0" bIns="0" rtlCol="0">
            <a:spAutoFit/>
          </a:bodyPr>
          <a:lstStyle/>
          <a:p>
            <a:pPr marL="40005" marR="32384" algn="just">
              <a:lnSpc>
                <a:spcPct val="112900"/>
              </a:lnSpc>
              <a:spcBef>
                <a:spcPts val="225"/>
              </a:spcBef>
            </a:pPr>
            <a:r>
              <a:rPr sz="1000" b="1" dirty="0">
                <a:solidFill>
                  <a:srgbClr val="202429"/>
                </a:solidFill>
                <a:latin typeface="Arial"/>
                <a:cs typeface="Arial"/>
              </a:rPr>
              <a:t>Key</a:t>
            </a:r>
            <a:r>
              <a:rPr sz="1000" b="1" spc="40" dirty="0">
                <a:solidFill>
                  <a:srgbClr val="202429"/>
                </a:solidFill>
                <a:latin typeface="Arial"/>
                <a:cs typeface="Arial"/>
              </a:rPr>
              <a:t> </a:t>
            </a:r>
            <a:r>
              <a:rPr sz="1000" b="1" dirty="0">
                <a:solidFill>
                  <a:srgbClr val="202429"/>
                </a:solidFill>
                <a:latin typeface="Arial"/>
                <a:cs typeface="Arial"/>
              </a:rPr>
              <a:t>ﬁnding:</a:t>
            </a:r>
            <a:r>
              <a:rPr sz="1000" b="1" spc="165" dirty="0">
                <a:solidFill>
                  <a:srgbClr val="202429"/>
                </a:solidFill>
                <a:latin typeface="Arial"/>
                <a:cs typeface="Arial"/>
              </a:rPr>
              <a:t> </a:t>
            </a:r>
            <a:r>
              <a:rPr sz="1000" dirty="0">
                <a:solidFill>
                  <a:srgbClr val="202429"/>
                </a:solidFill>
                <a:latin typeface="Tahoma"/>
                <a:cs typeface="Tahoma"/>
              </a:rPr>
              <a:t>High</a:t>
            </a:r>
            <a:r>
              <a:rPr sz="1000" spc="-25" dirty="0">
                <a:solidFill>
                  <a:srgbClr val="202429"/>
                </a:solidFill>
                <a:latin typeface="Tahoma"/>
                <a:cs typeface="Tahoma"/>
              </a:rPr>
              <a:t> </a:t>
            </a:r>
            <a:r>
              <a:rPr sz="1000" dirty="0">
                <a:solidFill>
                  <a:srgbClr val="202429"/>
                </a:solidFill>
                <a:latin typeface="Tahoma"/>
                <a:cs typeface="Tahoma"/>
              </a:rPr>
              <a:t>recall</a:t>
            </a:r>
            <a:r>
              <a:rPr sz="1000" spc="-20" dirty="0">
                <a:solidFill>
                  <a:srgbClr val="202429"/>
                </a:solidFill>
                <a:latin typeface="Tahoma"/>
                <a:cs typeface="Tahoma"/>
              </a:rPr>
              <a:t> (93%) </a:t>
            </a:r>
            <a:r>
              <a:rPr sz="1000" spc="-35" dirty="0">
                <a:solidFill>
                  <a:srgbClr val="202429"/>
                </a:solidFill>
                <a:latin typeface="Tahoma"/>
                <a:cs typeface="Tahoma"/>
              </a:rPr>
              <a:t>means </a:t>
            </a:r>
            <a:r>
              <a:rPr sz="1000" dirty="0">
                <a:solidFill>
                  <a:srgbClr val="202429"/>
                </a:solidFill>
                <a:latin typeface="Tahoma"/>
                <a:cs typeface="Tahoma"/>
              </a:rPr>
              <a:t>the</a:t>
            </a:r>
            <a:r>
              <a:rPr sz="1000" spc="10" dirty="0">
                <a:solidFill>
                  <a:srgbClr val="202429"/>
                </a:solidFill>
                <a:latin typeface="Tahoma"/>
                <a:cs typeface="Tahoma"/>
              </a:rPr>
              <a:t> </a:t>
            </a:r>
            <a:r>
              <a:rPr sz="1000" dirty="0">
                <a:solidFill>
                  <a:srgbClr val="202429"/>
                </a:solidFill>
                <a:latin typeface="Tahoma"/>
                <a:cs typeface="Tahoma"/>
              </a:rPr>
              <a:t>model</a:t>
            </a:r>
            <a:r>
              <a:rPr sz="1000" spc="10" dirty="0">
                <a:solidFill>
                  <a:srgbClr val="202429"/>
                </a:solidFill>
                <a:latin typeface="Tahoma"/>
                <a:cs typeface="Tahoma"/>
              </a:rPr>
              <a:t> </a:t>
            </a:r>
            <a:r>
              <a:rPr sz="1000" spc="-10" dirty="0">
                <a:solidFill>
                  <a:srgbClr val="202429"/>
                </a:solidFill>
                <a:latin typeface="Tahoma"/>
                <a:cs typeface="Tahoma"/>
              </a:rPr>
              <a:t>catches</a:t>
            </a:r>
            <a:r>
              <a:rPr sz="1000" spc="15" dirty="0">
                <a:solidFill>
                  <a:srgbClr val="202429"/>
                </a:solidFill>
                <a:latin typeface="Tahoma"/>
                <a:cs typeface="Tahoma"/>
              </a:rPr>
              <a:t> </a:t>
            </a:r>
            <a:r>
              <a:rPr sz="1000" dirty="0">
                <a:solidFill>
                  <a:srgbClr val="202429"/>
                </a:solidFill>
                <a:latin typeface="Tahoma"/>
                <a:cs typeface="Tahoma"/>
              </a:rPr>
              <a:t>the</a:t>
            </a:r>
            <a:r>
              <a:rPr sz="1000" spc="15" dirty="0">
                <a:solidFill>
                  <a:srgbClr val="202429"/>
                </a:solidFill>
                <a:latin typeface="Tahoma"/>
                <a:cs typeface="Tahoma"/>
              </a:rPr>
              <a:t> </a:t>
            </a:r>
            <a:r>
              <a:rPr sz="1000" dirty="0">
                <a:solidFill>
                  <a:srgbClr val="202429"/>
                </a:solidFill>
                <a:latin typeface="Tahoma"/>
                <a:cs typeface="Tahoma"/>
              </a:rPr>
              <a:t>vast</a:t>
            </a:r>
            <a:r>
              <a:rPr sz="1000" spc="10" dirty="0">
                <a:solidFill>
                  <a:srgbClr val="202429"/>
                </a:solidFill>
                <a:latin typeface="Tahoma"/>
                <a:cs typeface="Tahoma"/>
              </a:rPr>
              <a:t> </a:t>
            </a:r>
            <a:r>
              <a:rPr sz="1000" spc="-10" dirty="0">
                <a:solidFill>
                  <a:srgbClr val="202429"/>
                </a:solidFill>
                <a:latin typeface="Tahoma"/>
                <a:cs typeface="Tahoma"/>
              </a:rPr>
              <a:t>majority</a:t>
            </a:r>
            <a:r>
              <a:rPr sz="1000" spc="10" dirty="0">
                <a:solidFill>
                  <a:srgbClr val="202429"/>
                </a:solidFill>
                <a:latin typeface="Tahoma"/>
                <a:cs typeface="Tahoma"/>
              </a:rPr>
              <a:t> </a:t>
            </a:r>
            <a:r>
              <a:rPr sz="1000" spc="-25" dirty="0">
                <a:solidFill>
                  <a:srgbClr val="202429"/>
                </a:solidFill>
                <a:latin typeface="Tahoma"/>
                <a:cs typeface="Tahoma"/>
              </a:rPr>
              <a:t>of </a:t>
            </a:r>
            <a:r>
              <a:rPr sz="1000" spc="-45" dirty="0">
                <a:solidFill>
                  <a:srgbClr val="202429"/>
                </a:solidFill>
                <a:latin typeface="Tahoma"/>
                <a:cs typeface="Tahoma"/>
              </a:rPr>
              <a:t>safety</a:t>
            </a:r>
            <a:r>
              <a:rPr sz="1000" spc="15" dirty="0">
                <a:solidFill>
                  <a:srgbClr val="202429"/>
                </a:solidFill>
                <a:latin typeface="Tahoma"/>
                <a:cs typeface="Tahoma"/>
              </a:rPr>
              <a:t> </a:t>
            </a:r>
            <a:r>
              <a:rPr sz="1000" spc="-10" dirty="0">
                <a:solidFill>
                  <a:srgbClr val="202429"/>
                </a:solidFill>
                <a:latin typeface="Tahoma"/>
                <a:cs typeface="Tahoma"/>
              </a:rPr>
              <a:t>issues.</a:t>
            </a:r>
            <a:endParaRPr sz="1000" dirty="0">
              <a:latin typeface="Tahoma"/>
              <a:cs typeface="Tahoma"/>
            </a:endParaRPr>
          </a:p>
        </p:txBody>
      </p:sp>
      <p:sp>
        <p:nvSpPr>
          <p:cNvPr id="8" name="object 8"/>
          <p:cNvSpPr txBox="1"/>
          <p:nvPr/>
        </p:nvSpPr>
        <p:spPr>
          <a:xfrm>
            <a:off x="3085122" y="1855349"/>
            <a:ext cx="2086610" cy="369570"/>
          </a:xfrm>
          <a:prstGeom prst="rect">
            <a:avLst/>
          </a:prstGeom>
        </p:spPr>
        <p:txBody>
          <a:bodyPr vert="horz" wrap="square" lIns="0" tIns="12700" rIns="0" bIns="0" rtlCol="0">
            <a:spAutoFit/>
          </a:bodyPr>
          <a:lstStyle/>
          <a:p>
            <a:pPr marL="12700" marR="5080">
              <a:lnSpc>
                <a:spcPct val="112900"/>
              </a:lnSpc>
              <a:spcBef>
                <a:spcPts val="100"/>
              </a:spcBef>
            </a:pPr>
            <a:r>
              <a:rPr sz="1000" spc="-40" dirty="0">
                <a:solidFill>
                  <a:srgbClr val="6C757C"/>
                </a:solidFill>
                <a:latin typeface="Tahoma"/>
                <a:cs typeface="Tahoma"/>
              </a:rPr>
              <a:t>Tested </a:t>
            </a:r>
            <a:r>
              <a:rPr sz="1000" dirty="0">
                <a:solidFill>
                  <a:srgbClr val="6C757C"/>
                </a:solidFill>
                <a:latin typeface="Tahoma"/>
                <a:cs typeface="Tahoma"/>
              </a:rPr>
              <a:t>on</a:t>
            </a:r>
            <a:r>
              <a:rPr sz="1000" spc="-20" dirty="0">
                <a:solidFill>
                  <a:srgbClr val="6C757C"/>
                </a:solidFill>
                <a:latin typeface="Tahoma"/>
                <a:cs typeface="Tahoma"/>
              </a:rPr>
              <a:t> </a:t>
            </a:r>
            <a:r>
              <a:rPr sz="1000" spc="-30" dirty="0">
                <a:solidFill>
                  <a:srgbClr val="6C757C"/>
                </a:solidFill>
                <a:latin typeface="Tahoma"/>
                <a:cs typeface="Tahoma"/>
              </a:rPr>
              <a:t>real,</a:t>
            </a:r>
            <a:r>
              <a:rPr sz="1000" spc="-25" dirty="0">
                <a:solidFill>
                  <a:srgbClr val="6C757C"/>
                </a:solidFill>
                <a:latin typeface="Tahoma"/>
                <a:cs typeface="Tahoma"/>
              </a:rPr>
              <a:t> </a:t>
            </a:r>
            <a:r>
              <a:rPr sz="1000" spc="-70" dirty="0">
                <a:solidFill>
                  <a:srgbClr val="6C757C"/>
                </a:solidFill>
                <a:latin typeface="Tahoma"/>
                <a:cs typeface="Tahoma"/>
              </a:rPr>
              <a:t>unseen</a:t>
            </a:r>
            <a:r>
              <a:rPr sz="1000" spc="-10" dirty="0">
                <a:solidFill>
                  <a:srgbClr val="6C757C"/>
                </a:solidFill>
                <a:latin typeface="Tahoma"/>
                <a:cs typeface="Tahoma"/>
              </a:rPr>
              <a:t> </a:t>
            </a:r>
            <a:r>
              <a:rPr sz="1000" spc="-20" dirty="0">
                <a:solidFill>
                  <a:srgbClr val="6C757C"/>
                </a:solidFill>
                <a:latin typeface="Tahoma"/>
                <a:cs typeface="Tahoma"/>
              </a:rPr>
              <a:t>data </a:t>
            </a:r>
            <a:r>
              <a:rPr sz="1000" dirty="0">
                <a:solidFill>
                  <a:srgbClr val="6C757C"/>
                </a:solidFill>
                <a:latin typeface="Tahoma"/>
                <a:cs typeface="Tahoma"/>
              </a:rPr>
              <a:t>to</a:t>
            </a:r>
            <a:r>
              <a:rPr sz="1000" spc="-25" dirty="0">
                <a:solidFill>
                  <a:srgbClr val="6C757C"/>
                </a:solidFill>
                <a:latin typeface="Tahoma"/>
                <a:cs typeface="Tahoma"/>
              </a:rPr>
              <a:t> </a:t>
            </a:r>
            <a:r>
              <a:rPr sz="1000" spc="-20" dirty="0">
                <a:solidFill>
                  <a:srgbClr val="6C757C"/>
                </a:solidFill>
                <a:latin typeface="Tahoma"/>
                <a:cs typeface="Tahoma"/>
              </a:rPr>
              <a:t>validate </a:t>
            </a:r>
            <a:r>
              <a:rPr sz="1000" spc="-45" dirty="0">
                <a:solidFill>
                  <a:srgbClr val="6C757C"/>
                </a:solidFill>
                <a:latin typeface="Tahoma"/>
                <a:cs typeface="Tahoma"/>
              </a:rPr>
              <a:t>real-</a:t>
            </a:r>
            <a:r>
              <a:rPr sz="1000" spc="-35" dirty="0">
                <a:solidFill>
                  <a:srgbClr val="6C757C"/>
                </a:solidFill>
                <a:latin typeface="Tahoma"/>
                <a:cs typeface="Tahoma"/>
              </a:rPr>
              <a:t>world</a:t>
            </a:r>
            <a:r>
              <a:rPr sz="1000" spc="10" dirty="0">
                <a:solidFill>
                  <a:srgbClr val="6C757C"/>
                </a:solidFill>
                <a:latin typeface="Tahoma"/>
                <a:cs typeface="Tahoma"/>
              </a:rPr>
              <a:t> </a:t>
            </a:r>
            <a:r>
              <a:rPr sz="1000" spc="-10" dirty="0">
                <a:solidFill>
                  <a:srgbClr val="6C757C"/>
                </a:solidFill>
                <a:latin typeface="Tahoma"/>
                <a:cs typeface="Tahoma"/>
              </a:rPr>
              <a:t>performance.</a:t>
            </a:r>
            <a:endParaRPr sz="1000" dirty="0">
              <a:latin typeface="Tahoma"/>
              <a:cs typeface="Tahoma"/>
            </a:endParaRPr>
          </a:p>
        </p:txBody>
      </p:sp>
      <p:sp>
        <p:nvSpPr>
          <p:cNvPr id="9" name="object 9"/>
          <p:cNvSpPr txBox="1"/>
          <p:nvPr/>
        </p:nvSpPr>
        <p:spPr>
          <a:xfrm>
            <a:off x="1723948" y="2728307"/>
            <a:ext cx="2312670" cy="177800"/>
          </a:xfrm>
          <a:prstGeom prst="rect">
            <a:avLst/>
          </a:prstGeom>
        </p:spPr>
        <p:txBody>
          <a:bodyPr vert="horz" wrap="square" lIns="0" tIns="12065" rIns="0" bIns="0" rtlCol="0">
            <a:spAutoFit/>
          </a:bodyPr>
          <a:lstStyle/>
          <a:p>
            <a:pPr marL="12700">
              <a:lnSpc>
                <a:spcPct val="100000"/>
              </a:lnSpc>
              <a:spcBef>
                <a:spcPts val="95"/>
              </a:spcBef>
            </a:pPr>
            <a:r>
              <a:rPr sz="1000" dirty="0">
                <a:solidFill>
                  <a:srgbClr val="202429"/>
                </a:solidFill>
                <a:latin typeface="Tahoma"/>
                <a:cs typeface="Tahoma"/>
              </a:rPr>
              <a:t>But</a:t>
            </a:r>
            <a:r>
              <a:rPr sz="1000" spc="-10" dirty="0">
                <a:solidFill>
                  <a:srgbClr val="202429"/>
                </a:solidFill>
                <a:latin typeface="Tahoma"/>
                <a:cs typeface="Tahoma"/>
              </a:rPr>
              <a:t> </a:t>
            </a:r>
            <a:r>
              <a:rPr sz="1000" spc="-45" dirty="0">
                <a:solidFill>
                  <a:srgbClr val="202429"/>
                </a:solidFill>
                <a:latin typeface="Tahoma"/>
                <a:cs typeface="Tahoma"/>
              </a:rPr>
              <a:t>does</a:t>
            </a:r>
            <a:r>
              <a:rPr sz="1000" spc="-5" dirty="0">
                <a:solidFill>
                  <a:srgbClr val="202429"/>
                </a:solidFill>
                <a:latin typeface="Tahoma"/>
                <a:cs typeface="Tahoma"/>
              </a:rPr>
              <a:t> </a:t>
            </a:r>
            <a:r>
              <a:rPr sz="1000" dirty="0">
                <a:solidFill>
                  <a:srgbClr val="202429"/>
                </a:solidFill>
                <a:latin typeface="Tahoma"/>
                <a:cs typeface="Tahoma"/>
              </a:rPr>
              <a:t>it</a:t>
            </a:r>
            <a:r>
              <a:rPr sz="1000" spc="-10" dirty="0">
                <a:solidFill>
                  <a:srgbClr val="202429"/>
                </a:solidFill>
                <a:latin typeface="Tahoma"/>
                <a:cs typeface="Tahoma"/>
              </a:rPr>
              <a:t> </a:t>
            </a:r>
            <a:r>
              <a:rPr sz="1000" spc="-35" dirty="0">
                <a:solidFill>
                  <a:srgbClr val="202429"/>
                </a:solidFill>
                <a:latin typeface="Tahoma"/>
                <a:cs typeface="Tahoma"/>
              </a:rPr>
              <a:t>perform</a:t>
            </a:r>
            <a:r>
              <a:rPr sz="1000" spc="-5" dirty="0">
                <a:solidFill>
                  <a:srgbClr val="202429"/>
                </a:solidFill>
                <a:latin typeface="Tahoma"/>
                <a:cs typeface="Tahoma"/>
              </a:rPr>
              <a:t> </a:t>
            </a:r>
            <a:r>
              <a:rPr sz="1000" b="1" spc="-30" dirty="0">
                <a:solidFill>
                  <a:srgbClr val="202429"/>
                </a:solidFill>
                <a:latin typeface="Arial"/>
                <a:cs typeface="Arial"/>
              </a:rPr>
              <a:t>equally</a:t>
            </a:r>
            <a:r>
              <a:rPr sz="1000" b="1" spc="25" dirty="0">
                <a:solidFill>
                  <a:srgbClr val="202429"/>
                </a:solidFill>
                <a:latin typeface="Arial"/>
                <a:cs typeface="Arial"/>
              </a:rPr>
              <a:t> </a:t>
            </a:r>
            <a:r>
              <a:rPr sz="1000" spc="-10" dirty="0">
                <a:solidFill>
                  <a:srgbClr val="202429"/>
                </a:solidFill>
                <a:latin typeface="Tahoma"/>
                <a:cs typeface="Tahoma"/>
              </a:rPr>
              <a:t>for</a:t>
            </a:r>
            <a:r>
              <a:rPr sz="1000" spc="-5" dirty="0">
                <a:solidFill>
                  <a:srgbClr val="202429"/>
                </a:solidFill>
                <a:latin typeface="Tahoma"/>
                <a:cs typeface="Tahoma"/>
              </a:rPr>
              <a:t> </a:t>
            </a:r>
            <a:r>
              <a:rPr sz="1000" dirty="0">
                <a:solidFill>
                  <a:srgbClr val="202429"/>
                </a:solidFill>
                <a:latin typeface="Tahoma"/>
                <a:cs typeface="Tahoma"/>
              </a:rPr>
              <a:t>all</a:t>
            </a:r>
            <a:r>
              <a:rPr sz="1000" spc="-10" dirty="0">
                <a:solidFill>
                  <a:srgbClr val="202429"/>
                </a:solidFill>
                <a:latin typeface="Tahoma"/>
                <a:cs typeface="Tahoma"/>
              </a:rPr>
              <a:t> </a:t>
            </a:r>
            <a:r>
              <a:rPr sz="1000" spc="-25" dirty="0">
                <a:solidFill>
                  <a:srgbClr val="202429"/>
                </a:solidFill>
                <a:latin typeface="Tahoma"/>
                <a:cs typeface="Tahoma"/>
              </a:rPr>
              <a:t>groups?</a:t>
            </a:r>
            <a:endParaRPr sz="1000" dirty="0">
              <a:latin typeface="Tahoma"/>
              <a:cs typeface="Tahoma"/>
            </a:endParaRPr>
          </a:p>
        </p:txBody>
      </p:sp>
      <p:sp>
        <p:nvSpPr>
          <p:cNvPr id="10" name="object 10"/>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3" name="Slide Number Placeholder 12">
            <a:extLst>
              <a:ext uri="{FF2B5EF4-FFF2-40B4-BE49-F238E27FC236}">
                <a16:creationId xmlns:a16="http://schemas.microsoft.com/office/drawing/2014/main" id="{BD08DA53-C5E0-CBB1-215F-A0622C41F38F}"/>
              </a:ext>
            </a:extLst>
          </p:cNvPr>
          <p:cNvSpPr>
            <a:spLocks noGrp="1"/>
          </p:cNvSpPr>
          <p:nvPr>
            <p:ph type="sldNum" sz="quarter" idx="7"/>
          </p:nvPr>
        </p:nvSpPr>
        <p:spPr>
          <a:xfrm>
            <a:off x="5217160" y="3066276"/>
            <a:ext cx="548640" cy="173989"/>
          </a:xfrm>
        </p:spPr>
        <p:txBody>
          <a:bodyPr/>
          <a:lstStyle/>
          <a:p>
            <a:pPr marL="39370">
              <a:lnSpc>
                <a:spcPct val="100000"/>
              </a:lnSpc>
              <a:spcBef>
                <a:spcPts val="219"/>
              </a:spcBef>
            </a:pPr>
            <a:fld id="{81D60167-4931-47E6-BA6A-407CBD079E47}" type="slidenum">
              <a:rPr lang="en-GB" smtClean="0"/>
              <a:t>11</a:t>
            </a:fld>
            <a:r>
              <a:rPr lang="en-GB" spc="20" dirty="0"/>
              <a:t> </a:t>
            </a:r>
            <a:r>
              <a:rPr lang="en-GB" spc="120" dirty="0"/>
              <a:t>/</a:t>
            </a:r>
            <a:r>
              <a:rPr lang="en-GB" spc="25" dirty="0"/>
              <a:t> </a:t>
            </a:r>
            <a:r>
              <a:rPr lang="en-GB" spc="-25" dirty="0"/>
              <a:t>39</a:t>
            </a:r>
          </a:p>
        </p:txBody>
      </p:sp>
      <p:graphicFrame>
        <p:nvGraphicFramePr>
          <p:cNvPr id="14" name="Performance chart" descr="Bar chart of I-SIRch performance on 97 unseen reports: recall 93%, balanced accuracy 90%, precision 87%"/>
          <p:cNvGraphicFramePr>
            <a:graphicFrameLocks noGrp="1"/>
          </p:cNvGraphicFramePr>
          <p:nvPr/>
        </p:nvGraphicFramePr>
        <p:xfrm>
          <a:off x="228600" y="731520"/>
          <a:ext cx="2514600" cy="178308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47294" y="32053"/>
            <a:ext cx="5120640" cy="467995"/>
          </a:xfrm>
          <a:prstGeom prst="rect">
            <a:avLst/>
          </a:prstGeom>
        </p:spPr>
        <p:txBody>
          <a:bodyPr vert="horz" wrap="square" lIns="0" tIns="49530" rIns="0" bIns="0" rtlCol="0">
            <a:spAutoFit/>
          </a:bodyPr>
          <a:lstStyle/>
          <a:p>
            <a:pPr marL="12700">
              <a:lnSpc>
                <a:spcPct val="100000"/>
              </a:lnSpc>
              <a:spcBef>
                <a:spcPts val="390"/>
              </a:spcBef>
            </a:pPr>
            <a:r>
              <a:rPr spc="65" dirty="0"/>
              <a:t>I-</a:t>
            </a:r>
            <a:r>
              <a:rPr dirty="0"/>
              <a:t>SIRch:</a:t>
            </a:r>
            <a:r>
              <a:rPr spc="140" dirty="0"/>
              <a:t> </a:t>
            </a:r>
            <a:r>
              <a:rPr spc="-50" dirty="0"/>
              <a:t>Fairness</a:t>
            </a:r>
            <a:r>
              <a:rPr spc="10" dirty="0"/>
              <a:t> </a:t>
            </a:r>
            <a:r>
              <a:rPr spc="-70" dirty="0"/>
              <a:t>Across</a:t>
            </a:r>
            <a:r>
              <a:rPr spc="10" dirty="0"/>
              <a:t> </a:t>
            </a:r>
            <a:r>
              <a:rPr dirty="0"/>
              <a:t>Ethnic</a:t>
            </a:r>
            <a:r>
              <a:rPr spc="10" dirty="0"/>
              <a:t> </a:t>
            </a:r>
            <a:r>
              <a:rPr spc="-30" dirty="0"/>
              <a:t>Groups</a:t>
            </a:r>
          </a:p>
          <a:p>
            <a:pPr marL="12700">
              <a:lnSpc>
                <a:spcPct val="100000"/>
              </a:lnSpc>
              <a:spcBef>
                <a:spcPts val="195"/>
              </a:spcBef>
            </a:pPr>
            <a:r>
              <a:rPr sz="1100" b="0" spc="-25" dirty="0">
                <a:solidFill>
                  <a:srgbClr val="6C757C"/>
                </a:solidFill>
                <a:latin typeface="Tahoma"/>
                <a:cs typeface="Tahoma"/>
              </a:rPr>
              <a:t>Does</a:t>
            </a:r>
            <a:r>
              <a:rPr sz="1100" b="0" spc="-45" dirty="0">
                <a:solidFill>
                  <a:srgbClr val="6C757C"/>
                </a:solidFill>
                <a:latin typeface="Tahoma"/>
                <a:cs typeface="Tahoma"/>
              </a:rPr>
              <a:t> </a:t>
            </a:r>
            <a:r>
              <a:rPr sz="1100" b="0" spc="-10" dirty="0">
                <a:solidFill>
                  <a:srgbClr val="6C757C"/>
                </a:solidFill>
                <a:latin typeface="Tahoma"/>
                <a:cs typeface="Tahoma"/>
              </a:rPr>
              <a:t>the</a:t>
            </a:r>
            <a:r>
              <a:rPr sz="1100" b="0" spc="-45" dirty="0">
                <a:solidFill>
                  <a:srgbClr val="6C757C"/>
                </a:solidFill>
                <a:latin typeface="Tahoma"/>
                <a:cs typeface="Tahoma"/>
              </a:rPr>
              <a:t> </a:t>
            </a:r>
            <a:r>
              <a:rPr sz="1100" b="0" spc="-35" dirty="0">
                <a:solidFill>
                  <a:srgbClr val="6C757C"/>
                </a:solidFill>
                <a:latin typeface="Tahoma"/>
                <a:cs typeface="Tahoma"/>
              </a:rPr>
              <a:t>model</a:t>
            </a:r>
            <a:r>
              <a:rPr sz="1100" b="0" spc="-45" dirty="0">
                <a:solidFill>
                  <a:srgbClr val="6C757C"/>
                </a:solidFill>
                <a:latin typeface="Tahoma"/>
                <a:cs typeface="Tahoma"/>
              </a:rPr>
              <a:t> </a:t>
            </a:r>
            <a:r>
              <a:rPr sz="1100" b="0" spc="-40" dirty="0">
                <a:solidFill>
                  <a:srgbClr val="6C757C"/>
                </a:solidFill>
                <a:latin typeface="Tahoma"/>
                <a:cs typeface="Tahoma"/>
              </a:rPr>
              <a:t>perform</a:t>
            </a:r>
            <a:r>
              <a:rPr sz="1100" b="0" spc="-50" dirty="0">
                <a:solidFill>
                  <a:srgbClr val="6C757C"/>
                </a:solidFill>
                <a:latin typeface="Tahoma"/>
                <a:cs typeface="Tahoma"/>
              </a:rPr>
              <a:t> </a:t>
            </a:r>
            <a:r>
              <a:rPr sz="1100" b="0" spc="-30" dirty="0">
                <a:solidFill>
                  <a:srgbClr val="6C757C"/>
                </a:solidFill>
                <a:latin typeface="Tahoma"/>
                <a:cs typeface="Tahoma"/>
              </a:rPr>
              <a:t>equally</a:t>
            </a:r>
            <a:r>
              <a:rPr sz="1100" b="0" spc="-45" dirty="0">
                <a:solidFill>
                  <a:srgbClr val="6C757C"/>
                </a:solidFill>
                <a:latin typeface="Tahoma"/>
                <a:cs typeface="Tahoma"/>
              </a:rPr>
              <a:t> </a:t>
            </a:r>
            <a:r>
              <a:rPr sz="1100" b="0" spc="-20" dirty="0">
                <a:solidFill>
                  <a:srgbClr val="6C757C"/>
                </a:solidFill>
                <a:latin typeface="Tahoma"/>
                <a:cs typeface="Tahoma"/>
              </a:rPr>
              <a:t>for</a:t>
            </a:r>
            <a:r>
              <a:rPr sz="1100" b="0" spc="-45" dirty="0">
                <a:solidFill>
                  <a:srgbClr val="6C757C"/>
                </a:solidFill>
                <a:latin typeface="Tahoma"/>
                <a:cs typeface="Tahoma"/>
              </a:rPr>
              <a:t> </a:t>
            </a:r>
            <a:r>
              <a:rPr sz="1100" b="0" dirty="0">
                <a:solidFill>
                  <a:srgbClr val="6C757C"/>
                </a:solidFill>
                <a:latin typeface="Tahoma"/>
                <a:cs typeface="Tahoma"/>
              </a:rPr>
              <a:t>all</a:t>
            </a:r>
            <a:r>
              <a:rPr sz="1100" b="0" spc="-45" dirty="0">
                <a:solidFill>
                  <a:srgbClr val="6C757C"/>
                </a:solidFill>
                <a:latin typeface="Tahoma"/>
                <a:cs typeface="Tahoma"/>
              </a:rPr>
              <a:t> </a:t>
            </a:r>
            <a:r>
              <a:rPr sz="1100" b="0" spc="-10" dirty="0">
                <a:solidFill>
                  <a:srgbClr val="6C757C"/>
                </a:solidFill>
                <a:latin typeface="Tahoma"/>
                <a:cs typeface="Tahoma"/>
              </a:rPr>
              <a:t>groups?</a:t>
            </a:r>
            <a:endParaRPr sz="1100">
              <a:latin typeface="Tahoma"/>
              <a:cs typeface="Tahoma"/>
            </a:endParaRPr>
          </a:p>
        </p:txBody>
      </p:sp>
      <p:sp>
        <p:nvSpPr>
          <p:cNvPr id="3" name="object 3"/>
          <p:cNvSpPr/>
          <p:nvPr/>
        </p:nvSpPr>
        <p:spPr>
          <a:xfrm>
            <a:off x="359994" y="649643"/>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sp>
        <p:nvSpPr>
          <p:cNvPr id="4" name="object 4"/>
          <p:cNvSpPr txBox="1"/>
          <p:nvPr/>
        </p:nvSpPr>
        <p:spPr>
          <a:xfrm>
            <a:off x="192481" y="783868"/>
            <a:ext cx="2560320" cy="191770"/>
          </a:xfrm>
          <a:prstGeom prst="rect">
            <a:avLst/>
          </a:prstGeom>
        </p:spPr>
        <p:txBody>
          <a:bodyPr vert="horz" wrap="square" lIns="0" tIns="11430" rIns="0" bIns="0" rtlCol="0">
            <a:spAutoFit/>
          </a:bodyPr>
          <a:lstStyle/>
          <a:p>
            <a:pPr marL="12700">
              <a:lnSpc>
                <a:spcPct val="100000"/>
              </a:lnSpc>
              <a:spcBef>
                <a:spcPts val="90"/>
              </a:spcBef>
            </a:pPr>
            <a:r>
              <a:rPr sz="1100" b="1" spc="-40" dirty="0">
                <a:solidFill>
                  <a:srgbClr val="202429"/>
                </a:solidFill>
                <a:latin typeface="Arial"/>
                <a:cs typeface="Arial"/>
              </a:rPr>
              <a:t>Accuracy by ethnic group:</a:t>
            </a:r>
            <a:endParaRPr sz="1100" dirty="0">
              <a:latin typeface="Arial"/>
              <a:cs typeface="Arial"/>
            </a:endParaRPr>
          </a:p>
        </p:txBody>
      </p:sp>
      <p:sp>
        <p:nvSpPr>
          <p:cNvPr id="6" name="object 6"/>
          <p:cNvSpPr txBox="1"/>
          <p:nvPr/>
        </p:nvSpPr>
        <p:spPr>
          <a:xfrm>
            <a:off x="192481" y="2147290"/>
            <a:ext cx="2393643" cy="551946"/>
          </a:xfrm>
          <a:prstGeom prst="rect">
            <a:avLst/>
          </a:prstGeom>
        </p:spPr>
        <p:txBody>
          <a:bodyPr vert="horz" wrap="square" lIns="0" tIns="12700" rIns="0" bIns="0" rtlCol="0">
            <a:spAutoFit/>
          </a:bodyPr>
          <a:lstStyle/>
          <a:p>
            <a:pPr marL="12700" marR="178435">
              <a:lnSpc>
                <a:spcPct val="152500"/>
              </a:lnSpc>
              <a:spcBef>
                <a:spcPts val="100"/>
              </a:spcBef>
            </a:pPr>
            <a:r>
              <a:rPr sz="800" dirty="0">
                <a:solidFill>
                  <a:srgbClr val="6C757C"/>
                </a:solidFill>
                <a:latin typeface="Tahoma"/>
                <a:cs typeface="Tahoma"/>
              </a:rPr>
              <a:t>n</a:t>
            </a:r>
            <a:r>
              <a:rPr sz="800" spc="-15" dirty="0">
                <a:solidFill>
                  <a:srgbClr val="6C757C"/>
                </a:solidFill>
                <a:latin typeface="Tahoma"/>
                <a:cs typeface="Tahoma"/>
              </a:rPr>
              <a:t> </a:t>
            </a:r>
            <a:r>
              <a:rPr sz="800" spc="70" dirty="0">
                <a:solidFill>
                  <a:srgbClr val="6C757C"/>
                </a:solidFill>
                <a:latin typeface="Tahoma"/>
                <a:cs typeface="Tahoma"/>
              </a:rPr>
              <a:t>=</a:t>
            </a:r>
            <a:r>
              <a:rPr sz="800" spc="-10" dirty="0">
                <a:solidFill>
                  <a:srgbClr val="6C757C"/>
                </a:solidFill>
                <a:latin typeface="Tahoma"/>
                <a:cs typeface="Tahoma"/>
              </a:rPr>
              <a:t> </a:t>
            </a:r>
            <a:r>
              <a:rPr sz="800" dirty="0">
                <a:solidFill>
                  <a:srgbClr val="6C757C"/>
                </a:solidFill>
                <a:latin typeface="Tahoma"/>
                <a:cs typeface="Tahoma"/>
              </a:rPr>
              <a:t>number</a:t>
            </a:r>
            <a:r>
              <a:rPr sz="800" spc="-10" dirty="0">
                <a:solidFill>
                  <a:srgbClr val="6C757C"/>
                </a:solidFill>
                <a:latin typeface="Tahoma"/>
                <a:cs typeface="Tahoma"/>
              </a:rPr>
              <a:t> </a:t>
            </a:r>
            <a:r>
              <a:rPr sz="800" dirty="0">
                <a:solidFill>
                  <a:srgbClr val="6C757C"/>
                </a:solidFill>
                <a:latin typeface="Tahoma"/>
                <a:cs typeface="Tahoma"/>
              </a:rPr>
              <a:t>of</a:t>
            </a:r>
            <a:r>
              <a:rPr sz="800" spc="-10" dirty="0">
                <a:solidFill>
                  <a:srgbClr val="6C757C"/>
                </a:solidFill>
                <a:latin typeface="Tahoma"/>
                <a:cs typeface="Tahoma"/>
              </a:rPr>
              <a:t> </a:t>
            </a:r>
            <a:r>
              <a:rPr sz="800" dirty="0">
                <a:solidFill>
                  <a:srgbClr val="6C757C"/>
                </a:solidFill>
                <a:latin typeface="Tahoma"/>
                <a:cs typeface="Tahoma"/>
              </a:rPr>
              <a:t>concept</a:t>
            </a:r>
            <a:r>
              <a:rPr sz="800" spc="-10" dirty="0">
                <a:solidFill>
                  <a:srgbClr val="6C757C"/>
                </a:solidFill>
                <a:latin typeface="Tahoma"/>
                <a:cs typeface="Tahoma"/>
              </a:rPr>
              <a:t> </a:t>
            </a:r>
            <a:r>
              <a:rPr sz="800" dirty="0">
                <a:solidFill>
                  <a:srgbClr val="6C757C"/>
                </a:solidFill>
                <a:latin typeface="Tahoma"/>
                <a:cs typeface="Tahoma"/>
              </a:rPr>
              <a:t>annotations</a:t>
            </a:r>
            <a:r>
              <a:rPr sz="800" spc="-10" dirty="0">
                <a:solidFill>
                  <a:srgbClr val="6C757C"/>
                </a:solidFill>
                <a:latin typeface="Tahoma"/>
                <a:cs typeface="Tahoma"/>
              </a:rPr>
              <a:t> tested Fairness</a:t>
            </a:r>
            <a:r>
              <a:rPr sz="800" dirty="0">
                <a:solidFill>
                  <a:srgbClr val="6C757C"/>
                </a:solidFill>
                <a:latin typeface="Tahoma"/>
                <a:cs typeface="Tahoma"/>
              </a:rPr>
              <a:t> </a:t>
            </a:r>
            <a:r>
              <a:rPr sz="800" spc="-10" dirty="0">
                <a:solidFill>
                  <a:srgbClr val="6C757C"/>
                </a:solidFill>
                <a:latin typeface="Tahoma"/>
                <a:cs typeface="Tahoma"/>
              </a:rPr>
              <a:t>evaluated</a:t>
            </a:r>
            <a:r>
              <a:rPr sz="800" spc="-5" dirty="0">
                <a:solidFill>
                  <a:srgbClr val="6C757C"/>
                </a:solidFill>
                <a:latin typeface="Tahoma"/>
                <a:cs typeface="Tahoma"/>
              </a:rPr>
              <a:t> </a:t>
            </a:r>
            <a:r>
              <a:rPr sz="800" dirty="0">
                <a:solidFill>
                  <a:srgbClr val="6C757C"/>
                </a:solidFill>
                <a:latin typeface="Tahoma"/>
                <a:cs typeface="Tahoma"/>
              </a:rPr>
              <a:t>on synthetic data </a:t>
            </a:r>
            <a:r>
              <a:rPr sz="800" spc="-10" dirty="0">
                <a:solidFill>
                  <a:srgbClr val="6C757C"/>
                </a:solidFill>
                <a:latin typeface="Tahoma"/>
                <a:cs typeface="Tahoma"/>
              </a:rPr>
              <a:t>(ethnicity unavailable</a:t>
            </a:r>
            <a:r>
              <a:rPr sz="800" dirty="0">
                <a:solidFill>
                  <a:srgbClr val="6C757C"/>
                </a:solidFill>
                <a:latin typeface="Tahoma"/>
                <a:cs typeface="Tahoma"/>
              </a:rPr>
              <a:t> for</a:t>
            </a:r>
            <a:r>
              <a:rPr sz="800" spc="5" dirty="0">
                <a:solidFill>
                  <a:srgbClr val="6C757C"/>
                </a:solidFill>
                <a:latin typeface="Tahoma"/>
                <a:cs typeface="Tahoma"/>
              </a:rPr>
              <a:t> </a:t>
            </a:r>
            <a:r>
              <a:rPr sz="800" dirty="0">
                <a:solidFill>
                  <a:srgbClr val="6C757C"/>
                </a:solidFill>
                <a:latin typeface="Tahoma"/>
                <a:cs typeface="Tahoma"/>
              </a:rPr>
              <a:t>real test</a:t>
            </a:r>
            <a:r>
              <a:rPr sz="800" spc="5" dirty="0">
                <a:solidFill>
                  <a:srgbClr val="6C757C"/>
                </a:solidFill>
                <a:latin typeface="Tahoma"/>
                <a:cs typeface="Tahoma"/>
              </a:rPr>
              <a:t> </a:t>
            </a:r>
            <a:r>
              <a:rPr sz="800" spc="-20" dirty="0">
                <a:solidFill>
                  <a:srgbClr val="6C757C"/>
                </a:solidFill>
                <a:latin typeface="Tahoma"/>
                <a:cs typeface="Tahoma"/>
              </a:rPr>
              <a:t>set)</a:t>
            </a:r>
            <a:endParaRPr sz="800" dirty="0">
              <a:latin typeface="Tahoma"/>
              <a:cs typeface="Tahoma"/>
            </a:endParaRPr>
          </a:p>
        </p:txBody>
      </p:sp>
      <p:sp>
        <p:nvSpPr>
          <p:cNvPr id="7" name="object 7"/>
          <p:cNvSpPr/>
          <p:nvPr/>
        </p:nvSpPr>
        <p:spPr>
          <a:xfrm>
            <a:off x="2980778" y="1014348"/>
            <a:ext cx="0" cy="1800225"/>
          </a:xfrm>
          <a:custGeom>
            <a:avLst/>
            <a:gdLst/>
            <a:ahLst/>
            <a:cxnLst/>
            <a:rect l="l" t="t" r="r" b="b"/>
            <a:pathLst>
              <a:path h="1800225">
                <a:moveTo>
                  <a:pt x="0" y="1799996"/>
                </a:moveTo>
                <a:lnTo>
                  <a:pt x="0" y="0"/>
                </a:lnTo>
              </a:path>
            </a:pathLst>
          </a:custGeom>
          <a:ln w="6325">
            <a:solidFill>
              <a:srgbClr val="CED3DA"/>
            </a:solidFill>
          </a:ln>
        </p:spPr>
        <p:txBody>
          <a:bodyPr wrap="square" lIns="0" tIns="0" rIns="0" bIns="0" rtlCol="0"/>
          <a:lstStyle/>
          <a:p>
            <a:endParaRPr/>
          </a:p>
        </p:txBody>
      </p:sp>
      <p:sp>
        <p:nvSpPr>
          <p:cNvPr id="8" name="object 8"/>
          <p:cNvSpPr txBox="1"/>
          <p:nvPr/>
        </p:nvSpPr>
        <p:spPr>
          <a:xfrm>
            <a:off x="3223679" y="783868"/>
            <a:ext cx="2194560" cy="191770"/>
          </a:xfrm>
          <a:prstGeom prst="rect">
            <a:avLst/>
          </a:prstGeom>
        </p:spPr>
        <p:txBody>
          <a:bodyPr vert="horz" wrap="square" lIns="0" tIns="11430" rIns="0" bIns="0" rtlCol="0">
            <a:spAutoFit/>
          </a:bodyPr>
          <a:lstStyle/>
          <a:p>
            <a:pPr marL="12700">
              <a:lnSpc>
                <a:spcPct val="100000"/>
              </a:lnSpc>
              <a:spcBef>
                <a:spcPts val="90"/>
              </a:spcBef>
            </a:pPr>
            <a:r>
              <a:rPr sz="1100" b="1" spc="-25" dirty="0">
                <a:solidFill>
                  <a:srgbClr val="202429"/>
                </a:solidFill>
                <a:latin typeface="Arial"/>
                <a:cs typeface="Arial"/>
              </a:rPr>
              <a:t>Statistical</a:t>
            </a:r>
            <a:r>
              <a:rPr sz="1100" b="1" spc="55" dirty="0">
                <a:solidFill>
                  <a:srgbClr val="202429"/>
                </a:solidFill>
                <a:latin typeface="Arial"/>
                <a:cs typeface="Arial"/>
              </a:rPr>
              <a:t> </a:t>
            </a:r>
            <a:r>
              <a:rPr sz="1100" b="1" spc="-55" dirty="0">
                <a:solidFill>
                  <a:srgbClr val="202429"/>
                </a:solidFill>
                <a:latin typeface="Arial"/>
                <a:cs typeface="Arial"/>
              </a:rPr>
              <a:t>analysis:</a:t>
            </a:r>
            <a:endParaRPr sz="1100">
              <a:latin typeface="Arial"/>
              <a:cs typeface="Arial"/>
            </a:endParaRPr>
          </a:p>
        </p:txBody>
      </p:sp>
      <p:sp>
        <p:nvSpPr>
          <p:cNvPr id="9" name="object 9"/>
          <p:cNvSpPr txBox="1"/>
          <p:nvPr/>
        </p:nvSpPr>
        <p:spPr>
          <a:xfrm>
            <a:off x="3238906" y="1032649"/>
            <a:ext cx="2241550" cy="540469"/>
          </a:xfrm>
          <a:prstGeom prst="rect">
            <a:avLst/>
          </a:prstGeom>
          <a:solidFill>
            <a:srgbClr val="E8F4F8"/>
          </a:solidFill>
          <a:ln w="5060">
            <a:solidFill>
              <a:srgbClr val="005F73"/>
            </a:solidFill>
          </a:ln>
        </p:spPr>
        <p:txBody>
          <a:bodyPr vert="horz" wrap="square" lIns="0" tIns="35560" rIns="0" bIns="0" rtlCol="0">
            <a:spAutoFit/>
          </a:bodyPr>
          <a:lstStyle/>
          <a:p>
            <a:pPr marL="40005" marR="33020">
              <a:lnSpc>
                <a:spcPct val="112900"/>
              </a:lnSpc>
              <a:spcBef>
                <a:spcPts val="150"/>
              </a:spcBef>
            </a:pPr>
            <a:r>
              <a:rPr sz="1000" b="1" dirty="0">
                <a:solidFill>
                  <a:srgbClr val="202429"/>
                </a:solidFill>
                <a:latin typeface="Arial"/>
                <a:cs typeface="Arial"/>
              </a:rPr>
              <a:t>No</a:t>
            </a:r>
            <a:r>
              <a:rPr sz="1000" b="1" spc="10" dirty="0">
                <a:solidFill>
                  <a:srgbClr val="202429"/>
                </a:solidFill>
                <a:latin typeface="Arial"/>
                <a:cs typeface="Arial"/>
              </a:rPr>
              <a:t> </a:t>
            </a:r>
            <a:r>
              <a:rPr sz="1000" b="1" spc="-45" dirty="0">
                <a:solidFill>
                  <a:srgbClr val="202429"/>
                </a:solidFill>
                <a:latin typeface="Arial"/>
                <a:cs typeface="Arial"/>
              </a:rPr>
              <a:t>signiﬁcant</a:t>
            </a:r>
            <a:r>
              <a:rPr sz="1000" b="1" spc="15" dirty="0">
                <a:solidFill>
                  <a:srgbClr val="202429"/>
                </a:solidFill>
                <a:latin typeface="Arial"/>
                <a:cs typeface="Arial"/>
              </a:rPr>
              <a:t> </a:t>
            </a:r>
            <a:r>
              <a:rPr sz="1000" b="1" spc="-40" dirty="0">
                <a:solidFill>
                  <a:srgbClr val="202429"/>
                </a:solidFill>
                <a:latin typeface="Arial"/>
                <a:cs typeface="Arial"/>
              </a:rPr>
              <a:t>diﬀerence</a:t>
            </a:r>
            <a:r>
              <a:rPr sz="1000" b="1" spc="-10" dirty="0">
                <a:solidFill>
                  <a:srgbClr val="202429"/>
                </a:solidFill>
                <a:latin typeface="Arial"/>
                <a:cs typeface="Arial"/>
              </a:rPr>
              <a:t> </a:t>
            </a:r>
            <a:r>
              <a:rPr sz="1000" spc="-70" dirty="0">
                <a:solidFill>
                  <a:srgbClr val="202429"/>
                </a:solidFill>
                <a:latin typeface="Tahoma"/>
                <a:cs typeface="Tahoma"/>
              </a:rPr>
              <a:t>between</a:t>
            </a:r>
            <a:r>
              <a:rPr sz="1000" spc="-50" dirty="0">
                <a:solidFill>
                  <a:srgbClr val="202429"/>
                </a:solidFill>
                <a:latin typeface="Tahoma"/>
                <a:cs typeface="Tahoma"/>
              </a:rPr>
              <a:t> </a:t>
            </a:r>
            <a:r>
              <a:rPr sz="1000" spc="-10" dirty="0">
                <a:solidFill>
                  <a:srgbClr val="202429"/>
                </a:solidFill>
                <a:latin typeface="Tahoma"/>
                <a:cs typeface="Tahoma"/>
              </a:rPr>
              <a:t>Black </a:t>
            </a:r>
            <a:r>
              <a:rPr sz="1000" spc="-25" dirty="0">
                <a:solidFill>
                  <a:srgbClr val="202429"/>
                </a:solidFill>
                <a:latin typeface="Tahoma"/>
                <a:cs typeface="Tahoma"/>
              </a:rPr>
              <a:t>and</a:t>
            </a:r>
            <a:r>
              <a:rPr sz="1000" spc="-55" dirty="0">
                <a:solidFill>
                  <a:srgbClr val="202429"/>
                </a:solidFill>
                <a:latin typeface="Tahoma"/>
                <a:cs typeface="Tahoma"/>
              </a:rPr>
              <a:t> </a:t>
            </a:r>
            <a:r>
              <a:rPr sz="1000" dirty="0">
                <a:solidFill>
                  <a:srgbClr val="202429"/>
                </a:solidFill>
                <a:latin typeface="Tahoma"/>
                <a:cs typeface="Tahoma"/>
              </a:rPr>
              <a:t>White</a:t>
            </a:r>
            <a:r>
              <a:rPr sz="1000" spc="-50" dirty="0">
                <a:solidFill>
                  <a:srgbClr val="202429"/>
                </a:solidFill>
                <a:latin typeface="Tahoma"/>
                <a:cs typeface="Tahoma"/>
              </a:rPr>
              <a:t> </a:t>
            </a:r>
            <a:r>
              <a:rPr sz="1000" dirty="0">
                <a:solidFill>
                  <a:srgbClr val="202429"/>
                </a:solidFill>
                <a:latin typeface="Tahoma"/>
                <a:cs typeface="Tahoma"/>
              </a:rPr>
              <a:t>British</a:t>
            </a:r>
            <a:r>
              <a:rPr lang="en-GB" sz="1000" dirty="0">
                <a:solidFill>
                  <a:srgbClr val="202429"/>
                </a:solidFill>
                <a:latin typeface="Tahoma"/>
                <a:cs typeface="Tahoma"/>
              </a:rPr>
              <a:t>, and Asian and White</a:t>
            </a:r>
            <a:r>
              <a:rPr sz="1000" spc="-45" dirty="0">
                <a:solidFill>
                  <a:srgbClr val="202429"/>
                </a:solidFill>
                <a:latin typeface="Tahoma"/>
                <a:cs typeface="Tahoma"/>
              </a:rPr>
              <a:t> </a:t>
            </a:r>
            <a:r>
              <a:rPr sz="1000" spc="-10" dirty="0">
                <a:solidFill>
                  <a:srgbClr val="202429"/>
                </a:solidFill>
                <a:latin typeface="Tahoma"/>
                <a:cs typeface="Tahoma"/>
              </a:rPr>
              <a:t>groups.</a:t>
            </a:r>
            <a:endParaRPr sz="1000" dirty="0">
              <a:latin typeface="Tahoma"/>
              <a:cs typeface="Tahoma"/>
            </a:endParaRPr>
          </a:p>
        </p:txBody>
      </p:sp>
      <p:sp>
        <p:nvSpPr>
          <p:cNvPr id="10" name="object 10"/>
          <p:cNvSpPr/>
          <p:nvPr/>
        </p:nvSpPr>
        <p:spPr>
          <a:xfrm>
            <a:off x="3241446" y="1939061"/>
            <a:ext cx="2236470" cy="415925"/>
          </a:xfrm>
          <a:custGeom>
            <a:avLst/>
            <a:gdLst/>
            <a:ahLst/>
            <a:cxnLst/>
            <a:rect l="l" t="t" r="r" b="b"/>
            <a:pathLst>
              <a:path w="2236470" h="415925">
                <a:moveTo>
                  <a:pt x="2235911" y="0"/>
                </a:moveTo>
                <a:lnTo>
                  <a:pt x="0" y="0"/>
                </a:lnTo>
                <a:lnTo>
                  <a:pt x="0" y="415874"/>
                </a:lnTo>
                <a:lnTo>
                  <a:pt x="2235911" y="415874"/>
                </a:lnTo>
                <a:lnTo>
                  <a:pt x="2235911" y="0"/>
                </a:lnTo>
                <a:close/>
              </a:path>
            </a:pathLst>
          </a:custGeom>
          <a:solidFill>
            <a:srgbClr val="FFF3EB"/>
          </a:solidFill>
        </p:spPr>
        <p:txBody>
          <a:bodyPr wrap="square" lIns="0" tIns="0" rIns="0" bIns="0" rtlCol="0"/>
          <a:lstStyle/>
          <a:p>
            <a:endParaRPr/>
          </a:p>
        </p:txBody>
      </p:sp>
      <p:sp>
        <p:nvSpPr>
          <p:cNvPr id="11" name="object 11"/>
          <p:cNvSpPr txBox="1"/>
          <p:nvPr/>
        </p:nvSpPr>
        <p:spPr>
          <a:xfrm>
            <a:off x="3241446" y="1939061"/>
            <a:ext cx="2236470" cy="186690"/>
          </a:xfrm>
          <a:prstGeom prst="rect">
            <a:avLst/>
          </a:prstGeom>
          <a:solidFill>
            <a:srgbClr val="FFF3EB"/>
          </a:solidFill>
        </p:spPr>
        <p:txBody>
          <a:bodyPr vert="horz" wrap="square" lIns="0" tIns="26669" rIns="0" bIns="0" rtlCol="0">
            <a:spAutoFit/>
          </a:bodyPr>
          <a:lstStyle/>
          <a:p>
            <a:pPr marL="37465">
              <a:lnSpc>
                <a:spcPct val="100000"/>
              </a:lnSpc>
              <a:spcBef>
                <a:spcPts val="209"/>
              </a:spcBef>
            </a:pPr>
            <a:r>
              <a:rPr sz="1000" dirty="0">
                <a:solidFill>
                  <a:srgbClr val="202429"/>
                </a:solidFill>
                <a:latin typeface="Tahoma"/>
                <a:cs typeface="Tahoma"/>
              </a:rPr>
              <a:t>Some groups were small, so testing</a:t>
            </a:r>
            <a:endParaRPr sz="1000">
              <a:latin typeface="Tahoma"/>
              <a:cs typeface="Tahoma"/>
            </a:endParaRPr>
          </a:p>
        </p:txBody>
      </p:sp>
      <p:sp>
        <p:nvSpPr>
          <p:cNvPr id="12" name="object 12"/>
          <p:cNvSpPr txBox="1"/>
          <p:nvPr/>
        </p:nvSpPr>
        <p:spPr>
          <a:xfrm>
            <a:off x="3241446" y="2125183"/>
            <a:ext cx="2236470" cy="229870"/>
          </a:xfrm>
          <a:prstGeom prst="rect">
            <a:avLst/>
          </a:prstGeom>
          <a:solidFill>
            <a:srgbClr val="FFF3EB"/>
          </a:solidFill>
        </p:spPr>
        <p:txBody>
          <a:bodyPr vert="horz" wrap="square" lIns="0" tIns="12065" rIns="0" bIns="0" rtlCol="0">
            <a:spAutoFit/>
          </a:bodyPr>
          <a:lstStyle/>
          <a:p>
            <a:pPr marL="37465">
              <a:lnSpc>
                <a:spcPct val="100000"/>
              </a:lnSpc>
              <a:spcBef>
                <a:spcPts val="95"/>
              </a:spcBef>
            </a:pPr>
            <a:r>
              <a:rPr sz="1000" dirty="0">
                <a:solidFill>
                  <a:srgbClr val="202429"/>
                </a:solidFill>
                <a:latin typeface="Tahoma"/>
                <a:cs typeface="Tahoma"/>
              </a:rPr>
              <a:t>continues as more data arrives.</a:t>
            </a:r>
            <a:endParaRPr sz="1000">
              <a:latin typeface="Tahoma"/>
              <a:cs typeface="Tahoma"/>
            </a:endParaRPr>
          </a:p>
        </p:txBody>
      </p:sp>
      <p:sp>
        <p:nvSpPr>
          <p:cNvPr id="13" name="object 13"/>
          <p:cNvSpPr/>
          <p:nvPr/>
        </p:nvSpPr>
        <p:spPr>
          <a:xfrm>
            <a:off x="3236379" y="1936534"/>
            <a:ext cx="2246630" cy="421005"/>
          </a:xfrm>
          <a:custGeom>
            <a:avLst/>
            <a:gdLst/>
            <a:ahLst/>
            <a:cxnLst/>
            <a:rect l="l" t="t" r="r" b="b"/>
            <a:pathLst>
              <a:path w="2246629" h="421005">
                <a:moveTo>
                  <a:pt x="0" y="0"/>
                </a:moveTo>
                <a:lnTo>
                  <a:pt x="2246033" y="0"/>
                </a:lnTo>
              </a:path>
              <a:path w="2246629" h="421005">
                <a:moveTo>
                  <a:pt x="2527" y="420941"/>
                </a:moveTo>
                <a:lnTo>
                  <a:pt x="2527" y="0"/>
                </a:lnTo>
              </a:path>
              <a:path w="2246629" h="421005">
                <a:moveTo>
                  <a:pt x="2243505" y="420941"/>
                </a:moveTo>
                <a:lnTo>
                  <a:pt x="2243505" y="0"/>
                </a:lnTo>
              </a:path>
              <a:path w="2246629" h="421005">
                <a:moveTo>
                  <a:pt x="0" y="420941"/>
                </a:moveTo>
                <a:lnTo>
                  <a:pt x="2246033" y="420941"/>
                </a:lnTo>
              </a:path>
            </a:pathLst>
          </a:custGeom>
          <a:ln w="5060">
            <a:solidFill>
              <a:srgbClr val="D65F2C"/>
            </a:solidFill>
          </a:ln>
        </p:spPr>
        <p:txBody>
          <a:bodyPr wrap="square" lIns="0" tIns="0" rIns="0" bIns="0" rtlCol="0"/>
          <a:lstStyle/>
          <a:p>
            <a:endParaRPr/>
          </a:p>
        </p:txBody>
      </p:sp>
      <p:sp>
        <p:nvSpPr>
          <p:cNvPr id="14" name="object 14"/>
          <p:cNvSpPr txBox="1"/>
          <p:nvPr/>
        </p:nvSpPr>
        <p:spPr>
          <a:xfrm>
            <a:off x="3375431" y="2504444"/>
            <a:ext cx="2040889" cy="354965"/>
          </a:xfrm>
          <a:prstGeom prst="rect">
            <a:avLst/>
          </a:prstGeom>
        </p:spPr>
        <p:txBody>
          <a:bodyPr vert="horz" wrap="square" lIns="0" tIns="1905" rIns="0" bIns="0" rtlCol="0">
            <a:spAutoFit/>
          </a:bodyPr>
          <a:lstStyle/>
          <a:p>
            <a:pPr marL="89535" marR="5080" indent="-77470">
              <a:lnSpc>
                <a:spcPts val="1350"/>
              </a:lnSpc>
              <a:spcBef>
                <a:spcPts val="15"/>
              </a:spcBef>
            </a:pPr>
            <a:r>
              <a:rPr sz="1000" dirty="0">
                <a:solidFill>
                  <a:srgbClr val="202429"/>
                </a:solidFill>
                <a:latin typeface="Tahoma"/>
                <a:cs typeface="Tahoma"/>
              </a:rPr>
              <a:t>AI</a:t>
            </a:r>
            <a:r>
              <a:rPr sz="1000" spc="-55" dirty="0">
                <a:solidFill>
                  <a:srgbClr val="202429"/>
                </a:solidFill>
                <a:latin typeface="Tahoma"/>
                <a:cs typeface="Tahoma"/>
              </a:rPr>
              <a:t> </a:t>
            </a:r>
            <a:r>
              <a:rPr sz="1000" spc="-45" dirty="0">
                <a:solidFill>
                  <a:srgbClr val="202429"/>
                </a:solidFill>
                <a:latin typeface="Tahoma"/>
                <a:cs typeface="Tahoma"/>
              </a:rPr>
              <a:t>systems</a:t>
            </a:r>
            <a:r>
              <a:rPr sz="1000" spc="-35" dirty="0">
                <a:solidFill>
                  <a:srgbClr val="202429"/>
                </a:solidFill>
                <a:latin typeface="Tahoma"/>
                <a:cs typeface="Tahoma"/>
              </a:rPr>
              <a:t> </a:t>
            </a:r>
            <a:r>
              <a:rPr sz="1000" spc="-20" dirty="0">
                <a:solidFill>
                  <a:srgbClr val="202429"/>
                </a:solidFill>
                <a:latin typeface="Tahoma"/>
                <a:cs typeface="Tahoma"/>
              </a:rPr>
              <a:t>must</a:t>
            </a:r>
            <a:r>
              <a:rPr sz="1000" spc="-35" dirty="0">
                <a:solidFill>
                  <a:srgbClr val="202429"/>
                </a:solidFill>
                <a:latin typeface="Tahoma"/>
                <a:cs typeface="Tahoma"/>
              </a:rPr>
              <a:t> </a:t>
            </a:r>
            <a:r>
              <a:rPr sz="1000" dirty="0">
                <a:solidFill>
                  <a:srgbClr val="202429"/>
                </a:solidFill>
                <a:latin typeface="Tahoma"/>
                <a:cs typeface="Tahoma"/>
              </a:rPr>
              <a:t>be</a:t>
            </a:r>
            <a:r>
              <a:rPr sz="1000" spc="-35" dirty="0">
                <a:solidFill>
                  <a:srgbClr val="202429"/>
                </a:solidFill>
                <a:latin typeface="Tahoma"/>
                <a:cs typeface="Tahoma"/>
              </a:rPr>
              <a:t> </a:t>
            </a:r>
            <a:r>
              <a:rPr sz="1000" spc="-45" dirty="0">
                <a:solidFill>
                  <a:srgbClr val="202429"/>
                </a:solidFill>
                <a:latin typeface="Tahoma"/>
                <a:cs typeface="Tahoma"/>
              </a:rPr>
              <a:t>tested</a:t>
            </a:r>
            <a:r>
              <a:rPr sz="1000" spc="-35" dirty="0">
                <a:solidFill>
                  <a:srgbClr val="202429"/>
                </a:solidFill>
                <a:latin typeface="Tahoma"/>
                <a:cs typeface="Tahoma"/>
              </a:rPr>
              <a:t> </a:t>
            </a:r>
            <a:r>
              <a:rPr sz="1000" spc="-10" dirty="0">
                <a:solidFill>
                  <a:srgbClr val="202429"/>
                </a:solidFill>
                <a:latin typeface="Tahoma"/>
                <a:cs typeface="Tahoma"/>
              </a:rPr>
              <a:t>for</a:t>
            </a:r>
            <a:r>
              <a:rPr sz="1000" spc="-40" dirty="0">
                <a:solidFill>
                  <a:srgbClr val="202429"/>
                </a:solidFill>
                <a:latin typeface="Tahoma"/>
                <a:cs typeface="Tahoma"/>
              </a:rPr>
              <a:t> fairness across</a:t>
            </a:r>
            <a:r>
              <a:rPr sz="1000" spc="-15" dirty="0">
                <a:solidFill>
                  <a:srgbClr val="202429"/>
                </a:solidFill>
                <a:latin typeface="Tahoma"/>
                <a:cs typeface="Tahoma"/>
              </a:rPr>
              <a:t> </a:t>
            </a:r>
            <a:r>
              <a:rPr sz="1000" spc="-35" dirty="0">
                <a:solidFill>
                  <a:srgbClr val="202429"/>
                </a:solidFill>
                <a:latin typeface="Tahoma"/>
                <a:cs typeface="Tahoma"/>
              </a:rPr>
              <a:t>protected</a:t>
            </a:r>
            <a:r>
              <a:rPr sz="1000" spc="-15" dirty="0">
                <a:solidFill>
                  <a:srgbClr val="202429"/>
                </a:solidFill>
                <a:latin typeface="Tahoma"/>
                <a:cs typeface="Tahoma"/>
              </a:rPr>
              <a:t> </a:t>
            </a:r>
            <a:r>
              <a:rPr sz="1000" spc="-35" dirty="0">
                <a:solidFill>
                  <a:srgbClr val="202429"/>
                </a:solidFill>
                <a:latin typeface="Tahoma"/>
                <a:cs typeface="Tahoma"/>
              </a:rPr>
              <a:t>characteristics.</a:t>
            </a:r>
            <a:r>
              <a:rPr sz="1000" spc="95" dirty="0">
                <a:solidFill>
                  <a:srgbClr val="202429"/>
                </a:solidFill>
                <a:latin typeface="Tahoma"/>
                <a:cs typeface="Tahoma"/>
              </a:rPr>
              <a:t> </a:t>
            </a:r>
            <a:r>
              <a:rPr sz="1200" spc="140" dirty="0">
                <a:solidFill>
                  <a:srgbClr val="202429"/>
                </a:solidFill>
                <a:latin typeface="Adobe Text Pro"/>
                <a:cs typeface="Adobe Text Pro"/>
              </a:rPr>
              <a:t>✓</a:t>
            </a:r>
            <a:endParaRPr sz="1200">
              <a:latin typeface="Adobe Text Pro"/>
              <a:cs typeface="Adobe Text Pro"/>
            </a:endParaRPr>
          </a:p>
        </p:txBody>
      </p:sp>
      <p:sp>
        <p:nvSpPr>
          <p:cNvPr id="15" name="object 15"/>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8" name="Slide Number Placeholder 17">
            <a:extLst>
              <a:ext uri="{FF2B5EF4-FFF2-40B4-BE49-F238E27FC236}">
                <a16:creationId xmlns:a16="http://schemas.microsoft.com/office/drawing/2014/main" id="{7A333FD5-E400-BFD1-2CFA-C249665822B7}"/>
              </a:ext>
            </a:extLst>
          </p:cNvPr>
          <p:cNvSpPr>
            <a:spLocks noGrp="1"/>
          </p:cNvSpPr>
          <p:nvPr>
            <p:ph type="sldNum" sz="quarter" idx="7"/>
          </p:nvPr>
        </p:nvSpPr>
        <p:spPr>
          <a:xfrm>
            <a:off x="5211445" y="3070861"/>
            <a:ext cx="548640" cy="173989"/>
          </a:xfrm>
        </p:spPr>
        <p:txBody>
          <a:bodyPr/>
          <a:lstStyle/>
          <a:p>
            <a:pPr marL="39370">
              <a:lnSpc>
                <a:spcPct val="100000"/>
              </a:lnSpc>
              <a:spcBef>
                <a:spcPts val="219"/>
              </a:spcBef>
            </a:pPr>
            <a:fld id="{81D60167-4931-47E6-BA6A-407CBD079E47}" type="slidenum">
              <a:rPr lang="en-GB" smtClean="0"/>
              <a:t>12</a:t>
            </a:fld>
            <a:r>
              <a:rPr lang="en-GB" spc="20" dirty="0"/>
              <a:t> </a:t>
            </a:r>
            <a:r>
              <a:rPr lang="en-GB" spc="120" dirty="0"/>
              <a:t>/</a:t>
            </a:r>
            <a:r>
              <a:rPr lang="en-GB" spc="25" dirty="0"/>
              <a:t> </a:t>
            </a:r>
            <a:r>
              <a:rPr lang="en-GB" spc="-25" dirty="0"/>
              <a:t>39</a:t>
            </a:r>
          </a:p>
        </p:txBody>
      </p:sp>
      <p:graphicFrame>
        <p:nvGraphicFramePr>
          <p:cNvPr id="19" name="Fairness chart" descr="Bar chart of balanced accuracy by ethnic group: White British 84%, Asian 84%, Black 82%, Mixed 85%, Other White 82%"/>
          <p:cNvGraphicFramePr>
            <a:graphicFrameLocks noGrp="1"/>
          </p:cNvGraphicFramePr>
          <p:nvPr/>
        </p:nvGraphicFramePr>
        <p:xfrm>
          <a:off x="137160" y="1024128"/>
          <a:ext cx="2697480" cy="11430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239657" y="1131437"/>
            <a:ext cx="2433320" cy="511809"/>
          </a:xfrm>
          <a:prstGeom prst="rect">
            <a:avLst/>
          </a:prstGeom>
        </p:spPr>
        <p:txBody>
          <a:bodyPr vert="horz" wrap="square" lIns="0" tIns="17145" rIns="0" bIns="0" rtlCol="0">
            <a:spAutoFit/>
          </a:bodyPr>
          <a:lstStyle/>
          <a:p>
            <a:pPr marL="12700">
              <a:lnSpc>
                <a:spcPct val="100000"/>
              </a:lnSpc>
              <a:spcBef>
                <a:spcPts val="135"/>
              </a:spcBef>
            </a:pPr>
            <a:r>
              <a:rPr sz="3150" b="1" dirty="0">
                <a:solidFill>
                  <a:srgbClr val="202429"/>
                </a:solidFill>
                <a:latin typeface="Arial"/>
                <a:cs typeface="Arial"/>
              </a:rPr>
              <a:t>The</a:t>
            </a:r>
            <a:r>
              <a:rPr sz="3150" b="1" spc="400" dirty="0">
                <a:solidFill>
                  <a:srgbClr val="202429"/>
                </a:solidFill>
                <a:latin typeface="Arial"/>
                <a:cs typeface="Arial"/>
              </a:rPr>
              <a:t> </a:t>
            </a:r>
            <a:r>
              <a:rPr sz="3150" b="1" spc="-130" dirty="0">
                <a:solidFill>
                  <a:srgbClr val="202429"/>
                </a:solidFill>
                <a:latin typeface="Arial"/>
                <a:cs typeface="Arial"/>
              </a:rPr>
              <a:t>Findings</a:t>
            </a:r>
            <a:endParaRPr sz="3150" dirty="0">
              <a:latin typeface="Arial"/>
              <a:cs typeface="Arial"/>
            </a:endParaRPr>
          </a:p>
        </p:txBody>
      </p:sp>
      <p:sp>
        <p:nvSpPr>
          <p:cNvPr id="4" name="object 4"/>
          <p:cNvSpPr/>
          <p:nvPr/>
        </p:nvSpPr>
        <p:spPr>
          <a:xfrm>
            <a:off x="2252357" y="1794738"/>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sp>
        <p:nvSpPr>
          <p:cNvPr id="5" name="object 5"/>
          <p:cNvSpPr txBox="1"/>
          <p:nvPr/>
        </p:nvSpPr>
        <p:spPr>
          <a:xfrm>
            <a:off x="2239657" y="1922599"/>
            <a:ext cx="2797810" cy="207645"/>
          </a:xfrm>
          <a:prstGeom prst="rect">
            <a:avLst/>
          </a:prstGeom>
        </p:spPr>
        <p:txBody>
          <a:bodyPr vert="horz" wrap="square" lIns="0" tIns="12065" rIns="0" bIns="0" rtlCol="0">
            <a:spAutoFit/>
          </a:bodyPr>
          <a:lstStyle/>
          <a:p>
            <a:pPr marL="12700">
              <a:lnSpc>
                <a:spcPct val="100000"/>
              </a:lnSpc>
              <a:spcBef>
                <a:spcPts val="95"/>
              </a:spcBef>
            </a:pPr>
            <a:r>
              <a:rPr sz="1200" spc="-10" dirty="0">
                <a:solidFill>
                  <a:srgbClr val="6C757C"/>
                </a:solidFill>
                <a:latin typeface="Tahoma"/>
                <a:cs typeface="Tahoma"/>
              </a:rPr>
              <a:t>What</a:t>
            </a:r>
            <a:r>
              <a:rPr sz="1200" spc="-55" dirty="0">
                <a:solidFill>
                  <a:srgbClr val="6C757C"/>
                </a:solidFill>
                <a:latin typeface="Tahoma"/>
                <a:cs typeface="Tahoma"/>
              </a:rPr>
              <a:t> </a:t>
            </a:r>
            <a:r>
              <a:rPr sz="1200" spc="-40" dirty="0">
                <a:solidFill>
                  <a:srgbClr val="6C757C"/>
                </a:solidFill>
                <a:latin typeface="Tahoma"/>
                <a:cs typeface="Tahoma"/>
              </a:rPr>
              <a:t>the</a:t>
            </a:r>
            <a:r>
              <a:rPr sz="1200" spc="-35" dirty="0">
                <a:solidFill>
                  <a:srgbClr val="6C757C"/>
                </a:solidFill>
                <a:latin typeface="Tahoma"/>
                <a:cs typeface="Tahoma"/>
              </a:rPr>
              <a:t> </a:t>
            </a:r>
            <a:r>
              <a:rPr sz="1200" dirty="0">
                <a:solidFill>
                  <a:srgbClr val="6C757C"/>
                </a:solidFill>
                <a:latin typeface="Tahoma"/>
                <a:cs typeface="Tahoma"/>
              </a:rPr>
              <a:t>AI</a:t>
            </a:r>
            <a:r>
              <a:rPr sz="1200" spc="-35" dirty="0">
                <a:solidFill>
                  <a:srgbClr val="6C757C"/>
                </a:solidFill>
                <a:latin typeface="Tahoma"/>
                <a:cs typeface="Tahoma"/>
              </a:rPr>
              <a:t> </a:t>
            </a:r>
            <a:r>
              <a:rPr sz="1200" spc="-75" dirty="0">
                <a:solidFill>
                  <a:srgbClr val="6C757C"/>
                </a:solidFill>
                <a:latin typeface="Tahoma"/>
                <a:cs typeface="Tahoma"/>
              </a:rPr>
              <a:t>revealed</a:t>
            </a:r>
            <a:r>
              <a:rPr sz="1200" spc="-15" dirty="0">
                <a:solidFill>
                  <a:srgbClr val="6C757C"/>
                </a:solidFill>
                <a:latin typeface="Tahoma"/>
                <a:cs typeface="Tahoma"/>
              </a:rPr>
              <a:t> </a:t>
            </a:r>
            <a:r>
              <a:rPr sz="1200" spc="-40" dirty="0">
                <a:solidFill>
                  <a:srgbClr val="6C757C"/>
                </a:solidFill>
                <a:latin typeface="Tahoma"/>
                <a:cs typeface="Tahoma"/>
              </a:rPr>
              <a:t>about</a:t>
            </a:r>
            <a:r>
              <a:rPr sz="1200" spc="-35" dirty="0">
                <a:solidFill>
                  <a:srgbClr val="6C757C"/>
                </a:solidFill>
                <a:latin typeface="Tahoma"/>
                <a:cs typeface="Tahoma"/>
              </a:rPr>
              <a:t> </a:t>
            </a:r>
            <a:r>
              <a:rPr sz="1200" spc="-50" dirty="0">
                <a:solidFill>
                  <a:srgbClr val="6C757C"/>
                </a:solidFill>
                <a:latin typeface="Tahoma"/>
                <a:cs typeface="Tahoma"/>
              </a:rPr>
              <a:t>maternity</a:t>
            </a:r>
            <a:r>
              <a:rPr sz="1200" spc="-40" dirty="0">
                <a:solidFill>
                  <a:srgbClr val="6C757C"/>
                </a:solidFill>
                <a:latin typeface="Tahoma"/>
                <a:cs typeface="Tahoma"/>
              </a:rPr>
              <a:t> safety</a:t>
            </a:r>
            <a:endParaRPr sz="1200" dirty="0">
              <a:latin typeface="Tahoma"/>
              <a:cs typeface="Tahoma"/>
            </a:endParaRPr>
          </a:p>
        </p:txBody>
      </p:sp>
      <p:sp>
        <p:nvSpPr>
          <p:cNvPr id="7" name="object 2" descr="$PPTXTitle">
            <a:extLst>
              <a:ext uri="{FF2B5EF4-FFF2-40B4-BE49-F238E27FC236}">
                <a16:creationId xmlns:a16="http://schemas.microsoft.com/office/drawing/2014/main" id="{ACE3018A-3AD2-5BB2-DE98-A1B680F82ED0}"/>
              </a:ext>
            </a:extLst>
          </p:cNvPr>
          <p:cNvSpPr txBox="1">
            <a:spLocks noGrp="1"/>
          </p:cNvSpPr>
          <p:nvPr>
            <p:ph type="title"/>
          </p:nvPr>
        </p:nvSpPr>
        <p:spPr>
          <a:xfrm>
            <a:off x="368300" y="946788"/>
            <a:ext cx="990600" cy="993221"/>
          </a:xfrm>
          <a:prstGeom prst="rect">
            <a:avLst/>
          </a:prstGeom>
        </p:spPr>
        <p:txBody>
          <a:bodyPr vert="horz" wrap="square" lIns="0" tIns="15875" rIns="0" bIns="0" rtlCol="0">
            <a:spAutoFit/>
          </a:bodyPr>
          <a:lstStyle/>
          <a:p>
            <a:pPr marL="12700">
              <a:lnSpc>
                <a:spcPct val="100000"/>
              </a:lnSpc>
              <a:spcBef>
                <a:spcPts val="125"/>
              </a:spcBef>
            </a:pPr>
            <a:r>
              <a:rPr lang="en-GB" sz="6350" spc="-150" dirty="0">
                <a:solidFill>
                  <a:srgbClr val="FFFFFF"/>
                </a:solidFill>
              </a:rPr>
              <a:t>02</a:t>
            </a:r>
            <a:endParaRPr lang="en-GB" sz="6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74801" y="495854"/>
            <a:ext cx="4187190" cy="1395730"/>
          </a:xfrm>
          <a:prstGeom prst="rect">
            <a:avLst/>
          </a:prstGeom>
        </p:spPr>
        <p:txBody>
          <a:bodyPr vert="horz" wrap="square" lIns="0" tIns="43180" rIns="0" bIns="0" rtlCol="0">
            <a:spAutoFit/>
          </a:bodyPr>
          <a:lstStyle/>
          <a:p>
            <a:pPr marL="764540" marR="749935" algn="ctr">
              <a:lnSpc>
                <a:spcPts val="2690"/>
              </a:lnSpc>
              <a:spcBef>
                <a:spcPts val="340"/>
              </a:spcBef>
            </a:pPr>
            <a:r>
              <a:rPr sz="2400" i="1" spc="-10" dirty="0">
                <a:solidFill>
                  <a:srgbClr val="202429"/>
                </a:solidFill>
                <a:latin typeface="Calibri"/>
                <a:cs typeface="Calibri"/>
              </a:rPr>
              <a:t>What</a:t>
            </a:r>
            <a:r>
              <a:rPr sz="2400" i="1" spc="-35" dirty="0">
                <a:solidFill>
                  <a:srgbClr val="202429"/>
                </a:solidFill>
                <a:latin typeface="Calibri"/>
                <a:cs typeface="Calibri"/>
              </a:rPr>
              <a:t> </a:t>
            </a:r>
            <a:r>
              <a:rPr sz="2400" i="1" spc="-55" dirty="0">
                <a:solidFill>
                  <a:srgbClr val="202429"/>
                </a:solidFill>
                <a:latin typeface="Calibri"/>
                <a:cs typeface="Calibri"/>
              </a:rPr>
              <a:t>patterns</a:t>
            </a:r>
            <a:r>
              <a:rPr sz="2400" i="1" spc="-25" dirty="0">
                <a:solidFill>
                  <a:srgbClr val="202429"/>
                </a:solidFill>
                <a:latin typeface="Calibri"/>
                <a:cs typeface="Calibri"/>
              </a:rPr>
              <a:t> </a:t>
            </a:r>
            <a:r>
              <a:rPr sz="2400" i="1" spc="-114" dirty="0">
                <a:solidFill>
                  <a:srgbClr val="202429"/>
                </a:solidFill>
                <a:latin typeface="Calibri"/>
                <a:cs typeface="Calibri"/>
              </a:rPr>
              <a:t>emerge </a:t>
            </a:r>
            <a:r>
              <a:rPr lang="en-GB" sz="2400" i="1" spc="-80" dirty="0">
                <a:solidFill>
                  <a:srgbClr val="202429"/>
                </a:solidFill>
                <a:latin typeface="Calibri"/>
                <a:cs typeface="Calibri"/>
              </a:rPr>
              <a:t>when</a:t>
            </a:r>
            <a:r>
              <a:rPr lang="en-GB" sz="2400" i="1" spc="90" dirty="0">
                <a:solidFill>
                  <a:srgbClr val="202429"/>
                </a:solidFill>
                <a:latin typeface="Calibri"/>
                <a:cs typeface="Calibri"/>
              </a:rPr>
              <a:t> </a:t>
            </a:r>
            <a:r>
              <a:rPr sz="2400" i="1" spc="55" dirty="0">
                <a:solidFill>
                  <a:srgbClr val="202429"/>
                </a:solidFill>
                <a:latin typeface="Calibri"/>
                <a:cs typeface="Calibri"/>
              </a:rPr>
              <a:t>AI</a:t>
            </a:r>
            <a:r>
              <a:rPr sz="2400" i="1" spc="95" dirty="0">
                <a:solidFill>
                  <a:srgbClr val="202429"/>
                </a:solidFill>
                <a:latin typeface="Calibri"/>
                <a:cs typeface="Calibri"/>
              </a:rPr>
              <a:t> </a:t>
            </a:r>
            <a:r>
              <a:rPr sz="2400" i="1" spc="-10" dirty="0">
                <a:solidFill>
                  <a:srgbClr val="202429"/>
                </a:solidFill>
                <a:latin typeface="Calibri"/>
                <a:cs typeface="Calibri"/>
              </a:rPr>
              <a:t>analyses</a:t>
            </a:r>
            <a:endParaRPr sz="2400" dirty="0">
              <a:latin typeface="Calibri"/>
              <a:cs typeface="Calibri"/>
            </a:endParaRPr>
          </a:p>
          <a:p>
            <a:pPr algn="ctr">
              <a:lnSpc>
                <a:spcPts val="2390"/>
              </a:lnSpc>
            </a:pPr>
            <a:r>
              <a:rPr sz="2400" i="1" spc="-60" dirty="0">
                <a:solidFill>
                  <a:srgbClr val="202429"/>
                </a:solidFill>
                <a:latin typeface="Calibri"/>
                <a:cs typeface="Calibri"/>
              </a:rPr>
              <a:t>maternity</a:t>
            </a:r>
            <a:r>
              <a:rPr sz="2400" i="1" spc="5" dirty="0">
                <a:solidFill>
                  <a:srgbClr val="202429"/>
                </a:solidFill>
                <a:latin typeface="Calibri"/>
                <a:cs typeface="Calibri"/>
              </a:rPr>
              <a:t> </a:t>
            </a:r>
            <a:r>
              <a:rPr sz="2400" i="1" spc="-60" dirty="0">
                <a:solidFill>
                  <a:srgbClr val="202429"/>
                </a:solidFill>
                <a:latin typeface="Calibri"/>
                <a:cs typeface="Calibri"/>
              </a:rPr>
              <a:t>investigation</a:t>
            </a:r>
            <a:r>
              <a:rPr sz="2400" i="1" spc="5" dirty="0">
                <a:solidFill>
                  <a:srgbClr val="202429"/>
                </a:solidFill>
                <a:latin typeface="Calibri"/>
                <a:cs typeface="Calibri"/>
              </a:rPr>
              <a:t> </a:t>
            </a:r>
            <a:r>
              <a:rPr sz="2400" i="1" spc="-30" dirty="0">
                <a:solidFill>
                  <a:srgbClr val="202429"/>
                </a:solidFill>
                <a:latin typeface="Calibri"/>
                <a:cs typeface="Calibri"/>
              </a:rPr>
              <a:t>reports</a:t>
            </a:r>
            <a:endParaRPr sz="2400" dirty="0">
              <a:latin typeface="Calibri"/>
              <a:cs typeface="Calibri"/>
            </a:endParaRPr>
          </a:p>
          <a:p>
            <a:pPr algn="ctr">
              <a:lnSpc>
                <a:spcPts val="2785"/>
              </a:lnSpc>
            </a:pPr>
            <a:r>
              <a:rPr sz="2400" i="1" spc="-65" dirty="0">
                <a:solidFill>
                  <a:srgbClr val="202429"/>
                </a:solidFill>
                <a:latin typeface="Calibri"/>
                <a:cs typeface="Calibri"/>
              </a:rPr>
              <a:t>systematically</a:t>
            </a:r>
            <a:r>
              <a:rPr sz="2400" i="1" spc="20" dirty="0">
                <a:solidFill>
                  <a:srgbClr val="202429"/>
                </a:solidFill>
                <a:latin typeface="Calibri"/>
                <a:cs typeface="Calibri"/>
              </a:rPr>
              <a:t> </a:t>
            </a:r>
            <a:r>
              <a:rPr sz="2400" i="1" spc="-35" dirty="0">
                <a:solidFill>
                  <a:srgbClr val="202429"/>
                </a:solidFill>
                <a:latin typeface="Calibri"/>
                <a:cs typeface="Calibri"/>
              </a:rPr>
              <a:t>and</a:t>
            </a:r>
            <a:r>
              <a:rPr sz="2400" i="1" spc="20" dirty="0">
                <a:solidFill>
                  <a:srgbClr val="202429"/>
                </a:solidFill>
                <a:latin typeface="Calibri"/>
                <a:cs typeface="Calibri"/>
              </a:rPr>
              <a:t> </a:t>
            </a:r>
            <a:r>
              <a:rPr sz="2400" i="1" spc="-10" dirty="0">
                <a:solidFill>
                  <a:srgbClr val="202429"/>
                </a:solidFill>
                <a:latin typeface="Calibri"/>
                <a:cs typeface="Calibri"/>
              </a:rPr>
              <a:t>equitably?</a:t>
            </a:r>
            <a:endParaRPr sz="2400" dirty="0">
              <a:latin typeface="Calibri"/>
              <a:cs typeface="Calibri"/>
            </a:endParaRPr>
          </a:p>
        </p:txBody>
      </p:sp>
      <p:sp>
        <p:nvSpPr>
          <p:cNvPr id="3" name="object 3"/>
          <p:cNvSpPr/>
          <p:nvPr/>
        </p:nvSpPr>
        <p:spPr>
          <a:xfrm>
            <a:off x="2430005" y="2188463"/>
            <a:ext cx="900430" cy="0"/>
          </a:xfrm>
          <a:custGeom>
            <a:avLst/>
            <a:gdLst/>
            <a:ahLst/>
            <a:cxnLst/>
            <a:rect l="l" t="t" r="r" b="b"/>
            <a:pathLst>
              <a:path w="900429">
                <a:moveTo>
                  <a:pt x="0" y="0"/>
                </a:moveTo>
                <a:lnTo>
                  <a:pt x="899998" y="0"/>
                </a:lnTo>
              </a:path>
            </a:pathLst>
          </a:custGeom>
          <a:ln w="18978">
            <a:solidFill>
              <a:srgbClr val="005F73"/>
            </a:solidFill>
          </a:ln>
        </p:spPr>
        <p:txBody>
          <a:bodyPr wrap="square" lIns="0" tIns="0" rIns="0" bIns="0" rtlCol="0"/>
          <a:lstStyle/>
          <a:p>
            <a:endParaRPr/>
          </a:p>
        </p:txBody>
      </p:sp>
      <p:sp>
        <p:nvSpPr>
          <p:cNvPr id="4" name="object 4"/>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47294" y="72136"/>
            <a:ext cx="4206240" cy="452120"/>
          </a:xfrm>
          <a:prstGeom prst="rect">
            <a:avLst/>
          </a:prstGeom>
        </p:spPr>
        <p:txBody>
          <a:bodyPr vert="horz" wrap="square" lIns="0" tIns="50165" rIns="0" bIns="0" rtlCol="0">
            <a:spAutoFit/>
          </a:bodyPr>
          <a:lstStyle/>
          <a:p>
            <a:pPr marL="12700">
              <a:lnSpc>
                <a:spcPct val="100000"/>
              </a:lnSpc>
              <a:spcBef>
                <a:spcPts val="395"/>
              </a:spcBef>
            </a:pPr>
            <a:r>
              <a:rPr dirty="0"/>
              <a:t>Human</a:t>
            </a:r>
            <a:r>
              <a:rPr spc="30" dirty="0"/>
              <a:t> </a:t>
            </a:r>
            <a:r>
              <a:rPr spc="-30" dirty="0"/>
              <a:t>Factors</a:t>
            </a:r>
            <a:r>
              <a:rPr spc="35" dirty="0"/>
              <a:t> </a:t>
            </a:r>
            <a:r>
              <a:rPr dirty="0"/>
              <a:t>Distribution</a:t>
            </a:r>
            <a:r>
              <a:rPr spc="30" dirty="0"/>
              <a:t> </a:t>
            </a:r>
            <a:r>
              <a:rPr spc="-70" dirty="0"/>
              <a:t>Across</a:t>
            </a:r>
            <a:r>
              <a:rPr spc="35" dirty="0"/>
              <a:t> </a:t>
            </a:r>
            <a:r>
              <a:rPr spc="-10" dirty="0"/>
              <a:t>Reports</a:t>
            </a:r>
          </a:p>
          <a:p>
            <a:pPr marL="12700">
              <a:lnSpc>
                <a:spcPct val="100000"/>
              </a:lnSpc>
              <a:spcBef>
                <a:spcPts val="180"/>
              </a:spcBef>
            </a:pPr>
            <a:r>
              <a:rPr sz="1000" b="0" spc="-40" dirty="0">
                <a:solidFill>
                  <a:srgbClr val="6C757C"/>
                </a:solidFill>
                <a:latin typeface="Tahoma"/>
                <a:cs typeface="Tahoma"/>
              </a:rPr>
              <a:t>188</a:t>
            </a:r>
            <a:r>
              <a:rPr sz="1000" b="0" spc="-30" dirty="0">
                <a:solidFill>
                  <a:srgbClr val="6C757C"/>
                </a:solidFill>
                <a:latin typeface="Tahoma"/>
                <a:cs typeface="Tahoma"/>
              </a:rPr>
              <a:t> </a:t>
            </a:r>
            <a:r>
              <a:rPr sz="1000" b="0" spc="-35" dirty="0">
                <a:solidFill>
                  <a:srgbClr val="6C757C"/>
                </a:solidFill>
                <a:latin typeface="Tahoma"/>
                <a:cs typeface="Tahoma"/>
              </a:rPr>
              <a:t>reports,</a:t>
            </a:r>
            <a:r>
              <a:rPr sz="1000" b="0" spc="-25" dirty="0">
                <a:solidFill>
                  <a:srgbClr val="6C757C"/>
                </a:solidFill>
                <a:latin typeface="Tahoma"/>
                <a:cs typeface="Tahoma"/>
              </a:rPr>
              <a:t> </a:t>
            </a:r>
            <a:r>
              <a:rPr sz="1000" b="0" spc="-40" dirty="0">
                <a:solidFill>
                  <a:srgbClr val="6C757C"/>
                </a:solidFill>
                <a:latin typeface="Tahoma"/>
                <a:cs typeface="Tahoma"/>
              </a:rPr>
              <a:t>3,122</a:t>
            </a:r>
            <a:r>
              <a:rPr sz="1000" b="0" spc="-25" dirty="0">
                <a:solidFill>
                  <a:srgbClr val="6C757C"/>
                </a:solidFill>
                <a:latin typeface="Tahoma"/>
                <a:cs typeface="Tahoma"/>
              </a:rPr>
              <a:t> </a:t>
            </a:r>
            <a:r>
              <a:rPr sz="1000" b="0" spc="-35" dirty="0">
                <a:solidFill>
                  <a:srgbClr val="6C757C"/>
                </a:solidFill>
                <a:latin typeface="Tahoma"/>
                <a:cs typeface="Tahoma"/>
              </a:rPr>
              <a:t>annotated</a:t>
            </a:r>
            <a:r>
              <a:rPr sz="1000" b="0" spc="-30" dirty="0">
                <a:solidFill>
                  <a:srgbClr val="6C757C"/>
                </a:solidFill>
                <a:latin typeface="Tahoma"/>
                <a:cs typeface="Tahoma"/>
              </a:rPr>
              <a:t> </a:t>
            </a:r>
            <a:r>
              <a:rPr sz="1000" b="0" spc="-10" dirty="0">
                <a:solidFill>
                  <a:srgbClr val="6C757C"/>
                </a:solidFill>
                <a:latin typeface="Tahoma"/>
                <a:cs typeface="Tahoma"/>
              </a:rPr>
              <a:t>sentences</a:t>
            </a:r>
            <a:endParaRPr sz="1000">
              <a:latin typeface="Tahoma"/>
              <a:cs typeface="Tahoma"/>
            </a:endParaRPr>
          </a:p>
        </p:txBody>
      </p:sp>
      <p:grpSp>
        <p:nvGrpSpPr>
          <p:cNvPr id="3" name="object 3"/>
          <p:cNvGrpSpPr/>
          <p:nvPr/>
        </p:nvGrpSpPr>
        <p:grpSpPr>
          <a:xfrm>
            <a:off x="217830" y="611760"/>
            <a:ext cx="3275965" cy="2127250"/>
            <a:chOff x="217830" y="611760"/>
            <a:chExt cx="3275965" cy="2127250"/>
          </a:xfrm>
        </p:grpSpPr>
        <p:sp>
          <p:nvSpPr>
            <p:cNvPr id="4" name="object 4"/>
            <p:cNvSpPr/>
            <p:nvPr/>
          </p:nvSpPr>
          <p:spPr>
            <a:xfrm>
              <a:off x="359994" y="676325"/>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pic>
          <p:nvPicPr>
            <p:cNvPr id="5" name="object 5"/>
            <p:cNvPicPr/>
            <p:nvPr/>
          </p:nvPicPr>
          <p:blipFill>
            <a:blip r:embed="rId3" cstate="print"/>
            <a:stretch>
              <a:fillRect/>
            </a:stretch>
          </p:blipFill>
          <p:spPr>
            <a:xfrm>
              <a:off x="217830" y="611760"/>
              <a:ext cx="3275920" cy="2126651"/>
            </a:xfrm>
            <a:prstGeom prst="rect">
              <a:avLst/>
            </a:prstGeom>
          </p:spPr>
        </p:pic>
      </p:grpSp>
      <p:sp>
        <p:nvSpPr>
          <p:cNvPr id="6" name="object 6"/>
          <p:cNvSpPr/>
          <p:nvPr/>
        </p:nvSpPr>
        <p:spPr>
          <a:xfrm>
            <a:off x="3568700" y="594950"/>
            <a:ext cx="0" cy="2160270"/>
          </a:xfrm>
          <a:custGeom>
            <a:avLst/>
            <a:gdLst/>
            <a:ahLst/>
            <a:cxnLst/>
            <a:rect l="l" t="t" r="r" b="b"/>
            <a:pathLst>
              <a:path h="2160270">
                <a:moveTo>
                  <a:pt x="0" y="2160003"/>
                </a:moveTo>
                <a:lnTo>
                  <a:pt x="0" y="0"/>
                </a:lnTo>
              </a:path>
            </a:pathLst>
          </a:custGeom>
          <a:ln w="6325">
            <a:solidFill>
              <a:srgbClr val="CED3DA"/>
            </a:solidFill>
          </a:ln>
        </p:spPr>
        <p:txBody>
          <a:bodyPr wrap="square" lIns="0" tIns="0" rIns="0" bIns="0" rtlCol="0"/>
          <a:lstStyle/>
          <a:p>
            <a:endParaRPr/>
          </a:p>
        </p:txBody>
      </p:sp>
      <p:sp>
        <p:nvSpPr>
          <p:cNvPr id="7" name="object 7"/>
          <p:cNvSpPr txBox="1"/>
          <p:nvPr/>
        </p:nvSpPr>
        <p:spPr>
          <a:xfrm>
            <a:off x="4017479" y="411353"/>
            <a:ext cx="1484630" cy="866904"/>
          </a:xfrm>
          <a:prstGeom prst="rect">
            <a:avLst/>
          </a:prstGeom>
        </p:spPr>
        <p:txBody>
          <a:bodyPr vert="horz" wrap="square" lIns="0" tIns="12700" rIns="0" bIns="0" rtlCol="0">
            <a:spAutoFit/>
          </a:bodyPr>
          <a:lstStyle/>
          <a:p>
            <a:pPr>
              <a:lnSpc>
                <a:spcPct val="100000"/>
              </a:lnSpc>
              <a:spcBef>
                <a:spcPts val="145"/>
              </a:spcBef>
            </a:pPr>
            <a:endParaRPr sz="800" dirty="0">
              <a:latin typeface="Arial"/>
              <a:cs typeface="Arial"/>
            </a:endParaRPr>
          </a:p>
          <a:p>
            <a:pPr marL="12700">
              <a:lnSpc>
                <a:spcPct val="100000"/>
              </a:lnSpc>
            </a:pPr>
            <a:r>
              <a:rPr sz="1000" b="1" spc="-45" dirty="0">
                <a:solidFill>
                  <a:srgbClr val="D65F2C"/>
                </a:solidFill>
                <a:latin typeface="Arial"/>
                <a:cs typeface="Arial"/>
              </a:rPr>
              <a:t>Adverse</a:t>
            </a:r>
            <a:r>
              <a:rPr sz="1000" b="1" spc="15" dirty="0">
                <a:solidFill>
                  <a:srgbClr val="D65F2C"/>
                </a:solidFill>
                <a:latin typeface="Arial"/>
                <a:cs typeface="Arial"/>
              </a:rPr>
              <a:t> </a:t>
            </a:r>
            <a:r>
              <a:rPr sz="1000" b="1" spc="-10" dirty="0">
                <a:solidFill>
                  <a:srgbClr val="D65F2C"/>
                </a:solidFill>
                <a:latin typeface="Arial"/>
                <a:cs typeface="Arial"/>
              </a:rPr>
              <a:t>Outcomes:</a:t>
            </a:r>
            <a:endParaRPr sz="1000" dirty="0">
              <a:latin typeface="Arial"/>
              <a:cs typeface="Arial"/>
            </a:endParaRPr>
          </a:p>
          <a:p>
            <a:pPr marL="117475" indent="-104775">
              <a:lnSpc>
                <a:spcPct val="100000"/>
              </a:lnSpc>
              <a:spcBef>
                <a:spcPts val="325"/>
              </a:spcBef>
              <a:buClr>
                <a:srgbClr val="005F73"/>
              </a:buClr>
              <a:buFont typeface="Times New Roman"/>
              <a:buChar char="•"/>
              <a:tabLst>
                <a:tab pos="117475" algn="l"/>
              </a:tabLst>
            </a:pPr>
            <a:r>
              <a:rPr sz="1000" spc="-25" dirty="0">
                <a:solidFill>
                  <a:srgbClr val="202429"/>
                </a:solidFill>
                <a:latin typeface="Tahoma"/>
                <a:cs typeface="Tahoma"/>
              </a:rPr>
              <a:t>Therapeutic</a:t>
            </a:r>
            <a:r>
              <a:rPr sz="1000" spc="10" dirty="0">
                <a:solidFill>
                  <a:srgbClr val="202429"/>
                </a:solidFill>
                <a:latin typeface="Tahoma"/>
                <a:cs typeface="Tahoma"/>
              </a:rPr>
              <a:t> </a:t>
            </a:r>
            <a:r>
              <a:rPr sz="1000" spc="-10" dirty="0">
                <a:solidFill>
                  <a:srgbClr val="202429"/>
                </a:solidFill>
                <a:latin typeface="Tahoma"/>
                <a:cs typeface="Tahoma"/>
              </a:rPr>
              <a:t>hypothermia</a:t>
            </a:r>
            <a:endParaRPr sz="1000" dirty="0">
              <a:latin typeface="Tahoma"/>
              <a:cs typeface="Tahoma"/>
            </a:endParaRPr>
          </a:p>
          <a:p>
            <a:pPr marL="117475" indent="-104775">
              <a:lnSpc>
                <a:spcPct val="100000"/>
              </a:lnSpc>
              <a:spcBef>
                <a:spcPts val="195"/>
              </a:spcBef>
              <a:buClr>
                <a:srgbClr val="005F73"/>
              </a:buClr>
              <a:buFont typeface="Times New Roman"/>
              <a:buChar char="•"/>
              <a:tabLst>
                <a:tab pos="117475" algn="l"/>
              </a:tabLst>
            </a:pPr>
            <a:r>
              <a:rPr sz="1000" spc="-10" dirty="0">
                <a:solidFill>
                  <a:srgbClr val="202429"/>
                </a:solidFill>
                <a:latin typeface="Tahoma"/>
                <a:cs typeface="Tahoma"/>
              </a:rPr>
              <a:t>Maternal</a:t>
            </a:r>
            <a:r>
              <a:rPr sz="1000" spc="-60" dirty="0">
                <a:solidFill>
                  <a:srgbClr val="202429"/>
                </a:solidFill>
                <a:latin typeface="Tahoma"/>
                <a:cs typeface="Tahoma"/>
              </a:rPr>
              <a:t> </a:t>
            </a:r>
            <a:r>
              <a:rPr sz="1000" spc="-10" dirty="0">
                <a:solidFill>
                  <a:srgbClr val="202429"/>
                </a:solidFill>
                <a:latin typeface="Tahoma"/>
                <a:cs typeface="Tahoma"/>
              </a:rPr>
              <a:t>death</a:t>
            </a:r>
            <a:endParaRPr sz="1000" dirty="0">
              <a:latin typeface="Tahoma"/>
              <a:cs typeface="Tahoma"/>
            </a:endParaRPr>
          </a:p>
          <a:p>
            <a:pPr marL="117475" indent="-104775">
              <a:lnSpc>
                <a:spcPct val="100000"/>
              </a:lnSpc>
              <a:spcBef>
                <a:spcPts val="355"/>
              </a:spcBef>
              <a:buClr>
                <a:srgbClr val="005F73"/>
              </a:buClr>
              <a:buFont typeface="Times New Roman"/>
              <a:buChar char="•"/>
              <a:tabLst>
                <a:tab pos="117475" algn="l"/>
              </a:tabLst>
            </a:pPr>
            <a:r>
              <a:rPr sz="1000" spc="-10" dirty="0">
                <a:solidFill>
                  <a:srgbClr val="202429"/>
                </a:solidFill>
                <a:latin typeface="Tahoma"/>
                <a:cs typeface="Tahoma"/>
              </a:rPr>
              <a:t>Stillbirth</a:t>
            </a:r>
            <a:endParaRPr sz="1000" dirty="0">
              <a:latin typeface="Tahoma"/>
              <a:cs typeface="Tahoma"/>
            </a:endParaRPr>
          </a:p>
        </p:txBody>
      </p:sp>
      <p:sp>
        <p:nvSpPr>
          <p:cNvPr id="8" name="object 8"/>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2" name="TextBox 11">
            <a:extLst>
              <a:ext uri="{FF2B5EF4-FFF2-40B4-BE49-F238E27FC236}">
                <a16:creationId xmlns:a16="http://schemas.microsoft.com/office/drawing/2014/main" id="{AC1614B2-F6C9-B256-B026-468A8F33161C}"/>
              </a:ext>
            </a:extLst>
          </p:cNvPr>
          <p:cNvSpPr txBox="1"/>
          <p:nvPr/>
        </p:nvSpPr>
        <p:spPr>
          <a:xfrm>
            <a:off x="3550285" y="1583065"/>
            <a:ext cx="2209800" cy="461665"/>
          </a:xfrm>
          <a:prstGeom prst="rect">
            <a:avLst/>
          </a:prstGeom>
          <a:noFill/>
        </p:spPr>
        <p:txBody>
          <a:bodyPr wrap="square">
            <a:spAutoFit/>
          </a:bodyPr>
          <a:lstStyle/>
          <a:p>
            <a:pPr>
              <a:buNone/>
            </a:pPr>
            <a:r>
              <a:rPr lang="en-GB" sz="600" dirty="0"/>
              <a:t>The three green bars highlight the most common factors:</a:t>
            </a:r>
          </a:p>
          <a:p>
            <a:pPr marL="171450" indent="-171450">
              <a:buFont typeface="Arial" panose="020B0604020202020204" pitchFamily="34" charset="0"/>
              <a:buChar char="•"/>
            </a:pPr>
            <a:r>
              <a:rPr lang="en-GB" sz="600" b="1" dirty="0"/>
              <a:t>Communication</a:t>
            </a:r>
            <a:r>
              <a:rPr lang="en-GB" sz="600" dirty="0"/>
              <a:t>: 159 reports</a:t>
            </a:r>
          </a:p>
          <a:p>
            <a:pPr marL="171450" indent="-171450">
              <a:buFont typeface="Arial" panose="020B0604020202020204" pitchFamily="34" charset="0"/>
              <a:buChar char="•"/>
            </a:pPr>
            <a:r>
              <a:rPr lang="en-GB" sz="600" b="1" dirty="0"/>
              <a:t>Teamworking</a:t>
            </a:r>
            <a:r>
              <a:rPr lang="en-GB" sz="600" dirty="0"/>
              <a:t>: 155 reports</a:t>
            </a:r>
          </a:p>
          <a:p>
            <a:pPr marL="171450" indent="-171450">
              <a:buFont typeface="Arial" panose="020B0604020202020204" pitchFamily="34" charset="0"/>
              <a:buChar char="•"/>
            </a:pPr>
            <a:r>
              <a:rPr lang="en-GB" sz="600" b="1" dirty="0"/>
              <a:t>Assessment/investigation/screening</a:t>
            </a:r>
            <a:r>
              <a:rPr lang="en-GB" sz="600" dirty="0"/>
              <a:t>: 150 reports</a:t>
            </a:r>
          </a:p>
        </p:txBody>
      </p:sp>
      <p:sp>
        <p:nvSpPr>
          <p:cNvPr id="13" name="Rectangle 1">
            <a:extLst>
              <a:ext uri="{FF2B5EF4-FFF2-40B4-BE49-F238E27FC236}">
                <a16:creationId xmlns:a16="http://schemas.microsoft.com/office/drawing/2014/main" id="{C8994933-CB50-7D53-3646-FCC7F8D31616}"/>
              </a:ext>
            </a:extLst>
          </p:cNvPr>
          <p:cNvSpPr>
            <a:spLocks noChangeArrowheads="1"/>
          </p:cNvSpPr>
          <p:nvPr/>
        </p:nvSpPr>
        <p:spPr bwMode="auto">
          <a:xfrm>
            <a:off x="139700" y="2811946"/>
            <a:ext cx="535114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00" b="0" i="0" u="none" strike="noStrike" cap="none" normalizeH="0" baseline="0" dirty="0">
                <a:ln>
                  <a:noFill/>
                </a:ln>
                <a:solidFill>
                  <a:schemeClr val="bg1">
                    <a:lumMod val="50000"/>
                  </a:schemeClr>
                </a:solidFill>
                <a:effectLst/>
                <a:latin typeface="Arial" panose="020B0604020202020204" pitchFamily="34" charset="0"/>
              </a:rPr>
              <a:t>Each bar shows the number of reports where that human factor appeared, e.g. Communication appeared in 159 out of 188 reports.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700" b="0" i="0" u="none" strike="noStrike" cap="none" normalizeH="0" baseline="0" dirty="0">
              <a:ln>
                <a:noFill/>
              </a:ln>
              <a:solidFill>
                <a:schemeClr val="bg1">
                  <a:lumMod val="50000"/>
                </a:schemeClr>
              </a:solidFill>
              <a:effectLst/>
              <a:latin typeface="Arial" panose="020B0604020202020204" pitchFamily="34" charset="0"/>
            </a:endParaRPr>
          </a:p>
        </p:txBody>
      </p:sp>
      <p:sp>
        <p:nvSpPr>
          <p:cNvPr id="14" name="Slide Number Placeholder 13">
            <a:extLst>
              <a:ext uri="{FF2B5EF4-FFF2-40B4-BE49-F238E27FC236}">
                <a16:creationId xmlns:a16="http://schemas.microsoft.com/office/drawing/2014/main" id="{12BD684F-9668-A46C-F31C-335E722DA9E0}"/>
              </a:ext>
            </a:extLst>
          </p:cNvPr>
          <p:cNvSpPr>
            <a:spLocks noGrp="1"/>
          </p:cNvSpPr>
          <p:nvPr>
            <p:ph type="sldNum" sz="quarter" idx="7"/>
          </p:nvPr>
        </p:nvSpPr>
        <p:spPr>
          <a:xfrm>
            <a:off x="5217160" y="3060028"/>
            <a:ext cx="548640" cy="173989"/>
          </a:xfrm>
        </p:spPr>
        <p:txBody>
          <a:bodyPr/>
          <a:lstStyle/>
          <a:p>
            <a:pPr marL="39370">
              <a:lnSpc>
                <a:spcPct val="100000"/>
              </a:lnSpc>
              <a:spcBef>
                <a:spcPts val="219"/>
              </a:spcBef>
            </a:pPr>
            <a:fld id="{81D60167-4931-47E6-BA6A-407CBD079E47}" type="slidenum">
              <a:rPr lang="en-GB" smtClean="0"/>
              <a:t>15</a:t>
            </a:fld>
            <a:r>
              <a:rPr lang="en-GB" spc="20" dirty="0"/>
              <a:t> </a:t>
            </a:r>
            <a:r>
              <a:rPr lang="en-GB" spc="120" dirty="0"/>
              <a:t>/</a:t>
            </a:r>
            <a:r>
              <a:rPr lang="en-GB" spc="25" dirty="0"/>
              <a:t> </a:t>
            </a:r>
            <a:r>
              <a:rPr lang="en-GB" spc="-25" dirty="0"/>
              <a:t>39</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60908" y="304302"/>
            <a:ext cx="1328420" cy="244475"/>
          </a:xfrm>
          <a:prstGeom prst="rect">
            <a:avLst/>
          </a:prstGeom>
        </p:spPr>
        <p:txBody>
          <a:bodyPr vert="horz" wrap="square" lIns="0" tIns="17145" rIns="0" bIns="0" rtlCol="0">
            <a:spAutoFit/>
          </a:bodyPr>
          <a:lstStyle/>
          <a:p>
            <a:pPr marL="12700">
              <a:lnSpc>
                <a:spcPct val="100000"/>
              </a:lnSpc>
              <a:spcBef>
                <a:spcPts val="135"/>
              </a:spcBef>
            </a:pPr>
            <a:r>
              <a:rPr spc="-25" dirty="0">
                <a:solidFill>
                  <a:srgbClr val="005F73"/>
                </a:solidFill>
              </a:rPr>
              <a:t>Communication</a:t>
            </a:r>
          </a:p>
        </p:txBody>
      </p:sp>
      <p:pic>
        <p:nvPicPr>
          <p:cNvPr id="3" name="object 3"/>
          <p:cNvPicPr/>
          <p:nvPr/>
        </p:nvPicPr>
        <p:blipFill>
          <a:blip r:embed="rId3" cstate="print"/>
          <a:stretch>
            <a:fillRect/>
          </a:stretch>
        </p:blipFill>
        <p:spPr>
          <a:xfrm>
            <a:off x="3067215" y="594212"/>
            <a:ext cx="1919975" cy="2159972"/>
          </a:xfrm>
          <a:prstGeom prst="rect">
            <a:avLst/>
          </a:prstGeom>
        </p:spPr>
      </p:pic>
      <p:sp>
        <p:nvSpPr>
          <p:cNvPr id="4" name="object 4"/>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5" name="object 5"/>
          <p:cNvSpPr txBox="1"/>
          <p:nvPr/>
        </p:nvSpPr>
        <p:spPr>
          <a:xfrm>
            <a:off x="70497" y="617585"/>
            <a:ext cx="2629535" cy="2415405"/>
          </a:xfrm>
          <a:prstGeom prst="rect">
            <a:avLst/>
          </a:prstGeom>
        </p:spPr>
        <p:txBody>
          <a:bodyPr vert="horz" wrap="square" lIns="0" tIns="27305" rIns="0" bIns="0" rtlCol="0">
            <a:spAutoFit/>
          </a:bodyPr>
          <a:lstStyle/>
          <a:p>
            <a:pPr marL="202565" marR="29845">
              <a:lnSpc>
                <a:spcPts val="1350"/>
              </a:lnSpc>
              <a:spcBef>
                <a:spcPts val="215"/>
              </a:spcBef>
            </a:pPr>
            <a:r>
              <a:rPr sz="1100" dirty="0">
                <a:solidFill>
                  <a:srgbClr val="202429"/>
                </a:solidFill>
                <a:latin typeface="Tahoma"/>
                <a:cs typeface="Tahoma"/>
              </a:rPr>
              <a:t>Not</a:t>
            </a:r>
            <a:r>
              <a:rPr sz="1100" spc="-25" dirty="0">
                <a:solidFill>
                  <a:srgbClr val="202429"/>
                </a:solidFill>
                <a:latin typeface="Tahoma"/>
                <a:cs typeface="Tahoma"/>
              </a:rPr>
              <a:t> </a:t>
            </a:r>
            <a:r>
              <a:rPr sz="1100" spc="-50" dirty="0">
                <a:solidFill>
                  <a:srgbClr val="202429"/>
                </a:solidFill>
                <a:latin typeface="Tahoma"/>
                <a:cs typeface="Tahoma"/>
              </a:rPr>
              <a:t>listen</a:t>
            </a:r>
            <a:r>
              <a:rPr lang="en-GB" sz="1100" spc="-50" dirty="0">
                <a:solidFill>
                  <a:srgbClr val="202429"/>
                </a:solidFill>
                <a:latin typeface="Tahoma"/>
                <a:cs typeface="Tahoma"/>
              </a:rPr>
              <a:t>ed</a:t>
            </a:r>
            <a:r>
              <a:rPr sz="1100" spc="-25" dirty="0">
                <a:solidFill>
                  <a:srgbClr val="202429"/>
                </a:solidFill>
                <a:latin typeface="Tahoma"/>
                <a:cs typeface="Tahoma"/>
              </a:rPr>
              <a:t> </a:t>
            </a:r>
            <a:r>
              <a:rPr sz="1100" dirty="0">
                <a:solidFill>
                  <a:srgbClr val="202429"/>
                </a:solidFill>
                <a:latin typeface="Tahoma"/>
                <a:cs typeface="Tahoma"/>
              </a:rPr>
              <a:t>to,</a:t>
            </a:r>
            <a:r>
              <a:rPr sz="1100" spc="-20" dirty="0">
                <a:solidFill>
                  <a:srgbClr val="202429"/>
                </a:solidFill>
                <a:latin typeface="Tahoma"/>
                <a:cs typeface="Tahoma"/>
              </a:rPr>
              <a:t> </a:t>
            </a:r>
            <a:r>
              <a:rPr sz="1100" spc="-70" dirty="0">
                <a:solidFill>
                  <a:srgbClr val="202429"/>
                </a:solidFill>
                <a:latin typeface="Tahoma"/>
                <a:cs typeface="Tahoma"/>
              </a:rPr>
              <a:t>dismissing</a:t>
            </a:r>
            <a:r>
              <a:rPr sz="1100" spc="-25" dirty="0">
                <a:solidFill>
                  <a:srgbClr val="202429"/>
                </a:solidFill>
                <a:latin typeface="Tahoma"/>
                <a:cs typeface="Tahoma"/>
              </a:rPr>
              <a:t> </a:t>
            </a:r>
            <a:r>
              <a:rPr sz="1100" spc="-40" dirty="0">
                <a:solidFill>
                  <a:srgbClr val="202429"/>
                </a:solidFill>
                <a:latin typeface="Tahoma"/>
                <a:cs typeface="Tahoma"/>
              </a:rPr>
              <a:t>or</a:t>
            </a:r>
            <a:r>
              <a:rPr sz="1100" spc="-25" dirty="0">
                <a:solidFill>
                  <a:srgbClr val="202429"/>
                </a:solidFill>
                <a:latin typeface="Tahoma"/>
                <a:cs typeface="Tahoma"/>
              </a:rPr>
              <a:t> </a:t>
            </a:r>
            <a:r>
              <a:rPr sz="1100" spc="-40" dirty="0">
                <a:solidFill>
                  <a:srgbClr val="202429"/>
                </a:solidFill>
                <a:latin typeface="Tahoma"/>
                <a:cs typeface="Tahoma"/>
              </a:rPr>
              <a:t>ignoring </a:t>
            </a:r>
            <a:r>
              <a:rPr sz="1100" spc="-75" dirty="0">
                <a:solidFill>
                  <a:srgbClr val="202429"/>
                </a:solidFill>
                <a:latin typeface="Tahoma"/>
                <a:cs typeface="Tahoma"/>
              </a:rPr>
              <a:t>women’s</a:t>
            </a:r>
            <a:r>
              <a:rPr sz="1100" spc="10" dirty="0">
                <a:solidFill>
                  <a:srgbClr val="202429"/>
                </a:solidFill>
                <a:latin typeface="Tahoma"/>
                <a:cs typeface="Tahoma"/>
              </a:rPr>
              <a:t> </a:t>
            </a:r>
            <a:r>
              <a:rPr sz="1100" spc="-60" dirty="0">
                <a:solidFill>
                  <a:srgbClr val="202429"/>
                </a:solidFill>
                <a:latin typeface="Tahoma"/>
                <a:cs typeface="Tahoma"/>
              </a:rPr>
              <a:t>concerns,</a:t>
            </a:r>
            <a:r>
              <a:rPr sz="1100" spc="10" dirty="0">
                <a:solidFill>
                  <a:srgbClr val="202429"/>
                </a:solidFill>
                <a:latin typeface="Tahoma"/>
                <a:cs typeface="Tahoma"/>
              </a:rPr>
              <a:t> </a:t>
            </a:r>
            <a:r>
              <a:rPr sz="1100" spc="-80" dirty="0">
                <a:solidFill>
                  <a:srgbClr val="202429"/>
                </a:solidFill>
                <a:latin typeface="Tahoma"/>
                <a:cs typeface="Tahoma"/>
              </a:rPr>
              <a:t>preferences</a:t>
            </a:r>
            <a:r>
              <a:rPr sz="1100" spc="10" dirty="0">
                <a:solidFill>
                  <a:srgbClr val="202429"/>
                </a:solidFill>
                <a:latin typeface="Tahoma"/>
                <a:cs typeface="Tahoma"/>
              </a:rPr>
              <a:t> </a:t>
            </a:r>
            <a:r>
              <a:rPr sz="1100" spc="-25" dirty="0">
                <a:solidFill>
                  <a:srgbClr val="202429"/>
                </a:solidFill>
                <a:latin typeface="Tahoma"/>
                <a:cs typeface="Tahoma"/>
              </a:rPr>
              <a:t>and</a:t>
            </a:r>
            <a:endParaRPr sz="1200" dirty="0">
              <a:latin typeface="Tahoma"/>
              <a:cs typeface="Tahoma"/>
            </a:endParaRPr>
          </a:p>
          <a:p>
            <a:pPr marL="202565">
              <a:lnSpc>
                <a:spcPts val="1330"/>
              </a:lnSpc>
            </a:pPr>
            <a:r>
              <a:rPr sz="1100" spc="-10" dirty="0">
                <a:solidFill>
                  <a:srgbClr val="202429"/>
                </a:solidFill>
                <a:latin typeface="Tahoma"/>
                <a:cs typeface="Tahoma"/>
              </a:rPr>
              <a:t>requests</a:t>
            </a:r>
            <a:endParaRPr sz="1200" dirty="0">
              <a:latin typeface="Tahoma"/>
              <a:cs typeface="Tahoma"/>
            </a:endParaRPr>
          </a:p>
          <a:p>
            <a:pPr marL="202565" marR="5080">
              <a:lnSpc>
                <a:spcPts val="1350"/>
              </a:lnSpc>
              <a:spcBef>
                <a:spcPts val="905"/>
              </a:spcBef>
            </a:pPr>
            <a:r>
              <a:rPr sz="1100" dirty="0">
                <a:solidFill>
                  <a:srgbClr val="202429"/>
                </a:solidFill>
                <a:latin typeface="Tahoma"/>
                <a:cs typeface="Tahoma"/>
              </a:rPr>
              <a:t>Not</a:t>
            </a:r>
            <a:r>
              <a:rPr sz="1100" spc="-5" dirty="0">
                <a:solidFill>
                  <a:srgbClr val="202429"/>
                </a:solidFill>
                <a:latin typeface="Tahoma"/>
                <a:cs typeface="Tahoma"/>
              </a:rPr>
              <a:t> </a:t>
            </a:r>
            <a:r>
              <a:rPr sz="1100" spc="-60" dirty="0">
                <a:solidFill>
                  <a:srgbClr val="202429"/>
                </a:solidFill>
                <a:latin typeface="Tahoma"/>
                <a:cs typeface="Tahoma"/>
              </a:rPr>
              <a:t>providing</a:t>
            </a:r>
            <a:r>
              <a:rPr sz="1100" spc="-5" dirty="0">
                <a:solidFill>
                  <a:srgbClr val="202429"/>
                </a:solidFill>
                <a:latin typeface="Tahoma"/>
                <a:cs typeface="Tahoma"/>
              </a:rPr>
              <a:t> </a:t>
            </a:r>
            <a:r>
              <a:rPr sz="1100" spc="-60" dirty="0">
                <a:solidFill>
                  <a:srgbClr val="202429"/>
                </a:solidFill>
                <a:latin typeface="Tahoma"/>
                <a:cs typeface="Tahoma"/>
              </a:rPr>
              <a:t>suﬃcient</a:t>
            </a:r>
            <a:r>
              <a:rPr sz="1100" dirty="0">
                <a:solidFill>
                  <a:srgbClr val="202429"/>
                </a:solidFill>
                <a:latin typeface="Tahoma"/>
                <a:cs typeface="Tahoma"/>
              </a:rPr>
              <a:t> </a:t>
            </a:r>
            <a:r>
              <a:rPr sz="1100" spc="-50" dirty="0">
                <a:solidFill>
                  <a:srgbClr val="202429"/>
                </a:solidFill>
                <a:latin typeface="Tahoma"/>
                <a:cs typeface="Tahoma"/>
              </a:rPr>
              <a:t>information</a:t>
            </a:r>
            <a:r>
              <a:rPr sz="1100" dirty="0">
                <a:solidFill>
                  <a:srgbClr val="202429"/>
                </a:solidFill>
                <a:latin typeface="Tahoma"/>
                <a:cs typeface="Tahoma"/>
              </a:rPr>
              <a:t> </a:t>
            </a:r>
            <a:r>
              <a:rPr sz="1100" spc="-25" dirty="0">
                <a:solidFill>
                  <a:srgbClr val="202429"/>
                </a:solidFill>
                <a:latin typeface="Tahoma"/>
                <a:cs typeface="Tahoma"/>
              </a:rPr>
              <a:t>for </a:t>
            </a:r>
            <a:r>
              <a:rPr sz="1100" spc="-65" dirty="0">
                <a:solidFill>
                  <a:srgbClr val="202429"/>
                </a:solidFill>
                <a:latin typeface="Tahoma"/>
                <a:cs typeface="Tahoma"/>
              </a:rPr>
              <a:t>informed</a:t>
            </a:r>
            <a:r>
              <a:rPr sz="1100" spc="-25" dirty="0">
                <a:solidFill>
                  <a:srgbClr val="202429"/>
                </a:solidFill>
                <a:latin typeface="Tahoma"/>
                <a:cs typeface="Tahoma"/>
              </a:rPr>
              <a:t> </a:t>
            </a:r>
            <a:r>
              <a:rPr sz="1100" spc="-10" dirty="0">
                <a:solidFill>
                  <a:srgbClr val="202429"/>
                </a:solidFill>
                <a:latin typeface="Tahoma"/>
                <a:cs typeface="Tahoma"/>
              </a:rPr>
              <a:t>decisions</a:t>
            </a:r>
            <a:endParaRPr sz="1200" dirty="0">
              <a:latin typeface="Tahoma"/>
              <a:cs typeface="Tahoma"/>
            </a:endParaRPr>
          </a:p>
          <a:p>
            <a:pPr marL="202565">
              <a:lnSpc>
                <a:spcPct val="100000"/>
              </a:lnSpc>
              <a:spcBef>
                <a:spcPts val="765"/>
              </a:spcBef>
            </a:pPr>
            <a:r>
              <a:rPr sz="1100" spc="-35" dirty="0">
                <a:solidFill>
                  <a:srgbClr val="202429"/>
                </a:solidFill>
                <a:latin typeface="Tahoma"/>
                <a:cs typeface="Tahoma"/>
              </a:rPr>
              <a:t>Conﬂicting </a:t>
            </a:r>
            <a:r>
              <a:rPr sz="1100" spc="-50" dirty="0">
                <a:solidFill>
                  <a:srgbClr val="202429"/>
                </a:solidFill>
                <a:latin typeface="Tahoma"/>
                <a:cs typeface="Tahoma"/>
              </a:rPr>
              <a:t>recollections</a:t>
            </a:r>
            <a:r>
              <a:rPr sz="1100" spc="-30" dirty="0">
                <a:solidFill>
                  <a:srgbClr val="202429"/>
                </a:solidFill>
                <a:latin typeface="Tahoma"/>
                <a:cs typeface="Tahoma"/>
              </a:rPr>
              <a:t> </a:t>
            </a:r>
            <a:r>
              <a:rPr sz="1100" dirty="0">
                <a:solidFill>
                  <a:srgbClr val="202429"/>
                </a:solidFill>
                <a:latin typeface="Tahoma"/>
                <a:cs typeface="Tahoma"/>
              </a:rPr>
              <a:t>of</a:t>
            </a:r>
            <a:r>
              <a:rPr sz="1100" spc="-35" dirty="0">
                <a:solidFill>
                  <a:srgbClr val="202429"/>
                </a:solidFill>
                <a:latin typeface="Tahoma"/>
                <a:cs typeface="Tahoma"/>
              </a:rPr>
              <a:t> </a:t>
            </a:r>
            <a:r>
              <a:rPr sz="1100" spc="-10" dirty="0">
                <a:solidFill>
                  <a:srgbClr val="202429"/>
                </a:solidFill>
                <a:latin typeface="Tahoma"/>
                <a:cs typeface="Tahoma"/>
              </a:rPr>
              <a:t>discussions</a:t>
            </a:r>
            <a:endParaRPr sz="1200" dirty="0">
              <a:latin typeface="Tahoma"/>
              <a:cs typeface="Tahoma"/>
            </a:endParaRPr>
          </a:p>
          <a:p>
            <a:pPr marL="202565" marR="278765">
              <a:lnSpc>
                <a:spcPts val="1350"/>
              </a:lnSpc>
              <a:spcBef>
                <a:spcPts val="905"/>
              </a:spcBef>
            </a:pPr>
            <a:r>
              <a:rPr sz="1100" spc="-30" dirty="0">
                <a:solidFill>
                  <a:srgbClr val="202429"/>
                </a:solidFill>
                <a:latin typeface="Tahoma"/>
                <a:cs typeface="Tahoma"/>
              </a:rPr>
              <a:t>Problematic</a:t>
            </a:r>
            <a:r>
              <a:rPr sz="1100" spc="-20" dirty="0">
                <a:solidFill>
                  <a:srgbClr val="202429"/>
                </a:solidFill>
                <a:latin typeface="Tahoma"/>
                <a:cs typeface="Tahoma"/>
              </a:rPr>
              <a:t> </a:t>
            </a:r>
            <a:r>
              <a:rPr sz="1100" spc="-40" dirty="0">
                <a:solidFill>
                  <a:srgbClr val="202429"/>
                </a:solidFill>
                <a:latin typeface="Tahoma"/>
                <a:cs typeface="Tahoma"/>
              </a:rPr>
              <a:t>staﬀ</a:t>
            </a:r>
            <a:r>
              <a:rPr sz="1100" spc="-20" dirty="0">
                <a:solidFill>
                  <a:srgbClr val="202429"/>
                </a:solidFill>
                <a:latin typeface="Tahoma"/>
                <a:cs typeface="Tahoma"/>
              </a:rPr>
              <a:t> </a:t>
            </a:r>
            <a:r>
              <a:rPr sz="1100" spc="-45" dirty="0">
                <a:solidFill>
                  <a:srgbClr val="202429"/>
                </a:solidFill>
                <a:latin typeface="Tahoma"/>
                <a:cs typeface="Tahoma"/>
              </a:rPr>
              <a:t>interactions</a:t>
            </a:r>
            <a:r>
              <a:rPr sz="1100" spc="-20" dirty="0">
                <a:solidFill>
                  <a:srgbClr val="202429"/>
                </a:solidFill>
                <a:latin typeface="Tahoma"/>
                <a:cs typeface="Tahoma"/>
              </a:rPr>
              <a:t> </a:t>
            </a:r>
            <a:r>
              <a:rPr sz="1100" spc="-30" dirty="0">
                <a:solidFill>
                  <a:srgbClr val="202429"/>
                </a:solidFill>
                <a:latin typeface="Tahoma"/>
                <a:cs typeface="Tahoma"/>
              </a:rPr>
              <a:t>with </a:t>
            </a:r>
            <a:r>
              <a:rPr sz="1100" spc="-100" dirty="0">
                <a:solidFill>
                  <a:srgbClr val="202429"/>
                </a:solidFill>
                <a:latin typeface="Tahoma"/>
                <a:cs typeface="Tahoma"/>
              </a:rPr>
              <a:t>women</a:t>
            </a:r>
            <a:r>
              <a:rPr sz="1100" spc="5" dirty="0">
                <a:solidFill>
                  <a:srgbClr val="202429"/>
                </a:solidFill>
                <a:latin typeface="Tahoma"/>
                <a:cs typeface="Tahoma"/>
              </a:rPr>
              <a:t> </a:t>
            </a:r>
            <a:r>
              <a:rPr sz="1100" spc="-55" dirty="0">
                <a:solidFill>
                  <a:srgbClr val="202429"/>
                </a:solidFill>
                <a:latin typeface="Tahoma"/>
                <a:cs typeface="Tahoma"/>
              </a:rPr>
              <a:t>and</a:t>
            </a:r>
            <a:r>
              <a:rPr sz="1100" spc="-40" dirty="0">
                <a:solidFill>
                  <a:srgbClr val="202429"/>
                </a:solidFill>
                <a:latin typeface="Tahoma"/>
                <a:cs typeface="Tahoma"/>
              </a:rPr>
              <a:t> </a:t>
            </a:r>
            <a:r>
              <a:rPr sz="1100" spc="-35" dirty="0">
                <a:solidFill>
                  <a:srgbClr val="202429"/>
                </a:solidFill>
                <a:latin typeface="Tahoma"/>
                <a:cs typeface="Tahoma"/>
              </a:rPr>
              <a:t>their</a:t>
            </a:r>
            <a:r>
              <a:rPr sz="1100" spc="-30" dirty="0">
                <a:solidFill>
                  <a:srgbClr val="202429"/>
                </a:solidFill>
                <a:latin typeface="Tahoma"/>
                <a:cs typeface="Tahoma"/>
              </a:rPr>
              <a:t> </a:t>
            </a:r>
            <a:r>
              <a:rPr sz="1100" spc="-10" dirty="0">
                <a:solidFill>
                  <a:srgbClr val="202429"/>
                </a:solidFill>
                <a:latin typeface="Tahoma"/>
                <a:cs typeface="Tahoma"/>
              </a:rPr>
              <a:t>families</a:t>
            </a:r>
            <a:endParaRPr sz="1200" dirty="0">
              <a:latin typeface="Tahoma"/>
              <a:cs typeface="Tahoma"/>
            </a:endParaRPr>
          </a:p>
          <a:p>
            <a:pPr marL="202565" marR="94615">
              <a:lnSpc>
                <a:spcPts val="1350"/>
              </a:lnSpc>
              <a:spcBef>
                <a:spcPts val="885"/>
              </a:spcBef>
            </a:pPr>
            <a:r>
              <a:rPr sz="1100" dirty="0">
                <a:solidFill>
                  <a:srgbClr val="202429"/>
                </a:solidFill>
                <a:latin typeface="Tahoma"/>
                <a:cs typeface="Tahoma"/>
              </a:rPr>
              <a:t>Lack</a:t>
            </a:r>
            <a:r>
              <a:rPr sz="1100" spc="-50" dirty="0">
                <a:solidFill>
                  <a:srgbClr val="202429"/>
                </a:solidFill>
                <a:latin typeface="Tahoma"/>
                <a:cs typeface="Tahoma"/>
              </a:rPr>
              <a:t> </a:t>
            </a:r>
            <a:r>
              <a:rPr sz="1100" dirty="0">
                <a:solidFill>
                  <a:srgbClr val="202429"/>
                </a:solidFill>
                <a:latin typeface="Tahoma"/>
                <a:cs typeface="Tahoma"/>
              </a:rPr>
              <a:t>of</a:t>
            </a:r>
            <a:r>
              <a:rPr sz="1100" spc="-35" dirty="0">
                <a:solidFill>
                  <a:srgbClr val="202429"/>
                </a:solidFill>
                <a:latin typeface="Tahoma"/>
                <a:cs typeface="Tahoma"/>
              </a:rPr>
              <a:t> </a:t>
            </a:r>
            <a:r>
              <a:rPr sz="1100" spc="-40" dirty="0">
                <a:solidFill>
                  <a:srgbClr val="202429"/>
                </a:solidFill>
                <a:latin typeface="Tahoma"/>
                <a:cs typeface="Tahoma"/>
              </a:rPr>
              <a:t>translation</a:t>
            </a:r>
            <a:r>
              <a:rPr sz="1100" spc="-30" dirty="0">
                <a:solidFill>
                  <a:srgbClr val="202429"/>
                </a:solidFill>
                <a:latin typeface="Tahoma"/>
                <a:cs typeface="Tahoma"/>
              </a:rPr>
              <a:t> </a:t>
            </a:r>
            <a:r>
              <a:rPr sz="1100" spc="-70" dirty="0">
                <a:solidFill>
                  <a:srgbClr val="202429"/>
                </a:solidFill>
                <a:latin typeface="Tahoma"/>
                <a:cs typeface="Tahoma"/>
              </a:rPr>
              <a:t>services</a:t>
            </a:r>
            <a:r>
              <a:rPr sz="1100" spc="-25" dirty="0">
                <a:solidFill>
                  <a:srgbClr val="202429"/>
                </a:solidFill>
                <a:latin typeface="Tahoma"/>
                <a:cs typeface="Tahoma"/>
              </a:rPr>
              <a:t> </a:t>
            </a:r>
            <a:r>
              <a:rPr sz="1100" spc="-80" dirty="0">
                <a:solidFill>
                  <a:srgbClr val="202429"/>
                </a:solidFill>
                <a:latin typeface="Tahoma"/>
                <a:cs typeface="Tahoma"/>
              </a:rPr>
              <a:t>prevented </a:t>
            </a:r>
            <a:r>
              <a:rPr sz="1100" spc="-70" dirty="0">
                <a:solidFill>
                  <a:srgbClr val="202429"/>
                </a:solidFill>
                <a:latin typeface="Tahoma"/>
                <a:cs typeface="Tahoma"/>
              </a:rPr>
              <a:t>understanding</a:t>
            </a:r>
            <a:r>
              <a:rPr sz="1100" spc="-20" dirty="0">
                <a:solidFill>
                  <a:srgbClr val="202429"/>
                </a:solidFill>
                <a:latin typeface="Tahoma"/>
                <a:cs typeface="Tahoma"/>
              </a:rPr>
              <a:t> </a:t>
            </a:r>
            <a:r>
              <a:rPr sz="1100" dirty="0">
                <a:solidFill>
                  <a:srgbClr val="202429"/>
                </a:solidFill>
                <a:latin typeface="Tahoma"/>
                <a:cs typeface="Tahoma"/>
              </a:rPr>
              <a:t>of</a:t>
            </a:r>
            <a:r>
              <a:rPr sz="1100" spc="-10" dirty="0">
                <a:solidFill>
                  <a:srgbClr val="202429"/>
                </a:solidFill>
                <a:latin typeface="Tahoma"/>
                <a:cs typeface="Tahoma"/>
              </a:rPr>
              <a:t> </a:t>
            </a:r>
            <a:r>
              <a:rPr sz="1100" spc="-75" dirty="0">
                <a:solidFill>
                  <a:srgbClr val="202429"/>
                </a:solidFill>
                <a:latin typeface="Tahoma"/>
                <a:cs typeface="Tahoma"/>
              </a:rPr>
              <a:t>concerns</a:t>
            </a:r>
            <a:r>
              <a:rPr sz="1100" spc="-10" dirty="0">
                <a:solidFill>
                  <a:srgbClr val="202429"/>
                </a:solidFill>
                <a:latin typeface="Tahoma"/>
                <a:cs typeface="Tahoma"/>
              </a:rPr>
              <a:t> </a:t>
            </a:r>
            <a:r>
              <a:rPr sz="1100" spc="-55" dirty="0">
                <a:solidFill>
                  <a:srgbClr val="202429"/>
                </a:solidFill>
                <a:latin typeface="Tahoma"/>
                <a:cs typeface="Tahoma"/>
              </a:rPr>
              <a:t>and</a:t>
            </a:r>
            <a:r>
              <a:rPr sz="1100" spc="-15" dirty="0">
                <a:solidFill>
                  <a:srgbClr val="202429"/>
                </a:solidFill>
                <a:latin typeface="Tahoma"/>
                <a:cs typeface="Tahoma"/>
              </a:rPr>
              <a:t> </a:t>
            </a:r>
            <a:r>
              <a:rPr sz="1100" spc="-20" dirty="0">
                <a:solidFill>
                  <a:srgbClr val="202429"/>
                </a:solidFill>
                <a:latin typeface="Tahoma"/>
                <a:cs typeface="Tahoma"/>
              </a:rPr>
              <a:t>care</a:t>
            </a:r>
            <a:endParaRPr sz="1200" dirty="0">
              <a:latin typeface="Tahoma"/>
              <a:cs typeface="Tahoma"/>
            </a:endParaRPr>
          </a:p>
          <a:p>
            <a:pPr marL="202565">
              <a:lnSpc>
                <a:spcPts val="1330"/>
              </a:lnSpc>
            </a:pPr>
            <a:r>
              <a:rPr sz="1100" spc="-10" dirty="0">
                <a:solidFill>
                  <a:srgbClr val="202429"/>
                </a:solidFill>
                <a:latin typeface="Tahoma"/>
                <a:cs typeface="Tahoma"/>
              </a:rPr>
              <a:t>options</a:t>
            </a:r>
            <a:endParaRPr sz="1200" dirty="0">
              <a:latin typeface="Tahoma"/>
              <a:cs typeface="Tahoma"/>
            </a:endParaRPr>
          </a:p>
        </p:txBody>
      </p:sp>
      <p:sp>
        <p:nvSpPr>
          <p:cNvPr id="6" name="object 6"/>
          <p:cNvSpPr txBox="1"/>
          <p:nvPr/>
        </p:nvSpPr>
        <p:spPr>
          <a:xfrm>
            <a:off x="2880042" y="2882228"/>
            <a:ext cx="2629535" cy="166071"/>
          </a:xfrm>
          <a:prstGeom prst="rect">
            <a:avLst/>
          </a:prstGeom>
        </p:spPr>
        <p:txBody>
          <a:bodyPr vert="horz" wrap="square" lIns="0" tIns="12065" rIns="0" bIns="0" rtlCol="0">
            <a:spAutoFit/>
          </a:bodyPr>
          <a:lstStyle/>
          <a:p>
            <a:pPr marL="38100">
              <a:lnSpc>
                <a:spcPct val="100000"/>
              </a:lnSpc>
              <a:spcBef>
                <a:spcPts val="95"/>
              </a:spcBef>
            </a:pPr>
            <a:r>
              <a:rPr sz="1500" spc="-67" baseline="5555" dirty="0">
                <a:solidFill>
                  <a:srgbClr val="6C757C"/>
                </a:solidFill>
                <a:latin typeface="Tahoma"/>
                <a:cs typeface="Tahoma"/>
              </a:rPr>
              <a:t>Identiﬁed</a:t>
            </a:r>
            <a:r>
              <a:rPr sz="1500" spc="-30" baseline="5555" dirty="0">
                <a:solidFill>
                  <a:srgbClr val="6C757C"/>
                </a:solidFill>
                <a:latin typeface="Tahoma"/>
                <a:cs typeface="Tahoma"/>
              </a:rPr>
              <a:t> </a:t>
            </a:r>
            <a:r>
              <a:rPr sz="1500" baseline="5555" dirty="0">
                <a:solidFill>
                  <a:srgbClr val="6C757C"/>
                </a:solidFill>
                <a:latin typeface="Tahoma"/>
                <a:cs typeface="Tahoma"/>
              </a:rPr>
              <a:t>in</a:t>
            </a:r>
            <a:r>
              <a:rPr sz="1500" spc="-15" baseline="5555" dirty="0">
                <a:solidFill>
                  <a:srgbClr val="6C757C"/>
                </a:solidFill>
                <a:latin typeface="Tahoma"/>
                <a:cs typeface="Tahoma"/>
              </a:rPr>
              <a:t> </a:t>
            </a:r>
            <a:r>
              <a:rPr sz="1500" b="1" baseline="5555" dirty="0">
                <a:solidFill>
                  <a:srgbClr val="6C757C"/>
                </a:solidFill>
                <a:latin typeface="Arial"/>
                <a:cs typeface="Arial"/>
              </a:rPr>
              <a:t>159</a:t>
            </a:r>
            <a:r>
              <a:rPr sz="1500" b="1" spc="75" baseline="5555" dirty="0">
                <a:solidFill>
                  <a:srgbClr val="6C757C"/>
                </a:solidFill>
                <a:latin typeface="Arial"/>
                <a:cs typeface="Arial"/>
              </a:rPr>
              <a:t> </a:t>
            </a:r>
            <a:r>
              <a:rPr sz="1500" b="1" baseline="5555" dirty="0">
                <a:solidFill>
                  <a:srgbClr val="6C757C"/>
                </a:solidFill>
                <a:latin typeface="Arial"/>
                <a:cs typeface="Arial"/>
              </a:rPr>
              <a:t>of</a:t>
            </a:r>
            <a:r>
              <a:rPr sz="1500" b="1" spc="75" baseline="5555" dirty="0">
                <a:solidFill>
                  <a:srgbClr val="6C757C"/>
                </a:solidFill>
                <a:latin typeface="Arial"/>
                <a:cs typeface="Arial"/>
              </a:rPr>
              <a:t> </a:t>
            </a:r>
            <a:r>
              <a:rPr sz="1500" b="1" baseline="5555" dirty="0">
                <a:solidFill>
                  <a:srgbClr val="6C757C"/>
                </a:solidFill>
                <a:latin typeface="Arial"/>
                <a:cs typeface="Arial"/>
              </a:rPr>
              <a:t>188</a:t>
            </a:r>
            <a:r>
              <a:rPr sz="1500" b="1" spc="22" baseline="5555" dirty="0">
                <a:solidFill>
                  <a:srgbClr val="6C757C"/>
                </a:solidFill>
                <a:latin typeface="Arial"/>
                <a:cs typeface="Arial"/>
              </a:rPr>
              <a:t> </a:t>
            </a:r>
            <a:r>
              <a:rPr sz="1500" spc="-15" baseline="5555" dirty="0">
                <a:solidFill>
                  <a:srgbClr val="6C757C"/>
                </a:solidFill>
                <a:latin typeface="Tahoma"/>
                <a:cs typeface="Tahoma"/>
              </a:rPr>
              <a:t>investigation</a:t>
            </a:r>
            <a:r>
              <a:rPr lang="en-GB" sz="1500" spc="44" baseline="5555" dirty="0">
                <a:solidFill>
                  <a:srgbClr val="6C757C"/>
                </a:solidFill>
                <a:latin typeface="Tahoma"/>
                <a:cs typeface="Tahoma"/>
              </a:rPr>
              <a:t> reports</a:t>
            </a:r>
            <a:endParaRPr sz="1500" baseline="5555" dirty="0">
              <a:latin typeface="Tahoma"/>
              <a:cs typeface="Tahoma"/>
            </a:endParaRPr>
          </a:p>
        </p:txBody>
      </p:sp>
      <p:sp>
        <p:nvSpPr>
          <p:cNvPr id="7" name="Slide Number Placeholder 6">
            <a:extLst>
              <a:ext uri="{FF2B5EF4-FFF2-40B4-BE49-F238E27FC236}">
                <a16:creationId xmlns:a16="http://schemas.microsoft.com/office/drawing/2014/main" id="{C83D5246-1182-6A11-09CE-C52221C3A512}"/>
              </a:ext>
            </a:extLst>
          </p:cNvPr>
          <p:cNvSpPr>
            <a:spLocks noGrp="1"/>
          </p:cNvSpPr>
          <p:nvPr>
            <p:ph type="sldNum" sz="quarter" idx="7"/>
          </p:nvPr>
        </p:nvSpPr>
        <p:spPr>
          <a:xfrm>
            <a:off x="5211445" y="3071758"/>
            <a:ext cx="548640" cy="173989"/>
          </a:xfrm>
        </p:spPr>
        <p:txBody>
          <a:bodyPr/>
          <a:lstStyle/>
          <a:p>
            <a:pPr marL="39370">
              <a:lnSpc>
                <a:spcPct val="100000"/>
              </a:lnSpc>
              <a:spcBef>
                <a:spcPts val="219"/>
              </a:spcBef>
            </a:pPr>
            <a:fld id="{81D60167-4931-47E6-BA6A-407CBD079E47}" type="slidenum">
              <a:rPr lang="en-GB" smtClean="0"/>
              <a:t>16</a:t>
            </a:fld>
            <a:r>
              <a:rPr lang="en-GB" spc="20" dirty="0"/>
              <a:t> </a:t>
            </a:r>
            <a:r>
              <a:rPr lang="en-GB" spc="120" dirty="0"/>
              <a:t>/</a:t>
            </a:r>
            <a:r>
              <a:rPr lang="en-GB" spc="25" dirty="0"/>
              <a:t> </a:t>
            </a:r>
            <a:r>
              <a:rPr lang="en-GB" spc="-25" dirty="0"/>
              <a:t>39</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410995" rIns="0" bIns="0" rtlCol="0">
            <a:spAutoFit/>
          </a:bodyPr>
          <a:lstStyle/>
          <a:p>
            <a:pPr marL="12700">
              <a:lnSpc>
                <a:spcPct val="100000"/>
              </a:lnSpc>
              <a:spcBef>
                <a:spcPts val="135"/>
              </a:spcBef>
            </a:pPr>
            <a:r>
              <a:rPr spc="-30" dirty="0">
                <a:solidFill>
                  <a:srgbClr val="005F73"/>
                </a:solidFill>
              </a:rPr>
              <a:t>Teamworking</a:t>
            </a:r>
          </a:p>
        </p:txBody>
      </p:sp>
      <p:pic>
        <p:nvPicPr>
          <p:cNvPr id="3" name="object 3"/>
          <p:cNvPicPr/>
          <p:nvPr/>
        </p:nvPicPr>
        <p:blipFill>
          <a:blip r:embed="rId3" cstate="print"/>
          <a:stretch>
            <a:fillRect/>
          </a:stretch>
        </p:blipFill>
        <p:spPr>
          <a:xfrm>
            <a:off x="3067215" y="442422"/>
            <a:ext cx="1703978" cy="2159972"/>
          </a:xfrm>
          <a:prstGeom prst="rect">
            <a:avLst/>
          </a:prstGeom>
        </p:spPr>
      </p:pic>
      <p:sp>
        <p:nvSpPr>
          <p:cNvPr id="4" name="object 4"/>
          <p:cNvSpPr txBox="1"/>
          <p:nvPr/>
        </p:nvSpPr>
        <p:spPr>
          <a:xfrm>
            <a:off x="260908" y="693290"/>
            <a:ext cx="5025390" cy="2117090"/>
          </a:xfrm>
          <a:prstGeom prst="rect">
            <a:avLst/>
          </a:prstGeom>
        </p:spPr>
        <p:txBody>
          <a:bodyPr vert="horz" wrap="square" lIns="0" tIns="27305" rIns="0" bIns="0" rtlCol="0">
            <a:spAutoFit/>
          </a:bodyPr>
          <a:lstStyle/>
          <a:p>
            <a:pPr marL="12700" marR="2555240">
              <a:lnSpc>
                <a:spcPts val="1350"/>
              </a:lnSpc>
              <a:spcBef>
                <a:spcPts val="215"/>
              </a:spcBef>
            </a:pPr>
            <a:r>
              <a:rPr sz="1200" spc="-60" dirty="0">
                <a:solidFill>
                  <a:srgbClr val="202429"/>
                </a:solidFill>
                <a:latin typeface="Tahoma"/>
                <a:cs typeface="Tahoma"/>
              </a:rPr>
              <a:t>Fragmented</a:t>
            </a:r>
            <a:r>
              <a:rPr sz="1200" spc="-35" dirty="0">
                <a:solidFill>
                  <a:srgbClr val="202429"/>
                </a:solidFill>
                <a:latin typeface="Tahoma"/>
                <a:cs typeface="Tahoma"/>
              </a:rPr>
              <a:t> </a:t>
            </a:r>
            <a:r>
              <a:rPr sz="1200" spc="-40" dirty="0">
                <a:solidFill>
                  <a:srgbClr val="202429"/>
                </a:solidFill>
                <a:latin typeface="Tahoma"/>
                <a:cs typeface="Tahoma"/>
              </a:rPr>
              <a:t>triage</a:t>
            </a:r>
            <a:r>
              <a:rPr sz="1200" spc="-50" dirty="0">
                <a:solidFill>
                  <a:srgbClr val="202429"/>
                </a:solidFill>
                <a:latin typeface="Tahoma"/>
                <a:cs typeface="Tahoma"/>
              </a:rPr>
              <a:t> </a:t>
            </a:r>
            <a:r>
              <a:rPr sz="1200" spc="-70" dirty="0">
                <a:solidFill>
                  <a:srgbClr val="202429"/>
                </a:solidFill>
                <a:latin typeface="Tahoma"/>
                <a:cs typeface="Tahoma"/>
              </a:rPr>
              <a:t>care</a:t>
            </a:r>
            <a:r>
              <a:rPr sz="1200" spc="-20" dirty="0">
                <a:solidFill>
                  <a:srgbClr val="202429"/>
                </a:solidFill>
                <a:latin typeface="Tahoma"/>
                <a:cs typeface="Tahoma"/>
              </a:rPr>
              <a:t> with</a:t>
            </a:r>
            <a:r>
              <a:rPr sz="1200" spc="-30" dirty="0">
                <a:solidFill>
                  <a:srgbClr val="202429"/>
                </a:solidFill>
                <a:latin typeface="Tahoma"/>
                <a:cs typeface="Tahoma"/>
              </a:rPr>
              <a:t> </a:t>
            </a:r>
            <a:r>
              <a:rPr sz="1200" spc="-70" dirty="0">
                <a:solidFill>
                  <a:srgbClr val="202429"/>
                </a:solidFill>
                <a:latin typeface="Tahoma"/>
                <a:cs typeface="Tahoma"/>
              </a:rPr>
              <a:t>many</a:t>
            </a:r>
            <a:r>
              <a:rPr sz="1200" spc="-25" dirty="0">
                <a:solidFill>
                  <a:srgbClr val="202429"/>
                </a:solidFill>
                <a:latin typeface="Tahoma"/>
                <a:cs typeface="Tahoma"/>
              </a:rPr>
              <a:t> </a:t>
            </a:r>
            <a:r>
              <a:rPr sz="1200" spc="-30" dirty="0">
                <a:solidFill>
                  <a:srgbClr val="202429"/>
                </a:solidFill>
                <a:latin typeface="Tahoma"/>
                <a:cs typeface="Tahoma"/>
              </a:rPr>
              <a:t>staﬀ </a:t>
            </a:r>
            <a:r>
              <a:rPr sz="1200" spc="-55" dirty="0">
                <a:solidFill>
                  <a:srgbClr val="202429"/>
                </a:solidFill>
                <a:latin typeface="Tahoma"/>
                <a:cs typeface="Tahoma"/>
              </a:rPr>
              <a:t>and</a:t>
            </a:r>
            <a:r>
              <a:rPr sz="1200" spc="-25" dirty="0">
                <a:solidFill>
                  <a:srgbClr val="202429"/>
                </a:solidFill>
                <a:latin typeface="Tahoma"/>
                <a:cs typeface="Tahoma"/>
              </a:rPr>
              <a:t> </a:t>
            </a:r>
            <a:r>
              <a:rPr sz="1200" spc="-55" dirty="0">
                <a:solidFill>
                  <a:srgbClr val="202429"/>
                </a:solidFill>
                <a:latin typeface="Tahoma"/>
                <a:cs typeface="Tahoma"/>
              </a:rPr>
              <a:t>inconsistent</a:t>
            </a:r>
            <a:r>
              <a:rPr sz="1200" spc="-25" dirty="0">
                <a:solidFill>
                  <a:srgbClr val="202429"/>
                </a:solidFill>
                <a:latin typeface="Tahoma"/>
                <a:cs typeface="Tahoma"/>
              </a:rPr>
              <a:t> </a:t>
            </a:r>
            <a:r>
              <a:rPr sz="1200" spc="-10" dirty="0">
                <a:solidFill>
                  <a:srgbClr val="202429"/>
                </a:solidFill>
                <a:latin typeface="Tahoma"/>
                <a:cs typeface="Tahoma"/>
              </a:rPr>
              <a:t>handovers</a:t>
            </a:r>
            <a:endParaRPr sz="1200" dirty="0">
              <a:latin typeface="Tahoma"/>
              <a:cs typeface="Tahoma"/>
            </a:endParaRPr>
          </a:p>
          <a:p>
            <a:pPr marL="12700" marR="2755900">
              <a:lnSpc>
                <a:spcPts val="1350"/>
              </a:lnSpc>
              <a:spcBef>
                <a:spcPts val="880"/>
              </a:spcBef>
            </a:pPr>
            <a:r>
              <a:rPr sz="1200" spc="-50" dirty="0">
                <a:solidFill>
                  <a:srgbClr val="202429"/>
                </a:solidFill>
                <a:latin typeface="Tahoma"/>
                <a:cs typeface="Tahoma"/>
              </a:rPr>
              <a:t>Communication</a:t>
            </a:r>
            <a:r>
              <a:rPr sz="1200" spc="-15" dirty="0">
                <a:solidFill>
                  <a:srgbClr val="202429"/>
                </a:solidFill>
                <a:latin typeface="Tahoma"/>
                <a:cs typeface="Tahoma"/>
              </a:rPr>
              <a:t> </a:t>
            </a:r>
            <a:r>
              <a:rPr sz="1200" spc="-55" dirty="0">
                <a:solidFill>
                  <a:srgbClr val="202429"/>
                </a:solidFill>
                <a:latin typeface="Tahoma"/>
                <a:cs typeface="Tahoma"/>
              </a:rPr>
              <a:t>and</a:t>
            </a:r>
            <a:r>
              <a:rPr sz="1200" spc="-15" dirty="0">
                <a:solidFill>
                  <a:srgbClr val="202429"/>
                </a:solidFill>
                <a:latin typeface="Tahoma"/>
                <a:cs typeface="Tahoma"/>
              </a:rPr>
              <a:t> </a:t>
            </a:r>
            <a:r>
              <a:rPr sz="1200" spc="-75" dirty="0">
                <a:solidFill>
                  <a:srgbClr val="202429"/>
                </a:solidFill>
                <a:latin typeface="Tahoma"/>
                <a:cs typeface="Tahoma"/>
              </a:rPr>
              <a:t>handover</a:t>
            </a:r>
            <a:r>
              <a:rPr sz="1200" spc="-15" dirty="0">
                <a:solidFill>
                  <a:srgbClr val="202429"/>
                </a:solidFill>
                <a:latin typeface="Tahoma"/>
                <a:cs typeface="Tahoma"/>
              </a:rPr>
              <a:t> </a:t>
            </a:r>
            <a:r>
              <a:rPr sz="1200" spc="-60" dirty="0">
                <a:solidFill>
                  <a:srgbClr val="202429"/>
                </a:solidFill>
                <a:latin typeface="Tahoma"/>
                <a:cs typeface="Tahoma"/>
              </a:rPr>
              <a:t>issues </a:t>
            </a:r>
            <a:r>
              <a:rPr sz="1200" spc="-90" dirty="0">
                <a:solidFill>
                  <a:srgbClr val="202429"/>
                </a:solidFill>
                <a:latin typeface="Tahoma"/>
                <a:cs typeface="Tahoma"/>
              </a:rPr>
              <a:t>between</a:t>
            </a:r>
            <a:r>
              <a:rPr sz="1200" spc="20" dirty="0">
                <a:solidFill>
                  <a:srgbClr val="202429"/>
                </a:solidFill>
                <a:latin typeface="Tahoma"/>
                <a:cs typeface="Tahoma"/>
              </a:rPr>
              <a:t> </a:t>
            </a:r>
            <a:r>
              <a:rPr sz="1200" spc="-10" dirty="0">
                <a:solidFill>
                  <a:srgbClr val="202429"/>
                </a:solidFill>
                <a:latin typeface="Tahoma"/>
                <a:cs typeface="Tahoma"/>
              </a:rPr>
              <a:t>teams</a:t>
            </a:r>
            <a:endParaRPr sz="1200" dirty="0">
              <a:latin typeface="Tahoma"/>
              <a:cs typeface="Tahoma"/>
            </a:endParaRPr>
          </a:p>
          <a:p>
            <a:pPr marL="12700">
              <a:lnSpc>
                <a:spcPts val="1395"/>
              </a:lnSpc>
              <a:spcBef>
                <a:spcPts val="765"/>
              </a:spcBef>
            </a:pPr>
            <a:r>
              <a:rPr sz="1200" spc="-55" dirty="0">
                <a:solidFill>
                  <a:srgbClr val="202429"/>
                </a:solidFill>
                <a:latin typeface="Tahoma"/>
                <a:cs typeface="Tahoma"/>
              </a:rPr>
              <a:t>Hierarchy</a:t>
            </a:r>
            <a:r>
              <a:rPr sz="1200" spc="-20" dirty="0">
                <a:solidFill>
                  <a:srgbClr val="202429"/>
                </a:solidFill>
                <a:latin typeface="Tahoma"/>
                <a:cs typeface="Tahoma"/>
              </a:rPr>
              <a:t> </a:t>
            </a:r>
            <a:r>
              <a:rPr sz="1200" spc="-55" dirty="0">
                <a:solidFill>
                  <a:srgbClr val="202429"/>
                </a:solidFill>
                <a:latin typeface="Tahoma"/>
                <a:cs typeface="Tahoma"/>
              </a:rPr>
              <a:t>perceptions</a:t>
            </a:r>
            <a:r>
              <a:rPr sz="1200" spc="-15" dirty="0">
                <a:solidFill>
                  <a:srgbClr val="202429"/>
                </a:solidFill>
                <a:latin typeface="Tahoma"/>
                <a:cs typeface="Tahoma"/>
              </a:rPr>
              <a:t> </a:t>
            </a:r>
            <a:r>
              <a:rPr sz="1200" spc="-25" dirty="0">
                <a:solidFill>
                  <a:srgbClr val="202429"/>
                </a:solidFill>
                <a:latin typeface="Tahoma"/>
                <a:cs typeface="Tahoma"/>
              </a:rPr>
              <a:t>and</a:t>
            </a:r>
            <a:endParaRPr sz="1200" dirty="0">
              <a:latin typeface="Tahoma"/>
              <a:cs typeface="Tahoma"/>
            </a:endParaRPr>
          </a:p>
          <a:p>
            <a:pPr marL="12700" marR="3058795">
              <a:lnSpc>
                <a:spcPts val="1350"/>
              </a:lnSpc>
              <a:spcBef>
                <a:spcPts val="75"/>
              </a:spcBef>
            </a:pPr>
            <a:r>
              <a:rPr sz="1200" spc="-50" dirty="0">
                <a:solidFill>
                  <a:srgbClr val="202429"/>
                </a:solidFill>
                <a:latin typeface="Tahoma"/>
                <a:cs typeface="Tahoma"/>
              </a:rPr>
              <a:t>communication</a:t>
            </a:r>
            <a:r>
              <a:rPr sz="1200" spc="-15" dirty="0">
                <a:solidFill>
                  <a:srgbClr val="202429"/>
                </a:solidFill>
                <a:latin typeface="Tahoma"/>
                <a:cs typeface="Tahoma"/>
              </a:rPr>
              <a:t> </a:t>
            </a:r>
            <a:r>
              <a:rPr sz="1200" spc="-65" dirty="0">
                <a:solidFill>
                  <a:srgbClr val="202429"/>
                </a:solidFill>
                <a:latin typeface="Tahoma"/>
                <a:cs typeface="Tahoma"/>
              </a:rPr>
              <a:t>gaps</a:t>
            </a:r>
            <a:r>
              <a:rPr sz="1200" spc="-15" dirty="0">
                <a:solidFill>
                  <a:srgbClr val="202429"/>
                </a:solidFill>
                <a:latin typeface="Tahoma"/>
                <a:cs typeface="Tahoma"/>
              </a:rPr>
              <a:t> </a:t>
            </a:r>
            <a:r>
              <a:rPr sz="1200" spc="-45" dirty="0">
                <a:solidFill>
                  <a:srgbClr val="202429"/>
                </a:solidFill>
                <a:latin typeface="Tahoma"/>
                <a:cs typeface="Tahoma"/>
              </a:rPr>
              <a:t>on</a:t>
            </a:r>
            <a:r>
              <a:rPr sz="1200" spc="-15" dirty="0">
                <a:solidFill>
                  <a:srgbClr val="202429"/>
                </a:solidFill>
                <a:latin typeface="Tahoma"/>
                <a:cs typeface="Tahoma"/>
              </a:rPr>
              <a:t> </a:t>
            </a:r>
            <a:r>
              <a:rPr sz="1200" spc="-100" dirty="0">
                <a:solidFill>
                  <a:srgbClr val="202429"/>
                </a:solidFill>
                <a:latin typeface="Tahoma"/>
                <a:cs typeface="Tahoma"/>
              </a:rPr>
              <a:t>needed </a:t>
            </a:r>
            <a:r>
              <a:rPr sz="1200" spc="-10" dirty="0">
                <a:solidFill>
                  <a:srgbClr val="202429"/>
                </a:solidFill>
                <a:latin typeface="Tahoma"/>
                <a:cs typeface="Tahoma"/>
              </a:rPr>
              <a:t>interventions</a:t>
            </a:r>
            <a:endParaRPr sz="1200" dirty="0">
              <a:latin typeface="Tahoma"/>
              <a:cs typeface="Tahoma"/>
            </a:endParaRPr>
          </a:p>
          <a:p>
            <a:pPr marL="12700" marR="2546350">
              <a:lnSpc>
                <a:spcPts val="1350"/>
              </a:lnSpc>
              <a:spcBef>
                <a:spcPts val="885"/>
              </a:spcBef>
            </a:pPr>
            <a:r>
              <a:rPr sz="1200" spc="-45" dirty="0">
                <a:solidFill>
                  <a:srgbClr val="202429"/>
                </a:solidFill>
                <a:latin typeface="Tahoma"/>
                <a:cs typeface="Tahoma"/>
              </a:rPr>
              <a:t>Ambulance</a:t>
            </a:r>
            <a:r>
              <a:rPr sz="1200" spc="-15" dirty="0">
                <a:solidFill>
                  <a:srgbClr val="202429"/>
                </a:solidFill>
                <a:latin typeface="Tahoma"/>
                <a:cs typeface="Tahoma"/>
              </a:rPr>
              <a:t> </a:t>
            </a:r>
            <a:r>
              <a:rPr sz="1200" spc="-80" dirty="0">
                <a:solidFill>
                  <a:srgbClr val="202429"/>
                </a:solidFill>
                <a:latin typeface="Tahoma"/>
                <a:cs typeface="Tahoma"/>
              </a:rPr>
              <a:t>delays</a:t>
            </a:r>
            <a:r>
              <a:rPr sz="1200" spc="-10" dirty="0">
                <a:solidFill>
                  <a:srgbClr val="202429"/>
                </a:solidFill>
                <a:latin typeface="Tahoma"/>
                <a:cs typeface="Tahoma"/>
              </a:rPr>
              <a:t> </a:t>
            </a:r>
            <a:r>
              <a:rPr sz="1200" spc="-55" dirty="0">
                <a:solidFill>
                  <a:srgbClr val="202429"/>
                </a:solidFill>
                <a:latin typeface="Tahoma"/>
                <a:cs typeface="Tahoma"/>
              </a:rPr>
              <a:t>and</a:t>
            </a:r>
            <a:r>
              <a:rPr sz="1200" spc="-10" dirty="0">
                <a:solidFill>
                  <a:srgbClr val="202429"/>
                </a:solidFill>
                <a:latin typeface="Tahoma"/>
                <a:cs typeface="Tahoma"/>
              </a:rPr>
              <a:t> </a:t>
            </a:r>
            <a:r>
              <a:rPr sz="1200" spc="-90" dirty="0">
                <a:solidFill>
                  <a:srgbClr val="202429"/>
                </a:solidFill>
                <a:latin typeface="Tahoma"/>
                <a:cs typeface="Tahoma"/>
              </a:rPr>
              <a:t>excess</a:t>
            </a:r>
            <a:r>
              <a:rPr sz="1200" spc="-5" dirty="0">
                <a:solidFill>
                  <a:srgbClr val="202429"/>
                </a:solidFill>
                <a:latin typeface="Tahoma"/>
                <a:cs typeface="Tahoma"/>
              </a:rPr>
              <a:t> </a:t>
            </a:r>
            <a:r>
              <a:rPr sz="1200" spc="-65" dirty="0">
                <a:solidFill>
                  <a:srgbClr val="202429"/>
                </a:solidFill>
                <a:latin typeface="Tahoma"/>
                <a:cs typeface="Tahoma"/>
              </a:rPr>
              <a:t>workloads </a:t>
            </a:r>
            <a:r>
              <a:rPr sz="1200" spc="-35" dirty="0">
                <a:solidFill>
                  <a:srgbClr val="202429"/>
                </a:solidFill>
                <a:latin typeface="Tahoma"/>
                <a:cs typeface="Tahoma"/>
              </a:rPr>
              <a:t>without</a:t>
            </a:r>
            <a:r>
              <a:rPr sz="1200" spc="-15" dirty="0">
                <a:solidFill>
                  <a:srgbClr val="202429"/>
                </a:solidFill>
                <a:latin typeface="Tahoma"/>
                <a:cs typeface="Tahoma"/>
              </a:rPr>
              <a:t> </a:t>
            </a:r>
            <a:r>
              <a:rPr sz="1200" spc="-70" dirty="0">
                <a:solidFill>
                  <a:srgbClr val="202429"/>
                </a:solidFill>
                <a:latin typeface="Tahoma"/>
                <a:cs typeface="Tahoma"/>
              </a:rPr>
              <a:t>adequate</a:t>
            </a:r>
            <a:r>
              <a:rPr sz="1200" spc="-5" dirty="0">
                <a:solidFill>
                  <a:srgbClr val="202429"/>
                </a:solidFill>
                <a:latin typeface="Tahoma"/>
                <a:cs typeface="Tahoma"/>
              </a:rPr>
              <a:t> </a:t>
            </a:r>
            <a:r>
              <a:rPr sz="1200" spc="-10" dirty="0">
                <a:solidFill>
                  <a:srgbClr val="202429"/>
                </a:solidFill>
                <a:latin typeface="Tahoma"/>
                <a:cs typeface="Tahoma"/>
              </a:rPr>
              <a:t>cover</a:t>
            </a:r>
            <a:endParaRPr sz="1200" dirty="0">
              <a:latin typeface="Tahoma"/>
              <a:cs typeface="Tahoma"/>
            </a:endParaRPr>
          </a:p>
        </p:txBody>
      </p:sp>
      <p:sp>
        <p:nvSpPr>
          <p:cNvPr id="5" name="object 5"/>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8" name="Slide Number Placeholder 7">
            <a:extLst>
              <a:ext uri="{FF2B5EF4-FFF2-40B4-BE49-F238E27FC236}">
                <a16:creationId xmlns:a16="http://schemas.microsoft.com/office/drawing/2014/main" id="{CA222B07-A348-C84B-7568-F778E6F07C93}"/>
              </a:ext>
            </a:extLst>
          </p:cNvPr>
          <p:cNvSpPr>
            <a:spLocks noGrp="1"/>
          </p:cNvSpPr>
          <p:nvPr>
            <p:ph type="sldNum" sz="quarter" idx="7"/>
          </p:nvPr>
        </p:nvSpPr>
        <p:spPr>
          <a:xfrm>
            <a:off x="5217160" y="3070861"/>
            <a:ext cx="548640" cy="173989"/>
          </a:xfrm>
        </p:spPr>
        <p:txBody>
          <a:bodyPr/>
          <a:lstStyle/>
          <a:p>
            <a:pPr marL="39370">
              <a:lnSpc>
                <a:spcPct val="100000"/>
              </a:lnSpc>
              <a:spcBef>
                <a:spcPts val="219"/>
              </a:spcBef>
            </a:pPr>
            <a:fld id="{81D60167-4931-47E6-BA6A-407CBD079E47}" type="slidenum">
              <a:rPr lang="en-GB" smtClean="0"/>
              <a:t>17</a:t>
            </a:fld>
            <a:r>
              <a:rPr lang="en-GB" spc="20" dirty="0"/>
              <a:t> </a:t>
            </a:r>
            <a:r>
              <a:rPr lang="en-GB" spc="120" dirty="0"/>
              <a:t>/</a:t>
            </a:r>
            <a:r>
              <a:rPr lang="en-GB" spc="25" dirty="0"/>
              <a:t> </a:t>
            </a:r>
            <a:r>
              <a:rPr lang="en-GB" spc="-25" dirty="0"/>
              <a:t>39</a:t>
            </a:r>
          </a:p>
        </p:txBody>
      </p:sp>
      <p:sp>
        <p:nvSpPr>
          <p:cNvPr id="7" name="Identified count"/>
          <p:cNvSpPr txBox="1"/>
          <p:nvPr/>
        </p:nvSpPr>
        <p:spPr>
          <a:xfrm>
            <a:off x="2880042" y="2882228"/>
            <a:ext cx="2629535" cy="166071"/>
          </a:xfrm>
          <a:prstGeom prst="rect">
            <a:avLst/>
          </a:prstGeom>
        </p:spPr>
        <p:txBody>
          <a:bodyPr vert="horz" wrap="square" lIns="0" tIns="12065" rIns="0" bIns="0" rtlCol="0">
            <a:spAutoFit/>
          </a:bodyPr>
          <a:lstStyle/>
          <a:p>
            <a:pPr marL="38100">
              <a:lnSpc>
                <a:spcPct val="100000"/>
              </a:lnSpc>
              <a:spcBef>
                <a:spcPts val="95"/>
              </a:spcBef>
            </a:pPr>
            <a:r>
              <a:rPr sz="1500" spc="-67" baseline="5555" dirty="0">
                <a:solidFill>
                  <a:srgbClr val="6C757C"/>
                </a:solidFill>
                <a:latin typeface="Tahoma"/>
                <a:cs typeface="Tahoma"/>
              </a:rPr>
              <a:t>Identiﬁed</a:t>
            </a:r>
            <a:r>
              <a:rPr sz="1500" spc="-30" baseline="5555" dirty="0">
                <a:solidFill>
                  <a:srgbClr val="6C757C"/>
                </a:solidFill>
                <a:latin typeface="Tahoma"/>
                <a:cs typeface="Tahoma"/>
              </a:rPr>
              <a:t> </a:t>
            </a:r>
            <a:r>
              <a:rPr sz="1500" baseline="5555" dirty="0">
                <a:solidFill>
                  <a:srgbClr val="6C757C"/>
                </a:solidFill>
                <a:latin typeface="Tahoma"/>
                <a:cs typeface="Tahoma"/>
              </a:rPr>
              <a:t>in</a:t>
            </a:r>
            <a:r>
              <a:rPr sz="1500" spc="-15" baseline="5555" dirty="0">
                <a:solidFill>
                  <a:srgbClr val="6C757C"/>
                </a:solidFill>
                <a:latin typeface="Tahoma"/>
                <a:cs typeface="Tahoma"/>
              </a:rPr>
              <a:t> </a:t>
            </a:r>
            <a:r>
              <a:rPr sz="1500" b="1" baseline="5555" dirty="0">
                <a:solidFill>
                  <a:srgbClr val="6C757C"/>
                </a:solidFill>
                <a:latin typeface="Arial"/>
                <a:cs typeface="Arial"/>
              </a:rPr>
              <a:t>155</a:t>
            </a:r>
            <a:r>
              <a:rPr sz="1500" b="1" spc="75" baseline="5555" dirty="0">
                <a:solidFill>
                  <a:srgbClr val="6C757C"/>
                </a:solidFill>
                <a:latin typeface="Arial"/>
                <a:cs typeface="Arial"/>
              </a:rPr>
              <a:t> </a:t>
            </a:r>
            <a:r>
              <a:rPr sz="1500" b="1" baseline="5555" dirty="0">
                <a:solidFill>
                  <a:srgbClr val="6C757C"/>
                </a:solidFill>
                <a:latin typeface="Arial"/>
                <a:cs typeface="Arial"/>
              </a:rPr>
              <a:t>of</a:t>
            </a:r>
            <a:r>
              <a:rPr sz="1500" b="1" spc="75" baseline="5555" dirty="0">
                <a:solidFill>
                  <a:srgbClr val="6C757C"/>
                </a:solidFill>
                <a:latin typeface="Arial"/>
                <a:cs typeface="Arial"/>
              </a:rPr>
              <a:t> </a:t>
            </a:r>
            <a:r>
              <a:rPr sz="1500" b="1" baseline="5555" dirty="0">
                <a:solidFill>
                  <a:srgbClr val="6C757C"/>
                </a:solidFill>
                <a:latin typeface="Arial"/>
                <a:cs typeface="Arial"/>
              </a:rPr>
              <a:t>188</a:t>
            </a:r>
            <a:r>
              <a:rPr sz="1500" b="1" spc="22" baseline="5555" dirty="0">
                <a:solidFill>
                  <a:srgbClr val="6C757C"/>
                </a:solidFill>
                <a:latin typeface="Arial"/>
                <a:cs typeface="Arial"/>
              </a:rPr>
              <a:t> </a:t>
            </a:r>
            <a:r>
              <a:rPr sz="1500" spc="-15" baseline="5555" dirty="0">
                <a:solidFill>
                  <a:srgbClr val="6C757C"/>
                </a:solidFill>
                <a:latin typeface="Tahoma"/>
                <a:cs typeface="Tahoma"/>
              </a:rPr>
              <a:t>investigation</a:t>
            </a:r>
            <a:r>
              <a:rPr lang="en-GB" sz="1500" spc="44" baseline="5555" dirty="0">
                <a:solidFill>
                  <a:srgbClr val="6C757C"/>
                </a:solidFill>
                <a:latin typeface="Tahoma"/>
                <a:cs typeface="Tahoma"/>
              </a:rPr>
              <a:t> reports</a:t>
            </a:r>
            <a:endParaRPr sz="1500" baseline="5555" dirty="0">
              <a:latin typeface="Tahoma"/>
              <a:cs typeface="Tahom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60908" y="304302"/>
            <a:ext cx="987425" cy="244475"/>
          </a:xfrm>
          <a:prstGeom prst="rect">
            <a:avLst/>
          </a:prstGeom>
        </p:spPr>
        <p:txBody>
          <a:bodyPr vert="horz" wrap="square" lIns="0" tIns="17145" rIns="0" bIns="0" rtlCol="0">
            <a:spAutoFit/>
          </a:bodyPr>
          <a:lstStyle/>
          <a:p>
            <a:pPr marL="12700">
              <a:lnSpc>
                <a:spcPct val="100000"/>
              </a:lnSpc>
              <a:spcBef>
                <a:spcPts val="135"/>
              </a:spcBef>
            </a:pPr>
            <a:r>
              <a:rPr spc="-70" dirty="0">
                <a:solidFill>
                  <a:srgbClr val="005F73"/>
                </a:solidFill>
              </a:rPr>
              <a:t>Assessment</a:t>
            </a:r>
          </a:p>
        </p:txBody>
      </p:sp>
      <p:pic>
        <p:nvPicPr>
          <p:cNvPr id="3" name="object 3"/>
          <p:cNvPicPr/>
          <p:nvPr/>
        </p:nvPicPr>
        <p:blipFill>
          <a:blip r:embed="rId3" cstate="print"/>
          <a:stretch>
            <a:fillRect/>
          </a:stretch>
        </p:blipFill>
        <p:spPr>
          <a:xfrm>
            <a:off x="3067215" y="579455"/>
            <a:ext cx="1703978" cy="2159972"/>
          </a:xfrm>
          <a:prstGeom prst="rect">
            <a:avLst/>
          </a:prstGeom>
        </p:spPr>
      </p:pic>
      <p:sp>
        <p:nvSpPr>
          <p:cNvPr id="4" name="object 4"/>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5" name="object 5"/>
          <p:cNvSpPr txBox="1"/>
          <p:nvPr/>
        </p:nvSpPr>
        <p:spPr>
          <a:xfrm>
            <a:off x="70497" y="617585"/>
            <a:ext cx="2628265" cy="2434064"/>
          </a:xfrm>
          <a:prstGeom prst="rect">
            <a:avLst/>
          </a:prstGeom>
        </p:spPr>
        <p:txBody>
          <a:bodyPr vert="horz" wrap="square" lIns="0" tIns="27305" rIns="0" bIns="0" rtlCol="0">
            <a:spAutoFit/>
          </a:bodyPr>
          <a:lstStyle/>
          <a:p>
            <a:pPr marL="202565" marR="170815" algn="l">
              <a:lnSpc>
                <a:spcPts val="1350"/>
              </a:lnSpc>
              <a:spcBef>
                <a:spcPts val="215"/>
              </a:spcBef>
            </a:pPr>
            <a:r>
              <a:rPr sz="1050" spc="-50" dirty="0">
                <a:solidFill>
                  <a:srgbClr val="202429"/>
                </a:solidFill>
                <a:latin typeface="Tahoma"/>
                <a:cs typeface="Tahoma"/>
              </a:rPr>
              <a:t>Gaps</a:t>
            </a:r>
            <a:r>
              <a:rPr sz="1050" spc="-40" dirty="0">
                <a:solidFill>
                  <a:srgbClr val="202429"/>
                </a:solidFill>
                <a:latin typeface="Tahoma"/>
                <a:cs typeface="Tahoma"/>
              </a:rPr>
              <a:t> </a:t>
            </a:r>
            <a:r>
              <a:rPr sz="1050" dirty="0">
                <a:solidFill>
                  <a:srgbClr val="202429"/>
                </a:solidFill>
                <a:latin typeface="Tahoma"/>
                <a:cs typeface="Tahoma"/>
              </a:rPr>
              <a:t>in</a:t>
            </a:r>
            <a:r>
              <a:rPr sz="1050" spc="-20" dirty="0">
                <a:solidFill>
                  <a:srgbClr val="202429"/>
                </a:solidFill>
                <a:latin typeface="Tahoma"/>
                <a:cs typeface="Tahoma"/>
              </a:rPr>
              <a:t> </a:t>
            </a:r>
            <a:r>
              <a:rPr sz="1050" spc="-85" dirty="0">
                <a:solidFill>
                  <a:srgbClr val="202429"/>
                </a:solidFill>
                <a:latin typeface="Tahoma"/>
                <a:cs typeface="Tahoma"/>
              </a:rPr>
              <a:t>assessments</a:t>
            </a:r>
            <a:r>
              <a:rPr sz="1050" spc="-10" dirty="0">
                <a:solidFill>
                  <a:srgbClr val="202429"/>
                </a:solidFill>
                <a:latin typeface="Tahoma"/>
                <a:cs typeface="Tahoma"/>
              </a:rPr>
              <a:t> </a:t>
            </a:r>
            <a:r>
              <a:rPr sz="1050" spc="-25" dirty="0">
                <a:solidFill>
                  <a:srgbClr val="202429"/>
                </a:solidFill>
                <a:latin typeface="Tahoma"/>
                <a:cs typeface="Tahoma"/>
              </a:rPr>
              <a:t>and </a:t>
            </a:r>
            <a:r>
              <a:rPr sz="1050" spc="-50" dirty="0">
                <a:solidFill>
                  <a:srgbClr val="202429"/>
                </a:solidFill>
                <a:latin typeface="Tahoma"/>
                <a:cs typeface="Tahoma"/>
              </a:rPr>
              <a:t>documentation,</a:t>
            </a:r>
            <a:r>
              <a:rPr sz="1050" spc="-45" dirty="0">
                <a:solidFill>
                  <a:srgbClr val="202429"/>
                </a:solidFill>
                <a:latin typeface="Tahoma"/>
                <a:cs typeface="Tahoma"/>
              </a:rPr>
              <a:t> </a:t>
            </a:r>
            <a:r>
              <a:rPr sz="1050" spc="-20" dirty="0">
                <a:solidFill>
                  <a:srgbClr val="202429"/>
                </a:solidFill>
                <a:latin typeface="Tahoma"/>
                <a:cs typeface="Tahoma"/>
              </a:rPr>
              <a:t>lack</a:t>
            </a:r>
            <a:r>
              <a:rPr sz="1050" spc="-75" dirty="0">
                <a:solidFill>
                  <a:srgbClr val="202429"/>
                </a:solidFill>
                <a:latin typeface="Tahoma"/>
                <a:cs typeface="Tahoma"/>
              </a:rPr>
              <a:t> </a:t>
            </a:r>
            <a:r>
              <a:rPr sz="1050" dirty="0">
                <a:solidFill>
                  <a:srgbClr val="202429"/>
                </a:solidFill>
                <a:latin typeface="Tahoma"/>
                <a:cs typeface="Tahoma"/>
              </a:rPr>
              <a:t>of</a:t>
            </a:r>
            <a:r>
              <a:rPr sz="1050" spc="-50" dirty="0">
                <a:solidFill>
                  <a:srgbClr val="202429"/>
                </a:solidFill>
                <a:latin typeface="Tahoma"/>
                <a:cs typeface="Tahoma"/>
              </a:rPr>
              <a:t> </a:t>
            </a:r>
            <a:r>
              <a:rPr sz="1050" spc="-85" dirty="0">
                <a:solidFill>
                  <a:srgbClr val="202429"/>
                </a:solidFill>
                <a:latin typeface="Tahoma"/>
                <a:cs typeface="Tahoma"/>
              </a:rPr>
              <a:t>key</a:t>
            </a:r>
            <a:r>
              <a:rPr sz="1050" spc="-10" dirty="0">
                <a:solidFill>
                  <a:srgbClr val="202429"/>
                </a:solidFill>
                <a:latin typeface="Tahoma"/>
                <a:cs typeface="Tahoma"/>
              </a:rPr>
              <a:t> </a:t>
            </a:r>
            <a:r>
              <a:rPr sz="1050" spc="-20" dirty="0">
                <a:solidFill>
                  <a:srgbClr val="202429"/>
                </a:solidFill>
                <a:latin typeface="Tahoma"/>
                <a:cs typeface="Tahoma"/>
              </a:rPr>
              <a:t>lab</a:t>
            </a:r>
            <a:r>
              <a:rPr sz="1050" spc="-45" dirty="0">
                <a:solidFill>
                  <a:srgbClr val="202429"/>
                </a:solidFill>
                <a:latin typeface="Tahoma"/>
                <a:cs typeface="Tahoma"/>
              </a:rPr>
              <a:t> </a:t>
            </a:r>
            <a:r>
              <a:rPr sz="1050" spc="-40" dirty="0">
                <a:solidFill>
                  <a:srgbClr val="202429"/>
                </a:solidFill>
                <a:latin typeface="Tahoma"/>
                <a:cs typeface="Tahoma"/>
              </a:rPr>
              <a:t>tests</a:t>
            </a:r>
            <a:endParaRPr sz="1200" dirty="0">
              <a:latin typeface="Tahoma"/>
              <a:cs typeface="Tahoma"/>
            </a:endParaRPr>
          </a:p>
          <a:p>
            <a:pPr marL="202565" marR="243204" algn="l">
              <a:lnSpc>
                <a:spcPts val="1350"/>
              </a:lnSpc>
              <a:spcBef>
                <a:spcPts val="880"/>
              </a:spcBef>
            </a:pPr>
            <a:r>
              <a:rPr sz="1050" spc="-40" dirty="0">
                <a:solidFill>
                  <a:srgbClr val="202429"/>
                </a:solidFill>
                <a:latin typeface="Tahoma"/>
                <a:cs typeface="Tahoma"/>
              </a:rPr>
              <a:t>Failure</a:t>
            </a:r>
            <a:r>
              <a:rPr sz="1050" spc="-55" dirty="0">
                <a:solidFill>
                  <a:srgbClr val="202429"/>
                </a:solidFill>
                <a:latin typeface="Tahoma"/>
                <a:cs typeface="Tahoma"/>
              </a:rPr>
              <a:t> </a:t>
            </a:r>
            <a:r>
              <a:rPr sz="1050" dirty="0">
                <a:solidFill>
                  <a:srgbClr val="202429"/>
                </a:solidFill>
                <a:latin typeface="Tahoma"/>
                <a:cs typeface="Tahoma"/>
              </a:rPr>
              <a:t>to</a:t>
            </a:r>
            <a:r>
              <a:rPr sz="1050" spc="-50" dirty="0">
                <a:solidFill>
                  <a:srgbClr val="202429"/>
                </a:solidFill>
                <a:latin typeface="Tahoma"/>
                <a:cs typeface="Tahoma"/>
              </a:rPr>
              <a:t> </a:t>
            </a:r>
            <a:r>
              <a:rPr sz="1050" spc="-70" dirty="0">
                <a:solidFill>
                  <a:srgbClr val="202429"/>
                </a:solidFill>
                <a:latin typeface="Tahoma"/>
                <a:cs typeface="Tahoma"/>
              </a:rPr>
              <a:t>recognise</a:t>
            </a:r>
            <a:r>
              <a:rPr sz="1050" spc="-25" dirty="0">
                <a:solidFill>
                  <a:srgbClr val="202429"/>
                </a:solidFill>
                <a:latin typeface="Tahoma"/>
                <a:cs typeface="Tahoma"/>
              </a:rPr>
              <a:t> </a:t>
            </a:r>
            <a:r>
              <a:rPr sz="1050" spc="-30" dirty="0">
                <a:solidFill>
                  <a:srgbClr val="202429"/>
                </a:solidFill>
                <a:latin typeface="Tahoma"/>
                <a:cs typeface="Tahoma"/>
              </a:rPr>
              <a:t>start</a:t>
            </a:r>
            <a:r>
              <a:rPr sz="1050" spc="-45" dirty="0">
                <a:solidFill>
                  <a:srgbClr val="202429"/>
                </a:solidFill>
                <a:latin typeface="Tahoma"/>
                <a:cs typeface="Tahoma"/>
              </a:rPr>
              <a:t> </a:t>
            </a:r>
            <a:r>
              <a:rPr sz="1050" dirty="0">
                <a:solidFill>
                  <a:srgbClr val="202429"/>
                </a:solidFill>
                <a:latin typeface="Tahoma"/>
                <a:cs typeface="Tahoma"/>
              </a:rPr>
              <a:t>of</a:t>
            </a:r>
            <a:r>
              <a:rPr sz="1050" spc="-40" dirty="0">
                <a:solidFill>
                  <a:srgbClr val="202429"/>
                </a:solidFill>
                <a:latin typeface="Tahoma"/>
                <a:cs typeface="Tahoma"/>
              </a:rPr>
              <a:t> </a:t>
            </a:r>
            <a:r>
              <a:rPr sz="1050" spc="-65" dirty="0">
                <a:solidFill>
                  <a:srgbClr val="202429"/>
                </a:solidFill>
                <a:latin typeface="Tahoma"/>
                <a:cs typeface="Tahoma"/>
              </a:rPr>
              <a:t>second stage</a:t>
            </a:r>
            <a:r>
              <a:rPr sz="1050" spc="-30" dirty="0">
                <a:solidFill>
                  <a:srgbClr val="202429"/>
                </a:solidFill>
                <a:latin typeface="Tahoma"/>
                <a:cs typeface="Tahoma"/>
              </a:rPr>
              <a:t> </a:t>
            </a:r>
            <a:r>
              <a:rPr sz="1050" dirty="0">
                <a:solidFill>
                  <a:srgbClr val="202429"/>
                </a:solidFill>
                <a:latin typeface="Tahoma"/>
                <a:cs typeface="Tahoma"/>
              </a:rPr>
              <a:t>of</a:t>
            </a:r>
            <a:r>
              <a:rPr sz="1050" spc="-65" dirty="0">
                <a:solidFill>
                  <a:srgbClr val="202429"/>
                </a:solidFill>
                <a:latin typeface="Tahoma"/>
                <a:cs typeface="Tahoma"/>
              </a:rPr>
              <a:t> </a:t>
            </a:r>
            <a:r>
              <a:rPr sz="1050" spc="-10" dirty="0">
                <a:solidFill>
                  <a:srgbClr val="202429"/>
                </a:solidFill>
                <a:latin typeface="Tahoma"/>
                <a:cs typeface="Tahoma"/>
              </a:rPr>
              <a:t>labour</a:t>
            </a:r>
            <a:endParaRPr sz="1200" dirty="0">
              <a:latin typeface="Tahoma"/>
              <a:cs typeface="Tahoma"/>
            </a:endParaRPr>
          </a:p>
          <a:p>
            <a:pPr marL="202565" algn="l">
              <a:lnSpc>
                <a:spcPts val="1400"/>
              </a:lnSpc>
              <a:spcBef>
                <a:spcPts val="765"/>
              </a:spcBef>
            </a:pPr>
            <a:r>
              <a:rPr sz="1050" spc="-45" dirty="0">
                <a:solidFill>
                  <a:srgbClr val="202429"/>
                </a:solidFill>
                <a:latin typeface="Tahoma"/>
                <a:cs typeface="Tahoma"/>
              </a:rPr>
              <a:t>Failures </a:t>
            </a:r>
            <a:r>
              <a:rPr sz="1050" dirty="0">
                <a:solidFill>
                  <a:srgbClr val="202429"/>
                </a:solidFill>
                <a:latin typeface="Tahoma"/>
                <a:cs typeface="Tahoma"/>
              </a:rPr>
              <a:t>to</a:t>
            </a:r>
            <a:r>
              <a:rPr sz="1050" spc="-40" dirty="0">
                <a:solidFill>
                  <a:srgbClr val="202429"/>
                </a:solidFill>
                <a:latin typeface="Tahoma"/>
                <a:cs typeface="Tahoma"/>
              </a:rPr>
              <a:t> </a:t>
            </a:r>
            <a:r>
              <a:rPr sz="1050" spc="-55" dirty="0">
                <a:solidFill>
                  <a:srgbClr val="202429"/>
                </a:solidFill>
                <a:latin typeface="Tahoma"/>
                <a:cs typeface="Tahoma"/>
              </a:rPr>
              <a:t>appreciate</a:t>
            </a:r>
            <a:r>
              <a:rPr sz="1050" spc="-40" dirty="0">
                <a:solidFill>
                  <a:srgbClr val="202429"/>
                </a:solidFill>
                <a:latin typeface="Tahoma"/>
                <a:cs typeface="Tahoma"/>
              </a:rPr>
              <a:t> </a:t>
            </a:r>
            <a:r>
              <a:rPr sz="1050" spc="-10" dirty="0">
                <a:solidFill>
                  <a:srgbClr val="202429"/>
                </a:solidFill>
                <a:latin typeface="Tahoma"/>
                <a:cs typeface="Tahoma"/>
              </a:rPr>
              <a:t>full</a:t>
            </a:r>
            <a:r>
              <a:rPr sz="1050" spc="-35" dirty="0">
                <a:solidFill>
                  <a:srgbClr val="202429"/>
                </a:solidFill>
                <a:latin typeface="Tahoma"/>
                <a:cs typeface="Tahoma"/>
              </a:rPr>
              <a:t> </a:t>
            </a:r>
            <a:r>
              <a:rPr sz="1050" spc="-10" dirty="0">
                <a:solidFill>
                  <a:srgbClr val="202429"/>
                </a:solidFill>
                <a:latin typeface="Tahoma"/>
                <a:cs typeface="Tahoma"/>
              </a:rPr>
              <a:t>clinical</a:t>
            </a:r>
            <a:endParaRPr sz="1200" dirty="0">
              <a:latin typeface="Tahoma"/>
              <a:cs typeface="Tahoma"/>
            </a:endParaRPr>
          </a:p>
          <a:p>
            <a:pPr marL="202565" algn="l">
              <a:lnSpc>
                <a:spcPts val="1400"/>
              </a:lnSpc>
            </a:pPr>
            <a:r>
              <a:rPr sz="1050" spc="-45" dirty="0">
                <a:solidFill>
                  <a:srgbClr val="202429"/>
                </a:solidFill>
                <a:latin typeface="Tahoma"/>
                <a:cs typeface="Tahoma"/>
              </a:rPr>
              <a:t>pictures</a:t>
            </a:r>
            <a:r>
              <a:rPr sz="1050" spc="-15" dirty="0">
                <a:solidFill>
                  <a:srgbClr val="202429"/>
                </a:solidFill>
                <a:latin typeface="Tahoma"/>
                <a:cs typeface="Tahoma"/>
              </a:rPr>
              <a:t> </a:t>
            </a:r>
            <a:r>
              <a:rPr sz="1050" spc="-55" dirty="0">
                <a:solidFill>
                  <a:srgbClr val="202429"/>
                </a:solidFill>
                <a:latin typeface="Tahoma"/>
                <a:cs typeface="Tahoma"/>
              </a:rPr>
              <a:t>and</a:t>
            </a:r>
            <a:r>
              <a:rPr sz="1050" spc="-10" dirty="0">
                <a:solidFill>
                  <a:srgbClr val="202429"/>
                </a:solidFill>
                <a:latin typeface="Tahoma"/>
                <a:cs typeface="Tahoma"/>
              </a:rPr>
              <a:t> </a:t>
            </a:r>
            <a:r>
              <a:rPr sz="1050" spc="-70" dirty="0">
                <a:solidFill>
                  <a:srgbClr val="202429"/>
                </a:solidFill>
                <a:latin typeface="Tahoma"/>
                <a:cs typeface="Tahoma"/>
              </a:rPr>
              <a:t>perform</a:t>
            </a:r>
            <a:r>
              <a:rPr sz="1050" spc="-10" dirty="0">
                <a:solidFill>
                  <a:srgbClr val="202429"/>
                </a:solidFill>
                <a:latin typeface="Tahoma"/>
                <a:cs typeface="Tahoma"/>
              </a:rPr>
              <a:t> </a:t>
            </a:r>
            <a:r>
              <a:rPr sz="1050" spc="-85" dirty="0">
                <a:solidFill>
                  <a:srgbClr val="202429"/>
                </a:solidFill>
                <a:latin typeface="Tahoma"/>
                <a:cs typeface="Tahoma"/>
              </a:rPr>
              <a:t>key</a:t>
            </a:r>
            <a:r>
              <a:rPr sz="1050" spc="-10" dirty="0">
                <a:solidFill>
                  <a:srgbClr val="202429"/>
                </a:solidFill>
                <a:latin typeface="Tahoma"/>
                <a:cs typeface="Tahoma"/>
              </a:rPr>
              <a:t> </a:t>
            </a:r>
            <a:r>
              <a:rPr sz="1050" spc="-35" dirty="0">
                <a:solidFill>
                  <a:srgbClr val="202429"/>
                </a:solidFill>
                <a:latin typeface="Tahoma"/>
                <a:cs typeface="Tahoma"/>
              </a:rPr>
              <a:t>examinations</a:t>
            </a:r>
            <a:endParaRPr sz="1200" dirty="0">
              <a:latin typeface="Tahoma"/>
              <a:cs typeface="Tahoma"/>
            </a:endParaRPr>
          </a:p>
          <a:p>
            <a:pPr marL="202565" marR="309245" algn="l">
              <a:lnSpc>
                <a:spcPts val="1350"/>
              </a:lnSpc>
              <a:spcBef>
                <a:spcPts val="905"/>
              </a:spcBef>
            </a:pPr>
            <a:r>
              <a:rPr sz="1050" spc="-30" dirty="0">
                <a:solidFill>
                  <a:srgbClr val="202429"/>
                </a:solidFill>
                <a:latin typeface="Tahoma"/>
                <a:cs typeface="Tahoma"/>
              </a:rPr>
              <a:t>Busy</a:t>
            </a:r>
            <a:r>
              <a:rPr sz="1050" spc="-10" dirty="0">
                <a:solidFill>
                  <a:srgbClr val="202429"/>
                </a:solidFill>
                <a:latin typeface="Tahoma"/>
                <a:cs typeface="Tahoma"/>
              </a:rPr>
              <a:t> </a:t>
            </a:r>
            <a:r>
              <a:rPr sz="1050" spc="-40" dirty="0">
                <a:solidFill>
                  <a:srgbClr val="202429"/>
                </a:solidFill>
                <a:latin typeface="Tahoma"/>
                <a:cs typeface="Tahoma"/>
              </a:rPr>
              <a:t>units</a:t>
            </a:r>
            <a:r>
              <a:rPr sz="1050" dirty="0">
                <a:solidFill>
                  <a:srgbClr val="202429"/>
                </a:solidFill>
                <a:latin typeface="Tahoma"/>
                <a:cs typeface="Tahoma"/>
              </a:rPr>
              <a:t> </a:t>
            </a:r>
            <a:r>
              <a:rPr sz="1050" spc="-85" dirty="0">
                <a:solidFill>
                  <a:srgbClr val="202429"/>
                </a:solidFill>
                <a:latin typeface="Tahoma"/>
                <a:cs typeface="Tahoma"/>
              </a:rPr>
              <a:t>prevented</a:t>
            </a:r>
            <a:r>
              <a:rPr sz="1050" spc="-5" dirty="0">
                <a:solidFill>
                  <a:srgbClr val="202429"/>
                </a:solidFill>
                <a:latin typeface="Tahoma"/>
                <a:cs typeface="Tahoma"/>
              </a:rPr>
              <a:t> </a:t>
            </a:r>
            <a:r>
              <a:rPr sz="1050" spc="-40" dirty="0">
                <a:solidFill>
                  <a:srgbClr val="202429"/>
                </a:solidFill>
                <a:latin typeface="Tahoma"/>
                <a:cs typeface="Tahoma"/>
              </a:rPr>
              <a:t>appreciating </a:t>
            </a:r>
            <a:r>
              <a:rPr sz="1050" spc="-45" dirty="0">
                <a:solidFill>
                  <a:srgbClr val="202429"/>
                </a:solidFill>
                <a:latin typeface="Tahoma"/>
                <a:cs typeface="Tahoma"/>
              </a:rPr>
              <a:t>mothers’</a:t>
            </a:r>
            <a:r>
              <a:rPr sz="1050" spc="-15" dirty="0">
                <a:solidFill>
                  <a:srgbClr val="202429"/>
                </a:solidFill>
                <a:latin typeface="Tahoma"/>
                <a:cs typeface="Tahoma"/>
              </a:rPr>
              <a:t> </a:t>
            </a:r>
            <a:r>
              <a:rPr sz="1050" spc="-75" dirty="0">
                <a:solidFill>
                  <a:srgbClr val="202429"/>
                </a:solidFill>
                <a:latin typeface="Tahoma"/>
                <a:cs typeface="Tahoma"/>
              </a:rPr>
              <a:t>concerns</a:t>
            </a:r>
            <a:r>
              <a:rPr sz="1050" spc="-10" dirty="0">
                <a:solidFill>
                  <a:srgbClr val="202429"/>
                </a:solidFill>
                <a:latin typeface="Tahoma"/>
                <a:cs typeface="Tahoma"/>
              </a:rPr>
              <a:t> </a:t>
            </a:r>
            <a:r>
              <a:rPr sz="1050" spc="-55" dirty="0">
                <a:solidFill>
                  <a:srgbClr val="202429"/>
                </a:solidFill>
                <a:latin typeface="Tahoma"/>
                <a:cs typeface="Tahoma"/>
              </a:rPr>
              <a:t>and</a:t>
            </a:r>
            <a:r>
              <a:rPr sz="1050" spc="-10" dirty="0">
                <a:solidFill>
                  <a:srgbClr val="202429"/>
                </a:solidFill>
                <a:latin typeface="Tahoma"/>
                <a:cs typeface="Tahoma"/>
              </a:rPr>
              <a:t> </a:t>
            </a:r>
            <a:r>
              <a:rPr sz="1050" spc="-60" dirty="0">
                <a:solidFill>
                  <a:srgbClr val="202429"/>
                </a:solidFill>
                <a:latin typeface="Tahoma"/>
                <a:cs typeface="Tahoma"/>
              </a:rPr>
              <a:t>performing </a:t>
            </a:r>
            <a:r>
              <a:rPr sz="1050" spc="-100" dirty="0">
                <a:solidFill>
                  <a:srgbClr val="202429"/>
                </a:solidFill>
                <a:latin typeface="Tahoma"/>
                <a:cs typeface="Tahoma"/>
              </a:rPr>
              <a:t>needed</a:t>
            </a:r>
            <a:r>
              <a:rPr sz="1050" spc="25" dirty="0">
                <a:solidFill>
                  <a:srgbClr val="202429"/>
                </a:solidFill>
                <a:latin typeface="Tahoma"/>
                <a:cs typeface="Tahoma"/>
              </a:rPr>
              <a:t> </a:t>
            </a:r>
            <a:r>
              <a:rPr sz="1050" spc="-10" dirty="0">
                <a:solidFill>
                  <a:srgbClr val="202429"/>
                </a:solidFill>
                <a:latin typeface="Tahoma"/>
                <a:cs typeface="Tahoma"/>
              </a:rPr>
              <a:t>assessments</a:t>
            </a:r>
            <a:endParaRPr sz="1200" dirty="0">
              <a:latin typeface="Tahoma"/>
              <a:cs typeface="Tahoma"/>
            </a:endParaRPr>
          </a:p>
          <a:p>
            <a:pPr marL="202565" marR="5080" algn="l">
              <a:lnSpc>
                <a:spcPts val="1350"/>
              </a:lnSpc>
              <a:spcBef>
                <a:spcPts val="890"/>
              </a:spcBef>
            </a:pPr>
            <a:r>
              <a:rPr sz="1050" spc="-45" dirty="0">
                <a:solidFill>
                  <a:srgbClr val="202429"/>
                </a:solidFill>
                <a:latin typeface="Tahoma"/>
                <a:cs typeface="Tahoma"/>
              </a:rPr>
              <a:t>Missed</a:t>
            </a:r>
            <a:r>
              <a:rPr sz="1050" spc="30" dirty="0">
                <a:solidFill>
                  <a:srgbClr val="202429"/>
                </a:solidFill>
                <a:latin typeface="Tahoma"/>
                <a:cs typeface="Tahoma"/>
              </a:rPr>
              <a:t> </a:t>
            </a:r>
            <a:r>
              <a:rPr sz="1050" spc="-90" dirty="0">
                <a:solidFill>
                  <a:srgbClr val="202429"/>
                </a:solidFill>
                <a:latin typeface="Tahoma"/>
                <a:cs typeface="Tahoma"/>
              </a:rPr>
              <a:t>assessments,</a:t>
            </a:r>
            <a:r>
              <a:rPr sz="1050" spc="30" dirty="0">
                <a:solidFill>
                  <a:srgbClr val="202429"/>
                </a:solidFill>
                <a:latin typeface="Tahoma"/>
                <a:cs typeface="Tahoma"/>
              </a:rPr>
              <a:t> </a:t>
            </a:r>
            <a:r>
              <a:rPr sz="1050" spc="-55" dirty="0">
                <a:solidFill>
                  <a:srgbClr val="202429"/>
                </a:solidFill>
                <a:latin typeface="Tahoma"/>
                <a:cs typeface="Tahoma"/>
              </a:rPr>
              <a:t>examinations,</a:t>
            </a:r>
            <a:r>
              <a:rPr sz="1050" spc="35" dirty="0">
                <a:solidFill>
                  <a:srgbClr val="202429"/>
                </a:solidFill>
                <a:latin typeface="Tahoma"/>
                <a:cs typeface="Tahoma"/>
              </a:rPr>
              <a:t> </a:t>
            </a:r>
            <a:r>
              <a:rPr sz="1050" spc="-50" dirty="0">
                <a:solidFill>
                  <a:srgbClr val="202429"/>
                </a:solidFill>
                <a:latin typeface="Tahoma"/>
                <a:cs typeface="Tahoma"/>
              </a:rPr>
              <a:t>and </a:t>
            </a:r>
            <a:r>
              <a:rPr sz="1050" spc="-10" dirty="0">
                <a:solidFill>
                  <a:srgbClr val="202429"/>
                </a:solidFill>
                <a:latin typeface="Tahoma"/>
                <a:cs typeface="Tahoma"/>
              </a:rPr>
              <a:t>reviews</a:t>
            </a:r>
            <a:endParaRPr sz="1200" dirty="0">
              <a:latin typeface="Tahoma"/>
              <a:cs typeface="Tahoma"/>
            </a:endParaRPr>
          </a:p>
        </p:txBody>
      </p:sp>
      <p:sp>
        <p:nvSpPr>
          <p:cNvPr id="6" name="object 6"/>
          <p:cNvSpPr txBox="1"/>
          <p:nvPr/>
        </p:nvSpPr>
        <p:spPr>
          <a:xfrm>
            <a:off x="2785134" y="2840066"/>
            <a:ext cx="2667000" cy="166071"/>
          </a:xfrm>
          <a:prstGeom prst="rect">
            <a:avLst/>
          </a:prstGeom>
        </p:spPr>
        <p:txBody>
          <a:bodyPr vert="horz" wrap="square" lIns="0" tIns="12065" rIns="0" bIns="0" rtlCol="0">
            <a:spAutoFit/>
          </a:bodyPr>
          <a:lstStyle/>
          <a:p>
            <a:pPr marL="38100">
              <a:lnSpc>
                <a:spcPct val="100000"/>
              </a:lnSpc>
              <a:spcBef>
                <a:spcPts val="95"/>
              </a:spcBef>
            </a:pPr>
            <a:r>
              <a:rPr sz="1000" spc="-45" dirty="0">
                <a:solidFill>
                  <a:srgbClr val="6C757C"/>
                </a:solidFill>
                <a:latin typeface="Tahoma"/>
                <a:cs typeface="Tahoma"/>
              </a:rPr>
              <a:t>Identiﬁed</a:t>
            </a:r>
            <a:r>
              <a:rPr sz="1000" spc="-20" dirty="0">
                <a:solidFill>
                  <a:srgbClr val="6C757C"/>
                </a:solidFill>
                <a:latin typeface="Tahoma"/>
                <a:cs typeface="Tahoma"/>
              </a:rPr>
              <a:t> </a:t>
            </a:r>
            <a:r>
              <a:rPr sz="1000" dirty="0">
                <a:solidFill>
                  <a:srgbClr val="6C757C"/>
                </a:solidFill>
                <a:latin typeface="Tahoma"/>
                <a:cs typeface="Tahoma"/>
              </a:rPr>
              <a:t>in</a:t>
            </a:r>
            <a:r>
              <a:rPr sz="1000" spc="-10" dirty="0">
                <a:solidFill>
                  <a:srgbClr val="6C757C"/>
                </a:solidFill>
                <a:latin typeface="Tahoma"/>
                <a:cs typeface="Tahoma"/>
              </a:rPr>
              <a:t> </a:t>
            </a:r>
            <a:r>
              <a:rPr sz="1000" b="1" dirty="0">
                <a:solidFill>
                  <a:srgbClr val="6C757C"/>
                </a:solidFill>
                <a:latin typeface="Arial"/>
                <a:cs typeface="Arial"/>
              </a:rPr>
              <a:t>150</a:t>
            </a:r>
            <a:r>
              <a:rPr sz="1000" b="1" spc="50" dirty="0">
                <a:solidFill>
                  <a:srgbClr val="6C757C"/>
                </a:solidFill>
                <a:latin typeface="Arial"/>
                <a:cs typeface="Arial"/>
              </a:rPr>
              <a:t> </a:t>
            </a:r>
            <a:r>
              <a:rPr sz="1000" b="1" dirty="0">
                <a:solidFill>
                  <a:srgbClr val="6C757C"/>
                </a:solidFill>
                <a:latin typeface="Arial"/>
                <a:cs typeface="Arial"/>
              </a:rPr>
              <a:t>of</a:t>
            </a:r>
            <a:r>
              <a:rPr sz="1000" b="1" spc="50" dirty="0">
                <a:solidFill>
                  <a:srgbClr val="6C757C"/>
                </a:solidFill>
                <a:latin typeface="Arial"/>
                <a:cs typeface="Arial"/>
              </a:rPr>
              <a:t> </a:t>
            </a:r>
            <a:r>
              <a:rPr sz="1000" b="1" dirty="0">
                <a:solidFill>
                  <a:srgbClr val="6C757C"/>
                </a:solidFill>
                <a:latin typeface="Arial"/>
                <a:cs typeface="Arial"/>
              </a:rPr>
              <a:t>188</a:t>
            </a:r>
            <a:r>
              <a:rPr sz="1000" b="1" spc="15" dirty="0">
                <a:solidFill>
                  <a:srgbClr val="6C757C"/>
                </a:solidFill>
                <a:latin typeface="Arial"/>
                <a:cs typeface="Arial"/>
              </a:rPr>
              <a:t> </a:t>
            </a:r>
            <a:r>
              <a:rPr sz="1000" spc="-10" dirty="0" err="1">
                <a:solidFill>
                  <a:srgbClr val="6C757C"/>
                </a:solidFill>
                <a:latin typeface="Tahoma"/>
                <a:cs typeface="Tahoma"/>
              </a:rPr>
              <a:t>investigatio</a:t>
            </a:r>
            <a:r>
              <a:rPr lang="en-GB" sz="1000" spc="30" dirty="0">
                <a:solidFill>
                  <a:srgbClr val="6C757C"/>
                </a:solidFill>
                <a:latin typeface="Tahoma"/>
                <a:cs typeface="Tahoma"/>
              </a:rPr>
              <a:t>n reports</a:t>
            </a:r>
            <a:endParaRPr sz="1000" dirty="0">
              <a:latin typeface="Tahoma"/>
              <a:cs typeface="Tahoma"/>
            </a:endParaRPr>
          </a:p>
        </p:txBody>
      </p:sp>
      <p:sp>
        <p:nvSpPr>
          <p:cNvPr id="7" name="Slide Number Placeholder 6">
            <a:extLst>
              <a:ext uri="{FF2B5EF4-FFF2-40B4-BE49-F238E27FC236}">
                <a16:creationId xmlns:a16="http://schemas.microsoft.com/office/drawing/2014/main" id="{1B18A172-18FD-F3E8-78BA-E93E35B11A9A}"/>
              </a:ext>
            </a:extLst>
          </p:cNvPr>
          <p:cNvSpPr>
            <a:spLocks noGrp="1"/>
          </p:cNvSpPr>
          <p:nvPr>
            <p:ph type="sldNum" sz="quarter" idx="7"/>
          </p:nvPr>
        </p:nvSpPr>
        <p:spPr>
          <a:xfrm>
            <a:off x="5217160" y="3070861"/>
            <a:ext cx="548640" cy="173989"/>
          </a:xfrm>
        </p:spPr>
        <p:txBody>
          <a:bodyPr/>
          <a:lstStyle/>
          <a:p>
            <a:pPr marL="39370">
              <a:lnSpc>
                <a:spcPct val="100000"/>
              </a:lnSpc>
              <a:spcBef>
                <a:spcPts val="219"/>
              </a:spcBef>
            </a:pPr>
            <a:fld id="{81D60167-4931-47E6-BA6A-407CBD079E47}" type="slidenum">
              <a:rPr lang="en-GB" smtClean="0"/>
              <a:t>18</a:t>
            </a:fld>
            <a:r>
              <a:rPr lang="en-GB" spc="20" dirty="0"/>
              <a:t> </a:t>
            </a:r>
            <a:r>
              <a:rPr lang="en-GB" spc="120" dirty="0"/>
              <a:t>/</a:t>
            </a:r>
            <a:r>
              <a:rPr lang="en-GB" spc="25" dirty="0"/>
              <a:t> </a:t>
            </a:r>
            <a:r>
              <a:rPr lang="en-GB" spc="-25" dirty="0"/>
              <a:t>39</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01773" y="925014"/>
            <a:ext cx="900430" cy="993221"/>
          </a:xfrm>
          <a:prstGeom prst="rect">
            <a:avLst/>
          </a:prstGeom>
        </p:spPr>
        <p:txBody>
          <a:bodyPr vert="horz" wrap="square" lIns="0" tIns="15875" rIns="0" bIns="0" rtlCol="0">
            <a:spAutoFit/>
          </a:bodyPr>
          <a:lstStyle/>
          <a:p>
            <a:pPr marL="12700">
              <a:lnSpc>
                <a:spcPct val="100000"/>
              </a:lnSpc>
              <a:spcBef>
                <a:spcPts val="125"/>
              </a:spcBef>
            </a:pPr>
            <a:r>
              <a:rPr lang="en-GB" sz="6350" spc="-150" dirty="0">
                <a:solidFill>
                  <a:srgbClr val="FFFFFF"/>
                </a:solidFill>
              </a:rPr>
              <a:t>03</a:t>
            </a:r>
            <a:endParaRPr lang="en-GB" sz="6350" dirty="0"/>
          </a:p>
        </p:txBody>
      </p:sp>
      <p:sp>
        <p:nvSpPr>
          <p:cNvPr id="3" name="object 3"/>
          <p:cNvSpPr txBox="1"/>
          <p:nvPr/>
        </p:nvSpPr>
        <p:spPr>
          <a:xfrm>
            <a:off x="2239657" y="1131437"/>
            <a:ext cx="2757805" cy="511809"/>
          </a:xfrm>
          <a:prstGeom prst="rect">
            <a:avLst/>
          </a:prstGeom>
        </p:spPr>
        <p:txBody>
          <a:bodyPr vert="horz" wrap="square" lIns="0" tIns="17145" rIns="0" bIns="0" rtlCol="0">
            <a:spAutoFit/>
          </a:bodyPr>
          <a:lstStyle/>
          <a:p>
            <a:pPr marL="12700">
              <a:lnSpc>
                <a:spcPct val="100000"/>
              </a:lnSpc>
              <a:spcBef>
                <a:spcPts val="135"/>
              </a:spcBef>
            </a:pPr>
            <a:r>
              <a:rPr sz="3150" b="1" spc="-100" dirty="0">
                <a:solidFill>
                  <a:srgbClr val="202429"/>
                </a:solidFill>
                <a:latin typeface="Arial"/>
                <a:cs typeface="Arial"/>
              </a:rPr>
              <a:t>Summarisation</a:t>
            </a:r>
            <a:endParaRPr sz="3150">
              <a:latin typeface="Arial"/>
              <a:cs typeface="Arial"/>
            </a:endParaRPr>
          </a:p>
        </p:txBody>
      </p:sp>
      <p:sp>
        <p:nvSpPr>
          <p:cNvPr id="4" name="object 4"/>
          <p:cNvSpPr/>
          <p:nvPr/>
        </p:nvSpPr>
        <p:spPr>
          <a:xfrm>
            <a:off x="2252357" y="1794738"/>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sp>
        <p:nvSpPr>
          <p:cNvPr id="5" name="object 5"/>
          <p:cNvSpPr txBox="1"/>
          <p:nvPr/>
        </p:nvSpPr>
        <p:spPr>
          <a:xfrm>
            <a:off x="2239657" y="1922599"/>
            <a:ext cx="2673350" cy="207645"/>
          </a:xfrm>
          <a:prstGeom prst="rect">
            <a:avLst/>
          </a:prstGeom>
        </p:spPr>
        <p:txBody>
          <a:bodyPr vert="horz" wrap="square" lIns="0" tIns="12065" rIns="0" bIns="0" rtlCol="0">
            <a:spAutoFit/>
          </a:bodyPr>
          <a:lstStyle/>
          <a:p>
            <a:pPr marL="12700">
              <a:lnSpc>
                <a:spcPct val="100000"/>
              </a:lnSpc>
              <a:spcBef>
                <a:spcPts val="95"/>
              </a:spcBef>
            </a:pPr>
            <a:r>
              <a:rPr sz="1200" spc="-30" dirty="0">
                <a:solidFill>
                  <a:srgbClr val="6C757C"/>
                </a:solidFill>
                <a:latin typeface="Tahoma"/>
                <a:cs typeface="Tahoma"/>
              </a:rPr>
              <a:t>Multi-</a:t>
            </a:r>
            <a:r>
              <a:rPr sz="1200" spc="-50" dirty="0">
                <a:solidFill>
                  <a:srgbClr val="6C757C"/>
                </a:solidFill>
                <a:latin typeface="Tahoma"/>
                <a:cs typeface="Tahoma"/>
              </a:rPr>
              <a:t>document</a:t>
            </a:r>
            <a:r>
              <a:rPr sz="1200" spc="-25" dirty="0">
                <a:solidFill>
                  <a:srgbClr val="6C757C"/>
                </a:solidFill>
                <a:latin typeface="Tahoma"/>
                <a:cs typeface="Tahoma"/>
              </a:rPr>
              <a:t> </a:t>
            </a:r>
            <a:r>
              <a:rPr sz="1200" spc="-60" dirty="0">
                <a:solidFill>
                  <a:srgbClr val="6C757C"/>
                </a:solidFill>
                <a:latin typeface="Tahoma"/>
                <a:cs typeface="Tahoma"/>
              </a:rPr>
              <a:t>synthesis</a:t>
            </a:r>
            <a:r>
              <a:rPr sz="1200" spc="-15" dirty="0">
                <a:solidFill>
                  <a:srgbClr val="6C757C"/>
                </a:solidFill>
                <a:latin typeface="Tahoma"/>
                <a:cs typeface="Tahoma"/>
              </a:rPr>
              <a:t> </a:t>
            </a:r>
            <a:r>
              <a:rPr sz="1200" spc="-65" dirty="0">
                <a:solidFill>
                  <a:srgbClr val="6C757C"/>
                </a:solidFill>
                <a:latin typeface="Tahoma"/>
                <a:cs typeface="Tahoma"/>
              </a:rPr>
              <a:t>by</a:t>
            </a:r>
            <a:r>
              <a:rPr sz="1200" spc="-25" dirty="0">
                <a:solidFill>
                  <a:srgbClr val="6C757C"/>
                </a:solidFill>
                <a:latin typeface="Tahoma"/>
                <a:cs typeface="Tahoma"/>
              </a:rPr>
              <a:t> </a:t>
            </a:r>
            <a:r>
              <a:rPr sz="1200" spc="-75" dirty="0">
                <a:solidFill>
                  <a:srgbClr val="6C757C"/>
                </a:solidFill>
                <a:latin typeface="Tahoma"/>
                <a:cs typeface="Tahoma"/>
              </a:rPr>
              <a:t>human</a:t>
            </a:r>
            <a:r>
              <a:rPr sz="1200" spc="-15" dirty="0">
                <a:solidFill>
                  <a:srgbClr val="6C757C"/>
                </a:solidFill>
                <a:latin typeface="Tahoma"/>
                <a:cs typeface="Tahoma"/>
              </a:rPr>
              <a:t> </a:t>
            </a:r>
            <a:r>
              <a:rPr sz="1200" spc="-10" dirty="0">
                <a:solidFill>
                  <a:srgbClr val="6C757C"/>
                </a:solidFill>
                <a:latin typeface="Tahoma"/>
                <a:cs typeface="Tahoma"/>
              </a:rPr>
              <a:t>factor</a:t>
            </a:r>
            <a:endParaRPr sz="1200" dirty="0">
              <a:latin typeface="Tahoma"/>
              <a:cs typeface="Tahom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40231" y="514308"/>
            <a:ext cx="3862070" cy="1354455"/>
          </a:xfrm>
          <a:prstGeom prst="rect">
            <a:avLst/>
          </a:prstGeom>
        </p:spPr>
        <p:txBody>
          <a:bodyPr vert="horz" wrap="square" lIns="0" tIns="43180" rIns="0" bIns="0" rtlCol="0">
            <a:spAutoFit/>
          </a:bodyPr>
          <a:lstStyle/>
          <a:p>
            <a:pPr marL="12065" marR="5080" algn="ctr">
              <a:lnSpc>
                <a:spcPts val="2690"/>
              </a:lnSpc>
              <a:spcBef>
                <a:spcPts val="340"/>
              </a:spcBef>
            </a:pPr>
            <a:r>
              <a:rPr sz="2400" i="1" dirty="0">
                <a:solidFill>
                  <a:srgbClr val="202429"/>
                </a:solidFill>
                <a:latin typeface="Calibri"/>
                <a:cs typeface="Calibri"/>
              </a:rPr>
              <a:t>Can</a:t>
            </a:r>
            <a:r>
              <a:rPr sz="2400" i="1" spc="40" dirty="0">
                <a:solidFill>
                  <a:srgbClr val="202429"/>
                </a:solidFill>
                <a:latin typeface="Calibri"/>
                <a:cs typeface="Calibri"/>
              </a:rPr>
              <a:t> </a:t>
            </a:r>
            <a:r>
              <a:rPr sz="2400" i="1" spc="-85" dirty="0">
                <a:solidFill>
                  <a:srgbClr val="202429"/>
                </a:solidFill>
                <a:latin typeface="Calibri"/>
                <a:cs typeface="Calibri"/>
              </a:rPr>
              <a:t>we</a:t>
            </a:r>
            <a:r>
              <a:rPr sz="2400" i="1" spc="40" dirty="0">
                <a:solidFill>
                  <a:srgbClr val="202429"/>
                </a:solidFill>
                <a:latin typeface="Calibri"/>
                <a:cs typeface="Calibri"/>
              </a:rPr>
              <a:t> </a:t>
            </a:r>
            <a:r>
              <a:rPr sz="2400" i="1" spc="-65" dirty="0">
                <a:solidFill>
                  <a:srgbClr val="202429"/>
                </a:solidFill>
                <a:latin typeface="Calibri"/>
                <a:cs typeface="Calibri"/>
              </a:rPr>
              <a:t>automatically</a:t>
            </a:r>
            <a:r>
              <a:rPr sz="2400" i="1" spc="45" dirty="0">
                <a:solidFill>
                  <a:srgbClr val="202429"/>
                </a:solidFill>
                <a:latin typeface="Calibri"/>
                <a:cs typeface="Calibri"/>
              </a:rPr>
              <a:t> </a:t>
            </a:r>
            <a:r>
              <a:rPr sz="2400" i="1" spc="-65" dirty="0">
                <a:solidFill>
                  <a:srgbClr val="202429"/>
                </a:solidFill>
                <a:latin typeface="Calibri"/>
                <a:cs typeface="Calibri"/>
              </a:rPr>
              <a:t>synthesise </a:t>
            </a:r>
            <a:r>
              <a:rPr sz="2400" i="1" spc="-40" dirty="0">
                <a:solidFill>
                  <a:srgbClr val="202429"/>
                </a:solidFill>
                <a:latin typeface="Calibri"/>
                <a:cs typeface="Calibri"/>
              </a:rPr>
              <a:t>ﬁndings</a:t>
            </a:r>
            <a:r>
              <a:rPr sz="2400" i="1" spc="-35" dirty="0">
                <a:solidFill>
                  <a:srgbClr val="202429"/>
                </a:solidFill>
                <a:latin typeface="Calibri"/>
                <a:cs typeface="Calibri"/>
              </a:rPr>
              <a:t> </a:t>
            </a:r>
            <a:r>
              <a:rPr sz="2400" i="1" spc="-45" dirty="0">
                <a:solidFill>
                  <a:srgbClr val="202429"/>
                </a:solidFill>
                <a:latin typeface="Calibri"/>
                <a:cs typeface="Calibri"/>
              </a:rPr>
              <a:t>across</a:t>
            </a:r>
            <a:r>
              <a:rPr sz="2400" i="1" spc="-35" dirty="0">
                <a:solidFill>
                  <a:srgbClr val="202429"/>
                </a:solidFill>
                <a:latin typeface="Calibri"/>
                <a:cs typeface="Calibri"/>
              </a:rPr>
              <a:t> </a:t>
            </a:r>
            <a:r>
              <a:rPr sz="2400" i="1" spc="-20" dirty="0">
                <a:solidFill>
                  <a:srgbClr val="202429"/>
                </a:solidFill>
                <a:latin typeface="Calibri"/>
                <a:cs typeface="Calibri"/>
              </a:rPr>
              <a:t>188</a:t>
            </a:r>
            <a:r>
              <a:rPr sz="2400" i="1" spc="-30" dirty="0">
                <a:solidFill>
                  <a:srgbClr val="202429"/>
                </a:solidFill>
                <a:latin typeface="Calibri"/>
                <a:cs typeface="Calibri"/>
              </a:rPr>
              <a:t> </a:t>
            </a:r>
            <a:r>
              <a:rPr sz="2400" i="1" spc="-10" dirty="0">
                <a:solidFill>
                  <a:srgbClr val="202429"/>
                </a:solidFill>
                <a:latin typeface="Calibri"/>
                <a:cs typeface="Calibri"/>
              </a:rPr>
              <a:t>reports</a:t>
            </a:r>
            <a:endParaRPr sz="2400">
              <a:latin typeface="Calibri"/>
              <a:cs typeface="Calibri"/>
            </a:endParaRPr>
          </a:p>
          <a:p>
            <a:pPr marL="473709" marR="471805" algn="ctr">
              <a:lnSpc>
                <a:spcPct val="77100"/>
              </a:lnSpc>
              <a:spcBef>
                <a:spcPts val="400"/>
              </a:spcBef>
            </a:pPr>
            <a:r>
              <a:rPr sz="2400" i="1" dirty="0">
                <a:solidFill>
                  <a:srgbClr val="202429"/>
                </a:solidFill>
                <a:latin typeface="Calibri"/>
                <a:cs typeface="Calibri"/>
              </a:rPr>
              <a:t>into</a:t>
            </a:r>
            <a:r>
              <a:rPr sz="2400" i="1" spc="-15" dirty="0">
                <a:solidFill>
                  <a:srgbClr val="202429"/>
                </a:solidFill>
                <a:latin typeface="Calibri"/>
                <a:cs typeface="Calibri"/>
              </a:rPr>
              <a:t> </a:t>
            </a:r>
            <a:r>
              <a:rPr sz="2400" i="1" spc="-65" dirty="0">
                <a:solidFill>
                  <a:srgbClr val="202429"/>
                </a:solidFill>
                <a:latin typeface="Calibri"/>
                <a:cs typeface="Calibri"/>
              </a:rPr>
              <a:t>coherent</a:t>
            </a:r>
            <a:r>
              <a:rPr sz="2400" i="1" spc="-20" dirty="0">
                <a:solidFill>
                  <a:srgbClr val="202429"/>
                </a:solidFill>
                <a:latin typeface="Calibri"/>
                <a:cs typeface="Calibri"/>
              </a:rPr>
              <a:t> </a:t>
            </a:r>
            <a:r>
              <a:rPr sz="2400" i="1" spc="-95" dirty="0">
                <a:solidFill>
                  <a:srgbClr val="202429"/>
                </a:solidFill>
                <a:latin typeface="Calibri"/>
                <a:cs typeface="Calibri"/>
              </a:rPr>
              <a:t>summaries </a:t>
            </a:r>
            <a:r>
              <a:rPr sz="2400" i="1" spc="-25" dirty="0">
                <a:solidFill>
                  <a:srgbClr val="202429"/>
                </a:solidFill>
                <a:latin typeface="Calibri"/>
                <a:cs typeface="Calibri"/>
              </a:rPr>
              <a:t>for </a:t>
            </a:r>
            <a:r>
              <a:rPr sz="2400" i="1" spc="-50" dirty="0">
                <a:solidFill>
                  <a:srgbClr val="202429"/>
                </a:solidFill>
                <a:latin typeface="Calibri"/>
                <a:cs typeface="Calibri"/>
              </a:rPr>
              <a:t>each</a:t>
            </a:r>
            <a:r>
              <a:rPr sz="2400" i="1" spc="-25" dirty="0">
                <a:solidFill>
                  <a:srgbClr val="202429"/>
                </a:solidFill>
                <a:latin typeface="Calibri"/>
                <a:cs typeface="Calibri"/>
              </a:rPr>
              <a:t> </a:t>
            </a:r>
            <a:r>
              <a:rPr sz="2400" i="1" spc="-70" dirty="0">
                <a:solidFill>
                  <a:srgbClr val="202429"/>
                </a:solidFill>
                <a:latin typeface="Calibri"/>
                <a:cs typeface="Calibri"/>
              </a:rPr>
              <a:t>human</a:t>
            </a:r>
            <a:r>
              <a:rPr sz="2400" i="1" spc="-20" dirty="0">
                <a:solidFill>
                  <a:srgbClr val="202429"/>
                </a:solidFill>
                <a:latin typeface="Calibri"/>
                <a:cs typeface="Calibri"/>
              </a:rPr>
              <a:t> </a:t>
            </a:r>
            <a:r>
              <a:rPr sz="2400" i="1" spc="-10" dirty="0">
                <a:solidFill>
                  <a:srgbClr val="202429"/>
                </a:solidFill>
                <a:latin typeface="Calibri"/>
                <a:cs typeface="Calibri"/>
              </a:rPr>
              <a:t>factor?</a:t>
            </a:r>
            <a:endParaRPr sz="2400">
              <a:latin typeface="Calibri"/>
              <a:cs typeface="Calibri"/>
            </a:endParaRPr>
          </a:p>
        </p:txBody>
      </p:sp>
      <p:sp>
        <p:nvSpPr>
          <p:cNvPr id="3" name="object 3"/>
          <p:cNvSpPr/>
          <p:nvPr/>
        </p:nvSpPr>
        <p:spPr>
          <a:xfrm>
            <a:off x="2430005" y="2165400"/>
            <a:ext cx="900430" cy="0"/>
          </a:xfrm>
          <a:custGeom>
            <a:avLst/>
            <a:gdLst/>
            <a:ahLst/>
            <a:cxnLst/>
            <a:rect l="l" t="t" r="r" b="b"/>
            <a:pathLst>
              <a:path w="900429">
                <a:moveTo>
                  <a:pt x="0" y="0"/>
                </a:moveTo>
                <a:lnTo>
                  <a:pt x="899998" y="0"/>
                </a:lnTo>
              </a:path>
            </a:pathLst>
          </a:custGeom>
          <a:ln w="18978">
            <a:solidFill>
              <a:srgbClr val="005F73"/>
            </a:solidFill>
          </a:ln>
        </p:spPr>
        <p:txBody>
          <a:bodyPr wrap="square" lIns="0" tIns="0" rIns="0" bIns="0" rtlCol="0"/>
          <a:lstStyle/>
          <a:p>
            <a:endParaRPr/>
          </a:p>
        </p:txBody>
      </p:sp>
      <p:sp>
        <p:nvSpPr>
          <p:cNvPr id="4" name="object 4"/>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46507" rIns="0" bIns="0" rtlCol="0">
            <a:spAutoFit/>
          </a:bodyPr>
          <a:lstStyle/>
          <a:p>
            <a:pPr marL="99060">
              <a:lnSpc>
                <a:spcPct val="100000"/>
              </a:lnSpc>
              <a:spcBef>
                <a:spcPts val="390"/>
              </a:spcBef>
            </a:pPr>
            <a:r>
              <a:rPr spc="-10" dirty="0"/>
              <a:t>Example AI-Generated Summaries</a:t>
            </a:r>
          </a:p>
          <a:p>
            <a:pPr marL="99060">
              <a:lnSpc>
                <a:spcPct val="100000"/>
              </a:lnSpc>
              <a:spcBef>
                <a:spcPts val="195"/>
              </a:spcBef>
            </a:pPr>
            <a:r>
              <a:rPr sz="1100" b="0" spc="-35" dirty="0">
                <a:solidFill>
                  <a:srgbClr val="6C757C"/>
                </a:solidFill>
                <a:latin typeface="Tahoma"/>
                <a:cs typeface="Tahoma"/>
              </a:rPr>
              <a:t>Demonstrating</a:t>
            </a:r>
            <a:r>
              <a:rPr sz="1100" b="0" spc="-10" dirty="0">
                <a:solidFill>
                  <a:srgbClr val="6C757C"/>
                </a:solidFill>
                <a:latin typeface="Tahoma"/>
                <a:cs typeface="Tahoma"/>
              </a:rPr>
              <a:t> </a:t>
            </a:r>
            <a:r>
              <a:rPr sz="1100" b="0" spc="-45" dirty="0">
                <a:solidFill>
                  <a:srgbClr val="6C757C"/>
                </a:solidFill>
                <a:latin typeface="Tahoma"/>
                <a:cs typeface="Tahoma"/>
              </a:rPr>
              <a:t>summarisation</a:t>
            </a:r>
            <a:r>
              <a:rPr sz="1100" b="0" spc="-10" dirty="0">
                <a:solidFill>
                  <a:srgbClr val="6C757C"/>
                </a:solidFill>
                <a:latin typeface="Tahoma"/>
                <a:cs typeface="Tahoma"/>
              </a:rPr>
              <a:t> </a:t>
            </a:r>
            <a:r>
              <a:rPr sz="1100" b="0" spc="-20" dirty="0">
                <a:solidFill>
                  <a:srgbClr val="6C757C"/>
                </a:solidFill>
                <a:latin typeface="Tahoma"/>
                <a:cs typeface="Tahoma"/>
              </a:rPr>
              <a:t>quality</a:t>
            </a:r>
            <a:r>
              <a:rPr sz="1100" b="0" spc="-10" dirty="0">
                <a:solidFill>
                  <a:srgbClr val="6C757C"/>
                </a:solidFill>
                <a:latin typeface="Tahoma"/>
                <a:cs typeface="Tahoma"/>
              </a:rPr>
              <a:t> </a:t>
            </a:r>
            <a:r>
              <a:rPr sz="1100" b="0" spc="-40" dirty="0">
                <a:solidFill>
                  <a:srgbClr val="6C757C"/>
                </a:solidFill>
                <a:latin typeface="Tahoma"/>
                <a:cs typeface="Tahoma"/>
              </a:rPr>
              <a:t>and</a:t>
            </a:r>
            <a:r>
              <a:rPr sz="1100" b="0" spc="-10" dirty="0">
                <a:solidFill>
                  <a:srgbClr val="6C757C"/>
                </a:solidFill>
                <a:latin typeface="Tahoma"/>
                <a:cs typeface="Tahoma"/>
              </a:rPr>
              <a:t> traceability</a:t>
            </a:r>
            <a:endParaRPr sz="1100">
              <a:latin typeface="Tahoma"/>
              <a:cs typeface="Tahoma"/>
            </a:endParaRPr>
          </a:p>
        </p:txBody>
      </p:sp>
      <p:sp>
        <p:nvSpPr>
          <p:cNvPr id="3" name="object 3"/>
          <p:cNvSpPr/>
          <p:nvPr/>
        </p:nvSpPr>
        <p:spPr>
          <a:xfrm>
            <a:off x="359994" y="700722"/>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sp>
        <p:nvSpPr>
          <p:cNvPr id="4" name="object 4"/>
          <p:cNvSpPr txBox="1"/>
          <p:nvPr/>
        </p:nvSpPr>
        <p:spPr>
          <a:xfrm>
            <a:off x="227304" y="834947"/>
            <a:ext cx="1603375" cy="191770"/>
          </a:xfrm>
          <a:prstGeom prst="rect">
            <a:avLst/>
          </a:prstGeom>
        </p:spPr>
        <p:txBody>
          <a:bodyPr vert="horz" wrap="square" lIns="0" tIns="11430" rIns="0" bIns="0" rtlCol="0">
            <a:spAutoFit/>
          </a:bodyPr>
          <a:lstStyle/>
          <a:p>
            <a:pPr marL="12700">
              <a:lnSpc>
                <a:spcPct val="100000"/>
              </a:lnSpc>
              <a:spcBef>
                <a:spcPts val="90"/>
              </a:spcBef>
            </a:pPr>
            <a:r>
              <a:rPr sz="1100" b="1" spc="-40" dirty="0">
                <a:solidFill>
                  <a:srgbClr val="202429"/>
                </a:solidFill>
                <a:latin typeface="Arial"/>
                <a:cs typeface="Arial"/>
              </a:rPr>
              <a:t>Communication</a:t>
            </a:r>
            <a:r>
              <a:rPr sz="1100" b="1" spc="25" dirty="0">
                <a:solidFill>
                  <a:srgbClr val="202429"/>
                </a:solidFill>
                <a:latin typeface="Arial"/>
                <a:cs typeface="Arial"/>
              </a:rPr>
              <a:t> </a:t>
            </a:r>
            <a:r>
              <a:rPr sz="1100" b="1" spc="-35" dirty="0">
                <a:solidFill>
                  <a:srgbClr val="202429"/>
                </a:solidFill>
                <a:latin typeface="Arial"/>
                <a:cs typeface="Arial"/>
              </a:rPr>
              <a:t>concept:</a:t>
            </a:r>
            <a:endParaRPr sz="1100">
              <a:latin typeface="Arial"/>
              <a:cs typeface="Arial"/>
            </a:endParaRPr>
          </a:p>
        </p:txBody>
      </p:sp>
      <p:sp>
        <p:nvSpPr>
          <p:cNvPr id="5" name="object 5"/>
          <p:cNvSpPr txBox="1"/>
          <p:nvPr/>
        </p:nvSpPr>
        <p:spPr>
          <a:xfrm>
            <a:off x="242531" y="1028318"/>
            <a:ext cx="2241550" cy="1505348"/>
          </a:xfrm>
          <a:prstGeom prst="rect">
            <a:avLst/>
          </a:prstGeom>
          <a:solidFill>
            <a:srgbClr val="F8F8F9"/>
          </a:solidFill>
          <a:ln w="5060">
            <a:solidFill>
              <a:srgbClr val="CED3DA"/>
            </a:solidFill>
          </a:ln>
        </p:spPr>
        <p:txBody>
          <a:bodyPr vert="horz" wrap="square" lIns="0" tIns="50800" rIns="0" bIns="0" rtlCol="0">
            <a:spAutoFit/>
          </a:bodyPr>
          <a:lstStyle/>
          <a:p>
            <a:pPr marL="40005" algn="just">
              <a:lnSpc>
                <a:spcPct val="150000"/>
              </a:lnSpc>
              <a:spcBef>
                <a:spcPts val="400"/>
              </a:spcBef>
            </a:pPr>
            <a:r>
              <a:rPr sz="800" b="1" spc="-20" dirty="0">
                <a:solidFill>
                  <a:srgbClr val="202429"/>
                </a:solidFill>
                <a:latin typeface="Arial"/>
                <a:cs typeface="Arial"/>
              </a:rPr>
              <a:t>Heading:</a:t>
            </a:r>
            <a:r>
              <a:rPr sz="800" b="1" spc="135" dirty="0">
                <a:solidFill>
                  <a:srgbClr val="202429"/>
                </a:solidFill>
                <a:latin typeface="Arial"/>
                <a:cs typeface="Arial"/>
              </a:rPr>
              <a:t> </a:t>
            </a:r>
            <a:r>
              <a:rPr sz="800" dirty="0">
                <a:solidFill>
                  <a:srgbClr val="202429"/>
                </a:solidFill>
                <a:latin typeface="Tahoma"/>
                <a:cs typeface="Tahoma"/>
              </a:rPr>
              <a:t>Staﬀ</a:t>
            </a:r>
            <a:r>
              <a:rPr sz="800" spc="15" dirty="0">
                <a:solidFill>
                  <a:srgbClr val="202429"/>
                </a:solidFill>
                <a:latin typeface="Tahoma"/>
                <a:cs typeface="Tahoma"/>
              </a:rPr>
              <a:t> </a:t>
            </a:r>
            <a:r>
              <a:rPr sz="800" dirty="0">
                <a:solidFill>
                  <a:srgbClr val="202429"/>
                </a:solidFill>
                <a:latin typeface="Tahoma"/>
                <a:cs typeface="Tahoma"/>
              </a:rPr>
              <a:t>not</a:t>
            </a:r>
            <a:r>
              <a:rPr sz="800" spc="15" dirty="0">
                <a:solidFill>
                  <a:srgbClr val="202429"/>
                </a:solidFill>
                <a:latin typeface="Tahoma"/>
                <a:cs typeface="Tahoma"/>
              </a:rPr>
              <a:t> </a:t>
            </a:r>
            <a:r>
              <a:rPr sz="800" spc="-10" dirty="0">
                <a:solidFill>
                  <a:srgbClr val="202429"/>
                </a:solidFill>
                <a:latin typeface="Tahoma"/>
                <a:cs typeface="Tahoma"/>
              </a:rPr>
              <a:t>heard</a:t>
            </a:r>
            <a:endParaRPr sz="800" dirty="0">
              <a:latin typeface="Tahoma"/>
              <a:cs typeface="Tahoma"/>
            </a:endParaRPr>
          </a:p>
          <a:p>
            <a:pPr marL="40005" marR="31750" algn="just">
              <a:lnSpc>
                <a:spcPct val="150000"/>
              </a:lnSpc>
            </a:pPr>
            <a:r>
              <a:rPr sz="800" dirty="0">
                <a:solidFill>
                  <a:srgbClr val="202429"/>
                </a:solidFill>
                <a:latin typeface="Tahoma"/>
                <a:cs typeface="Tahoma"/>
              </a:rPr>
              <a:t>Staﬀ</a:t>
            </a:r>
            <a:r>
              <a:rPr sz="800" spc="45" dirty="0">
                <a:solidFill>
                  <a:srgbClr val="202429"/>
                </a:solidFill>
                <a:latin typeface="Tahoma"/>
                <a:cs typeface="Tahoma"/>
              </a:rPr>
              <a:t> </a:t>
            </a:r>
            <a:r>
              <a:rPr sz="800" dirty="0">
                <a:solidFill>
                  <a:srgbClr val="202429"/>
                </a:solidFill>
                <a:latin typeface="Tahoma"/>
                <a:cs typeface="Tahoma"/>
              </a:rPr>
              <a:t>voiced</a:t>
            </a:r>
            <a:r>
              <a:rPr sz="800" spc="45" dirty="0">
                <a:solidFill>
                  <a:srgbClr val="202429"/>
                </a:solidFill>
                <a:latin typeface="Tahoma"/>
                <a:cs typeface="Tahoma"/>
              </a:rPr>
              <a:t> </a:t>
            </a:r>
            <a:r>
              <a:rPr sz="800" dirty="0">
                <a:solidFill>
                  <a:srgbClr val="202429"/>
                </a:solidFill>
                <a:latin typeface="Tahoma"/>
                <a:cs typeface="Tahoma"/>
              </a:rPr>
              <a:t>concerns</a:t>
            </a:r>
            <a:r>
              <a:rPr sz="800" spc="50" dirty="0">
                <a:solidFill>
                  <a:srgbClr val="202429"/>
                </a:solidFill>
                <a:latin typeface="Tahoma"/>
                <a:cs typeface="Tahoma"/>
              </a:rPr>
              <a:t> </a:t>
            </a:r>
            <a:r>
              <a:rPr sz="800" dirty="0">
                <a:solidFill>
                  <a:srgbClr val="202429"/>
                </a:solidFill>
                <a:latin typeface="Tahoma"/>
                <a:cs typeface="Tahoma"/>
              </a:rPr>
              <a:t>to</a:t>
            </a:r>
            <a:r>
              <a:rPr sz="800" spc="45" dirty="0">
                <a:solidFill>
                  <a:srgbClr val="202429"/>
                </a:solidFill>
                <a:latin typeface="Tahoma"/>
                <a:cs typeface="Tahoma"/>
              </a:rPr>
              <a:t> </a:t>
            </a:r>
            <a:r>
              <a:rPr sz="800" dirty="0">
                <a:solidFill>
                  <a:srgbClr val="202429"/>
                </a:solidFill>
                <a:latin typeface="Tahoma"/>
                <a:cs typeface="Tahoma"/>
              </a:rPr>
              <a:t>the</a:t>
            </a:r>
            <a:r>
              <a:rPr sz="800" spc="50" dirty="0">
                <a:solidFill>
                  <a:srgbClr val="202429"/>
                </a:solidFill>
                <a:latin typeface="Tahoma"/>
                <a:cs typeface="Tahoma"/>
              </a:rPr>
              <a:t> </a:t>
            </a:r>
            <a:r>
              <a:rPr sz="800" dirty="0">
                <a:solidFill>
                  <a:srgbClr val="202429"/>
                </a:solidFill>
                <a:latin typeface="Tahoma"/>
                <a:cs typeface="Tahoma"/>
              </a:rPr>
              <a:t>senior</a:t>
            </a:r>
            <a:r>
              <a:rPr sz="800" spc="45" dirty="0">
                <a:solidFill>
                  <a:srgbClr val="202429"/>
                </a:solidFill>
                <a:latin typeface="Tahoma"/>
                <a:cs typeface="Tahoma"/>
              </a:rPr>
              <a:t> </a:t>
            </a:r>
            <a:r>
              <a:rPr sz="800" spc="-10" dirty="0">
                <a:solidFill>
                  <a:srgbClr val="202429"/>
                </a:solidFill>
                <a:latin typeface="Tahoma"/>
                <a:cs typeface="Tahoma"/>
              </a:rPr>
              <a:t>obstetrician </a:t>
            </a:r>
            <a:r>
              <a:rPr sz="800" dirty="0">
                <a:solidFill>
                  <a:srgbClr val="202429"/>
                </a:solidFill>
                <a:latin typeface="Tahoma"/>
                <a:cs typeface="Tahoma"/>
              </a:rPr>
              <a:t>but were left feeling unheard.</a:t>
            </a:r>
            <a:r>
              <a:rPr sz="800" spc="470" dirty="0">
                <a:solidFill>
                  <a:srgbClr val="202429"/>
                </a:solidFill>
                <a:latin typeface="Tahoma"/>
                <a:cs typeface="Tahoma"/>
              </a:rPr>
              <a:t> </a:t>
            </a:r>
            <a:r>
              <a:rPr sz="800" dirty="0">
                <a:solidFill>
                  <a:srgbClr val="202429"/>
                </a:solidFill>
                <a:latin typeface="Tahoma"/>
                <a:cs typeface="Tahoma"/>
              </a:rPr>
              <a:t>No formal </a:t>
            </a:r>
            <a:r>
              <a:rPr sz="800" spc="-25" dirty="0">
                <a:solidFill>
                  <a:srgbClr val="202429"/>
                </a:solidFill>
                <a:latin typeface="Tahoma"/>
                <a:cs typeface="Tahoma"/>
              </a:rPr>
              <a:t>de-</a:t>
            </a:r>
            <a:r>
              <a:rPr sz="800" dirty="0">
                <a:solidFill>
                  <a:srgbClr val="202429"/>
                </a:solidFill>
                <a:latin typeface="Tahoma"/>
                <a:cs typeface="Tahoma"/>
              </a:rPr>
              <a:t>brieﬁng</a:t>
            </a:r>
            <a:r>
              <a:rPr sz="800" spc="-15" dirty="0">
                <a:solidFill>
                  <a:srgbClr val="202429"/>
                </a:solidFill>
                <a:latin typeface="Tahoma"/>
                <a:cs typeface="Tahoma"/>
              </a:rPr>
              <a:t> </a:t>
            </a:r>
            <a:r>
              <a:rPr sz="800" spc="-10" dirty="0">
                <a:solidFill>
                  <a:srgbClr val="202429"/>
                </a:solidFill>
                <a:latin typeface="Tahoma"/>
                <a:cs typeface="Tahoma"/>
              </a:rPr>
              <a:t>occurred, </a:t>
            </a:r>
            <a:r>
              <a:rPr sz="800" dirty="0">
                <a:solidFill>
                  <a:srgbClr val="202429"/>
                </a:solidFill>
                <a:latin typeface="Tahoma"/>
                <a:cs typeface="Tahoma"/>
              </a:rPr>
              <a:t>which</a:t>
            </a:r>
            <a:r>
              <a:rPr sz="800" spc="-10" dirty="0">
                <a:solidFill>
                  <a:srgbClr val="202429"/>
                </a:solidFill>
                <a:latin typeface="Tahoma"/>
                <a:cs typeface="Tahoma"/>
              </a:rPr>
              <a:t> </a:t>
            </a:r>
            <a:r>
              <a:rPr sz="800" dirty="0">
                <a:solidFill>
                  <a:srgbClr val="202429"/>
                </a:solidFill>
                <a:latin typeface="Tahoma"/>
                <a:cs typeface="Tahoma"/>
              </a:rPr>
              <a:t>staﬀ</a:t>
            </a:r>
            <a:r>
              <a:rPr sz="800" spc="-10" dirty="0">
                <a:solidFill>
                  <a:srgbClr val="202429"/>
                </a:solidFill>
                <a:latin typeface="Tahoma"/>
                <a:cs typeface="Tahoma"/>
              </a:rPr>
              <a:t> valued. </a:t>
            </a:r>
            <a:r>
              <a:rPr sz="800" dirty="0">
                <a:solidFill>
                  <a:srgbClr val="202429"/>
                </a:solidFill>
                <a:latin typeface="Tahoma"/>
                <a:cs typeface="Tahoma"/>
              </a:rPr>
              <a:t>The</a:t>
            </a:r>
            <a:r>
              <a:rPr sz="800" spc="-20" dirty="0">
                <a:solidFill>
                  <a:srgbClr val="202429"/>
                </a:solidFill>
                <a:latin typeface="Tahoma"/>
                <a:cs typeface="Tahoma"/>
              </a:rPr>
              <a:t> </a:t>
            </a:r>
            <a:r>
              <a:rPr sz="800" dirty="0">
                <a:solidFill>
                  <a:srgbClr val="202429"/>
                </a:solidFill>
                <a:latin typeface="Tahoma"/>
                <a:cs typeface="Tahoma"/>
              </a:rPr>
              <a:t>opportunity</a:t>
            </a:r>
            <a:r>
              <a:rPr sz="800" spc="-20" dirty="0">
                <a:solidFill>
                  <a:srgbClr val="202429"/>
                </a:solidFill>
                <a:latin typeface="Tahoma"/>
                <a:cs typeface="Tahoma"/>
              </a:rPr>
              <a:t> </a:t>
            </a:r>
            <a:r>
              <a:rPr sz="800" dirty="0">
                <a:solidFill>
                  <a:srgbClr val="202429"/>
                </a:solidFill>
                <a:latin typeface="Tahoma"/>
                <a:cs typeface="Tahoma"/>
              </a:rPr>
              <a:t>to</a:t>
            </a:r>
            <a:r>
              <a:rPr sz="800" spc="-20" dirty="0">
                <a:solidFill>
                  <a:srgbClr val="202429"/>
                </a:solidFill>
                <a:latin typeface="Tahoma"/>
                <a:cs typeface="Tahoma"/>
              </a:rPr>
              <a:t> </a:t>
            </a:r>
            <a:r>
              <a:rPr sz="800" spc="-30" dirty="0">
                <a:solidFill>
                  <a:srgbClr val="202429"/>
                </a:solidFill>
                <a:latin typeface="Tahoma"/>
                <a:cs typeface="Tahoma"/>
              </a:rPr>
              <a:t>share </a:t>
            </a:r>
            <a:r>
              <a:rPr sz="800" spc="-10" dirty="0">
                <a:solidFill>
                  <a:srgbClr val="202429"/>
                </a:solidFill>
                <a:latin typeface="Tahoma"/>
                <a:cs typeface="Tahoma"/>
              </a:rPr>
              <a:t>reﬂections</a:t>
            </a:r>
            <a:r>
              <a:rPr sz="800" spc="-20" dirty="0">
                <a:solidFill>
                  <a:srgbClr val="202429"/>
                </a:solidFill>
                <a:latin typeface="Tahoma"/>
                <a:cs typeface="Tahoma"/>
              </a:rPr>
              <a:t> </a:t>
            </a:r>
            <a:r>
              <a:rPr sz="800" dirty="0">
                <a:solidFill>
                  <a:srgbClr val="202429"/>
                </a:solidFill>
                <a:latin typeface="Tahoma"/>
                <a:cs typeface="Tahoma"/>
              </a:rPr>
              <a:t>wasn’t</a:t>
            </a:r>
            <a:r>
              <a:rPr sz="800" spc="-20" dirty="0">
                <a:solidFill>
                  <a:srgbClr val="202429"/>
                </a:solidFill>
                <a:latin typeface="Tahoma"/>
                <a:cs typeface="Tahoma"/>
              </a:rPr>
              <a:t> com-</a:t>
            </a:r>
            <a:r>
              <a:rPr sz="800" dirty="0">
                <a:solidFill>
                  <a:srgbClr val="202429"/>
                </a:solidFill>
                <a:latin typeface="Tahoma"/>
                <a:cs typeface="Tahoma"/>
              </a:rPr>
              <a:t>pleted with</a:t>
            </a:r>
            <a:r>
              <a:rPr sz="800" spc="5" dirty="0">
                <a:solidFill>
                  <a:srgbClr val="202429"/>
                </a:solidFill>
                <a:latin typeface="Tahoma"/>
                <a:cs typeface="Tahoma"/>
              </a:rPr>
              <a:t> </a:t>
            </a:r>
            <a:r>
              <a:rPr sz="800" dirty="0">
                <a:solidFill>
                  <a:srgbClr val="202429"/>
                </a:solidFill>
                <a:latin typeface="Tahoma"/>
                <a:cs typeface="Tahoma"/>
              </a:rPr>
              <a:t>all</a:t>
            </a:r>
            <a:r>
              <a:rPr sz="800" spc="5" dirty="0">
                <a:solidFill>
                  <a:srgbClr val="202429"/>
                </a:solidFill>
                <a:latin typeface="Tahoma"/>
                <a:cs typeface="Tahoma"/>
              </a:rPr>
              <a:t> </a:t>
            </a:r>
            <a:r>
              <a:rPr sz="800" dirty="0">
                <a:solidFill>
                  <a:srgbClr val="202429"/>
                </a:solidFill>
                <a:latin typeface="Tahoma"/>
                <a:cs typeface="Tahoma"/>
              </a:rPr>
              <a:t>involved.</a:t>
            </a:r>
            <a:r>
              <a:rPr sz="800" spc="114" dirty="0">
                <a:solidFill>
                  <a:srgbClr val="202429"/>
                </a:solidFill>
                <a:latin typeface="Tahoma"/>
                <a:cs typeface="Tahoma"/>
              </a:rPr>
              <a:t> </a:t>
            </a:r>
            <a:r>
              <a:rPr sz="800" spc="-10" dirty="0">
                <a:solidFill>
                  <a:srgbClr val="202429"/>
                </a:solidFill>
                <a:latin typeface="Tahoma"/>
                <a:cs typeface="Tahoma"/>
              </a:rPr>
              <a:t>Incremental</a:t>
            </a:r>
            <a:r>
              <a:rPr sz="800" spc="5" dirty="0">
                <a:solidFill>
                  <a:srgbClr val="202429"/>
                </a:solidFill>
                <a:latin typeface="Tahoma"/>
                <a:cs typeface="Tahoma"/>
              </a:rPr>
              <a:t> </a:t>
            </a:r>
            <a:r>
              <a:rPr sz="800" spc="-10" dirty="0">
                <a:solidFill>
                  <a:srgbClr val="202429"/>
                </a:solidFill>
                <a:latin typeface="Tahoma"/>
                <a:cs typeface="Tahoma"/>
              </a:rPr>
              <a:t>delays</a:t>
            </a:r>
            <a:r>
              <a:rPr sz="800" dirty="0">
                <a:solidFill>
                  <a:srgbClr val="202429"/>
                </a:solidFill>
                <a:latin typeface="Tahoma"/>
                <a:cs typeface="Tahoma"/>
              </a:rPr>
              <a:t> </a:t>
            </a:r>
            <a:r>
              <a:rPr sz="800" spc="-25" dirty="0">
                <a:solidFill>
                  <a:srgbClr val="202429"/>
                </a:solidFill>
                <a:latin typeface="Tahoma"/>
                <a:cs typeface="Tahoma"/>
              </a:rPr>
              <a:t>and </a:t>
            </a:r>
            <a:r>
              <a:rPr sz="800" spc="-10" dirty="0">
                <a:solidFill>
                  <a:srgbClr val="202429"/>
                </a:solidFill>
                <a:latin typeface="Tahoma"/>
                <a:cs typeface="Tahoma"/>
              </a:rPr>
              <a:t>communication</a:t>
            </a:r>
            <a:r>
              <a:rPr sz="800" spc="-15" dirty="0">
                <a:solidFill>
                  <a:srgbClr val="202429"/>
                </a:solidFill>
                <a:latin typeface="Tahoma"/>
                <a:cs typeface="Tahoma"/>
              </a:rPr>
              <a:t> </a:t>
            </a:r>
            <a:r>
              <a:rPr sz="800" spc="-10" dirty="0">
                <a:solidFill>
                  <a:srgbClr val="202429"/>
                </a:solidFill>
                <a:latin typeface="Tahoma"/>
                <a:cs typeface="Tahoma"/>
              </a:rPr>
              <a:t>breakdown </a:t>
            </a:r>
            <a:r>
              <a:rPr sz="800" dirty="0">
                <a:solidFill>
                  <a:srgbClr val="202429"/>
                </a:solidFill>
                <a:latin typeface="Tahoma"/>
                <a:cs typeface="Tahoma"/>
              </a:rPr>
              <a:t>further</a:t>
            </a:r>
            <a:r>
              <a:rPr sz="800" spc="-10" dirty="0">
                <a:solidFill>
                  <a:srgbClr val="202429"/>
                </a:solidFill>
                <a:latin typeface="Tahoma"/>
                <a:cs typeface="Tahoma"/>
              </a:rPr>
              <a:t> </a:t>
            </a:r>
            <a:r>
              <a:rPr sz="800" dirty="0">
                <a:solidFill>
                  <a:srgbClr val="202429"/>
                </a:solidFill>
                <a:latin typeface="Tahoma"/>
                <a:cs typeface="Tahoma"/>
              </a:rPr>
              <a:t>impacted</a:t>
            </a:r>
            <a:r>
              <a:rPr sz="800" spc="-10" dirty="0">
                <a:solidFill>
                  <a:srgbClr val="202429"/>
                </a:solidFill>
                <a:latin typeface="Tahoma"/>
                <a:cs typeface="Tahoma"/>
              </a:rPr>
              <a:t> </a:t>
            </a:r>
            <a:r>
              <a:rPr sz="800" spc="-25" dirty="0">
                <a:solidFill>
                  <a:srgbClr val="202429"/>
                </a:solidFill>
                <a:latin typeface="Tahoma"/>
                <a:cs typeface="Tahoma"/>
              </a:rPr>
              <a:t>the </a:t>
            </a:r>
            <a:r>
              <a:rPr lang="en-GB" sz="800" dirty="0"/>
              <a:t>Decision-to-Delivery Interval (DDI).</a:t>
            </a:r>
            <a:endParaRPr sz="800" dirty="0">
              <a:latin typeface="Tahoma"/>
              <a:cs typeface="Tahoma"/>
            </a:endParaRPr>
          </a:p>
        </p:txBody>
      </p:sp>
      <p:sp>
        <p:nvSpPr>
          <p:cNvPr id="6" name="object 6"/>
          <p:cNvSpPr txBox="1"/>
          <p:nvPr/>
        </p:nvSpPr>
        <p:spPr>
          <a:xfrm>
            <a:off x="2987294" y="834947"/>
            <a:ext cx="1011555" cy="191770"/>
          </a:xfrm>
          <a:prstGeom prst="rect">
            <a:avLst/>
          </a:prstGeom>
        </p:spPr>
        <p:txBody>
          <a:bodyPr vert="horz" wrap="square" lIns="0" tIns="11430" rIns="0" bIns="0" rtlCol="0">
            <a:spAutoFit/>
          </a:bodyPr>
          <a:lstStyle/>
          <a:p>
            <a:pPr marL="12700">
              <a:lnSpc>
                <a:spcPct val="100000"/>
              </a:lnSpc>
              <a:spcBef>
                <a:spcPts val="90"/>
              </a:spcBef>
            </a:pPr>
            <a:r>
              <a:rPr sz="1100" b="1" spc="-25" dirty="0">
                <a:solidFill>
                  <a:srgbClr val="202429"/>
                </a:solidFill>
                <a:latin typeface="Arial"/>
                <a:cs typeface="Arial"/>
              </a:rPr>
              <a:t>Acuity</a:t>
            </a:r>
            <a:r>
              <a:rPr sz="1100" b="1" spc="-5" dirty="0">
                <a:solidFill>
                  <a:srgbClr val="202429"/>
                </a:solidFill>
                <a:latin typeface="Arial"/>
                <a:cs typeface="Arial"/>
              </a:rPr>
              <a:t> </a:t>
            </a:r>
            <a:r>
              <a:rPr sz="1100" b="1" spc="-45" dirty="0">
                <a:solidFill>
                  <a:srgbClr val="202429"/>
                </a:solidFill>
                <a:latin typeface="Arial"/>
                <a:cs typeface="Arial"/>
              </a:rPr>
              <a:t>concept:</a:t>
            </a:r>
            <a:endParaRPr sz="1100">
              <a:latin typeface="Arial"/>
              <a:cs typeface="Arial"/>
            </a:endParaRPr>
          </a:p>
        </p:txBody>
      </p:sp>
      <p:sp>
        <p:nvSpPr>
          <p:cNvPr id="7" name="object 7"/>
          <p:cNvSpPr txBox="1"/>
          <p:nvPr/>
        </p:nvSpPr>
        <p:spPr>
          <a:xfrm>
            <a:off x="3002532" y="1028318"/>
            <a:ext cx="2286965" cy="1367106"/>
          </a:xfrm>
          <a:prstGeom prst="rect">
            <a:avLst/>
          </a:prstGeom>
          <a:solidFill>
            <a:srgbClr val="F8F8F9"/>
          </a:solidFill>
          <a:ln w="5060">
            <a:solidFill>
              <a:srgbClr val="CED3DA"/>
            </a:solidFill>
          </a:ln>
        </p:spPr>
        <p:txBody>
          <a:bodyPr vert="horz" wrap="square" lIns="0" tIns="50800" rIns="0" bIns="0" rtlCol="0">
            <a:spAutoFit/>
          </a:bodyPr>
          <a:lstStyle/>
          <a:p>
            <a:pPr marL="40005" algn="just">
              <a:lnSpc>
                <a:spcPct val="100000"/>
              </a:lnSpc>
              <a:spcBef>
                <a:spcPts val="400"/>
              </a:spcBef>
            </a:pPr>
            <a:r>
              <a:rPr sz="800" b="1" spc="-20" dirty="0">
                <a:solidFill>
                  <a:srgbClr val="202429"/>
                </a:solidFill>
                <a:latin typeface="Arial"/>
                <a:cs typeface="Arial"/>
              </a:rPr>
              <a:t>Heading:</a:t>
            </a:r>
            <a:r>
              <a:rPr sz="800" b="1" spc="120" dirty="0">
                <a:solidFill>
                  <a:srgbClr val="202429"/>
                </a:solidFill>
                <a:latin typeface="Arial"/>
                <a:cs typeface="Arial"/>
              </a:rPr>
              <a:t> </a:t>
            </a:r>
            <a:r>
              <a:rPr sz="800" spc="-10" dirty="0">
                <a:solidFill>
                  <a:srgbClr val="202429"/>
                </a:solidFill>
                <a:latin typeface="Tahoma"/>
                <a:cs typeface="Tahoma"/>
              </a:rPr>
              <a:t>Reviews</a:t>
            </a:r>
            <a:r>
              <a:rPr sz="800" spc="5" dirty="0">
                <a:solidFill>
                  <a:srgbClr val="202429"/>
                </a:solidFill>
                <a:latin typeface="Tahoma"/>
                <a:cs typeface="Tahoma"/>
              </a:rPr>
              <a:t> </a:t>
            </a:r>
            <a:r>
              <a:rPr sz="800" dirty="0">
                <a:solidFill>
                  <a:srgbClr val="202429"/>
                </a:solidFill>
                <a:latin typeface="Tahoma"/>
                <a:cs typeface="Tahoma"/>
              </a:rPr>
              <a:t>with</a:t>
            </a:r>
            <a:r>
              <a:rPr sz="800" spc="5" dirty="0">
                <a:solidFill>
                  <a:srgbClr val="202429"/>
                </a:solidFill>
                <a:latin typeface="Tahoma"/>
                <a:cs typeface="Tahoma"/>
              </a:rPr>
              <a:t> </a:t>
            </a:r>
            <a:r>
              <a:rPr sz="800" spc="-20" dirty="0">
                <a:solidFill>
                  <a:srgbClr val="202429"/>
                </a:solidFill>
                <a:latin typeface="Tahoma"/>
                <a:cs typeface="Tahoma"/>
              </a:rPr>
              <a:t>seniors</a:t>
            </a:r>
            <a:r>
              <a:rPr sz="800" spc="5" dirty="0">
                <a:solidFill>
                  <a:srgbClr val="202429"/>
                </a:solidFill>
                <a:latin typeface="Tahoma"/>
                <a:cs typeface="Tahoma"/>
              </a:rPr>
              <a:t> </a:t>
            </a:r>
            <a:r>
              <a:rPr sz="800" dirty="0">
                <a:solidFill>
                  <a:srgbClr val="202429"/>
                </a:solidFill>
                <a:latin typeface="Tahoma"/>
                <a:cs typeface="Tahoma"/>
              </a:rPr>
              <a:t>did</a:t>
            </a:r>
            <a:r>
              <a:rPr sz="800" spc="5" dirty="0">
                <a:solidFill>
                  <a:srgbClr val="202429"/>
                </a:solidFill>
                <a:latin typeface="Tahoma"/>
                <a:cs typeface="Tahoma"/>
              </a:rPr>
              <a:t> </a:t>
            </a:r>
            <a:r>
              <a:rPr sz="800" dirty="0">
                <a:solidFill>
                  <a:srgbClr val="202429"/>
                </a:solidFill>
                <a:latin typeface="Tahoma"/>
                <a:cs typeface="Tahoma"/>
              </a:rPr>
              <a:t>not </a:t>
            </a:r>
            <a:r>
              <a:rPr sz="800" spc="-10" dirty="0">
                <a:solidFill>
                  <a:srgbClr val="202429"/>
                </a:solidFill>
                <a:latin typeface="Tahoma"/>
                <a:cs typeface="Tahoma"/>
              </a:rPr>
              <a:t>occur</a:t>
            </a:r>
            <a:endParaRPr sz="800" dirty="0">
              <a:latin typeface="Tahoma"/>
              <a:cs typeface="Tahoma"/>
            </a:endParaRPr>
          </a:p>
          <a:p>
            <a:pPr marL="40005" marR="31750" algn="just">
              <a:lnSpc>
                <a:spcPct val="141100"/>
              </a:lnSpc>
            </a:pPr>
            <a:r>
              <a:rPr sz="800" dirty="0">
                <a:solidFill>
                  <a:srgbClr val="202429"/>
                </a:solidFill>
                <a:latin typeface="Tahoma"/>
                <a:cs typeface="Tahoma"/>
              </a:rPr>
              <a:t>The ambulance Trust </a:t>
            </a:r>
            <a:r>
              <a:rPr sz="800" spc="-20" dirty="0">
                <a:solidFill>
                  <a:srgbClr val="202429"/>
                </a:solidFill>
                <a:latin typeface="Tahoma"/>
                <a:cs typeface="Tahoma"/>
              </a:rPr>
              <a:t>experienced </a:t>
            </a:r>
            <a:r>
              <a:rPr sz="800" dirty="0">
                <a:solidFill>
                  <a:srgbClr val="202429"/>
                </a:solidFill>
                <a:latin typeface="Tahoma"/>
                <a:cs typeface="Tahoma"/>
              </a:rPr>
              <a:t>high call </a:t>
            </a:r>
            <a:r>
              <a:rPr sz="800" spc="-20" dirty="0">
                <a:solidFill>
                  <a:srgbClr val="202429"/>
                </a:solidFill>
                <a:latin typeface="Tahoma"/>
                <a:cs typeface="Tahoma"/>
              </a:rPr>
              <a:t>vol-</a:t>
            </a:r>
            <a:r>
              <a:rPr sz="800" dirty="0">
                <a:solidFill>
                  <a:srgbClr val="202429"/>
                </a:solidFill>
                <a:latin typeface="Tahoma"/>
                <a:cs typeface="Tahoma"/>
              </a:rPr>
              <a:t>umes.</a:t>
            </a:r>
            <a:r>
              <a:rPr sz="800" spc="500" dirty="0">
                <a:solidFill>
                  <a:srgbClr val="202429"/>
                </a:solidFill>
                <a:latin typeface="Tahoma"/>
                <a:cs typeface="Tahoma"/>
              </a:rPr>
              <a:t> </a:t>
            </a:r>
            <a:r>
              <a:rPr sz="800" dirty="0">
                <a:solidFill>
                  <a:srgbClr val="202429"/>
                </a:solidFill>
                <a:latin typeface="Tahoma"/>
                <a:cs typeface="Tahoma"/>
              </a:rPr>
              <a:t>Due</a:t>
            </a:r>
            <a:r>
              <a:rPr sz="800" spc="195" dirty="0">
                <a:solidFill>
                  <a:srgbClr val="202429"/>
                </a:solidFill>
                <a:latin typeface="Tahoma"/>
                <a:cs typeface="Tahoma"/>
              </a:rPr>
              <a:t> </a:t>
            </a:r>
            <a:r>
              <a:rPr sz="800" dirty="0">
                <a:solidFill>
                  <a:srgbClr val="202429"/>
                </a:solidFill>
                <a:latin typeface="Tahoma"/>
                <a:cs typeface="Tahoma"/>
              </a:rPr>
              <a:t>to</a:t>
            </a:r>
            <a:r>
              <a:rPr sz="800" spc="195" dirty="0">
                <a:solidFill>
                  <a:srgbClr val="202429"/>
                </a:solidFill>
                <a:latin typeface="Tahoma"/>
                <a:cs typeface="Tahoma"/>
              </a:rPr>
              <a:t> </a:t>
            </a:r>
            <a:r>
              <a:rPr sz="800" dirty="0">
                <a:solidFill>
                  <a:srgbClr val="202429"/>
                </a:solidFill>
                <a:latin typeface="Tahoma"/>
                <a:cs typeface="Tahoma"/>
              </a:rPr>
              <a:t>high</a:t>
            </a:r>
            <a:r>
              <a:rPr sz="800" spc="195" dirty="0">
                <a:solidFill>
                  <a:srgbClr val="202429"/>
                </a:solidFill>
                <a:latin typeface="Tahoma"/>
                <a:cs typeface="Tahoma"/>
              </a:rPr>
              <a:t> </a:t>
            </a:r>
            <a:r>
              <a:rPr sz="800" dirty="0">
                <a:solidFill>
                  <a:srgbClr val="202429"/>
                </a:solidFill>
                <a:latin typeface="Tahoma"/>
                <a:cs typeface="Tahoma"/>
              </a:rPr>
              <a:t>labour</a:t>
            </a:r>
            <a:r>
              <a:rPr sz="800" spc="195" dirty="0">
                <a:solidFill>
                  <a:srgbClr val="202429"/>
                </a:solidFill>
                <a:latin typeface="Tahoma"/>
                <a:cs typeface="Tahoma"/>
              </a:rPr>
              <a:t> </a:t>
            </a:r>
            <a:r>
              <a:rPr sz="800" dirty="0">
                <a:solidFill>
                  <a:srgbClr val="202429"/>
                </a:solidFill>
                <a:latin typeface="Tahoma"/>
                <a:cs typeface="Tahoma"/>
              </a:rPr>
              <a:t>ward</a:t>
            </a:r>
            <a:r>
              <a:rPr sz="800" spc="190" dirty="0">
                <a:solidFill>
                  <a:srgbClr val="202429"/>
                </a:solidFill>
                <a:latin typeface="Tahoma"/>
                <a:cs typeface="Tahoma"/>
              </a:rPr>
              <a:t> </a:t>
            </a:r>
            <a:r>
              <a:rPr sz="800" dirty="0">
                <a:solidFill>
                  <a:srgbClr val="202429"/>
                </a:solidFill>
                <a:latin typeface="Tahoma"/>
                <a:cs typeface="Tahoma"/>
              </a:rPr>
              <a:t>acuity,</a:t>
            </a:r>
            <a:r>
              <a:rPr sz="800" spc="240" dirty="0">
                <a:solidFill>
                  <a:srgbClr val="202429"/>
                </a:solidFill>
                <a:latin typeface="Tahoma"/>
                <a:cs typeface="Tahoma"/>
              </a:rPr>
              <a:t> </a:t>
            </a:r>
            <a:r>
              <a:rPr sz="800" spc="-20" dirty="0">
                <a:solidFill>
                  <a:srgbClr val="202429"/>
                </a:solidFill>
                <a:latin typeface="Tahoma"/>
                <a:cs typeface="Tahoma"/>
              </a:rPr>
              <a:t>ini-</a:t>
            </a:r>
            <a:r>
              <a:rPr sz="800" dirty="0">
                <a:solidFill>
                  <a:srgbClr val="202429"/>
                </a:solidFill>
                <a:latin typeface="Tahoma"/>
                <a:cs typeface="Tahoma"/>
              </a:rPr>
              <a:t>tial </a:t>
            </a:r>
            <a:r>
              <a:rPr sz="800" spc="-10" dirty="0">
                <a:solidFill>
                  <a:srgbClr val="202429"/>
                </a:solidFill>
                <a:latin typeface="Tahoma"/>
                <a:cs typeface="Tahoma"/>
              </a:rPr>
              <a:t>decisions </a:t>
            </a:r>
            <a:r>
              <a:rPr sz="800" dirty="0">
                <a:solidFill>
                  <a:srgbClr val="202429"/>
                </a:solidFill>
                <a:latin typeface="Tahoma"/>
                <a:cs typeface="Tahoma"/>
              </a:rPr>
              <a:t>weren’t </a:t>
            </a:r>
            <a:r>
              <a:rPr sz="800" spc="-20" dirty="0">
                <a:solidFill>
                  <a:srgbClr val="202429"/>
                </a:solidFill>
                <a:latin typeface="Tahoma"/>
                <a:cs typeface="Tahoma"/>
              </a:rPr>
              <a:t>discussed </a:t>
            </a:r>
            <a:r>
              <a:rPr sz="800" dirty="0">
                <a:solidFill>
                  <a:srgbClr val="202429"/>
                </a:solidFill>
                <a:latin typeface="Tahoma"/>
                <a:cs typeface="Tahoma"/>
              </a:rPr>
              <a:t>with </a:t>
            </a:r>
            <a:r>
              <a:rPr sz="800" spc="-10" dirty="0">
                <a:solidFill>
                  <a:srgbClr val="202429"/>
                </a:solidFill>
                <a:latin typeface="Tahoma"/>
                <a:cs typeface="Tahoma"/>
              </a:rPr>
              <a:t>senior clin-</a:t>
            </a:r>
            <a:r>
              <a:rPr sz="800" dirty="0" err="1">
                <a:solidFill>
                  <a:srgbClr val="202429"/>
                </a:solidFill>
                <a:latin typeface="Tahoma"/>
                <a:cs typeface="Tahoma"/>
              </a:rPr>
              <a:t>icians</a:t>
            </a:r>
            <a:r>
              <a:rPr sz="800" dirty="0">
                <a:solidFill>
                  <a:srgbClr val="202429"/>
                </a:solidFill>
                <a:latin typeface="Tahoma"/>
                <a:cs typeface="Tahoma"/>
              </a:rPr>
              <a:t>.</a:t>
            </a:r>
            <a:r>
              <a:rPr sz="800" spc="409" dirty="0">
                <a:solidFill>
                  <a:srgbClr val="202429"/>
                </a:solidFill>
                <a:latin typeface="Tahoma"/>
                <a:cs typeface="Tahoma"/>
              </a:rPr>
              <a:t> </a:t>
            </a:r>
            <a:r>
              <a:rPr sz="800" dirty="0">
                <a:solidFill>
                  <a:srgbClr val="202429"/>
                </a:solidFill>
                <a:latin typeface="Tahoma"/>
                <a:cs typeface="Tahoma"/>
              </a:rPr>
              <a:t>Senior</a:t>
            </a:r>
            <a:r>
              <a:rPr sz="800" spc="114" dirty="0">
                <a:solidFill>
                  <a:srgbClr val="202429"/>
                </a:solidFill>
                <a:latin typeface="Tahoma"/>
                <a:cs typeface="Tahoma"/>
              </a:rPr>
              <a:t> </a:t>
            </a:r>
            <a:r>
              <a:rPr sz="800" spc="-20" dirty="0">
                <a:solidFill>
                  <a:srgbClr val="202429"/>
                </a:solidFill>
                <a:latin typeface="Tahoma"/>
                <a:cs typeface="Tahoma"/>
              </a:rPr>
              <a:t>face-</a:t>
            </a:r>
            <a:r>
              <a:rPr sz="800" spc="-10" dirty="0">
                <a:solidFill>
                  <a:srgbClr val="202429"/>
                </a:solidFill>
                <a:latin typeface="Tahoma"/>
                <a:cs typeface="Tahoma"/>
              </a:rPr>
              <a:t>to-</a:t>
            </a:r>
            <a:r>
              <a:rPr sz="800" dirty="0">
                <a:solidFill>
                  <a:srgbClr val="202429"/>
                </a:solidFill>
                <a:latin typeface="Tahoma"/>
                <a:cs typeface="Tahoma"/>
              </a:rPr>
              <a:t>face</a:t>
            </a:r>
            <a:r>
              <a:rPr sz="800" spc="110" dirty="0">
                <a:solidFill>
                  <a:srgbClr val="202429"/>
                </a:solidFill>
                <a:latin typeface="Tahoma"/>
                <a:cs typeface="Tahoma"/>
              </a:rPr>
              <a:t> </a:t>
            </a:r>
            <a:r>
              <a:rPr sz="800" dirty="0">
                <a:solidFill>
                  <a:srgbClr val="202429"/>
                </a:solidFill>
                <a:latin typeface="Tahoma"/>
                <a:cs typeface="Tahoma"/>
              </a:rPr>
              <a:t>review</a:t>
            </a:r>
            <a:r>
              <a:rPr sz="800" spc="110" dirty="0">
                <a:solidFill>
                  <a:srgbClr val="202429"/>
                </a:solidFill>
                <a:latin typeface="Tahoma"/>
                <a:cs typeface="Tahoma"/>
              </a:rPr>
              <a:t> </a:t>
            </a:r>
            <a:r>
              <a:rPr sz="800" dirty="0">
                <a:solidFill>
                  <a:srgbClr val="202429"/>
                </a:solidFill>
                <a:latin typeface="Tahoma"/>
                <a:cs typeface="Tahoma"/>
              </a:rPr>
              <a:t>didn’t</a:t>
            </a:r>
            <a:r>
              <a:rPr sz="800" spc="114" dirty="0">
                <a:solidFill>
                  <a:srgbClr val="202429"/>
                </a:solidFill>
                <a:latin typeface="Tahoma"/>
                <a:cs typeface="Tahoma"/>
              </a:rPr>
              <a:t> </a:t>
            </a:r>
            <a:r>
              <a:rPr sz="800" spc="-10" dirty="0">
                <a:solidFill>
                  <a:srgbClr val="202429"/>
                </a:solidFill>
                <a:latin typeface="Tahoma"/>
                <a:cs typeface="Tahoma"/>
              </a:rPr>
              <a:t>occur </a:t>
            </a:r>
            <a:r>
              <a:rPr sz="800" dirty="0">
                <a:solidFill>
                  <a:srgbClr val="202429"/>
                </a:solidFill>
                <a:latin typeface="Tahoma"/>
                <a:cs typeface="Tahoma"/>
              </a:rPr>
              <a:t>until</a:t>
            </a:r>
            <a:r>
              <a:rPr lang="en-GB" sz="800" dirty="0">
                <a:solidFill>
                  <a:srgbClr val="202429"/>
                </a:solidFill>
                <a:latin typeface="Tahoma"/>
                <a:cs typeface="Tahoma"/>
              </a:rPr>
              <a:t> </a:t>
            </a:r>
            <a:r>
              <a:rPr sz="800" dirty="0">
                <a:solidFill>
                  <a:srgbClr val="202429"/>
                </a:solidFill>
                <a:latin typeface="Tahoma"/>
                <a:cs typeface="Tahoma"/>
              </a:rPr>
              <a:t>2 hours 50 minutes after </a:t>
            </a:r>
            <a:r>
              <a:rPr sz="800" spc="-10" dirty="0" err="1">
                <a:solidFill>
                  <a:srgbClr val="202429"/>
                </a:solidFill>
                <a:latin typeface="Tahoma"/>
                <a:cs typeface="Tahoma"/>
              </a:rPr>
              <a:t>recognis</a:t>
            </a:r>
            <a:r>
              <a:rPr sz="800" dirty="0" err="1">
                <a:solidFill>
                  <a:srgbClr val="202429"/>
                </a:solidFill>
                <a:latin typeface="Tahoma"/>
                <a:cs typeface="Tahoma"/>
              </a:rPr>
              <a:t>ing</a:t>
            </a:r>
            <a:r>
              <a:rPr sz="800" spc="135" dirty="0">
                <a:solidFill>
                  <a:srgbClr val="202429"/>
                </a:solidFill>
                <a:latin typeface="Tahoma"/>
                <a:cs typeface="Tahoma"/>
              </a:rPr>
              <a:t> </a:t>
            </a:r>
            <a:r>
              <a:rPr sz="800" dirty="0">
                <a:solidFill>
                  <a:srgbClr val="202429"/>
                </a:solidFill>
                <a:latin typeface="Tahoma"/>
                <a:cs typeface="Tahoma"/>
              </a:rPr>
              <a:t>abnormalities.</a:t>
            </a:r>
            <a:r>
              <a:rPr sz="800" spc="480" dirty="0">
                <a:solidFill>
                  <a:srgbClr val="202429"/>
                </a:solidFill>
                <a:latin typeface="Tahoma"/>
                <a:cs typeface="Tahoma"/>
              </a:rPr>
              <a:t> </a:t>
            </a:r>
            <a:r>
              <a:rPr sz="800" dirty="0">
                <a:solidFill>
                  <a:srgbClr val="202429"/>
                </a:solidFill>
                <a:latin typeface="Tahoma"/>
                <a:cs typeface="Tahoma"/>
              </a:rPr>
              <a:t>The</a:t>
            </a:r>
            <a:r>
              <a:rPr sz="800" spc="135" dirty="0">
                <a:solidFill>
                  <a:srgbClr val="202429"/>
                </a:solidFill>
                <a:latin typeface="Tahoma"/>
                <a:cs typeface="Tahoma"/>
              </a:rPr>
              <a:t> </a:t>
            </a:r>
            <a:r>
              <a:rPr sz="800" dirty="0">
                <a:solidFill>
                  <a:srgbClr val="202429"/>
                </a:solidFill>
                <a:latin typeface="Tahoma"/>
                <a:cs typeface="Tahoma"/>
              </a:rPr>
              <a:t>abnormal</a:t>
            </a:r>
            <a:r>
              <a:rPr sz="800" spc="140" dirty="0">
                <a:solidFill>
                  <a:srgbClr val="202429"/>
                </a:solidFill>
                <a:latin typeface="Tahoma"/>
                <a:cs typeface="Tahoma"/>
              </a:rPr>
              <a:t> </a:t>
            </a:r>
            <a:r>
              <a:rPr sz="800" spc="65" dirty="0">
                <a:solidFill>
                  <a:srgbClr val="202429"/>
                </a:solidFill>
                <a:latin typeface="Tahoma"/>
                <a:cs typeface="Tahoma"/>
              </a:rPr>
              <a:t>CTG</a:t>
            </a:r>
            <a:r>
              <a:rPr sz="800" spc="140" dirty="0">
                <a:solidFill>
                  <a:srgbClr val="202429"/>
                </a:solidFill>
                <a:latin typeface="Tahoma"/>
                <a:cs typeface="Tahoma"/>
              </a:rPr>
              <a:t> </a:t>
            </a:r>
            <a:r>
              <a:rPr sz="800" spc="-10" dirty="0">
                <a:solidFill>
                  <a:srgbClr val="202429"/>
                </a:solidFill>
                <a:latin typeface="Tahoma"/>
                <a:cs typeface="Tahoma"/>
              </a:rPr>
              <a:t>wasn’t </a:t>
            </a:r>
            <a:r>
              <a:rPr sz="800" spc="-25" dirty="0">
                <a:solidFill>
                  <a:srgbClr val="202429"/>
                </a:solidFill>
                <a:latin typeface="Tahoma"/>
                <a:cs typeface="Tahoma"/>
              </a:rPr>
              <a:t>reviewed</a:t>
            </a:r>
            <a:r>
              <a:rPr sz="800" spc="-10" dirty="0">
                <a:solidFill>
                  <a:srgbClr val="202429"/>
                </a:solidFill>
                <a:latin typeface="Tahoma"/>
                <a:cs typeface="Tahoma"/>
              </a:rPr>
              <a:t> </a:t>
            </a:r>
            <a:r>
              <a:rPr sz="800" dirty="0">
                <a:solidFill>
                  <a:srgbClr val="202429"/>
                </a:solidFill>
                <a:latin typeface="Tahoma"/>
                <a:cs typeface="Tahoma"/>
              </a:rPr>
              <a:t>by</a:t>
            </a:r>
            <a:r>
              <a:rPr sz="800" spc="-10" dirty="0">
                <a:solidFill>
                  <a:srgbClr val="202429"/>
                </a:solidFill>
                <a:latin typeface="Tahoma"/>
                <a:cs typeface="Tahoma"/>
              </a:rPr>
              <a:t> </a:t>
            </a:r>
            <a:r>
              <a:rPr sz="800" dirty="0">
                <a:solidFill>
                  <a:srgbClr val="202429"/>
                </a:solidFill>
                <a:latin typeface="Tahoma"/>
                <a:cs typeface="Tahoma"/>
              </a:rPr>
              <a:t>the</a:t>
            </a:r>
            <a:r>
              <a:rPr sz="800" spc="-10" dirty="0">
                <a:solidFill>
                  <a:srgbClr val="202429"/>
                </a:solidFill>
                <a:latin typeface="Tahoma"/>
                <a:cs typeface="Tahoma"/>
              </a:rPr>
              <a:t> senior obstetrician.</a:t>
            </a:r>
            <a:endParaRPr sz="800" dirty="0">
              <a:latin typeface="Tahoma"/>
              <a:cs typeface="Tahoma"/>
            </a:endParaRPr>
          </a:p>
        </p:txBody>
      </p:sp>
      <p:sp>
        <p:nvSpPr>
          <p:cNvPr id="8" name="object 8"/>
          <p:cNvSpPr txBox="1"/>
          <p:nvPr/>
        </p:nvSpPr>
        <p:spPr>
          <a:xfrm>
            <a:off x="362534" y="2610840"/>
            <a:ext cx="5121275" cy="421005"/>
          </a:xfrm>
          <a:prstGeom prst="rect">
            <a:avLst/>
          </a:prstGeom>
          <a:solidFill>
            <a:srgbClr val="E8F4F8"/>
          </a:solidFill>
          <a:ln w="5060">
            <a:solidFill>
              <a:srgbClr val="005F73"/>
            </a:solidFill>
          </a:ln>
        </p:spPr>
        <p:txBody>
          <a:bodyPr vert="horz" wrap="square" lIns="0" tIns="9525" rIns="0" bIns="0" rtlCol="0">
            <a:spAutoFit/>
          </a:bodyPr>
          <a:lstStyle/>
          <a:p>
            <a:pPr marL="2152015" marR="329565" indent="-1814830">
              <a:lnSpc>
                <a:spcPct val="112900"/>
              </a:lnSpc>
              <a:spcBef>
                <a:spcPts val="75"/>
              </a:spcBef>
            </a:pPr>
            <a:r>
              <a:rPr sz="1000" spc="-10" dirty="0">
                <a:solidFill>
                  <a:srgbClr val="202429"/>
                </a:solidFill>
                <a:latin typeface="Tahoma"/>
                <a:cs typeface="Tahoma"/>
              </a:rPr>
              <a:t>Each</a:t>
            </a:r>
            <a:r>
              <a:rPr sz="1000" spc="-25" dirty="0">
                <a:solidFill>
                  <a:srgbClr val="202429"/>
                </a:solidFill>
                <a:latin typeface="Tahoma"/>
                <a:cs typeface="Tahoma"/>
              </a:rPr>
              <a:t> </a:t>
            </a:r>
            <a:r>
              <a:rPr sz="1000" spc="-50" dirty="0">
                <a:solidFill>
                  <a:srgbClr val="202429"/>
                </a:solidFill>
                <a:latin typeface="Tahoma"/>
                <a:cs typeface="Tahoma"/>
              </a:rPr>
              <a:t>summary</a:t>
            </a:r>
            <a:r>
              <a:rPr sz="1000" spc="-25" dirty="0">
                <a:solidFill>
                  <a:srgbClr val="202429"/>
                </a:solidFill>
                <a:latin typeface="Tahoma"/>
                <a:cs typeface="Tahoma"/>
              </a:rPr>
              <a:t> </a:t>
            </a:r>
            <a:r>
              <a:rPr sz="1000" dirty="0">
                <a:solidFill>
                  <a:srgbClr val="202429"/>
                </a:solidFill>
                <a:latin typeface="Tahoma"/>
                <a:cs typeface="Tahoma"/>
              </a:rPr>
              <a:t>is</a:t>
            </a:r>
            <a:r>
              <a:rPr sz="1000" spc="-25" dirty="0">
                <a:solidFill>
                  <a:srgbClr val="202429"/>
                </a:solidFill>
                <a:latin typeface="Tahoma"/>
                <a:cs typeface="Tahoma"/>
              </a:rPr>
              <a:t> </a:t>
            </a:r>
            <a:r>
              <a:rPr sz="1000" spc="-35" dirty="0">
                <a:solidFill>
                  <a:srgbClr val="202429"/>
                </a:solidFill>
                <a:latin typeface="Tahoma"/>
                <a:cs typeface="Tahoma"/>
              </a:rPr>
              <a:t>traceable</a:t>
            </a:r>
            <a:r>
              <a:rPr sz="1000" spc="-25" dirty="0">
                <a:solidFill>
                  <a:srgbClr val="202429"/>
                </a:solidFill>
                <a:latin typeface="Tahoma"/>
                <a:cs typeface="Tahoma"/>
              </a:rPr>
              <a:t> </a:t>
            </a:r>
            <a:r>
              <a:rPr sz="1000" dirty="0">
                <a:solidFill>
                  <a:srgbClr val="202429"/>
                </a:solidFill>
                <a:latin typeface="Tahoma"/>
                <a:cs typeface="Tahoma"/>
              </a:rPr>
              <a:t>to</a:t>
            </a:r>
            <a:r>
              <a:rPr sz="1000" spc="-25" dirty="0">
                <a:solidFill>
                  <a:srgbClr val="202429"/>
                </a:solidFill>
                <a:latin typeface="Tahoma"/>
                <a:cs typeface="Tahoma"/>
              </a:rPr>
              <a:t> </a:t>
            </a:r>
            <a:r>
              <a:rPr sz="1000" spc="-40" dirty="0">
                <a:solidFill>
                  <a:srgbClr val="202429"/>
                </a:solidFill>
                <a:latin typeface="Tahoma"/>
                <a:cs typeface="Tahoma"/>
              </a:rPr>
              <a:t>source</a:t>
            </a:r>
            <a:r>
              <a:rPr sz="1000" spc="-20" dirty="0">
                <a:solidFill>
                  <a:srgbClr val="202429"/>
                </a:solidFill>
                <a:latin typeface="Tahoma"/>
                <a:cs typeface="Tahoma"/>
              </a:rPr>
              <a:t> </a:t>
            </a:r>
            <a:r>
              <a:rPr sz="1000" dirty="0">
                <a:solidFill>
                  <a:srgbClr val="202429"/>
                </a:solidFill>
                <a:latin typeface="Tahoma"/>
                <a:cs typeface="Tahoma"/>
              </a:rPr>
              <a:t>ﬁle</a:t>
            </a:r>
            <a:r>
              <a:rPr sz="1000" spc="-25" dirty="0">
                <a:solidFill>
                  <a:srgbClr val="202429"/>
                </a:solidFill>
                <a:latin typeface="Tahoma"/>
                <a:cs typeface="Tahoma"/>
              </a:rPr>
              <a:t> and </a:t>
            </a:r>
            <a:r>
              <a:rPr sz="1000" spc="-50" dirty="0">
                <a:solidFill>
                  <a:srgbClr val="202429"/>
                </a:solidFill>
                <a:latin typeface="Tahoma"/>
                <a:cs typeface="Tahoma"/>
              </a:rPr>
              <a:t>sentence</a:t>
            </a:r>
            <a:r>
              <a:rPr sz="1000" spc="-20" dirty="0">
                <a:solidFill>
                  <a:srgbClr val="202429"/>
                </a:solidFill>
                <a:latin typeface="Tahoma"/>
                <a:cs typeface="Tahoma"/>
              </a:rPr>
              <a:t> </a:t>
            </a:r>
            <a:r>
              <a:rPr sz="1000" spc="-30" dirty="0">
                <a:solidFill>
                  <a:srgbClr val="202429"/>
                </a:solidFill>
                <a:latin typeface="Tahoma"/>
                <a:cs typeface="Tahoma"/>
              </a:rPr>
              <a:t>IDs,</a:t>
            </a:r>
            <a:r>
              <a:rPr sz="1000" spc="-25" dirty="0">
                <a:solidFill>
                  <a:srgbClr val="202429"/>
                </a:solidFill>
                <a:latin typeface="Tahoma"/>
                <a:cs typeface="Tahoma"/>
              </a:rPr>
              <a:t> </a:t>
            </a:r>
            <a:r>
              <a:rPr sz="1000" spc="-35" dirty="0">
                <a:solidFill>
                  <a:srgbClr val="202429"/>
                </a:solidFill>
                <a:latin typeface="Tahoma"/>
                <a:cs typeface="Tahoma"/>
              </a:rPr>
              <a:t>enabling</a:t>
            </a:r>
            <a:r>
              <a:rPr sz="1000" spc="-25" dirty="0">
                <a:solidFill>
                  <a:srgbClr val="202429"/>
                </a:solidFill>
                <a:latin typeface="Tahoma"/>
                <a:cs typeface="Tahoma"/>
              </a:rPr>
              <a:t> </a:t>
            </a:r>
            <a:r>
              <a:rPr sz="1000" spc="-30" dirty="0">
                <a:solidFill>
                  <a:srgbClr val="202429"/>
                </a:solidFill>
                <a:latin typeface="Tahoma"/>
                <a:cs typeface="Tahoma"/>
              </a:rPr>
              <a:t>veriﬁcation</a:t>
            </a:r>
            <a:r>
              <a:rPr sz="1000" spc="-20" dirty="0">
                <a:solidFill>
                  <a:srgbClr val="202429"/>
                </a:solidFill>
                <a:latin typeface="Tahoma"/>
                <a:cs typeface="Tahoma"/>
              </a:rPr>
              <a:t> </a:t>
            </a:r>
            <a:r>
              <a:rPr sz="1000" spc="-25" dirty="0">
                <a:solidFill>
                  <a:srgbClr val="202429"/>
                </a:solidFill>
                <a:latin typeface="Tahoma"/>
                <a:cs typeface="Tahoma"/>
              </a:rPr>
              <a:t>and </a:t>
            </a:r>
            <a:r>
              <a:rPr sz="1000" spc="-10" dirty="0">
                <a:solidFill>
                  <a:srgbClr val="202429"/>
                </a:solidFill>
                <a:latin typeface="Tahoma"/>
                <a:cs typeface="Tahoma"/>
              </a:rPr>
              <a:t>accountability.</a:t>
            </a:r>
            <a:endParaRPr sz="1000">
              <a:latin typeface="Tahoma"/>
              <a:cs typeface="Tahoma"/>
            </a:endParaRPr>
          </a:p>
        </p:txBody>
      </p:sp>
      <p:sp>
        <p:nvSpPr>
          <p:cNvPr id="9" name="object 9"/>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2" name="Slide Number Placeholder 11">
            <a:extLst>
              <a:ext uri="{FF2B5EF4-FFF2-40B4-BE49-F238E27FC236}">
                <a16:creationId xmlns:a16="http://schemas.microsoft.com/office/drawing/2014/main" id="{56978BD3-E8F3-D3D9-CE84-694EB53A4B33}"/>
              </a:ext>
            </a:extLst>
          </p:cNvPr>
          <p:cNvSpPr>
            <a:spLocks noGrp="1"/>
          </p:cNvSpPr>
          <p:nvPr>
            <p:ph type="sldNum" sz="quarter" idx="7"/>
          </p:nvPr>
        </p:nvSpPr>
        <p:spPr>
          <a:xfrm>
            <a:off x="5205030" y="3088212"/>
            <a:ext cx="548640" cy="173989"/>
          </a:xfrm>
        </p:spPr>
        <p:txBody>
          <a:bodyPr/>
          <a:lstStyle/>
          <a:p>
            <a:pPr marL="39370">
              <a:lnSpc>
                <a:spcPct val="100000"/>
              </a:lnSpc>
              <a:spcBef>
                <a:spcPts val="219"/>
              </a:spcBef>
            </a:pPr>
            <a:fld id="{81D60167-4931-47E6-BA6A-407CBD079E47}" type="slidenum">
              <a:rPr lang="en-GB" smtClean="0"/>
              <a:t>21</a:t>
            </a:fld>
            <a:r>
              <a:rPr lang="en-GB" spc="20" dirty="0"/>
              <a:t> </a:t>
            </a:r>
            <a:r>
              <a:rPr lang="en-GB" spc="120" dirty="0"/>
              <a:t>/</a:t>
            </a:r>
            <a:r>
              <a:rPr lang="en-GB" spc="25" dirty="0"/>
              <a:t> </a:t>
            </a:r>
            <a:r>
              <a:rPr lang="en-GB" spc="-25" dirty="0"/>
              <a:t>39</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46507" rIns="0" bIns="0" rtlCol="0">
            <a:spAutoFit/>
          </a:bodyPr>
          <a:lstStyle/>
          <a:p>
            <a:pPr marL="99060">
              <a:lnSpc>
                <a:spcPct val="100000"/>
              </a:lnSpc>
              <a:spcBef>
                <a:spcPts val="390"/>
              </a:spcBef>
            </a:pPr>
            <a:r>
              <a:rPr dirty="0"/>
              <a:t>Ethical</a:t>
            </a:r>
            <a:r>
              <a:rPr spc="50" dirty="0"/>
              <a:t> </a:t>
            </a:r>
            <a:r>
              <a:rPr spc="-55" dirty="0"/>
              <a:t>Risks</a:t>
            </a:r>
            <a:r>
              <a:rPr spc="55" dirty="0"/>
              <a:t> </a:t>
            </a:r>
            <a:r>
              <a:rPr dirty="0"/>
              <a:t>of</a:t>
            </a:r>
            <a:r>
              <a:rPr spc="50" dirty="0"/>
              <a:t> </a:t>
            </a:r>
            <a:r>
              <a:rPr spc="60" dirty="0"/>
              <a:t>AI</a:t>
            </a:r>
            <a:r>
              <a:rPr spc="55" dirty="0"/>
              <a:t> </a:t>
            </a:r>
            <a:r>
              <a:rPr spc="-25" dirty="0"/>
              <a:t>Summarisation</a:t>
            </a:r>
          </a:p>
          <a:p>
            <a:pPr marL="99060">
              <a:lnSpc>
                <a:spcPct val="100000"/>
              </a:lnSpc>
              <a:spcBef>
                <a:spcPts val="195"/>
              </a:spcBef>
            </a:pPr>
            <a:r>
              <a:rPr sz="1100" b="0" spc="-45" dirty="0">
                <a:solidFill>
                  <a:srgbClr val="6C757C"/>
                </a:solidFill>
                <a:latin typeface="Tahoma"/>
                <a:cs typeface="Tahoma"/>
              </a:rPr>
              <a:t>Identiﬁed </a:t>
            </a:r>
            <a:r>
              <a:rPr sz="1100" b="0" spc="-20" dirty="0">
                <a:solidFill>
                  <a:srgbClr val="6C757C"/>
                </a:solidFill>
                <a:latin typeface="Tahoma"/>
                <a:cs typeface="Tahoma"/>
              </a:rPr>
              <a:t>risks</a:t>
            </a:r>
            <a:r>
              <a:rPr sz="1100" b="0" spc="-45" dirty="0">
                <a:solidFill>
                  <a:srgbClr val="6C757C"/>
                </a:solidFill>
                <a:latin typeface="Tahoma"/>
                <a:cs typeface="Tahoma"/>
              </a:rPr>
              <a:t> </a:t>
            </a:r>
            <a:r>
              <a:rPr sz="1100" b="0" spc="-40" dirty="0">
                <a:solidFill>
                  <a:srgbClr val="6C757C"/>
                </a:solidFill>
                <a:latin typeface="Tahoma"/>
                <a:cs typeface="Tahoma"/>
              </a:rPr>
              <a:t>and</a:t>
            </a:r>
            <a:r>
              <a:rPr sz="1100" b="0" spc="-35" dirty="0">
                <a:solidFill>
                  <a:srgbClr val="6C757C"/>
                </a:solidFill>
                <a:latin typeface="Tahoma"/>
                <a:cs typeface="Tahoma"/>
              </a:rPr>
              <a:t> </a:t>
            </a:r>
            <a:r>
              <a:rPr sz="1100" b="0" spc="-10" dirty="0">
                <a:solidFill>
                  <a:srgbClr val="6C757C"/>
                </a:solidFill>
                <a:latin typeface="Tahoma"/>
                <a:cs typeface="Tahoma"/>
              </a:rPr>
              <a:t>mitigations</a:t>
            </a:r>
            <a:endParaRPr sz="1100">
              <a:latin typeface="Tahoma"/>
              <a:cs typeface="Tahoma"/>
            </a:endParaRPr>
          </a:p>
        </p:txBody>
      </p:sp>
      <p:sp>
        <p:nvSpPr>
          <p:cNvPr id="3" name="object 3"/>
          <p:cNvSpPr/>
          <p:nvPr/>
        </p:nvSpPr>
        <p:spPr>
          <a:xfrm>
            <a:off x="359994" y="700722"/>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sp>
        <p:nvSpPr>
          <p:cNvPr id="4" name="object 4"/>
          <p:cNvSpPr/>
          <p:nvPr/>
        </p:nvSpPr>
        <p:spPr>
          <a:xfrm>
            <a:off x="359994" y="783818"/>
            <a:ext cx="5012055" cy="0"/>
          </a:xfrm>
          <a:custGeom>
            <a:avLst/>
            <a:gdLst/>
            <a:ahLst/>
            <a:cxnLst/>
            <a:rect l="l" t="t" r="r" b="b"/>
            <a:pathLst>
              <a:path w="5012055">
                <a:moveTo>
                  <a:pt x="0" y="0"/>
                </a:moveTo>
                <a:lnTo>
                  <a:pt x="5011839" y="0"/>
                </a:lnTo>
              </a:path>
            </a:pathLst>
          </a:custGeom>
          <a:ln w="11083">
            <a:solidFill>
              <a:srgbClr val="202429"/>
            </a:solidFill>
          </a:ln>
        </p:spPr>
        <p:txBody>
          <a:bodyPr wrap="square" lIns="0" tIns="0" rIns="0" bIns="0" rtlCol="0"/>
          <a:lstStyle/>
          <a:p>
            <a:endParaRPr/>
          </a:p>
        </p:txBody>
      </p:sp>
      <p:sp>
        <p:nvSpPr>
          <p:cNvPr id="7" name="object 7"/>
          <p:cNvSpPr/>
          <p:nvPr/>
        </p:nvSpPr>
        <p:spPr>
          <a:xfrm>
            <a:off x="359994" y="1009243"/>
            <a:ext cx="5012055" cy="0"/>
          </a:xfrm>
          <a:custGeom>
            <a:avLst/>
            <a:gdLst/>
            <a:ahLst/>
            <a:cxnLst/>
            <a:rect l="l" t="t" r="r" b="b"/>
            <a:pathLst>
              <a:path w="5012055">
                <a:moveTo>
                  <a:pt x="0" y="0"/>
                </a:moveTo>
                <a:lnTo>
                  <a:pt x="5011839" y="0"/>
                </a:lnTo>
              </a:path>
            </a:pathLst>
          </a:custGeom>
          <a:ln w="6927">
            <a:solidFill>
              <a:srgbClr val="202429"/>
            </a:solidFill>
          </a:ln>
        </p:spPr>
        <p:txBody>
          <a:bodyPr wrap="square" lIns="0" tIns="0" rIns="0" bIns="0" rtlCol="0"/>
          <a:lstStyle/>
          <a:p>
            <a:endParaRPr/>
          </a:p>
        </p:txBody>
      </p:sp>
      <p:sp>
        <p:nvSpPr>
          <p:cNvPr id="12" name="object 12"/>
          <p:cNvSpPr/>
          <p:nvPr/>
        </p:nvSpPr>
        <p:spPr>
          <a:xfrm>
            <a:off x="359994" y="2411361"/>
            <a:ext cx="5012055" cy="0"/>
          </a:xfrm>
          <a:custGeom>
            <a:avLst/>
            <a:gdLst/>
            <a:ahLst/>
            <a:cxnLst/>
            <a:rect l="l" t="t" r="r" b="b"/>
            <a:pathLst>
              <a:path w="5012055">
                <a:moveTo>
                  <a:pt x="0" y="0"/>
                </a:moveTo>
                <a:lnTo>
                  <a:pt x="5011839" y="0"/>
                </a:lnTo>
              </a:path>
            </a:pathLst>
          </a:custGeom>
          <a:ln w="11083">
            <a:solidFill>
              <a:srgbClr val="202429"/>
            </a:solidFill>
          </a:ln>
        </p:spPr>
        <p:txBody>
          <a:bodyPr wrap="square" lIns="0" tIns="0" rIns="0" bIns="0" rtlCol="0"/>
          <a:lstStyle/>
          <a:p>
            <a:endParaRPr/>
          </a:p>
        </p:txBody>
      </p:sp>
      <p:sp>
        <p:nvSpPr>
          <p:cNvPr id="13" name="object 13"/>
          <p:cNvSpPr txBox="1"/>
          <p:nvPr/>
        </p:nvSpPr>
        <p:spPr>
          <a:xfrm>
            <a:off x="499516" y="2509202"/>
            <a:ext cx="4761230" cy="367030"/>
          </a:xfrm>
          <a:prstGeom prst="rect">
            <a:avLst/>
          </a:prstGeom>
          <a:solidFill>
            <a:srgbClr val="E8F4F8"/>
          </a:solidFill>
          <a:ln w="5060">
            <a:solidFill>
              <a:srgbClr val="005F73"/>
            </a:solidFill>
          </a:ln>
        </p:spPr>
        <p:txBody>
          <a:bodyPr vert="horz" wrap="square" lIns="0" tIns="1270" rIns="0" bIns="0" rtlCol="0">
            <a:spAutoFit/>
          </a:bodyPr>
          <a:lstStyle/>
          <a:p>
            <a:pPr algn="ctr">
              <a:lnSpc>
                <a:spcPct val="100000"/>
              </a:lnSpc>
              <a:spcBef>
                <a:spcPts val="10"/>
              </a:spcBef>
            </a:pPr>
            <a:r>
              <a:rPr sz="1000" b="1" dirty="0">
                <a:solidFill>
                  <a:srgbClr val="202429"/>
                </a:solidFill>
                <a:latin typeface="Arial"/>
                <a:cs typeface="Arial"/>
              </a:rPr>
              <a:t>Key safeguard. </a:t>
            </a:r>
            <a:r>
              <a:rPr sz="1000" b="0" dirty="0">
                <a:solidFill>
                  <a:srgbClr val="202429"/>
                </a:solidFill>
                <a:latin typeface="Arial"/>
                <a:cs typeface="Arial"/>
              </a:rPr>
              <a:t>Every summary can be traced to its source sentences.</a:t>
            </a:r>
            <a:endParaRPr sz="1000">
              <a:latin typeface="Tahoma"/>
              <a:cs typeface="Tahoma"/>
            </a:endParaRPr>
          </a:p>
        </p:txBody>
      </p:sp>
      <p:sp>
        <p:nvSpPr>
          <p:cNvPr id="14" name="object 14"/>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7" name="Slide Number Placeholder 16">
            <a:extLst>
              <a:ext uri="{FF2B5EF4-FFF2-40B4-BE49-F238E27FC236}">
                <a16:creationId xmlns:a16="http://schemas.microsoft.com/office/drawing/2014/main" id="{66CDC484-63B2-6A7F-BA8B-1AFF303448CD}"/>
              </a:ext>
            </a:extLst>
          </p:cNvPr>
          <p:cNvSpPr>
            <a:spLocks noGrp="1"/>
          </p:cNvSpPr>
          <p:nvPr>
            <p:ph type="sldNum" sz="quarter" idx="7"/>
          </p:nvPr>
        </p:nvSpPr>
        <p:spPr>
          <a:xfrm>
            <a:off x="5211445" y="3060028"/>
            <a:ext cx="548640" cy="173989"/>
          </a:xfrm>
        </p:spPr>
        <p:txBody>
          <a:bodyPr/>
          <a:lstStyle/>
          <a:p>
            <a:pPr marL="39370">
              <a:lnSpc>
                <a:spcPct val="100000"/>
              </a:lnSpc>
              <a:spcBef>
                <a:spcPts val="219"/>
              </a:spcBef>
            </a:pPr>
            <a:fld id="{81D60167-4931-47E6-BA6A-407CBD079E47}" type="slidenum">
              <a:rPr lang="en-GB" smtClean="0"/>
              <a:t>22</a:t>
            </a:fld>
            <a:r>
              <a:rPr lang="en-GB" spc="20" dirty="0"/>
              <a:t> </a:t>
            </a:r>
            <a:r>
              <a:rPr lang="en-GB" spc="120" dirty="0"/>
              <a:t>/</a:t>
            </a:r>
            <a:r>
              <a:rPr lang="en-GB" spc="25" dirty="0"/>
              <a:t> </a:t>
            </a:r>
            <a:r>
              <a:rPr lang="en-GB" spc="-25" dirty="0"/>
              <a:t>39</a:t>
            </a:r>
          </a:p>
        </p:txBody>
      </p:sp>
      <p:graphicFrame>
        <p:nvGraphicFramePr>
          <p:cNvPr id="18" name="Risks table"/>
          <p:cNvGraphicFramePr>
            <a:graphicFrameLocks noGrp="1"/>
          </p:cNvGraphicFramePr>
          <p:nvPr/>
        </p:nvGraphicFramePr>
        <p:xfrm>
          <a:off x="347472" y="786384"/>
          <a:ext cx="5065776" cy="1716024"/>
        </p:xfrm>
        <a:graphic>
          <a:graphicData uri="http://schemas.openxmlformats.org/drawingml/2006/table">
            <a:tbl>
              <a:tblPr firstRow="1">
                <a:tableStyleId>{5C22544A-7EE6-4342-B048-85BDC9FD1C3A}</a:tableStyleId>
              </a:tblPr>
              <a:tblGrid>
                <a:gridCol w="1737360">
                  <a:extLst>
                    <a:ext uri="{9D8B030D-6E8A-4147-A177-3AD203B41FA5}">
                      <a16:colId xmlns:a16="http://schemas.microsoft.com/office/drawing/2014/main" val="20000"/>
                    </a:ext>
                  </a:extLst>
                </a:gridCol>
                <a:gridCol w="3328416">
                  <a:extLst>
                    <a:ext uri="{9D8B030D-6E8A-4147-A177-3AD203B41FA5}">
                      <a16:colId xmlns:a16="http://schemas.microsoft.com/office/drawing/2014/main" val="20001"/>
                    </a:ext>
                  </a:extLst>
                </a:gridCol>
              </a:tblGrid>
              <a:tr h="320040">
                <a:tc>
                  <a:txBody>
                    <a:bodyPr/>
                    <a:lstStyle/>
                    <a:p>
                      <a:r>
                        <a:rPr sz="1000" b="1">
                          <a:solidFill>
                            <a:srgbClr val="FFFFFF"/>
                          </a:solidFill>
                          <a:latin typeface="Arial"/>
                        </a:rPr>
                        <a:t>Risk</a:t>
                      </a:r>
                    </a:p>
                  </a:txBody>
                  <a:tcPr marL="73152" marR="73152" marT="36576" marB="36576" anchor="ctr">
                    <a:solidFill>
                      <a:srgbClr val="005F73"/>
                    </a:solidFill>
                  </a:tcPr>
                </a:tc>
                <a:tc>
                  <a:txBody>
                    <a:bodyPr/>
                    <a:lstStyle/>
                    <a:p>
                      <a:r>
                        <a:rPr sz="1000" b="1">
                          <a:solidFill>
                            <a:srgbClr val="FFFFFF"/>
                          </a:solidFill>
                          <a:latin typeface="Arial"/>
                        </a:rPr>
                        <a:t>How we reduce it</a:t>
                      </a:r>
                    </a:p>
                  </a:txBody>
                  <a:tcPr marL="73152" marR="73152" marT="36576" marB="36576" anchor="ctr">
                    <a:solidFill>
                      <a:srgbClr val="005F73"/>
                    </a:solidFill>
                  </a:tcPr>
                </a:tc>
                <a:extLst>
                  <a:ext uri="{0D108BD9-81ED-4DB2-BD59-A6C34878D82A}">
                    <a16:rowId xmlns:a16="http://schemas.microsoft.com/office/drawing/2014/main" val="10000"/>
                  </a:ext>
                </a:extLst>
              </a:tr>
              <a:tr h="320040">
                <a:tc>
                  <a:txBody>
                    <a:bodyPr/>
                    <a:lstStyle/>
                    <a:p>
                      <a:r>
                        <a:rPr sz="1000" b="1">
                          <a:solidFill>
                            <a:srgbClr val="202429"/>
                          </a:solidFill>
                          <a:latin typeface="Arial"/>
                        </a:rPr>
                        <a:t>Hallucination and bias</a:t>
                      </a:r>
                    </a:p>
                  </a:txBody>
                  <a:tcPr marL="73152" marR="73152" marT="36576" marB="36576" anchor="ctr">
                    <a:solidFill>
                      <a:srgbClr val="F2F6F7"/>
                    </a:solidFill>
                  </a:tcPr>
                </a:tc>
                <a:tc>
                  <a:txBody>
                    <a:bodyPr/>
                    <a:lstStyle/>
                    <a:p>
                      <a:r>
                        <a:rPr sz="1000" b="0">
                          <a:solidFill>
                            <a:srgbClr val="202429"/>
                          </a:solidFill>
                          <a:latin typeface="Tahoma"/>
                        </a:rPr>
                        <a:t>Summaries checked against the original sentences, with bias audits</a:t>
                      </a:r>
                    </a:p>
                  </a:txBody>
                  <a:tcPr marL="73152" marR="73152" marT="36576" marB="36576" anchor="ctr">
                    <a:solidFill>
                      <a:srgbClr val="F2F6F7"/>
                    </a:solidFill>
                  </a:tcPr>
                </a:tc>
                <a:extLst>
                  <a:ext uri="{0D108BD9-81ED-4DB2-BD59-A6C34878D82A}">
                    <a16:rowId xmlns:a16="http://schemas.microsoft.com/office/drawing/2014/main" val="10001"/>
                  </a:ext>
                </a:extLst>
              </a:tr>
              <a:tr h="320040">
                <a:tc>
                  <a:txBody>
                    <a:bodyPr/>
                    <a:lstStyle/>
                    <a:p>
                      <a:r>
                        <a:rPr sz="1000" b="1">
                          <a:solidFill>
                            <a:srgbClr val="202429"/>
                          </a:solidFill>
                          <a:latin typeface="Arial"/>
                        </a:rPr>
                        <a:t>Inadequate content control</a:t>
                      </a:r>
                    </a:p>
                  </a:txBody>
                  <a:tcPr marL="73152" marR="73152" marT="36576" marB="36576" anchor="ctr">
                    <a:solidFill>
                      <a:srgbClr val="FFFFFF"/>
                    </a:solidFill>
                  </a:tcPr>
                </a:tc>
                <a:tc>
                  <a:txBody>
                    <a:bodyPr/>
                    <a:lstStyle/>
                    <a:p>
                      <a:r>
                        <a:rPr sz="1000" b="0">
                          <a:solidFill>
                            <a:srgbClr val="202429"/>
                          </a:solidFill>
                          <a:latin typeface="Tahoma"/>
                        </a:rPr>
                        <a:t>Every summary traceable to its source sentences</a:t>
                      </a:r>
                    </a:p>
                  </a:txBody>
                  <a:tcPr marL="73152" marR="73152" marT="36576" marB="36576" anchor="ctr">
                    <a:solidFill>
                      <a:srgbClr val="FFFFFF"/>
                    </a:solidFill>
                  </a:tcPr>
                </a:tc>
                <a:extLst>
                  <a:ext uri="{0D108BD9-81ED-4DB2-BD59-A6C34878D82A}">
                    <a16:rowId xmlns:a16="http://schemas.microsoft.com/office/drawing/2014/main" val="10002"/>
                  </a:ext>
                </a:extLst>
              </a:tr>
              <a:tr h="320040">
                <a:tc>
                  <a:txBody>
                    <a:bodyPr/>
                    <a:lstStyle/>
                    <a:p>
                      <a:r>
                        <a:rPr sz="1000" b="1">
                          <a:solidFill>
                            <a:srgbClr val="202429"/>
                          </a:solidFill>
                          <a:latin typeface="Arial"/>
                        </a:rPr>
                        <a:t>Sensitive data exposure</a:t>
                      </a:r>
                    </a:p>
                  </a:txBody>
                  <a:tcPr marL="73152" marR="73152" marT="36576" marB="36576" anchor="ctr">
                    <a:solidFill>
                      <a:srgbClr val="F2F6F7"/>
                    </a:solidFill>
                  </a:tcPr>
                </a:tc>
                <a:tc>
                  <a:txBody>
                    <a:bodyPr/>
                    <a:lstStyle/>
                    <a:p>
                      <a:r>
                        <a:rPr sz="1000" b="0">
                          <a:solidFill>
                            <a:srgbClr val="202429"/>
                          </a:solidFill>
                          <a:latin typeface="Tahoma"/>
                        </a:rPr>
                        <a:t>Offline models, so no data leaves our systems</a:t>
                      </a:r>
                    </a:p>
                  </a:txBody>
                  <a:tcPr marL="73152" marR="73152" marT="36576" marB="36576" anchor="ctr">
                    <a:solidFill>
                      <a:srgbClr val="F2F6F7"/>
                    </a:solidFill>
                  </a:tcPr>
                </a:tc>
                <a:extLst>
                  <a:ext uri="{0D108BD9-81ED-4DB2-BD59-A6C34878D82A}">
                    <a16:rowId xmlns:a16="http://schemas.microsoft.com/office/drawing/2014/main" val="10003"/>
                  </a:ext>
                </a:extLst>
              </a:tr>
              <a:tr h="320040">
                <a:tc>
                  <a:txBody>
                    <a:bodyPr/>
                    <a:lstStyle/>
                    <a:p>
                      <a:r>
                        <a:rPr sz="1000" b="1">
                          <a:solidFill>
                            <a:srgbClr val="202429"/>
                          </a:solidFill>
                          <a:latin typeface="Arial"/>
                        </a:rPr>
                        <a:t>Small sample sizes</a:t>
                      </a:r>
                    </a:p>
                  </a:txBody>
                  <a:tcPr marL="73152" marR="73152" marT="36576" marB="36576" anchor="ctr">
                    <a:solidFill>
                      <a:srgbClr val="FFFFFF"/>
                    </a:solidFill>
                  </a:tcPr>
                </a:tc>
                <a:tc>
                  <a:txBody>
                    <a:bodyPr/>
                    <a:lstStyle/>
                    <a:p>
                      <a:r>
                        <a:rPr sz="1000" b="0">
                          <a:solidFill>
                            <a:srgbClr val="202429"/>
                          </a:solidFill>
                          <a:latin typeface="Tahoma"/>
                        </a:rPr>
                        <a:t>Results reported for each group</a:t>
                      </a:r>
                    </a:p>
                  </a:txBody>
                  <a:tcPr marL="73152" marR="73152" marT="36576" marB="36576" anchor="ctr">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054100" y="708025"/>
            <a:ext cx="3432645" cy="934871"/>
          </a:xfrm>
          <a:prstGeom prst="rect">
            <a:avLst/>
          </a:prstGeom>
        </p:spPr>
        <p:txBody>
          <a:bodyPr vert="horz" wrap="square" lIns="0" tIns="11430" rIns="0" bIns="0" rtlCol="0">
            <a:spAutoFit/>
          </a:bodyPr>
          <a:lstStyle/>
          <a:p>
            <a:pPr marL="12700">
              <a:spcBef>
                <a:spcPts val="90"/>
              </a:spcBef>
            </a:pPr>
            <a:r>
              <a:rPr lang="en-GB" sz="2000" i="1" dirty="0"/>
              <a:t>How can we apply this framework to other types of investigations?</a:t>
            </a:r>
          </a:p>
        </p:txBody>
      </p:sp>
      <p:sp>
        <p:nvSpPr>
          <p:cNvPr id="5" name="object 5"/>
          <p:cNvSpPr/>
          <p:nvPr/>
        </p:nvSpPr>
        <p:spPr>
          <a:xfrm>
            <a:off x="2430005" y="2464701"/>
            <a:ext cx="900430" cy="0"/>
          </a:xfrm>
          <a:custGeom>
            <a:avLst/>
            <a:gdLst/>
            <a:ahLst/>
            <a:cxnLst/>
            <a:rect l="l" t="t" r="r" b="b"/>
            <a:pathLst>
              <a:path w="900429">
                <a:moveTo>
                  <a:pt x="0" y="0"/>
                </a:moveTo>
                <a:lnTo>
                  <a:pt x="899998" y="0"/>
                </a:lnTo>
              </a:path>
            </a:pathLst>
          </a:custGeom>
          <a:ln w="18978">
            <a:solidFill>
              <a:srgbClr val="D65F2C"/>
            </a:solidFill>
          </a:ln>
        </p:spPr>
        <p:txBody>
          <a:bodyPr wrap="square" lIns="0" tIns="0" rIns="0" bIns="0" rtlCol="0"/>
          <a:lstStyle/>
          <a:p>
            <a:endParaRPr/>
          </a:p>
        </p:txBody>
      </p:sp>
      <p:sp>
        <p:nvSpPr>
          <p:cNvPr id="6" name="object 6"/>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51929" y="1078739"/>
            <a:ext cx="916305" cy="997585"/>
          </a:xfrm>
          <a:prstGeom prst="rect">
            <a:avLst/>
          </a:prstGeom>
        </p:spPr>
        <p:txBody>
          <a:bodyPr vert="horz" wrap="square" lIns="0" tIns="15875" rIns="0" bIns="0" rtlCol="0">
            <a:spAutoFit/>
          </a:bodyPr>
          <a:lstStyle/>
          <a:p>
            <a:pPr marL="12700">
              <a:lnSpc>
                <a:spcPct val="100000"/>
              </a:lnSpc>
              <a:spcBef>
                <a:spcPts val="125"/>
              </a:spcBef>
            </a:pPr>
            <a:r>
              <a:rPr sz="6350" b="1" spc="-25" dirty="0">
                <a:solidFill>
                  <a:srgbClr val="FFFFFF"/>
                </a:solidFill>
                <a:latin typeface="Arial"/>
                <a:cs typeface="Arial"/>
              </a:rPr>
              <a:t>0</a:t>
            </a:r>
            <a:r>
              <a:rPr lang="en-GB" sz="6350" b="1" spc="-25" dirty="0">
                <a:solidFill>
                  <a:srgbClr val="FFFFFF"/>
                </a:solidFill>
                <a:latin typeface="Arial"/>
                <a:cs typeface="Arial"/>
              </a:rPr>
              <a:t>4</a:t>
            </a:r>
            <a:endParaRPr sz="6350" dirty="0">
              <a:latin typeface="Arial"/>
              <a:cs typeface="Arial"/>
            </a:endParaRPr>
          </a:p>
        </p:txBody>
      </p:sp>
      <p:sp>
        <p:nvSpPr>
          <p:cNvPr id="3" name="object 3" descr="$PPTXTitle"/>
          <p:cNvSpPr txBox="1">
            <a:spLocks noGrp="1"/>
          </p:cNvSpPr>
          <p:nvPr>
            <p:ph type="title"/>
          </p:nvPr>
        </p:nvSpPr>
        <p:spPr>
          <a:xfrm>
            <a:off x="2239657" y="1062603"/>
            <a:ext cx="1528445" cy="511809"/>
          </a:xfrm>
          <a:prstGeom prst="rect">
            <a:avLst/>
          </a:prstGeom>
        </p:spPr>
        <p:txBody>
          <a:bodyPr vert="horz" wrap="square" lIns="0" tIns="17145" rIns="0" bIns="0" rtlCol="0">
            <a:spAutoFit/>
          </a:bodyPr>
          <a:lstStyle/>
          <a:p>
            <a:pPr marL="12700">
              <a:lnSpc>
                <a:spcPct val="100000"/>
              </a:lnSpc>
              <a:spcBef>
                <a:spcPts val="135"/>
              </a:spcBef>
            </a:pPr>
            <a:r>
              <a:rPr sz="3150" spc="-10" dirty="0"/>
              <a:t>LENS.ai</a:t>
            </a:r>
            <a:endParaRPr sz="3150"/>
          </a:p>
        </p:txBody>
      </p:sp>
      <p:sp>
        <p:nvSpPr>
          <p:cNvPr id="4" name="object 4"/>
          <p:cNvSpPr/>
          <p:nvPr/>
        </p:nvSpPr>
        <p:spPr>
          <a:xfrm>
            <a:off x="2252357" y="1725904"/>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sp>
        <p:nvSpPr>
          <p:cNvPr id="5" name="object 5"/>
          <p:cNvSpPr txBox="1"/>
          <p:nvPr/>
        </p:nvSpPr>
        <p:spPr>
          <a:xfrm>
            <a:off x="2239657" y="1853778"/>
            <a:ext cx="3050540" cy="379730"/>
          </a:xfrm>
          <a:prstGeom prst="rect">
            <a:avLst/>
          </a:prstGeom>
        </p:spPr>
        <p:txBody>
          <a:bodyPr vert="horz" wrap="square" lIns="0" tIns="27305" rIns="0" bIns="0" rtlCol="0">
            <a:spAutoFit/>
          </a:bodyPr>
          <a:lstStyle/>
          <a:p>
            <a:pPr marL="12700" marR="5080">
              <a:lnSpc>
                <a:spcPts val="1350"/>
              </a:lnSpc>
              <a:spcBef>
                <a:spcPts val="215"/>
              </a:spcBef>
            </a:pPr>
            <a:r>
              <a:rPr sz="1200" spc="-45" dirty="0">
                <a:solidFill>
                  <a:srgbClr val="6C757C"/>
                </a:solidFill>
                <a:latin typeface="Tahoma"/>
                <a:cs typeface="Tahoma"/>
              </a:rPr>
              <a:t>Learning</a:t>
            </a:r>
            <a:r>
              <a:rPr sz="1200" spc="60" dirty="0">
                <a:solidFill>
                  <a:srgbClr val="6C757C"/>
                </a:solidFill>
                <a:latin typeface="Tahoma"/>
                <a:cs typeface="Tahoma"/>
              </a:rPr>
              <a:t> </a:t>
            </a:r>
            <a:r>
              <a:rPr sz="1200" spc="-20" dirty="0">
                <a:solidFill>
                  <a:srgbClr val="6C757C"/>
                </a:solidFill>
                <a:latin typeface="Tahoma"/>
                <a:cs typeface="Tahoma"/>
              </a:rPr>
              <a:t>Through</a:t>
            </a:r>
            <a:r>
              <a:rPr sz="1200" spc="65" dirty="0">
                <a:solidFill>
                  <a:srgbClr val="6C757C"/>
                </a:solidFill>
                <a:latin typeface="Tahoma"/>
                <a:cs typeface="Tahoma"/>
              </a:rPr>
              <a:t> </a:t>
            </a:r>
            <a:r>
              <a:rPr sz="1200" spc="-40" dirty="0">
                <a:solidFill>
                  <a:srgbClr val="6C757C"/>
                </a:solidFill>
                <a:latin typeface="Tahoma"/>
                <a:cs typeface="Tahoma"/>
              </a:rPr>
              <a:t>Evidence</a:t>
            </a:r>
            <a:r>
              <a:rPr sz="1200" spc="60" dirty="0">
                <a:solidFill>
                  <a:srgbClr val="6C757C"/>
                </a:solidFill>
                <a:latin typeface="Tahoma"/>
                <a:cs typeface="Tahoma"/>
              </a:rPr>
              <a:t> </a:t>
            </a:r>
            <a:r>
              <a:rPr sz="1200" spc="-10" dirty="0">
                <a:solidFill>
                  <a:srgbClr val="6C757C"/>
                </a:solidFill>
                <a:latin typeface="Tahoma"/>
                <a:cs typeface="Tahoma"/>
              </a:rPr>
              <a:t>from</a:t>
            </a:r>
            <a:r>
              <a:rPr sz="1200" spc="60" dirty="0">
                <a:solidFill>
                  <a:srgbClr val="6C757C"/>
                </a:solidFill>
                <a:latin typeface="Tahoma"/>
                <a:cs typeface="Tahoma"/>
              </a:rPr>
              <a:t> </a:t>
            </a:r>
            <a:r>
              <a:rPr sz="1200" spc="-10" dirty="0">
                <a:solidFill>
                  <a:srgbClr val="6C757C"/>
                </a:solidFill>
                <a:latin typeface="Tahoma"/>
                <a:cs typeface="Tahoma"/>
              </a:rPr>
              <a:t>Natural</a:t>
            </a:r>
            <a:r>
              <a:rPr sz="1200" spc="60" dirty="0">
                <a:solidFill>
                  <a:srgbClr val="6C757C"/>
                </a:solidFill>
                <a:latin typeface="Tahoma"/>
                <a:cs typeface="Tahoma"/>
              </a:rPr>
              <a:t> </a:t>
            </a:r>
            <a:r>
              <a:rPr sz="1200" spc="-20" dirty="0">
                <a:solidFill>
                  <a:srgbClr val="6C757C"/>
                </a:solidFill>
                <a:latin typeface="Tahoma"/>
                <a:cs typeface="Tahoma"/>
              </a:rPr>
              <a:t>Lan</a:t>
            </a:r>
            <a:r>
              <a:rPr sz="1200" spc="-85" dirty="0">
                <a:solidFill>
                  <a:srgbClr val="6C757C"/>
                </a:solidFill>
                <a:latin typeface="Tahoma"/>
                <a:cs typeface="Tahoma"/>
              </a:rPr>
              <a:t>guage</a:t>
            </a:r>
            <a:r>
              <a:rPr sz="1200" spc="15" dirty="0">
                <a:solidFill>
                  <a:srgbClr val="6C757C"/>
                </a:solidFill>
                <a:latin typeface="Tahoma"/>
                <a:cs typeface="Tahoma"/>
              </a:rPr>
              <a:t> </a:t>
            </a:r>
            <a:r>
              <a:rPr sz="1200" spc="-10" dirty="0">
                <a:solidFill>
                  <a:srgbClr val="6C757C"/>
                </a:solidFill>
                <a:latin typeface="Tahoma"/>
                <a:cs typeface="Tahoma"/>
              </a:rPr>
              <a:t>Systems</a:t>
            </a:r>
            <a:endParaRPr sz="1200">
              <a:latin typeface="Tahoma"/>
              <a:cs typeface="Tahom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object 5"/>
          <p:cNvPicPr/>
          <p:nvPr/>
        </p:nvPicPr>
        <p:blipFill>
          <a:blip r:embed="rId3" cstate="print"/>
          <a:stretch>
            <a:fillRect/>
          </a:stretch>
        </p:blipFill>
        <p:spPr>
          <a:xfrm>
            <a:off x="3899604" y="141004"/>
            <a:ext cx="1787270" cy="2508526"/>
          </a:xfrm>
          <a:prstGeom prst="rect">
            <a:avLst/>
          </a:prstGeom>
        </p:spPr>
      </p:pic>
      <p:sp>
        <p:nvSpPr>
          <p:cNvPr id="2" name="object 2" descr="$PPTXTitle"/>
          <p:cNvSpPr txBox="1">
            <a:spLocks noGrp="1"/>
          </p:cNvSpPr>
          <p:nvPr>
            <p:ph type="title"/>
          </p:nvPr>
        </p:nvSpPr>
        <p:spPr>
          <a:xfrm>
            <a:off x="347294" y="18767"/>
            <a:ext cx="2346960" cy="244475"/>
          </a:xfrm>
          <a:prstGeom prst="rect">
            <a:avLst/>
          </a:prstGeom>
        </p:spPr>
        <p:txBody>
          <a:bodyPr vert="horz" wrap="square" lIns="0" tIns="17145" rIns="0" bIns="0" rtlCol="0">
            <a:spAutoFit/>
          </a:bodyPr>
          <a:lstStyle/>
          <a:p>
            <a:pPr marL="12700">
              <a:lnSpc>
                <a:spcPct val="100000"/>
              </a:lnSpc>
              <a:spcBef>
                <a:spcPts val="135"/>
              </a:spcBef>
            </a:pPr>
            <a:r>
              <a:rPr spc="-25" dirty="0"/>
              <a:t>Beyond</a:t>
            </a:r>
            <a:r>
              <a:rPr spc="160" dirty="0"/>
              <a:t> </a:t>
            </a:r>
            <a:r>
              <a:rPr dirty="0"/>
              <a:t>Maternity:</a:t>
            </a:r>
            <a:r>
              <a:rPr spc="340" dirty="0"/>
              <a:t> </a:t>
            </a:r>
            <a:r>
              <a:rPr spc="-10" dirty="0"/>
              <a:t>LENS.ai</a:t>
            </a:r>
          </a:p>
        </p:txBody>
      </p:sp>
      <p:sp>
        <p:nvSpPr>
          <p:cNvPr id="3" name="object 3"/>
          <p:cNvSpPr txBox="1"/>
          <p:nvPr/>
        </p:nvSpPr>
        <p:spPr>
          <a:xfrm>
            <a:off x="139700" y="397367"/>
            <a:ext cx="3429000" cy="1237518"/>
          </a:xfrm>
          <a:prstGeom prst="rect">
            <a:avLst/>
          </a:prstGeom>
        </p:spPr>
        <p:txBody>
          <a:bodyPr vert="horz" wrap="square" lIns="0" tIns="11430" rIns="0" bIns="0" rtlCol="0">
            <a:spAutoFit/>
          </a:bodyPr>
          <a:lstStyle/>
          <a:p>
            <a:pPr marL="12700">
              <a:lnSpc>
                <a:spcPct val="100000"/>
              </a:lnSpc>
              <a:spcBef>
                <a:spcPts val="90"/>
              </a:spcBef>
            </a:pPr>
            <a:r>
              <a:rPr sz="1100" spc="-30" dirty="0">
                <a:solidFill>
                  <a:srgbClr val="6C757C"/>
                </a:solidFill>
                <a:latin typeface="Tahoma"/>
                <a:cs typeface="Tahoma"/>
              </a:rPr>
              <a:t>Extending</a:t>
            </a:r>
            <a:r>
              <a:rPr sz="1100" spc="-45" dirty="0">
                <a:solidFill>
                  <a:srgbClr val="6C757C"/>
                </a:solidFill>
                <a:latin typeface="Tahoma"/>
                <a:cs typeface="Tahoma"/>
              </a:rPr>
              <a:t> </a:t>
            </a:r>
            <a:r>
              <a:rPr sz="1100" spc="-10" dirty="0">
                <a:solidFill>
                  <a:srgbClr val="6C757C"/>
                </a:solidFill>
                <a:latin typeface="Tahoma"/>
                <a:cs typeface="Tahoma"/>
              </a:rPr>
              <a:t>the</a:t>
            </a:r>
            <a:r>
              <a:rPr sz="1100" spc="-40" dirty="0">
                <a:solidFill>
                  <a:srgbClr val="6C757C"/>
                </a:solidFill>
                <a:latin typeface="Tahoma"/>
                <a:cs typeface="Tahoma"/>
              </a:rPr>
              <a:t> </a:t>
            </a:r>
            <a:r>
              <a:rPr sz="1100" spc="-50" dirty="0">
                <a:solidFill>
                  <a:srgbClr val="6C757C"/>
                </a:solidFill>
                <a:latin typeface="Tahoma"/>
                <a:cs typeface="Tahoma"/>
              </a:rPr>
              <a:t>framework</a:t>
            </a:r>
            <a:r>
              <a:rPr sz="1100" spc="-35" dirty="0">
                <a:solidFill>
                  <a:srgbClr val="6C757C"/>
                </a:solidFill>
                <a:latin typeface="Tahoma"/>
                <a:cs typeface="Tahoma"/>
              </a:rPr>
              <a:t> </a:t>
            </a:r>
            <a:r>
              <a:rPr sz="1100" dirty="0">
                <a:solidFill>
                  <a:srgbClr val="6C757C"/>
                </a:solidFill>
                <a:latin typeface="Tahoma"/>
                <a:cs typeface="Tahoma"/>
              </a:rPr>
              <a:t>to</a:t>
            </a:r>
            <a:r>
              <a:rPr sz="1100" spc="-40" dirty="0">
                <a:solidFill>
                  <a:srgbClr val="6C757C"/>
                </a:solidFill>
                <a:latin typeface="Tahoma"/>
                <a:cs typeface="Tahoma"/>
              </a:rPr>
              <a:t> </a:t>
            </a:r>
            <a:r>
              <a:rPr sz="1100" spc="-30" dirty="0">
                <a:solidFill>
                  <a:srgbClr val="6C757C"/>
                </a:solidFill>
                <a:latin typeface="Tahoma"/>
                <a:cs typeface="Tahoma"/>
              </a:rPr>
              <a:t>Prevention</a:t>
            </a:r>
            <a:r>
              <a:rPr sz="1100" spc="-40" dirty="0">
                <a:solidFill>
                  <a:srgbClr val="6C757C"/>
                </a:solidFill>
                <a:latin typeface="Tahoma"/>
                <a:cs typeface="Tahoma"/>
              </a:rPr>
              <a:t> </a:t>
            </a:r>
            <a:r>
              <a:rPr sz="1100" dirty="0">
                <a:solidFill>
                  <a:srgbClr val="6C757C"/>
                </a:solidFill>
                <a:latin typeface="Tahoma"/>
                <a:cs typeface="Tahoma"/>
              </a:rPr>
              <a:t>of</a:t>
            </a:r>
            <a:r>
              <a:rPr sz="1100" spc="-40" dirty="0">
                <a:solidFill>
                  <a:srgbClr val="6C757C"/>
                </a:solidFill>
                <a:latin typeface="Tahoma"/>
                <a:cs typeface="Tahoma"/>
              </a:rPr>
              <a:t> </a:t>
            </a:r>
            <a:r>
              <a:rPr sz="1100" spc="-20" dirty="0">
                <a:solidFill>
                  <a:srgbClr val="6C757C"/>
                </a:solidFill>
                <a:latin typeface="Tahoma"/>
                <a:cs typeface="Tahoma"/>
              </a:rPr>
              <a:t>Future</a:t>
            </a:r>
            <a:r>
              <a:rPr sz="1100" spc="-35" dirty="0">
                <a:solidFill>
                  <a:srgbClr val="6C757C"/>
                </a:solidFill>
                <a:latin typeface="Tahoma"/>
                <a:cs typeface="Tahoma"/>
              </a:rPr>
              <a:t> </a:t>
            </a:r>
            <a:r>
              <a:rPr sz="1100" spc="-20" dirty="0">
                <a:solidFill>
                  <a:srgbClr val="6C757C"/>
                </a:solidFill>
                <a:latin typeface="Tahoma"/>
                <a:cs typeface="Tahoma"/>
              </a:rPr>
              <a:t>Deaths</a:t>
            </a:r>
            <a:r>
              <a:rPr sz="1100" spc="-40" dirty="0">
                <a:solidFill>
                  <a:srgbClr val="6C757C"/>
                </a:solidFill>
                <a:latin typeface="Tahoma"/>
                <a:cs typeface="Tahoma"/>
              </a:rPr>
              <a:t> </a:t>
            </a:r>
            <a:r>
              <a:rPr sz="1100" spc="-10" dirty="0">
                <a:solidFill>
                  <a:srgbClr val="6C757C"/>
                </a:solidFill>
                <a:latin typeface="Tahoma"/>
                <a:cs typeface="Tahoma"/>
              </a:rPr>
              <a:t>reports</a:t>
            </a:r>
            <a:endParaRPr sz="1100" dirty="0">
              <a:latin typeface="Tahoma"/>
              <a:cs typeface="Tahoma"/>
            </a:endParaRPr>
          </a:p>
          <a:p>
            <a:pPr marL="12700">
              <a:lnSpc>
                <a:spcPct val="100000"/>
              </a:lnSpc>
              <a:spcBef>
                <a:spcPts val="960"/>
              </a:spcBef>
            </a:pPr>
            <a:r>
              <a:rPr sz="1100" b="1" dirty="0">
                <a:solidFill>
                  <a:srgbClr val="202429"/>
                </a:solidFill>
                <a:latin typeface="Arial"/>
                <a:cs typeface="Arial"/>
              </a:rPr>
              <a:t>What</a:t>
            </a:r>
            <a:r>
              <a:rPr sz="1100" b="1" spc="85" dirty="0">
                <a:solidFill>
                  <a:srgbClr val="202429"/>
                </a:solidFill>
                <a:latin typeface="Arial"/>
                <a:cs typeface="Arial"/>
              </a:rPr>
              <a:t> </a:t>
            </a:r>
            <a:r>
              <a:rPr sz="1100" b="1" spc="-10" dirty="0">
                <a:solidFill>
                  <a:srgbClr val="202429"/>
                </a:solidFill>
                <a:latin typeface="Arial"/>
                <a:cs typeface="Arial"/>
              </a:rPr>
              <a:t>are</a:t>
            </a:r>
            <a:r>
              <a:rPr sz="1100" b="1" spc="85" dirty="0">
                <a:solidFill>
                  <a:srgbClr val="202429"/>
                </a:solidFill>
                <a:latin typeface="Arial"/>
                <a:cs typeface="Arial"/>
              </a:rPr>
              <a:t> </a:t>
            </a:r>
            <a:r>
              <a:rPr sz="1100" b="1" dirty="0">
                <a:solidFill>
                  <a:srgbClr val="202429"/>
                </a:solidFill>
                <a:latin typeface="Arial"/>
                <a:cs typeface="Arial"/>
              </a:rPr>
              <a:t>PFD</a:t>
            </a:r>
            <a:r>
              <a:rPr sz="1100" b="1" spc="90" dirty="0">
                <a:solidFill>
                  <a:srgbClr val="202429"/>
                </a:solidFill>
                <a:latin typeface="Arial"/>
                <a:cs typeface="Arial"/>
              </a:rPr>
              <a:t> </a:t>
            </a:r>
            <a:r>
              <a:rPr sz="1100" b="1" spc="-10" dirty="0">
                <a:solidFill>
                  <a:srgbClr val="202429"/>
                </a:solidFill>
                <a:latin typeface="Arial"/>
                <a:cs typeface="Arial"/>
              </a:rPr>
              <a:t>reports?</a:t>
            </a:r>
            <a:endParaRPr lang="en-GB" sz="1100" b="1" dirty="0">
              <a:latin typeface="Arial"/>
              <a:cs typeface="Arial"/>
            </a:endParaRPr>
          </a:p>
          <a:p>
            <a:pPr marL="12700">
              <a:lnSpc>
                <a:spcPct val="100000"/>
              </a:lnSpc>
              <a:spcBef>
                <a:spcPts val="960"/>
              </a:spcBef>
            </a:pPr>
            <a:r>
              <a:rPr sz="1000" spc="-25" dirty="0">
                <a:solidFill>
                  <a:srgbClr val="202429"/>
                </a:solidFill>
                <a:latin typeface="Tahoma"/>
                <a:cs typeface="Tahoma"/>
              </a:rPr>
              <a:t>Reports</a:t>
            </a:r>
            <a:r>
              <a:rPr sz="1000" spc="-35" dirty="0">
                <a:solidFill>
                  <a:srgbClr val="202429"/>
                </a:solidFill>
                <a:latin typeface="Tahoma"/>
                <a:cs typeface="Tahoma"/>
              </a:rPr>
              <a:t> </a:t>
            </a:r>
            <a:r>
              <a:rPr sz="1000" spc="-55" dirty="0">
                <a:solidFill>
                  <a:srgbClr val="202429"/>
                </a:solidFill>
                <a:latin typeface="Tahoma"/>
                <a:cs typeface="Tahoma"/>
              </a:rPr>
              <a:t>issued</a:t>
            </a:r>
            <a:r>
              <a:rPr sz="1000" spc="-25" dirty="0">
                <a:solidFill>
                  <a:srgbClr val="202429"/>
                </a:solidFill>
                <a:latin typeface="Tahoma"/>
                <a:cs typeface="Tahoma"/>
              </a:rPr>
              <a:t> </a:t>
            </a:r>
            <a:r>
              <a:rPr sz="1000" spc="-30" dirty="0">
                <a:solidFill>
                  <a:srgbClr val="202429"/>
                </a:solidFill>
                <a:latin typeface="Tahoma"/>
                <a:cs typeface="Tahoma"/>
              </a:rPr>
              <a:t>by</a:t>
            </a:r>
            <a:r>
              <a:rPr sz="1000" spc="-25" dirty="0">
                <a:solidFill>
                  <a:srgbClr val="202429"/>
                </a:solidFill>
                <a:latin typeface="Tahoma"/>
                <a:cs typeface="Tahoma"/>
              </a:rPr>
              <a:t> </a:t>
            </a:r>
            <a:r>
              <a:rPr sz="1000" spc="-45" dirty="0">
                <a:solidFill>
                  <a:srgbClr val="202429"/>
                </a:solidFill>
                <a:latin typeface="Tahoma"/>
                <a:cs typeface="Tahoma"/>
              </a:rPr>
              <a:t>coroners</a:t>
            </a:r>
            <a:r>
              <a:rPr sz="1000" spc="-30" dirty="0">
                <a:solidFill>
                  <a:srgbClr val="202429"/>
                </a:solidFill>
                <a:latin typeface="Tahoma"/>
                <a:cs typeface="Tahoma"/>
              </a:rPr>
              <a:t> </a:t>
            </a:r>
            <a:r>
              <a:rPr sz="1000" spc="-20" dirty="0">
                <a:solidFill>
                  <a:srgbClr val="202429"/>
                </a:solidFill>
                <a:latin typeface="Tahoma"/>
                <a:cs typeface="Tahoma"/>
              </a:rPr>
              <a:t>after</a:t>
            </a:r>
            <a:r>
              <a:rPr sz="1000" spc="-25" dirty="0">
                <a:solidFill>
                  <a:srgbClr val="202429"/>
                </a:solidFill>
                <a:latin typeface="Tahoma"/>
                <a:cs typeface="Tahoma"/>
              </a:rPr>
              <a:t> </a:t>
            </a:r>
            <a:r>
              <a:rPr sz="1000" spc="-35" dirty="0">
                <a:solidFill>
                  <a:srgbClr val="202429"/>
                </a:solidFill>
                <a:latin typeface="Tahoma"/>
                <a:cs typeface="Tahoma"/>
              </a:rPr>
              <a:t>inquests</a:t>
            </a:r>
            <a:r>
              <a:rPr sz="1000" spc="-25" dirty="0">
                <a:solidFill>
                  <a:srgbClr val="202429"/>
                </a:solidFill>
                <a:latin typeface="Tahoma"/>
                <a:cs typeface="Tahoma"/>
              </a:rPr>
              <a:t> </a:t>
            </a:r>
            <a:r>
              <a:rPr sz="1000" spc="-40" dirty="0">
                <a:solidFill>
                  <a:srgbClr val="202429"/>
                </a:solidFill>
                <a:latin typeface="Tahoma"/>
                <a:cs typeface="Tahoma"/>
              </a:rPr>
              <a:t>where </a:t>
            </a:r>
            <a:r>
              <a:rPr sz="1000" spc="-20" dirty="0">
                <a:solidFill>
                  <a:srgbClr val="202429"/>
                </a:solidFill>
                <a:latin typeface="Tahoma"/>
                <a:cs typeface="Tahoma"/>
              </a:rPr>
              <a:t>action</a:t>
            </a:r>
            <a:r>
              <a:rPr sz="1000" spc="-55" dirty="0">
                <a:solidFill>
                  <a:srgbClr val="202429"/>
                </a:solidFill>
                <a:latin typeface="Tahoma"/>
                <a:cs typeface="Tahoma"/>
              </a:rPr>
              <a:t> </a:t>
            </a:r>
            <a:r>
              <a:rPr sz="1000" spc="-45" dirty="0">
                <a:solidFill>
                  <a:srgbClr val="202429"/>
                </a:solidFill>
                <a:latin typeface="Tahoma"/>
                <a:cs typeface="Tahoma"/>
              </a:rPr>
              <a:t>may</a:t>
            </a:r>
            <a:r>
              <a:rPr sz="1000" spc="-35" dirty="0">
                <a:solidFill>
                  <a:srgbClr val="202429"/>
                </a:solidFill>
                <a:latin typeface="Tahoma"/>
                <a:cs typeface="Tahoma"/>
              </a:rPr>
              <a:t> </a:t>
            </a:r>
            <a:r>
              <a:rPr sz="1000" spc="-30" dirty="0">
                <a:solidFill>
                  <a:srgbClr val="202429"/>
                </a:solidFill>
                <a:latin typeface="Tahoma"/>
                <a:cs typeface="Tahoma"/>
              </a:rPr>
              <a:t>help</a:t>
            </a:r>
            <a:r>
              <a:rPr sz="1000" spc="-35" dirty="0">
                <a:solidFill>
                  <a:srgbClr val="202429"/>
                </a:solidFill>
                <a:latin typeface="Tahoma"/>
                <a:cs typeface="Tahoma"/>
              </a:rPr>
              <a:t> </a:t>
            </a:r>
            <a:r>
              <a:rPr sz="1000" spc="-40" dirty="0">
                <a:solidFill>
                  <a:srgbClr val="202429"/>
                </a:solidFill>
                <a:latin typeface="Tahoma"/>
                <a:cs typeface="Tahoma"/>
              </a:rPr>
              <a:t>prevent </a:t>
            </a:r>
            <a:r>
              <a:rPr sz="1000" spc="-20" dirty="0">
                <a:solidFill>
                  <a:srgbClr val="202429"/>
                </a:solidFill>
                <a:latin typeface="Tahoma"/>
                <a:cs typeface="Tahoma"/>
              </a:rPr>
              <a:t>future</a:t>
            </a:r>
            <a:r>
              <a:rPr sz="1000" spc="-40" dirty="0">
                <a:solidFill>
                  <a:srgbClr val="202429"/>
                </a:solidFill>
                <a:latin typeface="Tahoma"/>
                <a:cs typeface="Tahoma"/>
              </a:rPr>
              <a:t> </a:t>
            </a:r>
            <a:r>
              <a:rPr sz="1000" spc="-30" dirty="0">
                <a:solidFill>
                  <a:srgbClr val="202429"/>
                </a:solidFill>
                <a:latin typeface="Tahoma"/>
                <a:cs typeface="Tahoma"/>
              </a:rPr>
              <a:t>deaths.</a:t>
            </a:r>
            <a:r>
              <a:rPr sz="1000" spc="50" dirty="0">
                <a:solidFill>
                  <a:srgbClr val="202429"/>
                </a:solidFill>
                <a:latin typeface="Tahoma"/>
                <a:cs typeface="Tahoma"/>
              </a:rPr>
              <a:t> </a:t>
            </a:r>
            <a:r>
              <a:rPr sz="1000" spc="-20" dirty="0">
                <a:solidFill>
                  <a:srgbClr val="202429"/>
                </a:solidFill>
                <a:latin typeface="Tahoma"/>
                <a:cs typeface="Tahoma"/>
              </a:rPr>
              <a:t>They</a:t>
            </a:r>
            <a:r>
              <a:rPr lang="en-GB" sz="1000" dirty="0">
                <a:latin typeface="Tahoma"/>
                <a:cs typeface="Tahoma"/>
              </a:rPr>
              <a:t> </a:t>
            </a:r>
            <a:r>
              <a:rPr sz="1000" spc="-20" dirty="0">
                <a:solidFill>
                  <a:srgbClr val="202429"/>
                </a:solidFill>
                <a:latin typeface="Tahoma"/>
                <a:cs typeface="Tahoma"/>
              </a:rPr>
              <a:t>highlight</a:t>
            </a:r>
            <a:r>
              <a:rPr sz="1000" spc="-15" dirty="0">
                <a:solidFill>
                  <a:srgbClr val="202429"/>
                </a:solidFill>
                <a:latin typeface="Tahoma"/>
                <a:cs typeface="Tahoma"/>
              </a:rPr>
              <a:t> </a:t>
            </a:r>
            <a:r>
              <a:rPr sz="1000" spc="-25" dirty="0">
                <a:solidFill>
                  <a:srgbClr val="202429"/>
                </a:solidFill>
                <a:latin typeface="Tahoma"/>
                <a:cs typeface="Tahoma"/>
              </a:rPr>
              <a:t>risks,</a:t>
            </a:r>
            <a:r>
              <a:rPr sz="1000" spc="-15" dirty="0">
                <a:solidFill>
                  <a:srgbClr val="202429"/>
                </a:solidFill>
                <a:latin typeface="Tahoma"/>
                <a:cs typeface="Tahoma"/>
              </a:rPr>
              <a:t> </a:t>
            </a:r>
            <a:r>
              <a:rPr sz="1000" spc="-45" dirty="0">
                <a:solidFill>
                  <a:srgbClr val="202429"/>
                </a:solidFill>
                <a:latin typeface="Tahoma"/>
                <a:cs typeface="Tahoma"/>
              </a:rPr>
              <a:t>system</a:t>
            </a:r>
            <a:r>
              <a:rPr sz="1000" spc="-10" dirty="0">
                <a:solidFill>
                  <a:srgbClr val="202429"/>
                </a:solidFill>
                <a:latin typeface="Tahoma"/>
                <a:cs typeface="Tahoma"/>
              </a:rPr>
              <a:t> </a:t>
            </a:r>
            <a:r>
              <a:rPr sz="1000" spc="-35" dirty="0">
                <a:solidFill>
                  <a:srgbClr val="202429"/>
                </a:solidFill>
                <a:latin typeface="Tahoma"/>
                <a:cs typeface="Tahoma"/>
              </a:rPr>
              <a:t>failures,</a:t>
            </a:r>
            <a:r>
              <a:rPr sz="1000" spc="-15" dirty="0">
                <a:solidFill>
                  <a:srgbClr val="202429"/>
                </a:solidFill>
                <a:latin typeface="Tahoma"/>
                <a:cs typeface="Tahoma"/>
              </a:rPr>
              <a:t> </a:t>
            </a:r>
            <a:r>
              <a:rPr sz="1000" spc="-25" dirty="0">
                <a:solidFill>
                  <a:srgbClr val="202429"/>
                </a:solidFill>
                <a:latin typeface="Tahoma"/>
                <a:cs typeface="Tahoma"/>
              </a:rPr>
              <a:t>and</a:t>
            </a:r>
            <a:r>
              <a:rPr sz="1000" spc="-15" dirty="0">
                <a:solidFill>
                  <a:srgbClr val="202429"/>
                </a:solidFill>
                <a:latin typeface="Tahoma"/>
                <a:cs typeface="Tahoma"/>
              </a:rPr>
              <a:t> </a:t>
            </a:r>
            <a:r>
              <a:rPr sz="1000" spc="-30" dirty="0">
                <a:solidFill>
                  <a:srgbClr val="202429"/>
                </a:solidFill>
                <a:latin typeface="Tahoma"/>
                <a:cs typeface="Tahoma"/>
              </a:rPr>
              <a:t>opportunities</a:t>
            </a:r>
            <a:r>
              <a:rPr sz="1000" spc="-15" dirty="0">
                <a:solidFill>
                  <a:srgbClr val="202429"/>
                </a:solidFill>
                <a:latin typeface="Tahoma"/>
                <a:cs typeface="Tahoma"/>
              </a:rPr>
              <a:t> </a:t>
            </a:r>
            <a:r>
              <a:rPr sz="1000" spc="-25" dirty="0">
                <a:solidFill>
                  <a:srgbClr val="202429"/>
                </a:solidFill>
                <a:latin typeface="Tahoma"/>
                <a:cs typeface="Tahoma"/>
              </a:rPr>
              <a:t>for </a:t>
            </a:r>
            <a:r>
              <a:rPr sz="1000" spc="-35" dirty="0">
                <a:solidFill>
                  <a:srgbClr val="202429"/>
                </a:solidFill>
                <a:latin typeface="Tahoma"/>
                <a:cs typeface="Tahoma"/>
              </a:rPr>
              <a:t>learning</a:t>
            </a:r>
            <a:r>
              <a:rPr sz="1000" spc="-30" dirty="0">
                <a:solidFill>
                  <a:srgbClr val="202429"/>
                </a:solidFill>
                <a:latin typeface="Tahoma"/>
                <a:cs typeface="Tahoma"/>
              </a:rPr>
              <a:t> </a:t>
            </a:r>
            <a:r>
              <a:rPr sz="1000" spc="-40" dirty="0">
                <a:solidFill>
                  <a:srgbClr val="202429"/>
                </a:solidFill>
                <a:latin typeface="Tahoma"/>
                <a:cs typeface="Tahoma"/>
              </a:rPr>
              <a:t>across</a:t>
            </a:r>
            <a:r>
              <a:rPr sz="1000" spc="-25" dirty="0">
                <a:solidFill>
                  <a:srgbClr val="202429"/>
                </a:solidFill>
                <a:latin typeface="Tahoma"/>
                <a:cs typeface="Tahoma"/>
              </a:rPr>
              <a:t> </a:t>
            </a:r>
            <a:r>
              <a:rPr sz="1000" spc="-10" dirty="0" err="1">
                <a:solidFill>
                  <a:srgbClr val="202429"/>
                </a:solidFill>
                <a:latin typeface="Tahoma"/>
                <a:cs typeface="Tahoma"/>
              </a:rPr>
              <a:t>organisations</a:t>
            </a:r>
            <a:r>
              <a:rPr sz="1000" spc="-10" dirty="0">
                <a:solidFill>
                  <a:srgbClr val="202429"/>
                </a:solidFill>
                <a:latin typeface="Tahoma"/>
                <a:cs typeface="Tahoma"/>
              </a:rPr>
              <a:t>.</a:t>
            </a:r>
            <a:endParaRPr sz="1000" dirty="0">
              <a:latin typeface="Tahoma"/>
              <a:cs typeface="Tahoma"/>
            </a:endParaRPr>
          </a:p>
        </p:txBody>
      </p:sp>
      <p:sp>
        <p:nvSpPr>
          <p:cNvPr id="4" name="object 4"/>
          <p:cNvSpPr/>
          <p:nvPr/>
        </p:nvSpPr>
        <p:spPr>
          <a:xfrm>
            <a:off x="3797300" y="641806"/>
            <a:ext cx="0" cy="2031364"/>
          </a:xfrm>
          <a:custGeom>
            <a:avLst/>
            <a:gdLst/>
            <a:ahLst/>
            <a:cxnLst/>
            <a:rect l="l" t="t" r="r" b="b"/>
            <a:pathLst>
              <a:path h="2031364">
                <a:moveTo>
                  <a:pt x="0" y="2030958"/>
                </a:moveTo>
                <a:lnTo>
                  <a:pt x="0" y="0"/>
                </a:lnTo>
              </a:path>
            </a:pathLst>
          </a:custGeom>
          <a:ln w="6325">
            <a:solidFill>
              <a:srgbClr val="6C757C"/>
            </a:solidFill>
          </a:ln>
        </p:spPr>
        <p:txBody>
          <a:bodyPr wrap="square" lIns="0" tIns="0" rIns="0" bIns="0" rtlCol="0"/>
          <a:lstStyle/>
          <a:p>
            <a:endParaRPr/>
          </a:p>
        </p:txBody>
      </p:sp>
      <p:sp>
        <p:nvSpPr>
          <p:cNvPr id="6" name="object 6"/>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9" name="Slide Number Placeholder 8">
            <a:extLst>
              <a:ext uri="{FF2B5EF4-FFF2-40B4-BE49-F238E27FC236}">
                <a16:creationId xmlns:a16="http://schemas.microsoft.com/office/drawing/2014/main" id="{2B53BE11-CBE9-671E-7B5E-F0D58CD7F54D}"/>
              </a:ext>
            </a:extLst>
          </p:cNvPr>
          <p:cNvSpPr>
            <a:spLocks noGrp="1"/>
          </p:cNvSpPr>
          <p:nvPr>
            <p:ph type="sldNum" sz="quarter" idx="7"/>
          </p:nvPr>
        </p:nvSpPr>
        <p:spPr>
          <a:xfrm>
            <a:off x="5211445" y="3070861"/>
            <a:ext cx="548640" cy="173989"/>
          </a:xfrm>
        </p:spPr>
        <p:txBody>
          <a:bodyPr/>
          <a:lstStyle/>
          <a:p>
            <a:pPr marL="39370">
              <a:lnSpc>
                <a:spcPct val="100000"/>
              </a:lnSpc>
              <a:spcBef>
                <a:spcPts val="219"/>
              </a:spcBef>
            </a:pPr>
            <a:fld id="{81D60167-4931-47E6-BA6A-407CBD079E47}" type="slidenum">
              <a:rPr lang="en-GB" smtClean="0"/>
              <a:t>25</a:t>
            </a:fld>
            <a:r>
              <a:rPr lang="en-GB" spc="20" dirty="0"/>
              <a:t> </a:t>
            </a:r>
            <a:r>
              <a:rPr lang="en-GB" spc="120" dirty="0"/>
              <a:t>/</a:t>
            </a:r>
            <a:r>
              <a:rPr lang="en-GB" spc="25" dirty="0"/>
              <a:t> </a:t>
            </a:r>
            <a:r>
              <a:rPr lang="en-GB" spc="-25" dirty="0"/>
              <a:t>39</a:t>
            </a:r>
          </a:p>
        </p:txBody>
      </p:sp>
      <p:sp>
        <p:nvSpPr>
          <p:cNvPr id="13" name="TextBox 12">
            <a:extLst>
              <a:ext uri="{FF2B5EF4-FFF2-40B4-BE49-F238E27FC236}">
                <a16:creationId xmlns:a16="http://schemas.microsoft.com/office/drawing/2014/main" id="{0EFCA59D-50F9-D320-6F93-1362DE6DA4C4}"/>
              </a:ext>
            </a:extLst>
          </p:cNvPr>
          <p:cNvSpPr txBox="1"/>
          <p:nvPr/>
        </p:nvSpPr>
        <p:spPr>
          <a:xfrm>
            <a:off x="78926" y="1657488"/>
            <a:ext cx="5013771" cy="1184748"/>
          </a:xfrm>
          <a:prstGeom prst="rect">
            <a:avLst/>
          </a:prstGeom>
          <a:noFill/>
        </p:spPr>
        <p:txBody>
          <a:bodyPr wrap="square">
            <a:spAutoFit/>
          </a:bodyPr>
          <a:lstStyle/>
          <a:p>
            <a:pPr marL="12700">
              <a:lnSpc>
                <a:spcPct val="100000"/>
              </a:lnSpc>
              <a:spcBef>
                <a:spcPts val="600"/>
              </a:spcBef>
            </a:pPr>
            <a:r>
              <a:rPr lang="en-GB" sz="1200" b="1" dirty="0">
                <a:solidFill>
                  <a:srgbClr val="202429"/>
                </a:solidFill>
                <a:latin typeface="Arial"/>
                <a:cs typeface="Arial"/>
              </a:rPr>
              <a:t>What</a:t>
            </a:r>
            <a:r>
              <a:rPr lang="en-GB" sz="1200" b="1" spc="70" dirty="0">
                <a:solidFill>
                  <a:srgbClr val="202429"/>
                </a:solidFill>
                <a:latin typeface="Arial"/>
                <a:cs typeface="Arial"/>
              </a:rPr>
              <a:t> </a:t>
            </a:r>
            <a:r>
              <a:rPr lang="en-GB" sz="1200" b="1" spc="-10" dirty="0">
                <a:solidFill>
                  <a:srgbClr val="202429"/>
                </a:solidFill>
                <a:latin typeface="Arial"/>
                <a:cs typeface="Arial"/>
              </a:rPr>
              <a:t>LENS.ai</a:t>
            </a:r>
            <a:r>
              <a:rPr lang="en-GB" sz="1200" b="1" spc="75" dirty="0">
                <a:solidFill>
                  <a:srgbClr val="202429"/>
                </a:solidFill>
                <a:latin typeface="Arial"/>
                <a:cs typeface="Arial"/>
              </a:rPr>
              <a:t> </a:t>
            </a:r>
            <a:r>
              <a:rPr lang="en-GB" sz="1200" b="1" spc="-10" dirty="0">
                <a:solidFill>
                  <a:srgbClr val="202429"/>
                </a:solidFill>
                <a:latin typeface="Arial"/>
                <a:cs typeface="Arial"/>
              </a:rPr>
              <a:t>supports</a:t>
            </a:r>
            <a:endParaRPr lang="en-GB" sz="1200" dirty="0">
              <a:latin typeface="Arial"/>
              <a:cs typeface="Arial"/>
            </a:endParaRPr>
          </a:p>
          <a:p>
            <a:pPr marL="117475" marR="1300000" indent="-104775">
              <a:lnSpc>
                <a:spcPct val="100000"/>
              </a:lnSpc>
              <a:spcBef>
                <a:spcPts val="244"/>
              </a:spcBef>
              <a:buClr>
                <a:srgbClr val="005F73"/>
              </a:buClr>
              <a:buFont typeface="Times New Roman"/>
              <a:buChar char="•"/>
              <a:tabLst>
                <a:tab pos="117475" algn="l"/>
              </a:tabLst>
            </a:pPr>
            <a:r>
              <a:rPr lang="en-GB" sz="1000" spc="-25" dirty="0">
                <a:solidFill>
                  <a:srgbClr val="202429"/>
                </a:solidFill>
                <a:latin typeface="Tahoma"/>
                <a:cs typeface="Tahoma"/>
              </a:rPr>
              <a:t>Systematic</a:t>
            </a:r>
            <a:r>
              <a:rPr lang="en-GB" sz="1000" spc="-20" dirty="0">
                <a:solidFill>
                  <a:srgbClr val="202429"/>
                </a:solidFill>
                <a:latin typeface="Tahoma"/>
                <a:cs typeface="Tahoma"/>
              </a:rPr>
              <a:t> </a:t>
            </a:r>
            <a:r>
              <a:rPr lang="en-GB" sz="1000" spc="-35" dirty="0">
                <a:solidFill>
                  <a:srgbClr val="202429"/>
                </a:solidFill>
                <a:latin typeface="Tahoma"/>
                <a:cs typeface="Tahoma"/>
              </a:rPr>
              <a:t>analysis</a:t>
            </a:r>
            <a:r>
              <a:rPr lang="en-GB" sz="1000" spc="-20" dirty="0">
                <a:solidFill>
                  <a:srgbClr val="202429"/>
                </a:solidFill>
                <a:latin typeface="Tahoma"/>
                <a:cs typeface="Tahoma"/>
              </a:rPr>
              <a:t> </a:t>
            </a:r>
            <a:r>
              <a:rPr lang="en-GB" sz="1000" dirty="0">
                <a:solidFill>
                  <a:srgbClr val="202429"/>
                </a:solidFill>
                <a:latin typeface="Tahoma"/>
                <a:cs typeface="Tahoma"/>
              </a:rPr>
              <a:t>of</a:t>
            </a:r>
            <a:r>
              <a:rPr lang="en-GB" sz="1000" spc="-20" dirty="0">
                <a:solidFill>
                  <a:srgbClr val="202429"/>
                </a:solidFill>
                <a:latin typeface="Tahoma"/>
                <a:cs typeface="Tahoma"/>
              </a:rPr>
              <a:t> </a:t>
            </a:r>
            <a:r>
              <a:rPr lang="en-GB" sz="1000" spc="-30" dirty="0">
                <a:solidFill>
                  <a:srgbClr val="202429"/>
                </a:solidFill>
                <a:latin typeface="Tahoma"/>
                <a:cs typeface="Tahoma"/>
              </a:rPr>
              <a:t>coronial</a:t>
            </a:r>
            <a:r>
              <a:rPr lang="en-GB" sz="1000" spc="-20" dirty="0">
                <a:solidFill>
                  <a:srgbClr val="202429"/>
                </a:solidFill>
                <a:latin typeface="Tahoma"/>
                <a:cs typeface="Tahoma"/>
              </a:rPr>
              <a:t> </a:t>
            </a:r>
            <a:r>
              <a:rPr lang="en-GB" sz="1000" spc="-35" dirty="0">
                <a:solidFill>
                  <a:srgbClr val="202429"/>
                </a:solidFill>
                <a:latin typeface="Tahoma"/>
                <a:cs typeface="Tahoma"/>
              </a:rPr>
              <a:t>reports</a:t>
            </a:r>
            <a:r>
              <a:rPr lang="en-GB" sz="1000" spc="-20" dirty="0">
                <a:solidFill>
                  <a:srgbClr val="202429"/>
                </a:solidFill>
                <a:latin typeface="Tahoma"/>
                <a:cs typeface="Tahoma"/>
              </a:rPr>
              <a:t> </a:t>
            </a:r>
            <a:r>
              <a:rPr lang="en-GB" sz="1000" spc="-25" dirty="0">
                <a:solidFill>
                  <a:srgbClr val="202429"/>
                </a:solidFill>
                <a:latin typeface="Tahoma"/>
                <a:cs typeface="Tahoma"/>
              </a:rPr>
              <a:t>and </a:t>
            </a:r>
            <a:r>
              <a:rPr lang="en-GB" sz="1000" spc="-10" dirty="0">
                <a:solidFill>
                  <a:srgbClr val="202429"/>
                </a:solidFill>
                <a:latin typeface="Tahoma"/>
                <a:cs typeface="Tahoma"/>
              </a:rPr>
              <a:t>responses</a:t>
            </a:r>
            <a:endParaRPr lang="en-GB" sz="1000" dirty="0">
              <a:latin typeface="Tahoma"/>
              <a:cs typeface="Tahoma"/>
            </a:endParaRPr>
          </a:p>
          <a:p>
            <a:pPr marL="117475" marR="1300000" indent="-104775">
              <a:lnSpc>
                <a:spcPct val="100000"/>
              </a:lnSpc>
              <a:spcBef>
                <a:spcPts val="244"/>
              </a:spcBef>
              <a:buClr>
                <a:srgbClr val="005F73"/>
              </a:buClr>
              <a:buFont typeface="Times New Roman"/>
              <a:buChar char="•"/>
              <a:tabLst>
                <a:tab pos="117475" algn="l"/>
              </a:tabLst>
            </a:pPr>
            <a:r>
              <a:rPr lang="en-GB" sz="1000" spc="-35" dirty="0">
                <a:solidFill>
                  <a:srgbClr val="202429"/>
                </a:solidFill>
                <a:latin typeface="Tahoma"/>
                <a:cs typeface="Tahoma"/>
              </a:rPr>
              <a:t>Identiﬁcation</a:t>
            </a:r>
            <a:r>
              <a:rPr lang="en-GB" sz="1000" spc="-20" dirty="0">
                <a:solidFill>
                  <a:srgbClr val="202429"/>
                </a:solidFill>
                <a:latin typeface="Tahoma"/>
                <a:cs typeface="Tahoma"/>
              </a:rPr>
              <a:t> </a:t>
            </a:r>
            <a:r>
              <a:rPr lang="en-GB" sz="1000" dirty="0">
                <a:solidFill>
                  <a:srgbClr val="202429"/>
                </a:solidFill>
                <a:latin typeface="Tahoma"/>
                <a:cs typeface="Tahoma"/>
              </a:rPr>
              <a:t>of</a:t>
            </a:r>
            <a:r>
              <a:rPr lang="en-GB" sz="1000" spc="-15" dirty="0">
                <a:solidFill>
                  <a:srgbClr val="202429"/>
                </a:solidFill>
                <a:latin typeface="Tahoma"/>
                <a:cs typeface="Tahoma"/>
              </a:rPr>
              <a:t> </a:t>
            </a:r>
            <a:r>
              <a:rPr lang="en-GB" sz="1000" spc="-35" dirty="0">
                <a:solidFill>
                  <a:srgbClr val="202429"/>
                </a:solidFill>
                <a:latin typeface="Tahoma"/>
                <a:cs typeface="Tahoma"/>
              </a:rPr>
              <a:t>recurring</a:t>
            </a:r>
            <a:r>
              <a:rPr lang="en-GB" sz="1000" spc="-20" dirty="0">
                <a:solidFill>
                  <a:srgbClr val="202429"/>
                </a:solidFill>
                <a:latin typeface="Tahoma"/>
                <a:cs typeface="Tahoma"/>
              </a:rPr>
              <a:t> </a:t>
            </a:r>
            <a:r>
              <a:rPr lang="en-GB" sz="1000" spc="-25" dirty="0">
                <a:solidFill>
                  <a:srgbClr val="202429"/>
                </a:solidFill>
                <a:latin typeface="Tahoma"/>
                <a:cs typeface="Tahoma"/>
              </a:rPr>
              <a:t>risks,</a:t>
            </a:r>
            <a:r>
              <a:rPr lang="en-GB" sz="1000" spc="-10" dirty="0">
                <a:solidFill>
                  <a:srgbClr val="202429"/>
                </a:solidFill>
                <a:latin typeface="Tahoma"/>
                <a:cs typeface="Tahoma"/>
              </a:rPr>
              <a:t> </a:t>
            </a:r>
            <a:r>
              <a:rPr lang="en-GB" sz="1000" spc="-50" dirty="0">
                <a:solidFill>
                  <a:srgbClr val="202429"/>
                </a:solidFill>
                <a:latin typeface="Tahoma"/>
                <a:cs typeface="Tahoma"/>
              </a:rPr>
              <a:t>themes,</a:t>
            </a:r>
            <a:r>
              <a:rPr lang="en-GB" sz="1000" spc="-15" dirty="0">
                <a:solidFill>
                  <a:srgbClr val="202429"/>
                </a:solidFill>
                <a:latin typeface="Tahoma"/>
                <a:cs typeface="Tahoma"/>
              </a:rPr>
              <a:t> </a:t>
            </a:r>
            <a:r>
              <a:rPr lang="en-GB" sz="1000" spc="-25" dirty="0">
                <a:solidFill>
                  <a:srgbClr val="202429"/>
                </a:solidFill>
                <a:latin typeface="Tahoma"/>
                <a:cs typeface="Tahoma"/>
              </a:rPr>
              <a:t>and </a:t>
            </a:r>
            <a:r>
              <a:rPr lang="en-GB" sz="1000" spc="-20" dirty="0">
                <a:solidFill>
                  <a:srgbClr val="202429"/>
                </a:solidFill>
                <a:latin typeface="Tahoma"/>
                <a:cs typeface="Tahoma"/>
              </a:rPr>
              <a:t>contributing</a:t>
            </a:r>
            <a:r>
              <a:rPr lang="en-GB" sz="1000" spc="-10" dirty="0">
                <a:solidFill>
                  <a:srgbClr val="202429"/>
                </a:solidFill>
                <a:latin typeface="Tahoma"/>
                <a:cs typeface="Tahoma"/>
              </a:rPr>
              <a:t> factors</a:t>
            </a:r>
            <a:endParaRPr lang="en-GB" sz="1000" dirty="0">
              <a:latin typeface="Tahoma"/>
              <a:cs typeface="Tahoma"/>
            </a:endParaRPr>
          </a:p>
          <a:p>
            <a:pPr marL="117475" marR="1300000" indent="-104775">
              <a:lnSpc>
                <a:spcPct val="100000"/>
              </a:lnSpc>
              <a:spcBef>
                <a:spcPts val="244"/>
              </a:spcBef>
              <a:buClr>
                <a:srgbClr val="005F73"/>
              </a:buClr>
              <a:buFont typeface="Times New Roman"/>
              <a:buChar char="•"/>
              <a:tabLst>
                <a:tab pos="117475" algn="l"/>
              </a:tabLst>
            </a:pPr>
            <a:r>
              <a:rPr lang="en-GB" sz="1000" spc="-30" dirty="0">
                <a:solidFill>
                  <a:srgbClr val="202429"/>
                </a:solidFill>
                <a:latin typeface="Tahoma"/>
                <a:cs typeface="Tahoma"/>
              </a:rPr>
              <a:t>Structured</a:t>
            </a:r>
            <a:r>
              <a:rPr lang="en-GB" sz="1000" spc="-15" dirty="0">
                <a:solidFill>
                  <a:srgbClr val="202429"/>
                </a:solidFill>
                <a:latin typeface="Tahoma"/>
                <a:cs typeface="Tahoma"/>
              </a:rPr>
              <a:t> </a:t>
            </a:r>
            <a:r>
              <a:rPr lang="en-GB" sz="1000" spc="-35" dirty="0">
                <a:solidFill>
                  <a:srgbClr val="202429"/>
                </a:solidFill>
                <a:latin typeface="Tahoma"/>
                <a:cs typeface="Tahoma"/>
              </a:rPr>
              <a:t>analysis</a:t>
            </a:r>
            <a:r>
              <a:rPr lang="en-GB" sz="1000" spc="-10" dirty="0">
                <a:solidFill>
                  <a:srgbClr val="202429"/>
                </a:solidFill>
                <a:latin typeface="Tahoma"/>
                <a:cs typeface="Tahoma"/>
              </a:rPr>
              <a:t> </a:t>
            </a:r>
            <a:r>
              <a:rPr lang="en-GB" sz="1000" spc="-40" dirty="0">
                <a:solidFill>
                  <a:srgbClr val="202429"/>
                </a:solidFill>
                <a:latin typeface="Tahoma"/>
                <a:cs typeface="Tahoma"/>
              </a:rPr>
              <a:t>across</a:t>
            </a:r>
            <a:r>
              <a:rPr lang="en-GB" sz="1000" spc="-15" dirty="0">
                <a:solidFill>
                  <a:srgbClr val="202429"/>
                </a:solidFill>
                <a:latin typeface="Tahoma"/>
                <a:cs typeface="Tahoma"/>
              </a:rPr>
              <a:t> </a:t>
            </a:r>
            <a:r>
              <a:rPr lang="en-GB" sz="1000" spc="-10" dirty="0">
                <a:solidFill>
                  <a:srgbClr val="202429"/>
                </a:solidFill>
                <a:latin typeface="Tahoma"/>
                <a:cs typeface="Tahoma"/>
              </a:rPr>
              <a:t>cases, years, factors, combinations</a:t>
            </a:r>
            <a:endParaRPr lang="en-GB" sz="1000" dirty="0">
              <a:latin typeface="Tahoma"/>
              <a:cs typeface="Tahoma"/>
            </a:endParaRPr>
          </a:p>
          <a:p>
            <a:pPr marL="117475" marR="1300000" indent="-104775">
              <a:lnSpc>
                <a:spcPct val="100000"/>
              </a:lnSpc>
              <a:spcBef>
                <a:spcPts val="244"/>
              </a:spcBef>
              <a:buClr>
                <a:srgbClr val="005F73"/>
              </a:buClr>
              <a:buFont typeface="Times New Roman"/>
              <a:buChar char="•"/>
              <a:tabLst>
                <a:tab pos="117475" algn="l"/>
              </a:tabLst>
            </a:pPr>
            <a:r>
              <a:rPr lang="en-GB" sz="1000" spc="-25" dirty="0">
                <a:solidFill>
                  <a:srgbClr val="202429"/>
                </a:solidFill>
                <a:latin typeface="Tahoma"/>
                <a:cs typeface="Tahoma"/>
              </a:rPr>
              <a:t>Adaptable</a:t>
            </a:r>
            <a:r>
              <a:rPr lang="en-GB" sz="1000" spc="-10" dirty="0">
                <a:solidFill>
                  <a:srgbClr val="202429"/>
                </a:solidFill>
                <a:latin typeface="Tahoma"/>
                <a:cs typeface="Tahoma"/>
              </a:rPr>
              <a:t> </a:t>
            </a:r>
            <a:r>
              <a:rPr lang="en-GB" sz="1000" dirty="0">
                <a:solidFill>
                  <a:srgbClr val="202429"/>
                </a:solidFill>
                <a:latin typeface="Tahoma"/>
                <a:cs typeface="Tahoma"/>
              </a:rPr>
              <a:t>to</a:t>
            </a:r>
            <a:r>
              <a:rPr lang="en-GB" sz="1000" spc="-5" dirty="0">
                <a:solidFill>
                  <a:srgbClr val="202429"/>
                </a:solidFill>
                <a:latin typeface="Tahoma"/>
                <a:cs typeface="Tahoma"/>
              </a:rPr>
              <a:t> </a:t>
            </a:r>
            <a:r>
              <a:rPr lang="en-GB" sz="1000" spc="-30" dirty="0">
                <a:solidFill>
                  <a:srgbClr val="202429"/>
                </a:solidFill>
                <a:latin typeface="Tahoma"/>
                <a:cs typeface="Tahoma"/>
              </a:rPr>
              <a:t>diﬀerent</a:t>
            </a:r>
            <a:r>
              <a:rPr lang="en-GB" sz="1000" dirty="0">
                <a:solidFill>
                  <a:srgbClr val="202429"/>
                </a:solidFill>
                <a:latin typeface="Tahoma"/>
                <a:cs typeface="Tahoma"/>
              </a:rPr>
              <a:t> </a:t>
            </a:r>
            <a:r>
              <a:rPr lang="en-GB" sz="1000" spc="-25" dirty="0">
                <a:solidFill>
                  <a:srgbClr val="202429"/>
                </a:solidFill>
                <a:latin typeface="Tahoma"/>
                <a:cs typeface="Tahoma"/>
              </a:rPr>
              <a:t>analytical</a:t>
            </a:r>
            <a:r>
              <a:rPr lang="en-GB" sz="1000" spc="-10" dirty="0">
                <a:solidFill>
                  <a:srgbClr val="202429"/>
                </a:solidFill>
                <a:latin typeface="Tahoma"/>
                <a:cs typeface="Tahoma"/>
              </a:rPr>
              <a:t> </a:t>
            </a:r>
            <a:r>
              <a:rPr lang="en-GB" sz="1000" spc="-45" dirty="0">
                <a:solidFill>
                  <a:srgbClr val="202429"/>
                </a:solidFill>
                <a:latin typeface="Tahoma"/>
                <a:cs typeface="Tahoma"/>
              </a:rPr>
              <a:t>frameworks</a:t>
            </a:r>
            <a:r>
              <a:rPr lang="en-GB" sz="1000" spc="-5" dirty="0">
                <a:solidFill>
                  <a:srgbClr val="202429"/>
                </a:solidFill>
                <a:latin typeface="Tahoma"/>
                <a:cs typeface="Tahoma"/>
              </a:rPr>
              <a:t> </a:t>
            </a:r>
            <a:r>
              <a:rPr lang="en-GB" sz="1000" spc="-10" dirty="0">
                <a:solidFill>
                  <a:srgbClr val="202429"/>
                </a:solidFill>
                <a:latin typeface="Tahoma"/>
                <a:cs typeface="Tahoma"/>
              </a:rPr>
              <a:t>(e.g. </a:t>
            </a:r>
            <a:r>
              <a:rPr lang="en-GB" sz="1000" spc="-35" dirty="0">
                <a:solidFill>
                  <a:srgbClr val="202429"/>
                </a:solidFill>
                <a:latin typeface="Tahoma"/>
                <a:cs typeface="Tahoma"/>
              </a:rPr>
              <a:t>Yorkshire</a:t>
            </a:r>
            <a:r>
              <a:rPr lang="en-GB" sz="1000" dirty="0">
                <a:solidFill>
                  <a:srgbClr val="202429"/>
                </a:solidFill>
                <a:latin typeface="Tahoma"/>
                <a:cs typeface="Tahoma"/>
              </a:rPr>
              <a:t> </a:t>
            </a:r>
            <a:r>
              <a:rPr lang="en-GB" sz="1000" spc="-20" dirty="0">
                <a:solidFill>
                  <a:srgbClr val="202429"/>
                </a:solidFill>
                <a:latin typeface="Tahoma"/>
                <a:cs typeface="Tahoma"/>
              </a:rPr>
              <a:t>Contributory</a:t>
            </a:r>
            <a:r>
              <a:rPr lang="en-GB" sz="1000" spc="5" dirty="0">
                <a:solidFill>
                  <a:srgbClr val="202429"/>
                </a:solidFill>
                <a:latin typeface="Tahoma"/>
                <a:cs typeface="Tahoma"/>
              </a:rPr>
              <a:t> </a:t>
            </a:r>
            <a:r>
              <a:rPr lang="en-GB" sz="1000" spc="-10" dirty="0">
                <a:solidFill>
                  <a:srgbClr val="202429"/>
                </a:solidFill>
                <a:latin typeface="Tahoma"/>
                <a:cs typeface="Tahoma"/>
              </a:rPr>
              <a:t>Factors)</a:t>
            </a:r>
            <a:endParaRPr lang="en-GB" sz="1000" dirty="0">
              <a:latin typeface="Tahoma"/>
              <a:cs typeface="Tahom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47294" y="18767"/>
            <a:ext cx="5120640" cy="244475"/>
          </a:xfrm>
          <a:prstGeom prst="rect">
            <a:avLst/>
          </a:prstGeom>
        </p:spPr>
        <p:txBody>
          <a:bodyPr vert="horz" wrap="square" lIns="0" tIns="17145" rIns="0" bIns="0" rtlCol="0">
            <a:spAutoFit/>
          </a:bodyPr>
          <a:lstStyle/>
          <a:p>
            <a:pPr marL="12700">
              <a:lnSpc>
                <a:spcPct val="100000"/>
              </a:lnSpc>
              <a:spcBef>
                <a:spcPts val="135"/>
              </a:spcBef>
            </a:pPr>
            <a:r>
              <a:rPr dirty="0"/>
              <a:t>LENS.ai: Updated Automatically Every Night</a:t>
            </a:r>
          </a:p>
        </p:txBody>
      </p:sp>
      <p:sp>
        <p:nvSpPr>
          <p:cNvPr id="6" name="object 6"/>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9" name="Slide Number Placeholder 8">
            <a:extLst>
              <a:ext uri="{FF2B5EF4-FFF2-40B4-BE49-F238E27FC236}">
                <a16:creationId xmlns:a16="http://schemas.microsoft.com/office/drawing/2014/main" id="{360C8725-3AD5-5D99-79BE-412698ACA182}"/>
              </a:ext>
            </a:extLst>
          </p:cNvPr>
          <p:cNvSpPr>
            <a:spLocks noGrp="1"/>
          </p:cNvSpPr>
          <p:nvPr>
            <p:ph type="sldNum" sz="quarter" idx="7"/>
          </p:nvPr>
        </p:nvSpPr>
        <p:spPr>
          <a:xfrm>
            <a:off x="5227320" y="3060028"/>
            <a:ext cx="548640" cy="173989"/>
          </a:xfrm>
        </p:spPr>
        <p:txBody>
          <a:bodyPr/>
          <a:lstStyle/>
          <a:p>
            <a:pPr marL="39370">
              <a:lnSpc>
                <a:spcPct val="100000"/>
              </a:lnSpc>
              <a:spcBef>
                <a:spcPts val="219"/>
              </a:spcBef>
            </a:pPr>
            <a:fld id="{81D60167-4931-47E6-BA6A-407CBD079E47}" type="slidenum">
              <a:rPr lang="en-GB" smtClean="0"/>
              <a:t>26</a:t>
            </a:fld>
            <a:r>
              <a:rPr lang="en-GB" spc="20" dirty="0"/>
              <a:t> </a:t>
            </a:r>
            <a:r>
              <a:rPr lang="en-GB" spc="120" dirty="0"/>
              <a:t>/</a:t>
            </a:r>
            <a:r>
              <a:rPr lang="en-GB" spc="25" dirty="0"/>
              <a:t> </a:t>
            </a:r>
            <a:r>
              <a:rPr lang="en-GB" spc="-25" dirty="0"/>
              <a:t>39</a:t>
            </a:r>
          </a:p>
        </p:txBody>
      </p:sp>
      <p:pic>
        <p:nvPicPr>
          <p:cNvPr id="8" name="Picture 7" descr="LENS.ai home page: the archive of Prevention of Future Deaths reports, 6,436 reports indexed">
            <a:extLst>
              <a:ext uri="{FF2B5EF4-FFF2-40B4-BE49-F238E27FC236}">
                <a16:creationId xmlns:a16="http://schemas.microsoft.com/office/drawing/2014/main" id="{20E62241-3987-70E8-A155-9F18D027356F}"/>
              </a:ext>
            </a:extLst>
          </p:cNvPr>
          <p:cNvPicPr>
            <a:picLocks noChangeAspect="1"/>
          </p:cNvPicPr>
          <p:nvPr/>
        </p:nvPicPr>
        <p:blipFill>
          <a:blip r:embed="rId3"/>
          <a:stretch>
            <a:fillRect/>
          </a:stretch>
        </p:blipFill>
        <p:spPr>
          <a:xfrm>
            <a:off x="232602" y="717551"/>
            <a:ext cx="3288049" cy="1526526"/>
          </a:xfrm>
          <a:prstGeom prst="rect">
            <a:avLst/>
          </a:prstGeom>
          <a:ln w="6350">
            <a:solidFill>
              <a:srgbClr val="CED3DA"/>
            </a:solidFill>
          </a:ln>
        </p:spPr>
      </p:pic>
      <p:sp>
        <p:nvSpPr>
          <p:cNvPr id="10" name="Subtitle"/>
          <p:cNvSpPr txBox="1"/>
          <p:nvPr/>
        </p:nvSpPr>
        <p:spPr>
          <a:xfrm>
            <a:off x="347472" y="274320"/>
            <a:ext cx="5120640" cy="228600"/>
          </a:xfrm>
          <a:prstGeom prst="rect">
            <a:avLst/>
          </a:prstGeom>
          <a:noFill/>
        </p:spPr>
        <p:txBody>
          <a:bodyPr wrap="square" lIns="0" tIns="0" rIns="0" bIns="0" anchor="t">
            <a:spAutoFit/>
          </a:bodyPr>
          <a:lstStyle/>
          <a:p>
            <a:pPr algn="l"/>
            <a:r>
              <a:rPr sz="1100" b="0">
                <a:solidFill>
                  <a:srgbClr val="6C757C"/>
                </a:solidFill>
                <a:latin typeface="Tahoma"/>
              </a:rPr>
              <a:t>Only new reports are processed</a:t>
            </a:r>
          </a:p>
        </p:txBody>
      </p:sp>
      <p:sp>
        <p:nvSpPr>
          <p:cNvPr id="11" name="Stat 1 box"/>
          <p:cNvSpPr/>
          <p:nvPr/>
        </p:nvSpPr>
        <p:spPr>
          <a:xfrm>
            <a:off x="910717" y="2676248"/>
            <a:ext cx="884936" cy="340156"/>
          </a:xfrm>
          <a:prstGeom prst="roundRect">
            <a:avLst>
              <a:gd name="adj" fmla="val 6000"/>
            </a:avLst>
          </a:prstGeom>
          <a:solidFill>
            <a:srgbClr val="E6F0F2"/>
          </a:solidFill>
          <a:ln w="9525">
            <a:solidFill>
              <a:srgbClr val="005F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2" name="Stat 1 number"/>
          <p:cNvSpPr txBox="1"/>
          <p:nvPr/>
        </p:nvSpPr>
        <p:spPr>
          <a:xfrm>
            <a:off x="819277" y="2695239"/>
            <a:ext cx="1091692" cy="215444"/>
          </a:xfrm>
          <a:prstGeom prst="rect">
            <a:avLst/>
          </a:prstGeom>
          <a:noFill/>
        </p:spPr>
        <p:txBody>
          <a:bodyPr wrap="square" lIns="0" tIns="0" rIns="0" bIns="0" anchor="t">
            <a:spAutoFit/>
          </a:bodyPr>
          <a:lstStyle/>
          <a:p>
            <a:pPr algn="ctr"/>
            <a:r>
              <a:rPr sz="1400" b="1" dirty="0">
                <a:solidFill>
                  <a:srgbClr val="005F73"/>
                </a:solidFill>
                <a:latin typeface="Arial"/>
              </a:rPr>
              <a:t>6,436</a:t>
            </a:r>
          </a:p>
        </p:txBody>
      </p:sp>
      <p:sp>
        <p:nvSpPr>
          <p:cNvPr id="13" name="Stat 1 label"/>
          <p:cNvSpPr txBox="1"/>
          <p:nvPr/>
        </p:nvSpPr>
        <p:spPr>
          <a:xfrm>
            <a:off x="675514" y="2899842"/>
            <a:ext cx="1408176" cy="92333"/>
          </a:xfrm>
          <a:prstGeom prst="rect">
            <a:avLst/>
          </a:prstGeom>
          <a:noFill/>
        </p:spPr>
        <p:txBody>
          <a:bodyPr wrap="square" lIns="0" tIns="0" rIns="0" bIns="0" anchor="t">
            <a:spAutoFit/>
          </a:bodyPr>
          <a:lstStyle/>
          <a:p>
            <a:pPr algn="ctr"/>
            <a:r>
              <a:rPr sz="600" b="0" dirty="0">
                <a:solidFill>
                  <a:srgbClr val="202429"/>
                </a:solidFill>
                <a:latin typeface="Tahoma"/>
              </a:rPr>
              <a:t>reports indexed</a:t>
            </a:r>
          </a:p>
        </p:txBody>
      </p:sp>
      <p:sp>
        <p:nvSpPr>
          <p:cNvPr id="14" name="Stat 2 box"/>
          <p:cNvSpPr/>
          <p:nvPr/>
        </p:nvSpPr>
        <p:spPr>
          <a:xfrm>
            <a:off x="1846961" y="2687797"/>
            <a:ext cx="1182116" cy="333918"/>
          </a:xfrm>
          <a:prstGeom prst="roundRect">
            <a:avLst>
              <a:gd name="adj" fmla="val 6000"/>
            </a:avLst>
          </a:prstGeom>
          <a:solidFill>
            <a:srgbClr val="E6F0F2"/>
          </a:solidFill>
          <a:ln w="9525">
            <a:solidFill>
              <a:srgbClr val="005F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5" name="Stat 2 number"/>
          <p:cNvSpPr txBox="1"/>
          <p:nvPr/>
        </p:nvSpPr>
        <p:spPr>
          <a:xfrm>
            <a:off x="2104137" y="2702200"/>
            <a:ext cx="610003" cy="215444"/>
          </a:xfrm>
          <a:prstGeom prst="rect">
            <a:avLst/>
          </a:prstGeom>
          <a:noFill/>
        </p:spPr>
        <p:txBody>
          <a:bodyPr wrap="square" lIns="0" tIns="0" rIns="0" bIns="0" anchor="t">
            <a:spAutoFit/>
          </a:bodyPr>
          <a:lstStyle/>
          <a:p>
            <a:pPr algn="ctr"/>
            <a:r>
              <a:rPr sz="1400" b="1" dirty="0">
                <a:solidFill>
                  <a:srgbClr val="005F73"/>
                </a:solidFill>
                <a:latin typeface="Arial"/>
              </a:rPr>
              <a:t>26</a:t>
            </a:r>
          </a:p>
        </p:txBody>
      </p:sp>
      <p:sp>
        <p:nvSpPr>
          <p:cNvPr id="16" name="Stat 2 label"/>
          <p:cNvSpPr txBox="1"/>
          <p:nvPr/>
        </p:nvSpPr>
        <p:spPr>
          <a:xfrm>
            <a:off x="1733931" y="2904826"/>
            <a:ext cx="1408176" cy="92333"/>
          </a:xfrm>
          <a:prstGeom prst="rect">
            <a:avLst/>
          </a:prstGeom>
          <a:noFill/>
        </p:spPr>
        <p:txBody>
          <a:bodyPr wrap="square" lIns="0" tIns="0" rIns="0" bIns="0" anchor="t">
            <a:spAutoFit/>
          </a:bodyPr>
          <a:lstStyle/>
          <a:p>
            <a:pPr algn="ctr"/>
            <a:r>
              <a:rPr sz="600" b="0" dirty="0">
                <a:solidFill>
                  <a:srgbClr val="202429"/>
                </a:solidFill>
                <a:latin typeface="Tahoma"/>
              </a:rPr>
              <a:t>new reports in the last month</a:t>
            </a:r>
          </a:p>
        </p:txBody>
      </p:sp>
      <p:sp>
        <p:nvSpPr>
          <p:cNvPr id="17" name="Timeline heading"/>
          <p:cNvSpPr txBox="1"/>
          <p:nvPr/>
        </p:nvSpPr>
        <p:spPr>
          <a:xfrm>
            <a:off x="3767328" y="640080"/>
            <a:ext cx="1737360" cy="201168"/>
          </a:xfrm>
          <a:prstGeom prst="rect">
            <a:avLst/>
          </a:prstGeom>
          <a:noFill/>
        </p:spPr>
        <p:txBody>
          <a:bodyPr wrap="square" lIns="0" tIns="0" rIns="0" bIns="0" anchor="t">
            <a:spAutoFit/>
          </a:bodyPr>
          <a:lstStyle/>
          <a:p>
            <a:pPr algn="l"/>
            <a:r>
              <a:rPr sz="1000" b="1">
                <a:solidFill>
                  <a:srgbClr val="202429"/>
                </a:solidFill>
                <a:latin typeface="Arial"/>
              </a:rPr>
              <a:t>Every night, starting at 11pm</a:t>
            </a:r>
          </a:p>
        </p:txBody>
      </p:sp>
      <p:cxnSp>
        <p:nvCxnSpPr>
          <p:cNvPr id="18" name="Timeline line"/>
          <p:cNvCxnSpPr/>
          <p:nvPr/>
        </p:nvCxnSpPr>
        <p:spPr>
          <a:xfrm>
            <a:off x="3822191" y="987552"/>
            <a:ext cx="0" cy="1766620"/>
          </a:xfrm>
          <a:prstGeom prst="line">
            <a:avLst/>
          </a:prstGeom>
          <a:ln w="15875">
            <a:solidFill>
              <a:srgbClr val="005F73"/>
            </a:solidFill>
          </a:ln>
        </p:spPr>
        <p:style>
          <a:lnRef idx="2">
            <a:schemeClr val="accent1"/>
          </a:lnRef>
          <a:fillRef idx="0">
            <a:schemeClr val="accent1"/>
          </a:fillRef>
          <a:effectRef idx="1">
            <a:schemeClr val="accent1"/>
          </a:effectRef>
          <a:fontRef idx="minor">
            <a:schemeClr val="tx1"/>
          </a:fontRef>
        </p:style>
      </p:cxnSp>
      <p:sp>
        <p:nvSpPr>
          <p:cNvPr id="19" name="Timeline dot 1"/>
          <p:cNvSpPr/>
          <p:nvPr/>
        </p:nvSpPr>
        <p:spPr>
          <a:xfrm>
            <a:off x="3776472" y="941832"/>
            <a:ext cx="91440" cy="91440"/>
          </a:xfrm>
          <a:prstGeom prst="ellipse">
            <a:avLst/>
          </a:prstGeom>
          <a:solidFill>
            <a:srgbClr val="005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imeline time 1"/>
          <p:cNvSpPr txBox="1"/>
          <p:nvPr/>
        </p:nvSpPr>
        <p:spPr>
          <a:xfrm>
            <a:off x="3931920" y="905256"/>
            <a:ext cx="384048" cy="182880"/>
          </a:xfrm>
          <a:prstGeom prst="rect">
            <a:avLst/>
          </a:prstGeom>
          <a:noFill/>
        </p:spPr>
        <p:txBody>
          <a:bodyPr wrap="square" lIns="0" tIns="0" rIns="0" bIns="0" anchor="t">
            <a:spAutoFit/>
          </a:bodyPr>
          <a:lstStyle/>
          <a:p>
            <a:pPr algn="l"/>
            <a:r>
              <a:rPr sz="800" b="1">
                <a:solidFill>
                  <a:srgbClr val="005F73"/>
                </a:solidFill>
                <a:latin typeface="Arial"/>
              </a:rPr>
              <a:t>1</a:t>
            </a:r>
          </a:p>
        </p:txBody>
      </p:sp>
      <p:sp>
        <p:nvSpPr>
          <p:cNvPr id="21" name="Timeline label 1"/>
          <p:cNvSpPr txBox="1"/>
          <p:nvPr/>
        </p:nvSpPr>
        <p:spPr>
          <a:xfrm>
            <a:off x="4133088" y="905256"/>
            <a:ext cx="1481328" cy="274320"/>
          </a:xfrm>
          <a:prstGeom prst="rect">
            <a:avLst/>
          </a:prstGeom>
          <a:noFill/>
        </p:spPr>
        <p:txBody>
          <a:bodyPr wrap="square" lIns="0" tIns="0" rIns="0" bIns="0" anchor="t">
            <a:spAutoFit/>
          </a:bodyPr>
          <a:lstStyle/>
          <a:p>
            <a:pPr algn="l"/>
            <a:r>
              <a:rPr sz="750" b="0">
                <a:solidFill>
                  <a:srgbClr val="202429"/>
                </a:solidFill>
                <a:latin typeface="Tahoma"/>
              </a:rPr>
              <a:t>Check judiciary.uk for new reports</a:t>
            </a:r>
          </a:p>
        </p:txBody>
      </p:sp>
      <p:sp>
        <p:nvSpPr>
          <p:cNvPr id="22" name="Timeline dot 2"/>
          <p:cNvSpPr/>
          <p:nvPr/>
        </p:nvSpPr>
        <p:spPr>
          <a:xfrm>
            <a:off x="3776472" y="1236268"/>
            <a:ext cx="91440" cy="91440"/>
          </a:xfrm>
          <a:prstGeom prst="ellipse">
            <a:avLst/>
          </a:prstGeom>
          <a:solidFill>
            <a:srgbClr val="005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imeline time 2"/>
          <p:cNvSpPr txBox="1"/>
          <p:nvPr/>
        </p:nvSpPr>
        <p:spPr>
          <a:xfrm>
            <a:off x="3931920" y="1199692"/>
            <a:ext cx="384048" cy="182880"/>
          </a:xfrm>
          <a:prstGeom prst="rect">
            <a:avLst/>
          </a:prstGeom>
          <a:noFill/>
        </p:spPr>
        <p:txBody>
          <a:bodyPr wrap="square" lIns="0" tIns="0" rIns="0" bIns="0" anchor="t">
            <a:spAutoFit/>
          </a:bodyPr>
          <a:lstStyle/>
          <a:p>
            <a:pPr algn="l"/>
            <a:r>
              <a:rPr sz="800" b="1">
                <a:solidFill>
                  <a:srgbClr val="005F73"/>
                </a:solidFill>
                <a:latin typeface="Arial"/>
              </a:rPr>
              <a:t>2</a:t>
            </a:r>
          </a:p>
        </p:txBody>
      </p:sp>
      <p:sp>
        <p:nvSpPr>
          <p:cNvPr id="24" name="Timeline label 2"/>
          <p:cNvSpPr txBox="1"/>
          <p:nvPr/>
        </p:nvSpPr>
        <p:spPr>
          <a:xfrm>
            <a:off x="4133088" y="1199692"/>
            <a:ext cx="1481328" cy="274320"/>
          </a:xfrm>
          <a:prstGeom prst="rect">
            <a:avLst/>
          </a:prstGeom>
          <a:noFill/>
        </p:spPr>
        <p:txBody>
          <a:bodyPr wrap="square" lIns="0" tIns="0" rIns="0" bIns="0" anchor="t">
            <a:spAutoFit/>
          </a:bodyPr>
          <a:lstStyle/>
          <a:p>
            <a:pPr algn="l"/>
            <a:r>
              <a:rPr sz="750" b="0">
                <a:solidFill>
                  <a:srgbClr val="202429"/>
                </a:solidFill>
                <a:latin typeface="Tahoma"/>
              </a:rPr>
              <a:t>AI extracts key details</a:t>
            </a:r>
          </a:p>
        </p:txBody>
      </p:sp>
      <p:sp>
        <p:nvSpPr>
          <p:cNvPr id="25" name="Timeline dot 3"/>
          <p:cNvSpPr/>
          <p:nvPr/>
        </p:nvSpPr>
        <p:spPr>
          <a:xfrm>
            <a:off x="3776472" y="1530705"/>
            <a:ext cx="91440" cy="91440"/>
          </a:xfrm>
          <a:prstGeom prst="ellipse">
            <a:avLst/>
          </a:prstGeom>
          <a:solidFill>
            <a:srgbClr val="005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imeline time 3"/>
          <p:cNvSpPr txBox="1"/>
          <p:nvPr/>
        </p:nvSpPr>
        <p:spPr>
          <a:xfrm>
            <a:off x="3931920" y="1494129"/>
            <a:ext cx="384048" cy="182880"/>
          </a:xfrm>
          <a:prstGeom prst="rect">
            <a:avLst/>
          </a:prstGeom>
          <a:noFill/>
        </p:spPr>
        <p:txBody>
          <a:bodyPr wrap="square" lIns="0" tIns="0" rIns="0" bIns="0" anchor="t">
            <a:spAutoFit/>
          </a:bodyPr>
          <a:lstStyle/>
          <a:p>
            <a:pPr algn="l"/>
            <a:r>
              <a:rPr sz="800" b="1">
                <a:solidFill>
                  <a:srgbClr val="005F73"/>
                </a:solidFill>
                <a:latin typeface="Arial"/>
              </a:rPr>
              <a:t>3</a:t>
            </a:r>
          </a:p>
        </p:txBody>
      </p:sp>
      <p:sp>
        <p:nvSpPr>
          <p:cNvPr id="27" name="Timeline label 3"/>
          <p:cNvSpPr txBox="1"/>
          <p:nvPr/>
        </p:nvSpPr>
        <p:spPr>
          <a:xfrm>
            <a:off x="4133088" y="1494129"/>
            <a:ext cx="1481328" cy="274320"/>
          </a:xfrm>
          <a:prstGeom prst="rect">
            <a:avLst/>
          </a:prstGeom>
          <a:noFill/>
        </p:spPr>
        <p:txBody>
          <a:bodyPr wrap="square" lIns="0" tIns="0" rIns="0" bIns="0" anchor="t">
            <a:spAutoFit/>
          </a:bodyPr>
          <a:lstStyle/>
          <a:p>
            <a:pPr algn="l"/>
            <a:r>
              <a:rPr sz="750" b="0">
                <a:solidFill>
                  <a:srgbClr val="202429"/>
                </a:solidFill>
                <a:latin typeface="Tahoma"/>
              </a:rPr>
              <a:t>Made searchable</a:t>
            </a:r>
          </a:p>
        </p:txBody>
      </p:sp>
      <p:sp>
        <p:nvSpPr>
          <p:cNvPr id="28" name="Timeline dot 4"/>
          <p:cNvSpPr/>
          <p:nvPr/>
        </p:nvSpPr>
        <p:spPr>
          <a:xfrm>
            <a:off x="3776472" y="1825142"/>
            <a:ext cx="91440" cy="91440"/>
          </a:xfrm>
          <a:prstGeom prst="ellipse">
            <a:avLst/>
          </a:prstGeom>
          <a:solidFill>
            <a:srgbClr val="005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imeline time 4"/>
          <p:cNvSpPr txBox="1"/>
          <p:nvPr/>
        </p:nvSpPr>
        <p:spPr>
          <a:xfrm>
            <a:off x="3931920" y="1788566"/>
            <a:ext cx="384048" cy="182880"/>
          </a:xfrm>
          <a:prstGeom prst="rect">
            <a:avLst/>
          </a:prstGeom>
          <a:noFill/>
        </p:spPr>
        <p:txBody>
          <a:bodyPr wrap="square" lIns="0" tIns="0" rIns="0" bIns="0" anchor="t">
            <a:spAutoFit/>
          </a:bodyPr>
          <a:lstStyle/>
          <a:p>
            <a:pPr algn="l"/>
            <a:r>
              <a:rPr sz="800" b="1">
                <a:solidFill>
                  <a:srgbClr val="005F73"/>
                </a:solidFill>
                <a:latin typeface="Arial"/>
              </a:rPr>
              <a:t>4</a:t>
            </a:r>
          </a:p>
        </p:txBody>
      </p:sp>
      <p:sp>
        <p:nvSpPr>
          <p:cNvPr id="30" name="Timeline label 4"/>
          <p:cNvSpPr txBox="1"/>
          <p:nvPr/>
        </p:nvSpPr>
        <p:spPr>
          <a:xfrm>
            <a:off x="4133088" y="1788566"/>
            <a:ext cx="1481328" cy="274320"/>
          </a:xfrm>
          <a:prstGeom prst="rect">
            <a:avLst/>
          </a:prstGeom>
          <a:noFill/>
        </p:spPr>
        <p:txBody>
          <a:bodyPr wrap="square" lIns="0" tIns="0" rIns="0" bIns="0" anchor="t">
            <a:spAutoFit/>
          </a:bodyPr>
          <a:lstStyle/>
          <a:p>
            <a:pPr algn="l"/>
            <a:r>
              <a:rPr sz="750" b="0">
                <a:solidFill>
                  <a:srgbClr val="202429"/>
                </a:solidFill>
                <a:latin typeface="Tahoma"/>
              </a:rPr>
              <a:t>Causes and medicines coded</a:t>
            </a:r>
          </a:p>
        </p:txBody>
      </p:sp>
      <p:sp>
        <p:nvSpPr>
          <p:cNvPr id="31" name="Timeline dot 5"/>
          <p:cNvSpPr/>
          <p:nvPr/>
        </p:nvSpPr>
        <p:spPr>
          <a:xfrm>
            <a:off x="3776472" y="2119579"/>
            <a:ext cx="91440" cy="91440"/>
          </a:xfrm>
          <a:prstGeom prst="ellipse">
            <a:avLst/>
          </a:prstGeom>
          <a:solidFill>
            <a:srgbClr val="005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imeline time 5"/>
          <p:cNvSpPr txBox="1"/>
          <p:nvPr/>
        </p:nvSpPr>
        <p:spPr>
          <a:xfrm>
            <a:off x="3931920" y="2083003"/>
            <a:ext cx="384048" cy="182880"/>
          </a:xfrm>
          <a:prstGeom prst="rect">
            <a:avLst/>
          </a:prstGeom>
          <a:noFill/>
        </p:spPr>
        <p:txBody>
          <a:bodyPr wrap="square" lIns="0" tIns="0" rIns="0" bIns="0" anchor="t">
            <a:spAutoFit/>
          </a:bodyPr>
          <a:lstStyle/>
          <a:p>
            <a:pPr algn="l"/>
            <a:r>
              <a:rPr sz="800" b="1">
                <a:solidFill>
                  <a:srgbClr val="005F73"/>
                </a:solidFill>
                <a:latin typeface="Arial"/>
              </a:rPr>
              <a:t>5</a:t>
            </a:r>
          </a:p>
        </p:txBody>
      </p:sp>
      <p:sp>
        <p:nvSpPr>
          <p:cNvPr id="33" name="Timeline label 5"/>
          <p:cNvSpPr txBox="1"/>
          <p:nvPr/>
        </p:nvSpPr>
        <p:spPr>
          <a:xfrm>
            <a:off x="4133088" y="2083003"/>
            <a:ext cx="1481328" cy="274320"/>
          </a:xfrm>
          <a:prstGeom prst="rect">
            <a:avLst/>
          </a:prstGeom>
          <a:noFill/>
        </p:spPr>
        <p:txBody>
          <a:bodyPr wrap="square" lIns="0" tIns="0" rIns="0" bIns="0" anchor="t">
            <a:spAutoFit/>
          </a:bodyPr>
          <a:lstStyle/>
          <a:p>
            <a:pPr algn="l"/>
            <a:r>
              <a:rPr sz="750" b="0">
                <a:solidFill>
                  <a:srgbClr val="202429"/>
                </a:solidFill>
                <a:latin typeface="Tahoma"/>
              </a:rPr>
              <a:t>Added to themes</a:t>
            </a:r>
          </a:p>
        </p:txBody>
      </p:sp>
      <p:sp>
        <p:nvSpPr>
          <p:cNvPr id="34" name="Timeline dot 6"/>
          <p:cNvSpPr/>
          <p:nvPr/>
        </p:nvSpPr>
        <p:spPr>
          <a:xfrm>
            <a:off x="3776472" y="2414016"/>
            <a:ext cx="91440" cy="91440"/>
          </a:xfrm>
          <a:prstGeom prst="ellipse">
            <a:avLst/>
          </a:prstGeom>
          <a:solidFill>
            <a:srgbClr val="005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imeline time 6"/>
          <p:cNvSpPr txBox="1"/>
          <p:nvPr/>
        </p:nvSpPr>
        <p:spPr>
          <a:xfrm>
            <a:off x="3931920" y="2377440"/>
            <a:ext cx="384048" cy="182880"/>
          </a:xfrm>
          <a:prstGeom prst="rect">
            <a:avLst/>
          </a:prstGeom>
          <a:noFill/>
        </p:spPr>
        <p:txBody>
          <a:bodyPr wrap="square" lIns="0" tIns="0" rIns="0" bIns="0" anchor="t">
            <a:spAutoFit/>
          </a:bodyPr>
          <a:lstStyle/>
          <a:p>
            <a:pPr algn="l"/>
            <a:r>
              <a:rPr sz="800" b="1">
                <a:solidFill>
                  <a:srgbClr val="005F73"/>
                </a:solidFill>
                <a:latin typeface="Arial"/>
              </a:rPr>
              <a:t>6</a:t>
            </a:r>
          </a:p>
        </p:txBody>
      </p:sp>
      <p:sp>
        <p:nvSpPr>
          <p:cNvPr id="36" name="Timeline label 6"/>
          <p:cNvSpPr txBox="1"/>
          <p:nvPr/>
        </p:nvSpPr>
        <p:spPr>
          <a:xfrm>
            <a:off x="4133088" y="2377440"/>
            <a:ext cx="1481328" cy="274320"/>
          </a:xfrm>
          <a:prstGeom prst="rect">
            <a:avLst/>
          </a:prstGeom>
          <a:noFill/>
        </p:spPr>
        <p:txBody>
          <a:bodyPr wrap="square" lIns="0" tIns="0" rIns="0" bIns="0" anchor="t">
            <a:spAutoFit/>
          </a:bodyPr>
          <a:lstStyle/>
          <a:p>
            <a:pPr algn="l"/>
            <a:r>
              <a:rPr sz="750" b="0">
                <a:solidFill>
                  <a:srgbClr val="202429"/>
                </a:solidFill>
                <a:latin typeface="Tahoma"/>
              </a:rPr>
              <a:t>Contributory factors annotated</a:t>
            </a:r>
          </a:p>
        </p:txBody>
      </p:sp>
      <p:sp>
        <p:nvSpPr>
          <p:cNvPr id="37" name="Timeline dot 7"/>
          <p:cNvSpPr/>
          <p:nvPr/>
        </p:nvSpPr>
        <p:spPr>
          <a:xfrm>
            <a:off x="3776472" y="2708452"/>
            <a:ext cx="91440" cy="91440"/>
          </a:xfrm>
          <a:prstGeom prst="ellipse">
            <a:avLst/>
          </a:prstGeom>
          <a:solidFill>
            <a:srgbClr val="005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imeline time 7"/>
          <p:cNvSpPr txBox="1"/>
          <p:nvPr/>
        </p:nvSpPr>
        <p:spPr>
          <a:xfrm>
            <a:off x="3931920" y="2671876"/>
            <a:ext cx="384048" cy="182880"/>
          </a:xfrm>
          <a:prstGeom prst="rect">
            <a:avLst/>
          </a:prstGeom>
          <a:noFill/>
        </p:spPr>
        <p:txBody>
          <a:bodyPr wrap="square" lIns="0" tIns="0" rIns="0" bIns="0" anchor="t">
            <a:spAutoFit/>
          </a:bodyPr>
          <a:lstStyle/>
          <a:p>
            <a:pPr algn="l"/>
            <a:r>
              <a:rPr sz="800" b="1">
                <a:solidFill>
                  <a:srgbClr val="005F73"/>
                </a:solidFill>
                <a:latin typeface="Arial"/>
              </a:rPr>
              <a:t>7</a:t>
            </a:r>
          </a:p>
        </p:txBody>
      </p:sp>
      <p:sp>
        <p:nvSpPr>
          <p:cNvPr id="39" name="Timeline label 7"/>
          <p:cNvSpPr txBox="1"/>
          <p:nvPr/>
        </p:nvSpPr>
        <p:spPr>
          <a:xfrm>
            <a:off x="4133088" y="2671876"/>
            <a:ext cx="1481328" cy="274320"/>
          </a:xfrm>
          <a:prstGeom prst="rect">
            <a:avLst/>
          </a:prstGeom>
          <a:noFill/>
        </p:spPr>
        <p:txBody>
          <a:bodyPr wrap="square" lIns="0" tIns="0" rIns="0" bIns="0" anchor="t">
            <a:spAutoFit/>
          </a:bodyPr>
          <a:lstStyle/>
          <a:p>
            <a:pPr algn="l"/>
            <a:r>
              <a:rPr sz="750" b="0">
                <a:solidFill>
                  <a:srgbClr val="202429"/>
                </a:solidFill>
                <a:latin typeface="Tahoma"/>
              </a:rPr>
              <a:t>Data checked</a:t>
            </a:r>
          </a:p>
        </p:txBody>
      </p:sp>
      <p:sp>
        <p:nvSpPr>
          <p:cNvPr id="40" name="Funding and access note"/>
          <p:cNvSpPr txBox="1"/>
          <p:nvPr/>
        </p:nvSpPr>
        <p:spPr>
          <a:xfrm>
            <a:off x="49933" y="2271509"/>
            <a:ext cx="3653388" cy="377307"/>
          </a:xfrm>
          <a:prstGeom prst="rect">
            <a:avLst/>
          </a:prstGeom>
          <a:noFill/>
        </p:spPr>
        <p:txBody>
          <a:bodyPr wrap="square" lIns="0" tIns="0" rIns="0" bIns="0" anchor="ctr"/>
          <a:lstStyle/>
          <a:p>
            <a:pPr algn="ctr"/>
            <a:r>
              <a:rPr lang="en-GB" sz="650" b="0" i="1">
                <a:solidFill>
                  <a:srgbClr val="5F6670"/>
                </a:solidFill>
                <a:latin typeface="Tahoma"/>
              </a:rPr>
              <a:t>Funded by a Loughborough University Impact Accelerator Award,</a:t>
            </a:r>
          </a:p>
          <a:p>
            <a:pPr algn="ctr"/>
            <a:r>
              <a:rPr lang="en-GB" sz="650" b="0" i="1">
                <a:solidFill>
                  <a:srgbClr val="5F6670"/>
                </a:solidFill>
                <a:latin typeface="Tahoma"/>
              </a:rPr>
              <a:t>as part of a REF 2029 impact case study.</a:t>
            </a:r>
          </a:p>
          <a:p>
            <a:pPr algn="ctr"/>
            <a:r>
              <a:rPr lang="en-GB" sz="650" b="1" i="1">
                <a:solidFill>
                  <a:srgbClr val="C2571A"/>
                </a:solidFill>
                <a:latin typeface="Tahoma"/>
              </a:rPr>
              <a:t>Access is currently limited to NHS England and HSSIB.</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49530" rIns="0" bIns="0" rtlCol="0">
            <a:spAutoFit/>
          </a:bodyPr>
          <a:lstStyle/>
          <a:p>
            <a:pPr marL="99060">
              <a:lnSpc>
                <a:spcPct val="100000"/>
              </a:lnSpc>
              <a:spcBef>
                <a:spcPts val="390"/>
              </a:spcBef>
            </a:pPr>
            <a:r>
              <a:rPr dirty="0"/>
              <a:t>LENS.ai: How It Works</a:t>
            </a:r>
          </a:p>
          <a:p>
            <a:pPr marL="99060">
              <a:lnSpc>
                <a:spcPct val="100000"/>
              </a:lnSpc>
              <a:spcBef>
                <a:spcPts val="195"/>
              </a:spcBef>
            </a:pPr>
            <a:r>
              <a:rPr sz="1100" b="0" dirty="0">
                <a:solidFill>
                  <a:srgbClr val="6C757C"/>
                </a:solidFill>
                <a:latin typeface="Tahoma"/>
                <a:cs typeface="Tahoma"/>
              </a:rPr>
              <a:t>From a coroner’s PDF to structured, coded evidence</a:t>
            </a:r>
            <a:endParaRPr sz="1100">
              <a:latin typeface="Tahoma"/>
              <a:cs typeface="Tahoma"/>
            </a:endParaRPr>
          </a:p>
        </p:txBody>
      </p:sp>
      <p:sp>
        <p:nvSpPr>
          <p:cNvPr id="7" name="object 7"/>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0" name="Slide Number Placeholder 9">
            <a:extLst>
              <a:ext uri="{FF2B5EF4-FFF2-40B4-BE49-F238E27FC236}">
                <a16:creationId xmlns:a16="http://schemas.microsoft.com/office/drawing/2014/main" id="{E4B8B1B9-5FDF-A233-89D4-DFFB2199E6A9}"/>
              </a:ext>
            </a:extLst>
          </p:cNvPr>
          <p:cNvSpPr>
            <a:spLocks noGrp="1"/>
          </p:cNvSpPr>
          <p:nvPr>
            <p:ph type="sldNum" sz="quarter" idx="7"/>
          </p:nvPr>
        </p:nvSpPr>
        <p:spPr>
          <a:xfrm>
            <a:off x="4952745" y="3070861"/>
            <a:ext cx="548640" cy="173989"/>
          </a:xfrm>
        </p:spPr>
        <p:txBody>
          <a:bodyPr/>
          <a:lstStyle/>
          <a:p>
            <a:pPr marL="39370">
              <a:lnSpc>
                <a:spcPct val="100000"/>
              </a:lnSpc>
              <a:spcBef>
                <a:spcPts val="219"/>
              </a:spcBef>
            </a:pPr>
            <a:fld id="{81D60167-4931-47E6-BA6A-407CBD079E47}" type="slidenum">
              <a:rPr lang="en-GB" smtClean="0"/>
              <a:t>27</a:t>
            </a:fld>
            <a:r>
              <a:rPr lang="en-GB" spc="20" dirty="0"/>
              <a:t> </a:t>
            </a:r>
            <a:r>
              <a:rPr lang="en-GB" spc="120" dirty="0"/>
              <a:t>/</a:t>
            </a:r>
            <a:r>
              <a:rPr lang="en-GB" spc="25" dirty="0"/>
              <a:t> </a:t>
            </a:r>
            <a:r>
              <a:rPr lang="en-GB" spc="-25" dirty="0"/>
              <a:t>39</a:t>
            </a:r>
          </a:p>
        </p:txBody>
      </p:sp>
      <p:sp>
        <p:nvSpPr>
          <p:cNvPr id="11" name="Step 1 box"/>
          <p:cNvSpPr/>
          <p:nvPr/>
        </p:nvSpPr>
        <p:spPr>
          <a:xfrm>
            <a:off x="347472" y="777240"/>
            <a:ext cx="1171702" cy="1600200"/>
          </a:xfrm>
          <a:prstGeom prst="roundRect">
            <a:avLst>
              <a:gd name="adj" fmla="val 6000"/>
            </a:avLst>
          </a:prstGeom>
          <a:solidFill>
            <a:srgbClr val="F2F6F7"/>
          </a:solidFill>
          <a:ln w="9525">
            <a:solidFill>
              <a:srgbClr val="CED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tep 1 number"/>
          <p:cNvSpPr/>
          <p:nvPr/>
        </p:nvSpPr>
        <p:spPr>
          <a:xfrm>
            <a:off x="438912" y="868680"/>
            <a:ext cx="237744" cy="237744"/>
          </a:xfrm>
          <a:prstGeom prst="ellipse">
            <a:avLst/>
          </a:prstGeom>
          <a:solidFill>
            <a:srgbClr val="005F73"/>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a:solidFill>
                  <a:srgbClr val="FFFFFF"/>
                </a:solidFill>
                <a:latin typeface="Arial"/>
              </a:rPr>
              <a:t>1</a:t>
            </a:r>
          </a:p>
        </p:txBody>
      </p:sp>
      <p:sp>
        <p:nvSpPr>
          <p:cNvPr id="13" name="Step 1 heading"/>
          <p:cNvSpPr txBox="1"/>
          <p:nvPr/>
        </p:nvSpPr>
        <p:spPr>
          <a:xfrm>
            <a:off x="438912" y="1188720"/>
            <a:ext cx="988822" cy="201168"/>
          </a:xfrm>
          <a:prstGeom prst="rect">
            <a:avLst/>
          </a:prstGeom>
          <a:noFill/>
        </p:spPr>
        <p:txBody>
          <a:bodyPr wrap="square" lIns="0" tIns="0" rIns="0" bIns="0" anchor="t">
            <a:spAutoFit/>
          </a:bodyPr>
          <a:lstStyle/>
          <a:p>
            <a:pPr algn="l"/>
            <a:r>
              <a:rPr sz="1000" b="1">
                <a:solidFill>
                  <a:srgbClr val="005F73"/>
                </a:solidFill>
                <a:latin typeface="Arial"/>
              </a:rPr>
              <a:t>Collect</a:t>
            </a:r>
          </a:p>
        </p:txBody>
      </p:sp>
      <p:sp>
        <p:nvSpPr>
          <p:cNvPr id="14" name="Step 1 text"/>
          <p:cNvSpPr txBox="1"/>
          <p:nvPr/>
        </p:nvSpPr>
        <p:spPr>
          <a:xfrm>
            <a:off x="438912" y="1417320"/>
            <a:ext cx="988822" cy="914400"/>
          </a:xfrm>
          <a:prstGeom prst="rect">
            <a:avLst/>
          </a:prstGeom>
          <a:noFill/>
        </p:spPr>
        <p:txBody>
          <a:bodyPr wrap="square" lIns="0" tIns="0" rIns="0" bIns="0" anchor="t">
            <a:spAutoFit/>
          </a:bodyPr>
          <a:lstStyle/>
          <a:p>
            <a:pPr algn="l"/>
            <a:r>
              <a:rPr sz="1050" b="0">
                <a:solidFill>
                  <a:srgbClr val="202429"/>
                </a:solidFill>
                <a:latin typeface="Tahoma"/>
              </a:rPr>
              <a:t>Nightly check of judiciary.uk for new reports</a:t>
            </a:r>
          </a:p>
        </p:txBody>
      </p:sp>
      <p:sp>
        <p:nvSpPr>
          <p:cNvPr id="15" name="Step 2 box"/>
          <p:cNvSpPr/>
          <p:nvPr/>
        </p:nvSpPr>
        <p:spPr>
          <a:xfrm>
            <a:off x="1647190" y="777240"/>
            <a:ext cx="1171702" cy="1600200"/>
          </a:xfrm>
          <a:prstGeom prst="roundRect">
            <a:avLst>
              <a:gd name="adj" fmla="val 6000"/>
            </a:avLst>
          </a:prstGeom>
          <a:solidFill>
            <a:srgbClr val="F2F6F7"/>
          </a:solidFill>
          <a:ln w="9525">
            <a:solidFill>
              <a:srgbClr val="CED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Step 2 number"/>
          <p:cNvSpPr/>
          <p:nvPr/>
        </p:nvSpPr>
        <p:spPr>
          <a:xfrm>
            <a:off x="1738630" y="868680"/>
            <a:ext cx="237744" cy="237744"/>
          </a:xfrm>
          <a:prstGeom prst="ellipse">
            <a:avLst/>
          </a:prstGeom>
          <a:solidFill>
            <a:srgbClr val="005F73"/>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a:solidFill>
                  <a:srgbClr val="FFFFFF"/>
                </a:solidFill>
                <a:latin typeface="Arial"/>
              </a:rPr>
              <a:t>2</a:t>
            </a:r>
          </a:p>
        </p:txBody>
      </p:sp>
      <p:sp>
        <p:nvSpPr>
          <p:cNvPr id="17" name="Step 2 heading"/>
          <p:cNvSpPr txBox="1"/>
          <p:nvPr/>
        </p:nvSpPr>
        <p:spPr>
          <a:xfrm>
            <a:off x="1738630" y="1188720"/>
            <a:ext cx="988822" cy="201168"/>
          </a:xfrm>
          <a:prstGeom prst="rect">
            <a:avLst/>
          </a:prstGeom>
          <a:noFill/>
        </p:spPr>
        <p:txBody>
          <a:bodyPr wrap="square" lIns="0" tIns="0" rIns="0" bIns="0" anchor="t">
            <a:spAutoFit/>
          </a:bodyPr>
          <a:lstStyle/>
          <a:p>
            <a:pPr algn="l"/>
            <a:r>
              <a:rPr sz="1000" b="1">
                <a:solidFill>
                  <a:srgbClr val="005F73"/>
                </a:solidFill>
                <a:latin typeface="Arial"/>
              </a:rPr>
              <a:t>Extract</a:t>
            </a:r>
          </a:p>
        </p:txBody>
      </p:sp>
      <p:sp>
        <p:nvSpPr>
          <p:cNvPr id="18" name="Step 2 text"/>
          <p:cNvSpPr txBox="1"/>
          <p:nvPr/>
        </p:nvSpPr>
        <p:spPr>
          <a:xfrm>
            <a:off x="1738630" y="1417320"/>
            <a:ext cx="988822" cy="914400"/>
          </a:xfrm>
          <a:prstGeom prst="rect">
            <a:avLst/>
          </a:prstGeom>
          <a:noFill/>
        </p:spPr>
        <p:txBody>
          <a:bodyPr wrap="square" lIns="0" tIns="0" rIns="0" bIns="0" anchor="t">
            <a:spAutoFit/>
          </a:bodyPr>
          <a:lstStyle/>
          <a:p>
            <a:pPr algn="l"/>
            <a:r>
              <a:rPr sz="1050" b="0">
                <a:solidFill>
                  <a:srgbClr val="202429"/>
                </a:solidFill>
                <a:latin typeface="Tahoma"/>
              </a:rPr>
              <a:t>AI records key details, such as cause of death</a:t>
            </a:r>
          </a:p>
        </p:txBody>
      </p:sp>
      <p:sp>
        <p:nvSpPr>
          <p:cNvPr id="19" name="Step 3 box"/>
          <p:cNvSpPr/>
          <p:nvPr/>
        </p:nvSpPr>
        <p:spPr>
          <a:xfrm>
            <a:off x="2946908" y="777240"/>
            <a:ext cx="1171702" cy="1600200"/>
          </a:xfrm>
          <a:prstGeom prst="roundRect">
            <a:avLst>
              <a:gd name="adj" fmla="val 6000"/>
            </a:avLst>
          </a:prstGeom>
          <a:solidFill>
            <a:srgbClr val="F2F6F7"/>
          </a:solidFill>
          <a:ln w="9525">
            <a:solidFill>
              <a:srgbClr val="CED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Step 3 number"/>
          <p:cNvSpPr/>
          <p:nvPr/>
        </p:nvSpPr>
        <p:spPr>
          <a:xfrm>
            <a:off x="3038348" y="868680"/>
            <a:ext cx="237744" cy="237744"/>
          </a:xfrm>
          <a:prstGeom prst="ellipse">
            <a:avLst/>
          </a:prstGeom>
          <a:solidFill>
            <a:srgbClr val="005F73"/>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a:solidFill>
                  <a:srgbClr val="FFFFFF"/>
                </a:solidFill>
                <a:latin typeface="Arial"/>
              </a:rPr>
              <a:t>3</a:t>
            </a:r>
          </a:p>
        </p:txBody>
      </p:sp>
      <p:sp>
        <p:nvSpPr>
          <p:cNvPr id="21" name="Step 3 heading"/>
          <p:cNvSpPr txBox="1"/>
          <p:nvPr/>
        </p:nvSpPr>
        <p:spPr>
          <a:xfrm>
            <a:off x="3038348" y="1188720"/>
            <a:ext cx="988822" cy="201168"/>
          </a:xfrm>
          <a:prstGeom prst="rect">
            <a:avLst/>
          </a:prstGeom>
          <a:noFill/>
        </p:spPr>
        <p:txBody>
          <a:bodyPr wrap="square" lIns="0" tIns="0" rIns="0" bIns="0" anchor="t">
            <a:spAutoFit/>
          </a:bodyPr>
          <a:lstStyle/>
          <a:p>
            <a:pPr algn="l"/>
            <a:r>
              <a:rPr sz="1000" b="1">
                <a:solidFill>
                  <a:srgbClr val="005F73"/>
                </a:solidFill>
                <a:latin typeface="Arial"/>
              </a:rPr>
              <a:t>Standardise</a:t>
            </a:r>
          </a:p>
        </p:txBody>
      </p:sp>
      <p:sp>
        <p:nvSpPr>
          <p:cNvPr id="22" name="Step 3 text"/>
          <p:cNvSpPr txBox="1"/>
          <p:nvPr/>
        </p:nvSpPr>
        <p:spPr>
          <a:xfrm>
            <a:off x="3038348" y="1417320"/>
            <a:ext cx="988822" cy="914400"/>
          </a:xfrm>
          <a:prstGeom prst="rect">
            <a:avLst/>
          </a:prstGeom>
          <a:noFill/>
        </p:spPr>
        <p:txBody>
          <a:bodyPr wrap="square" lIns="0" tIns="0" rIns="0" bIns="0" anchor="t">
            <a:spAutoFit/>
          </a:bodyPr>
          <a:lstStyle/>
          <a:p>
            <a:pPr algn="l"/>
            <a:r>
              <a:rPr sz="1050" b="0">
                <a:solidFill>
                  <a:srgbClr val="202429"/>
                </a:solidFill>
                <a:latin typeface="Tahoma"/>
              </a:rPr>
              <a:t>Causes coded to ICD-10, medicines to ATC</a:t>
            </a:r>
          </a:p>
        </p:txBody>
      </p:sp>
      <p:sp>
        <p:nvSpPr>
          <p:cNvPr id="23" name="Step 4 box"/>
          <p:cNvSpPr/>
          <p:nvPr/>
        </p:nvSpPr>
        <p:spPr>
          <a:xfrm>
            <a:off x="4246626" y="777240"/>
            <a:ext cx="1171702" cy="1600200"/>
          </a:xfrm>
          <a:prstGeom prst="roundRect">
            <a:avLst>
              <a:gd name="adj" fmla="val 6000"/>
            </a:avLst>
          </a:prstGeom>
          <a:solidFill>
            <a:srgbClr val="F2F6F7"/>
          </a:solidFill>
          <a:ln w="9525">
            <a:solidFill>
              <a:srgbClr val="CED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Step 4 number"/>
          <p:cNvSpPr/>
          <p:nvPr/>
        </p:nvSpPr>
        <p:spPr>
          <a:xfrm>
            <a:off x="4338066" y="868680"/>
            <a:ext cx="237744" cy="237744"/>
          </a:xfrm>
          <a:prstGeom prst="ellipse">
            <a:avLst/>
          </a:prstGeom>
          <a:solidFill>
            <a:srgbClr val="005F73"/>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a:solidFill>
                  <a:srgbClr val="FFFFFF"/>
                </a:solidFill>
                <a:latin typeface="Arial"/>
              </a:rPr>
              <a:t>4</a:t>
            </a:r>
          </a:p>
        </p:txBody>
      </p:sp>
      <p:sp>
        <p:nvSpPr>
          <p:cNvPr id="25" name="Step 4 heading"/>
          <p:cNvSpPr txBox="1"/>
          <p:nvPr/>
        </p:nvSpPr>
        <p:spPr>
          <a:xfrm>
            <a:off x="4338066" y="1188720"/>
            <a:ext cx="988822" cy="201168"/>
          </a:xfrm>
          <a:prstGeom prst="rect">
            <a:avLst/>
          </a:prstGeom>
          <a:noFill/>
        </p:spPr>
        <p:txBody>
          <a:bodyPr wrap="square" lIns="0" tIns="0" rIns="0" bIns="0" anchor="t">
            <a:spAutoFit/>
          </a:bodyPr>
          <a:lstStyle/>
          <a:p>
            <a:pPr algn="l"/>
            <a:r>
              <a:rPr sz="1000" b="1">
                <a:solidFill>
                  <a:srgbClr val="005F73"/>
                </a:solidFill>
                <a:latin typeface="Arial"/>
              </a:rPr>
              <a:t>Analyse</a:t>
            </a:r>
          </a:p>
        </p:txBody>
      </p:sp>
      <p:sp>
        <p:nvSpPr>
          <p:cNvPr id="26" name="Step 4 text"/>
          <p:cNvSpPr txBox="1"/>
          <p:nvPr/>
        </p:nvSpPr>
        <p:spPr>
          <a:xfrm>
            <a:off x="4338066" y="1417320"/>
            <a:ext cx="988822" cy="914400"/>
          </a:xfrm>
          <a:prstGeom prst="rect">
            <a:avLst/>
          </a:prstGeom>
          <a:noFill/>
        </p:spPr>
        <p:txBody>
          <a:bodyPr wrap="square" lIns="0" tIns="0" rIns="0" bIns="0" anchor="t">
            <a:spAutoFit/>
          </a:bodyPr>
          <a:lstStyle/>
          <a:p>
            <a:pPr algn="l"/>
            <a:r>
              <a:rPr sz="1050" b="0">
                <a:solidFill>
                  <a:srgbClr val="202429"/>
                </a:solidFill>
                <a:latin typeface="Tahoma"/>
              </a:rPr>
              <a:t>Search, dashboards and annotation</a:t>
            </a:r>
          </a:p>
        </p:txBody>
      </p:sp>
      <p:sp>
        <p:nvSpPr>
          <p:cNvPr id="27" name="Key point box"/>
          <p:cNvSpPr/>
          <p:nvPr/>
        </p:nvSpPr>
        <p:spPr>
          <a:xfrm>
            <a:off x="347472" y="2560320"/>
            <a:ext cx="5070856" cy="310896"/>
          </a:xfrm>
          <a:prstGeom prst="roundRect">
            <a:avLst>
              <a:gd name="adj" fmla="val 6000"/>
            </a:avLst>
          </a:prstGeom>
          <a:solidFill>
            <a:srgbClr val="FDF1E7"/>
          </a:solidFill>
          <a:ln w="9525">
            <a:solidFill>
              <a:srgbClr val="E8B4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Key point"/>
          <p:cNvSpPr txBox="1"/>
          <p:nvPr/>
        </p:nvSpPr>
        <p:spPr>
          <a:xfrm>
            <a:off x="457200" y="2560320"/>
            <a:ext cx="4851400" cy="310896"/>
          </a:xfrm>
          <a:prstGeom prst="rect">
            <a:avLst/>
          </a:prstGeom>
          <a:noFill/>
        </p:spPr>
        <p:txBody>
          <a:bodyPr wrap="square" lIns="0" tIns="0" rIns="0" bIns="0" anchor="ctr">
            <a:spAutoFit/>
          </a:bodyPr>
          <a:lstStyle/>
          <a:p>
            <a:pPr algn="ctr"/>
            <a:r>
              <a:rPr sz="900" b="1" dirty="0">
                <a:solidFill>
                  <a:srgbClr val="202429"/>
                </a:solidFill>
                <a:latin typeface="Arial"/>
              </a:rPr>
              <a:t>AI suggests, people decide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49530" rIns="0" bIns="0" rtlCol="0">
            <a:spAutoFit/>
          </a:bodyPr>
          <a:lstStyle/>
          <a:p>
            <a:pPr marL="99060">
              <a:lnSpc>
                <a:spcPct val="100000"/>
              </a:lnSpc>
              <a:spcBef>
                <a:spcPts val="390"/>
              </a:spcBef>
            </a:pPr>
            <a:r>
              <a:rPr dirty="0"/>
              <a:t>LENS.ai: From Local Models to LLMs</a:t>
            </a:r>
          </a:p>
          <a:p>
            <a:pPr marL="99060">
              <a:lnSpc>
                <a:spcPct val="100000"/>
              </a:lnSpc>
              <a:spcBef>
                <a:spcPts val="195"/>
              </a:spcBef>
            </a:pPr>
            <a:r>
              <a:rPr sz="1100" b="0" dirty="0">
                <a:solidFill>
                  <a:srgbClr val="6C757C"/>
                </a:solidFill>
                <a:latin typeface="Tahoma"/>
                <a:cs typeface="Tahoma"/>
              </a:rPr>
              <a:t>More capable AI for PFD reports, with a human in the loop</a:t>
            </a:r>
            <a:endParaRPr sz="1100">
              <a:latin typeface="Tahoma"/>
              <a:cs typeface="Tahoma"/>
            </a:endParaRPr>
          </a:p>
        </p:txBody>
      </p:sp>
      <p:sp>
        <p:nvSpPr>
          <p:cNvPr id="7" name="object 7"/>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0" name="Slide Number Placeholder 9">
            <a:extLst>
              <a:ext uri="{FF2B5EF4-FFF2-40B4-BE49-F238E27FC236}">
                <a16:creationId xmlns:a16="http://schemas.microsoft.com/office/drawing/2014/main" id="{E4B8B1B9-5FDF-A233-89D4-DFFB2199E6A9}"/>
              </a:ext>
            </a:extLst>
          </p:cNvPr>
          <p:cNvSpPr>
            <a:spLocks noGrp="1"/>
          </p:cNvSpPr>
          <p:nvPr>
            <p:ph type="sldNum" sz="quarter" idx="7"/>
          </p:nvPr>
        </p:nvSpPr>
        <p:spPr>
          <a:xfrm>
            <a:off x="4952745" y="3070861"/>
            <a:ext cx="548640" cy="173989"/>
          </a:xfrm>
        </p:spPr>
        <p:txBody>
          <a:bodyPr/>
          <a:lstStyle/>
          <a:p>
            <a:pPr marL="39370">
              <a:lnSpc>
                <a:spcPct val="100000"/>
              </a:lnSpc>
              <a:spcBef>
                <a:spcPts val="219"/>
              </a:spcBef>
            </a:pPr>
            <a:fld id="{81D60167-4931-47E6-BA6A-407CBD079E47}" type="slidenum">
              <a:rPr lang="en-GB" smtClean="0"/>
              <a:t>28</a:t>
            </a:fld>
            <a:r>
              <a:rPr lang="en-GB" spc="20" dirty="0"/>
              <a:t> </a:t>
            </a:r>
            <a:r>
              <a:rPr lang="en-GB" spc="120" dirty="0"/>
              <a:t>/</a:t>
            </a:r>
            <a:r>
              <a:rPr lang="en-GB" spc="25" dirty="0"/>
              <a:t> </a:t>
            </a:r>
            <a:r>
              <a:rPr lang="en-GB" spc="-25" dirty="0"/>
              <a:t>39</a:t>
            </a:r>
          </a:p>
        </p:txBody>
      </p:sp>
      <p:sp>
        <p:nvSpPr>
          <p:cNvPr id="11" name="Before box"/>
          <p:cNvSpPr/>
          <p:nvPr/>
        </p:nvSpPr>
        <p:spPr>
          <a:xfrm>
            <a:off x="347472" y="640080"/>
            <a:ext cx="2240280" cy="566928"/>
          </a:xfrm>
          <a:prstGeom prst="roundRect">
            <a:avLst>
              <a:gd name="adj" fmla="val 6000"/>
            </a:avLst>
          </a:prstGeom>
          <a:solidFill>
            <a:srgbClr val="F2F6F7"/>
          </a:solidFill>
          <a:ln w="9525">
            <a:solidFill>
              <a:srgbClr val="CED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Before text"/>
          <p:cNvSpPr txBox="1"/>
          <p:nvPr/>
        </p:nvSpPr>
        <p:spPr>
          <a:xfrm>
            <a:off x="438912" y="694944"/>
            <a:ext cx="2057400" cy="475488"/>
          </a:xfrm>
          <a:prstGeom prst="rect">
            <a:avLst/>
          </a:prstGeom>
          <a:noFill/>
        </p:spPr>
        <p:txBody>
          <a:bodyPr wrap="square" lIns="0" tIns="0" rIns="0" bIns="0" anchor="t">
            <a:spAutoFit/>
          </a:bodyPr>
          <a:lstStyle/>
          <a:p>
            <a:pPr algn="l"/>
            <a:r>
              <a:rPr sz="950" b="1">
                <a:solidFill>
                  <a:srgbClr val="005F73"/>
                </a:solidFill>
                <a:latin typeface="Arial"/>
              </a:rPr>
              <a:t>Maternity · I-SIRch</a:t>
            </a:r>
          </a:p>
          <a:p>
            <a:pPr algn="l">
              <a:spcBef>
                <a:spcPts val="400"/>
              </a:spcBef>
            </a:pPr>
            <a:r>
              <a:rPr sz="800" b="0">
                <a:solidFill>
                  <a:srgbClr val="202429"/>
                </a:solidFill>
                <a:latin typeface="Tahoma"/>
              </a:rPr>
              <a:t>Local models, fully offline</a:t>
            </a:r>
          </a:p>
          <a:p>
            <a:pPr algn="l">
              <a:spcBef>
                <a:spcPts val="400"/>
              </a:spcBef>
            </a:pPr>
            <a:r>
              <a:rPr sz="800" b="0">
                <a:solidFill>
                  <a:srgbClr val="202429"/>
                </a:solidFill>
                <a:latin typeface="Tahoma"/>
              </a:rPr>
              <a:t>Confidential reports</a:t>
            </a:r>
          </a:p>
        </p:txBody>
      </p:sp>
      <p:sp>
        <p:nvSpPr>
          <p:cNvPr id="13" name="After box"/>
          <p:cNvSpPr/>
          <p:nvPr/>
        </p:nvSpPr>
        <p:spPr>
          <a:xfrm>
            <a:off x="3178047" y="640080"/>
            <a:ext cx="2240280" cy="566928"/>
          </a:xfrm>
          <a:prstGeom prst="roundRect">
            <a:avLst>
              <a:gd name="adj" fmla="val 6000"/>
            </a:avLst>
          </a:prstGeom>
          <a:solidFill>
            <a:srgbClr val="E6F0F2"/>
          </a:solidFill>
          <a:ln w="9525">
            <a:solidFill>
              <a:srgbClr val="005F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After text"/>
          <p:cNvSpPr txBox="1"/>
          <p:nvPr/>
        </p:nvSpPr>
        <p:spPr>
          <a:xfrm>
            <a:off x="3269488" y="694944"/>
            <a:ext cx="2057400" cy="475488"/>
          </a:xfrm>
          <a:prstGeom prst="rect">
            <a:avLst/>
          </a:prstGeom>
          <a:noFill/>
        </p:spPr>
        <p:txBody>
          <a:bodyPr wrap="square" lIns="0" tIns="0" rIns="0" bIns="0" anchor="t">
            <a:spAutoFit/>
          </a:bodyPr>
          <a:lstStyle/>
          <a:p>
            <a:pPr algn="l"/>
            <a:r>
              <a:rPr sz="950" b="1">
                <a:solidFill>
                  <a:srgbClr val="005F73"/>
                </a:solidFill>
                <a:latin typeface="Arial"/>
              </a:rPr>
              <a:t>PFD reports · LENS.ai</a:t>
            </a:r>
          </a:p>
          <a:p>
            <a:pPr algn="l">
              <a:spcBef>
                <a:spcPts val="400"/>
              </a:spcBef>
            </a:pPr>
            <a:r>
              <a:rPr sz="800" b="0">
                <a:solidFill>
                  <a:srgbClr val="202429"/>
                </a:solidFill>
                <a:latin typeface="Tahoma"/>
              </a:rPr>
              <a:t>More powerful LLMs</a:t>
            </a:r>
          </a:p>
          <a:p>
            <a:pPr algn="l">
              <a:spcBef>
                <a:spcPts val="400"/>
              </a:spcBef>
            </a:pPr>
            <a:r>
              <a:rPr sz="800" b="0">
                <a:solidFill>
                  <a:srgbClr val="202429"/>
                </a:solidFill>
                <a:latin typeface="Tahoma"/>
              </a:rPr>
              <a:t>Public reports</a:t>
            </a:r>
          </a:p>
        </p:txBody>
      </p:sp>
      <p:cxnSp>
        <p:nvCxnSpPr>
          <p:cNvPr id="15" name="Move arrow"/>
          <p:cNvCxnSpPr/>
          <p:nvPr/>
        </p:nvCxnSpPr>
        <p:spPr>
          <a:xfrm>
            <a:off x="2660904" y="923544"/>
            <a:ext cx="443991" cy="0"/>
          </a:xfrm>
          <a:prstGeom prst="line">
            <a:avLst/>
          </a:prstGeom>
          <a:ln w="19050">
            <a:solidFill>
              <a:srgbClr val="005F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Loop heading"/>
          <p:cNvSpPr txBox="1"/>
          <p:nvPr/>
        </p:nvSpPr>
        <p:spPr>
          <a:xfrm>
            <a:off x="347472" y="1307592"/>
            <a:ext cx="5070856" cy="182880"/>
          </a:xfrm>
          <a:prstGeom prst="rect">
            <a:avLst/>
          </a:prstGeom>
          <a:noFill/>
        </p:spPr>
        <p:txBody>
          <a:bodyPr wrap="square" lIns="0" tIns="0" rIns="0" bIns="0" anchor="t">
            <a:spAutoFit/>
          </a:bodyPr>
          <a:lstStyle/>
          <a:p>
            <a:pPr algn="l"/>
            <a:r>
              <a:rPr sz="950" b="1">
                <a:solidFill>
                  <a:srgbClr val="202429"/>
                </a:solidFill>
                <a:latin typeface="Arial"/>
              </a:rPr>
              <a:t>A human in the loop, on every report</a:t>
            </a:r>
          </a:p>
        </p:txBody>
      </p:sp>
      <p:sp>
        <p:nvSpPr>
          <p:cNvPr id="17" name="Loop step 1 box"/>
          <p:cNvSpPr/>
          <p:nvPr/>
        </p:nvSpPr>
        <p:spPr>
          <a:xfrm>
            <a:off x="347472" y="1554480"/>
            <a:ext cx="1130554" cy="676656"/>
          </a:xfrm>
          <a:prstGeom prst="roundRect">
            <a:avLst>
              <a:gd name="adj" fmla="val 6000"/>
            </a:avLst>
          </a:prstGeom>
          <a:solidFill>
            <a:srgbClr val="F2F6F7"/>
          </a:solidFill>
          <a:ln w="9525">
            <a:solidFill>
              <a:srgbClr val="CED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Loop step 1 text"/>
          <p:cNvSpPr txBox="1"/>
          <p:nvPr/>
        </p:nvSpPr>
        <p:spPr>
          <a:xfrm>
            <a:off x="420624" y="1618488"/>
            <a:ext cx="984250" cy="585216"/>
          </a:xfrm>
          <a:prstGeom prst="rect">
            <a:avLst/>
          </a:prstGeom>
          <a:noFill/>
        </p:spPr>
        <p:txBody>
          <a:bodyPr wrap="square" lIns="0" tIns="0" rIns="0" bIns="0" anchor="t">
            <a:spAutoFit/>
          </a:bodyPr>
          <a:lstStyle/>
          <a:p>
            <a:pPr algn="l"/>
            <a:r>
              <a:rPr sz="850" b="1">
                <a:solidFill>
                  <a:srgbClr val="005F73"/>
                </a:solidFill>
                <a:latin typeface="Arial"/>
              </a:rPr>
              <a:t>1  AI suggests</a:t>
            </a:r>
          </a:p>
          <a:p>
            <a:pPr algn="l">
              <a:spcBef>
                <a:spcPts val="400"/>
              </a:spcBef>
            </a:pPr>
            <a:r>
              <a:rPr sz="750" b="0">
                <a:solidFill>
                  <a:srgbClr val="202429"/>
                </a:solidFill>
                <a:latin typeface="Tahoma"/>
              </a:rPr>
              <a:t>Quotes the exact sentence</a:t>
            </a:r>
          </a:p>
        </p:txBody>
      </p:sp>
      <p:cxnSp>
        <p:nvCxnSpPr>
          <p:cNvPr id="19" name="Loop arrow 1"/>
          <p:cNvCxnSpPr/>
          <p:nvPr/>
        </p:nvCxnSpPr>
        <p:spPr>
          <a:xfrm>
            <a:off x="1496314" y="1892807"/>
            <a:ext cx="146304" cy="0"/>
          </a:xfrm>
          <a:prstGeom prst="line">
            <a:avLst/>
          </a:prstGeom>
          <a:ln w="19050">
            <a:solidFill>
              <a:srgbClr val="005F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Loop step 2 box"/>
          <p:cNvSpPr/>
          <p:nvPr/>
        </p:nvSpPr>
        <p:spPr>
          <a:xfrm>
            <a:off x="1660906" y="1554480"/>
            <a:ext cx="1130554" cy="676656"/>
          </a:xfrm>
          <a:prstGeom prst="roundRect">
            <a:avLst>
              <a:gd name="adj" fmla="val 6000"/>
            </a:avLst>
          </a:prstGeom>
          <a:solidFill>
            <a:srgbClr val="F2F6F7"/>
          </a:solidFill>
          <a:ln w="9525">
            <a:solidFill>
              <a:srgbClr val="CED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Loop step 2 text"/>
          <p:cNvSpPr txBox="1"/>
          <p:nvPr/>
        </p:nvSpPr>
        <p:spPr>
          <a:xfrm>
            <a:off x="1734058" y="1618488"/>
            <a:ext cx="984250" cy="585216"/>
          </a:xfrm>
          <a:prstGeom prst="rect">
            <a:avLst/>
          </a:prstGeom>
          <a:noFill/>
        </p:spPr>
        <p:txBody>
          <a:bodyPr wrap="square" lIns="0" tIns="0" rIns="0" bIns="0" anchor="t">
            <a:spAutoFit/>
          </a:bodyPr>
          <a:lstStyle/>
          <a:p>
            <a:pPr algn="l"/>
            <a:r>
              <a:rPr sz="850" b="1">
                <a:solidFill>
                  <a:srgbClr val="005F73"/>
                </a:solidFill>
                <a:latin typeface="Arial"/>
              </a:rPr>
              <a:t>2  Evidence check</a:t>
            </a:r>
          </a:p>
          <a:p>
            <a:pPr algn="l">
              <a:spcBef>
                <a:spcPts val="400"/>
              </a:spcBef>
            </a:pPr>
            <a:r>
              <a:rPr sz="750" b="0">
                <a:solidFill>
                  <a:srgbClr val="202429"/>
                </a:solidFill>
                <a:latin typeface="Tahoma"/>
              </a:rPr>
              <a:t>Quote must be in the report</a:t>
            </a:r>
          </a:p>
        </p:txBody>
      </p:sp>
      <p:cxnSp>
        <p:nvCxnSpPr>
          <p:cNvPr id="22" name="Loop arrow 2"/>
          <p:cNvCxnSpPr/>
          <p:nvPr/>
        </p:nvCxnSpPr>
        <p:spPr>
          <a:xfrm>
            <a:off x="2809748" y="1892807"/>
            <a:ext cx="146304" cy="0"/>
          </a:xfrm>
          <a:prstGeom prst="line">
            <a:avLst/>
          </a:prstGeom>
          <a:ln w="19050">
            <a:solidFill>
              <a:srgbClr val="005F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Loop step 3 box"/>
          <p:cNvSpPr/>
          <p:nvPr/>
        </p:nvSpPr>
        <p:spPr>
          <a:xfrm>
            <a:off x="2974340" y="1554480"/>
            <a:ext cx="1130554" cy="676656"/>
          </a:xfrm>
          <a:prstGeom prst="roundRect">
            <a:avLst>
              <a:gd name="adj" fmla="val 6000"/>
            </a:avLst>
          </a:prstGeom>
          <a:solidFill>
            <a:srgbClr val="FDF1E7"/>
          </a:solidFill>
          <a:ln w="9525">
            <a:solidFill>
              <a:srgbClr val="E8B4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Loop step 3 text"/>
          <p:cNvSpPr txBox="1"/>
          <p:nvPr/>
        </p:nvSpPr>
        <p:spPr>
          <a:xfrm>
            <a:off x="3047492" y="1618488"/>
            <a:ext cx="984250" cy="585216"/>
          </a:xfrm>
          <a:prstGeom prst="rect">
            <a:avLst/>
          </a:prstGeom>
          <a:noFill/>
        </p:spPr>
        <p:txBody>
          <a:bodyPr wrap="square" lIns="0" tIns="0" rIns="0" bIns="0" anchor="t">
            <a:spAutoFit/>
          </a:bodyPr>
          <a:lstStyle/>
          <a:p>
            <a:pPr algn="l"/>
            <a:r>
              <a:rPr sz="850" b="1">
                <a:solidFill>
                  <a:srgbClr val="C2571A"/>
                </a:solidFill>
                <a:latin typeface="Arial"/>
              </a:rPr>
              <a:t>3  Human review</a:t>
            </a:r>
          </a:p>
          <a:p>
            <a:pPr algn="l">
              <a:spcBef>
                <a:spcPts val="400"/>
              </a:spcBef>
            </a:pPr>
            <a:r>
              <a:rPr sz="750" b="0">
                <a:solidFill>
                  <a:srgbClr val="202429"/>
                </a:solidFill>
                <a:latin typeface="Tahoma"/>
              </a:rPr>
              <a:t>Confirm, relabel or reject</a:t>
            </a:r>
          </a:p>
        </p:txBody>
      </p:sp>
      <p:cxnSp>
        <p:nvCxnSpPr>
          <p:cNvPr id="25" name="Loop arrow 3"/>
          <p:cNvCxnSpPr/>
          <p:nvPr/>
        </p:nvCxnSpPr>
        <p:spPr>
          <a:xfrm>
            <a:off x="4123181" y="1892807"/>
            <a:ext cx="146305" cy="0"/>
          </a:xfrm>
          <a:prstGeom prst="line">
            <a:avLst/>
          </a:prstGeom>
          <a:ln w="19050">
            <a:solidFill>
              <a:srgbClr val="005F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Loop step 4 box"/>
          <p:cNvSpPr/>
          <p:nvPr/>
        </p:nvSpPr>
        <p:spPr>
          <a:xfrm>
            <a:off x="4287774" y="1554480"/>
            <a:ext cx="1130554" cy="676656"/>
          </a:xfrm>
          <a:prstGeom prst="roundRect">
            <a:avLst>
              <a:gd name="adj" fmla="val 6000"/>
            </a:avLst>
          </a:prstGeom>
          <a:solidFill>
            <a:srgbClr val="F2F6F7"/>
          </a:solidFill>
          <a:ln w="9525">
            <a:solidFill>
              <a:srgbClr val="CED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Loop step 4 text"/>
          <p:cNvSpPr txBox="1"/>
          <p:nvPr/>
        </p:nvSpPr>
        <p:spPr>
          <a:xfrm>
            <a:off x="4360926" y="1618488"/>
            <a:ext cx="984250" cy="585216"/>
          </a:xfrm>
          <a:prstGeom prst="rect">
            <a:avLst/>
          </a:prstGeom>
          <a:noFill/>
        </p:spPr>
        <p:txBody>
          <a:bodyPr wrap="square" lIns="0" tIns="0" rIns="0" bIns="0" anchor="t">
            <a:spAutoFit/>
          </a:bodyPr>
          <a:lstStyle/>
          <a:p>
            <a:pPr algn="l"/>
            <a:r>
              <a:rPr sz="850" b="1">
                <a:solidFill>
                  <a:srgbClr val="005F73"/>
                </a:solidFill>
                <a:latin typeface="Arial"/>
              </a:rPr>
              <a:t>4  Traceable result</a:t>
            </a:r>
          </a:p>
          <a:p>
            <a:pPr algn="l">
              <a:spcBef>
                <a:spcPts val="400"/>
              </a:spcBef>
            </a:pPr>
            <a:r>
              <a:rPr sz="750" b="0">
                <a:solidFill>
                  <a:srgbClr val="202429"/>
                </a:solidFill>
                <a:latin typeface="Tahoma"/>
              </a:rPr>
              <a:t>Linked to its source sentence</a:t>
            </a:r>
          </a:p>
        </p:txBody>
      </p:sp>
      <p:cxnSp>
        <p:nvCxnSpPr>
          <p:cNvPr id="28" name="Return down"/>
          <p:cNvCxnSpPr/>
          <p:nvPr/>
        </p:nvCxnSpPr>
        <p:spPr>
          <a:xfrm>
            <a:off x="4853051" y="2231136"/>
            <a:ext cx="0" cy="155448"/>
          </a:xfrm>
          <a:prstGeom prst="line">
            <a:avLst/>
          </a:prstGeom>
          <a:ln w="19050">
            <a:solidFill>
              <a:srgbClr val="005F73"/>
            </a:solidFill>
          </a:ln>
        </p:spPr>
        <p:style>
          <a:lnRef idx="2">
            <a:schemeClr val="accent1"/>
          </a:lnRef>
          <a:fillRef idx="0">
            <a:schemeClr val="accent1"/>
          </a:fillRef>
          <a:effectRef idx="1">
            <a:schemeClr val="accent1"/>
          </a:effectRef>
          <a:fontRef idx="minor">
            <a:schemeClr val="tx1"/>
          </a:fontRef>
        </p:style>
      </p:cxnSp>
      <p:cxnSp>
        <p:nvCxnSpPr>
          <p:cNvPr id="29" name="Return across"/>
          <p:cNvCxnSpPr/>
          <p:nvPr/>
        </p:nvCxnSpPr>
        <p:spPr>
          <a:xfrm flipH="1">
            <a:off x="912749" y="2386584"/>
            <a:ext cx="3940302" cy="0"/>
          </a:xfrm>
          <a:prstGeom prst="line">
            <a:avLst/>
          </a:prstGeom>
          <a:ln w="19050">
            <a:solidFill>
              <a:srgbClr val="005F73"/>
            </a:solidFill>
          </a:ln>
        </p:spPr>
        <p:style>
          <a:lnRef idx="2">
            <a:schemeClr val="accent1"/>
          </a:lnRef>
          <a:fillRef idx="0">
            <a:schemeClr val="accent1"/>
          </a:fillRef>
          <a:effectRef idx="1">
            <a:schemeClr val="accent1"/>
          </a:effectRef>
          <a:fontRef idx="minor">
            <a:schemeClr val="tx1"/>
          </a:fontRef>
        </p:style>
      </p:cxnSp>
      <p:cxnSp>
        <p:nvCxnSpPr>
          <p:cNvPr id="30" name="Return up"/>
          <p:cNvCxnSpPr/>
          <p:nvPr/>
        </p:nvCxnSpPr>
        <p:spPr>
          <a:xfrm flipV="1">
            <a:off x="912749" y="2240279"/>
            <a:ext cx="0" cy="146305"/>
          </a:xfrm>
          <a:prstGeom prst="line">
            <a:avLst/>
          </a:prstGeom>
          <a:ln w="19050">
            <a:solidFill>
              <a:srgbClr val="005F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Loop label"/>
          <p:cNvSpPr txBox="1"/>
          <p:nvPr/>
        </p:nvSpPr>
        <p:spPr>
          <a:xfrm>
            <a:off x="2089023" y="2313432"/>
            <a:ext cx="1587753" cy="146304"/>
          </a:xfrm>
          <a:prstGeom prst="rect">
            <a:avLst/>
          </a:prstGeom>
          <a:solidFill>
            <a:srgbClr val="FFFFFF"/>
          </a:solidFill>
        </p:spPr>
        <p:txBody>
          <a:bodyPr wrap="square" lIns="0" tIns="0" rIns="0" bIns="0" anchor="ctr">
            <a:spAutoFit/>
          </a:bodyPr>
          <a:lstStyle/>
          <a:p>
            <a:pPr algn="ctr"/>
            <a:r>
              <a:rPr sz="750" b="0">
                <a:solidFill>
                  <a:srgbClr val="6C757C"/>
                </a:solidFill>
                <a:latin typeface="Tahoma"/>
              </a:rPr>
              <a:t>Repeated for every report</a:t>
            </a:r>
          </a:p>
        </p:txBody>
      </p:sp>
      <p:sp>
        <p:nvSpPr>
          <p:cNvPr id="32" name="Transparency note"/>
          <p:cNvSpPr txBox="1"/>
          <p:nvPr/>
        </p:nvSpPr>
        <p:spPr>
          <a:xfrm>
            <a:off x="347472" y="2724912"/>
            <a:ext cx="5070856" cy="274320"/>
          </a:xfrm>
          <a:prstGeom prst="rect">
            <a:avLst/>
          </a:prstGeom>
          <a:noFill/>
        </p:spPr>
        <p:txBody>
          <a:bodyPr wrap="square" lIns="0" tIns="0" rIns="0" bIns="0" anchor="t">
            <a:spAutoFit/>
          </a:bodyPr>
          <a:lstStyle/>
          <a:p>
            <a:pPr algn="ctr"/>
            <a:r>
              <a:rPr sz="750" b="1">
                <a:solidFill>
                  <a:srgbClr val="202429"/>
                </a:solidFill>
                <a:latin typeface="Arial"/>
              </a:rPr>
              <a:t>Fully transparent. </a:t>
            </a:r>
            <a:r>
              <a:rPr sz="750" b="0">
                <a:solidFill>
                  <a:srgbClr val="202429"/>
                </a:solidFill>
                <a:latin typeface="Tahoma"/>
              </a:rPr>
              <a:t>Every result is logged and can be inspected.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DD56A-F9CD-916E-ACF9-F1D1FCCD3995}"/>
              </a:ext>
            </a:extLst>
          </p:cNvPr>
          <p:cNvSpPr>
            <a:spLocks noGrp="1"/>
          </p:cNvSpPr>
          <p:nvPr>
            <p:ph type="title"/>
          </p:nvPr>
        </p:nvSpPr>
        <p:spPr>
          <a:xfrm>
            <a:off x="163131" y="195483"/>
            <a:ext cx="5060340" cy="215444"/>
          </a:xfrm>
        </p:spPr>
        <p:txBody>
          <a:bodyPr/>
          <a:lstStyle/>
          <a:p>
            <a:r>
              <a:rPr lang="en-GB" dirty="0"/>
              <a:t>Yorkshire Contributory Factors Framework</a:t>
            </a:r>
          </a:p>
        </p:txBody>
      </p:sp>
      <p:sp>
        <p:nvSpPr>
          <p:cNvPr id="3" name="Text Placeholder 2">
            <a:extLst>
              <a:ext uri="{FF2B5EF4-FFF2-40B4-BE49-F238E27FC236}">
                <a16:creationId xmlns:a16="http://schemas.microsoft.com/office/drawing/2014/main" id="{76BF6040-E27D-4A1C-F0DF-0DE995EA0DE7}"/>
              </a:ext>
            </a:extLst>
          </p:cNvPr>
          <p:cNvSpPr>
            <a:spLocks noGrp="1"/>
          </p:cNvSpPr>
          <p:nvPr>
            <p:ph type="body" idx="1"/>
          </p:nvPr>
        </p:nvSpPr>
        <p:spPr>
          <a:xfrm>
            <a:off x="274320" y="555625"/>
            <a:ext cx="2379980" cy="2154436"/>
          </a:xfrm>
        </p:spPr>
        <p:txBody>
          <a:bodyPr/>
          <a:lstStyle/>
          <a:p>
            <a:pPr marL="171450" lvl="0" indent="-171450">
              <a:lnSpc>
                <a:spcPct val="100000"/>
              </a:lnSpc>
              <a:spcBef>
                <a:spcPts val="0"/>
              </a:spcBef>
              <a:spcAft>
                <a:spcPts val="100"/>
              </a:spcAft>
              <a:buFont typeface="Arial" panose="020B0604020202020204" pitchFamily="34" charset="0"/>
              <a:buChar char="•"/>
            </a:pPr>
            <a:r>
              <a:rPr lang="en-GB" sz="900" b="0" dirty="0"/>
              <a:t>Developed by the Yorkshire Quality and Safety Research Group following a systematic review of 83 studies of hospital patient safety incidents (2012).</a:t>
            </a:r>
          </a:p>
          <a:p>
            <a:pPr marL="171450" lvl="0" indent="-171450">
              <a:lnSpc>
                <a:spcPct val="100000"/>
              </a:lnSpc>
              <a:spcBef>
                <a:spcPts val="0"/>
              </a:spcBef>
              <a:spcAft>
                <a:spcPts val="100"/>
              </a:spcAft>
              <a:buFont typeface="Arial" panose="020B0604020202020204" pitchFamily="34" charset="0"/>
              <a:buChar char="•"/>
            </a:pPr>
            <a:endParaRPr lang="en-GB" sz="900" b="0" dirty="0"/>
          </a:p>
          <a:p>
            <a:pPr marL="171450" lvl="0" indent="-171450">
              <a:lnSpc>
                <a:spcPct val="100000"/>
              </a:lnSpc>
              <a:spcBef>
                <a:spcPts val="0"/>
              </a:spcBef>
              <a:spcAft>
                <a:spcPts val="100"/>
              </a:spcAft>
              <a:buFont typeface="Arial" panose="020B0604020202020204" pitchFamily="34" charset="0"/>
              <a:buChar char="•"/>
            </a:pPr>
            <a:r>
              <a:rPr lang="en-GB" sz="900" b="0" dirty="0"/>
              <a:t>Identifies potential contributory factors that can lead to patient safety incidents.</a:t>
            </a:r>
          </a:p>
          <a:p>
            <a:pPr marL="171450" lvl="0" indent="-171450">
              <a:lnSpc>
                <a:spcPct val="100000"/>
              </a:lnSpc>
              <a:spcBef>
                <a:spcPts val="0"/>
              </a:spcBef>
              <a:spcAft>
                <a:spcPts val="100"/>
              </a:spcAft>
              <a:buFont typeface="Arial" panose="020B0604020202020204" pitchFamily="34" charset="0"/>
              <a:buChar char="•"/>
            </a:pPr>
            <a:endParaRPr lang="en-GB" sz="900" b="0" dirty="0"/>
          </a:p>
          <a:p>
            <a:pPr marL="171450" lvl="0" indent="-171450">
              <a:lnSpc>
                <a:spcPct val="100000"/>
              </a:lnSpc>
              <a:spcBef>
                <a:spcPts val="0"/>
              </a:spcBef>
              <a:spcAft>
                <a:spcPts val="100"/>
              </a:spcAft>
              <a:buFont typeface="Arial" panose="020B0604020202020204" pitchFamily="34" charset="0"/>
              <a:buChar char="•"/>
            </a:pPr>
            <a:r>
              <a:rPr lang="en-GB" sz="900" b="0" dirty="0"/>
              <a:t>Encourages a systems-based approach, examining individual, team, working environment and organisational factors.</a:t>
            </a:r>
          </a:p>
          <a:p>
            <a:pPr marL="171450" lvl="0" indent="-171450">
              <a:lnSpc>
                <a:spcPct val="100000"/>
              </a:lnSpc>
              <a:spcBef>
                <a:spcPts val="0"/>
              </a:spcBef>
              <a:spcAft>
                <a:spcPts val="100"/>
              </a:spcAft>
              <a:buFont typeface="Arial" panose="020B0604020202020204" pitchFamily="34" charset="0"/>
              <a:buChar char="•"/>
            </a:pPr>
            <a:endParaRPr lang="en-GB" sz="900" b="0" dirty="0"/>
          </a:p>
          <a:p>
            <a:pPr marL="171450" lvl="0" indent="-171450">
              <a:lnSpc>
                <a:spcPct val="100000"/>
              </a:lnSpc>
              <a:spcBef>
                <a:spcPts val="0"/>
              </a:spcBef>
              <a:spcAft>
                <a:spcPts val="100"/>
              </a:spcAft>
              <a:buFont typeface="Arial" panose="020B0604020202020204" pitchFamily="34" charset="0"/>
              <a:buChar char="•"/>
            </a:pPr>
            <a:r>
              <a:rPr lang="en-GB" sz="900" b="0" dirty="0"/>
              <a:t>Aim: Improve learning from incidents and prevent recurrence, while recognising individual accountability where appropriate.</a:t>
            </a:r>
          </a:p>
        </p:txBody>
      </p:sp>
      <p:sp>
        <p:nvSpPr>
          <p:cNvPr id="4" name="Slide Number Placeholder 3">
            <a:extLst>
              <a:ext uri="{FF2B5EF4-FFF2-40B4-BE49-F238E27FC236}">
                <a16:creationId xmlns:a16="http://schemas.microsoft.com/office/drawing/2014/main" id="{8F899B86-B5F8-F3A2-D197-009824C05C49}"/>
              </a:ext>
            </a:extLst>
          </p:cNvPr>
          <p:cNvSpPr>
            <a:spLocks noGrp="1"/>
          </p:cNvSpPr>
          <p:nvPr>
            <p:ph type="sldNum" sz="quarter" idx="7"/>
          </p:nvPr>
        </p:nvSpPr>
        <p:spPr>
          <a:xfrm>
            <a:off x="4674831" y="3028689"/>
            <a:ext cx="548640" cy="173989"/>
          </a:xfrm>
        </p:spPr>
        <p:txBody>
          <a:bodyPr/>
          <a:lstStyle/>
          <a:p>
            <a:pPr marL="39370">
              <a:lnSpc>
                <a:spcPct val="100000"/>
              </a:lnSpc>
              <a:spcBef>
                <a:spcPts val="219"/>
              </a:spcBef>
            </a:pPr>
            <a:fld id="{81D60167-4931-47E6-BA6A-407CBD079E47}" type="slidenum">
              <a:rPr lang="en-GB" smtClean="0"/>
              <a:t>29</a:t>
            </a:fld>
            <a:r>
              <a:rPr lang="en-GB" spc="20" dirty="0"/>
              <a:t> </a:t>
            </a:r>
            <a:r>
              <a:rPr lang="en-GB" spc="120" dirty="0"/>
              <a:t>/</a:t>
            </a:r>
            <a:r>
              <a:rPr lang="en-GB" spc="25" dirty="0"/>
              <a:t> </a:t>
            </a:r>
            <a:r>
              <a:rPr lang="en-GB" spc="-25" dirty="0"/>
              <a:t>39</a:t>
            </a:r>
          </a:p>
        </p:txBody>
      </p:sp>
      <p:sp>
        <p:nvSpPr>
          <p:cNvPr id="6" name="TextBox 5">
            <a:extLst>
              <a:ext uri="{FF2B5EF4-FFF2-40B4-BE49-F238E27FC236}">
                <a16:creationId xmlns:a16="http://schemas.microsoft.com/office/drawing/2014/main" id="{AA43C7BF-C01B-B91C-3EA2-C42157C14B48}"/>
              </a:ext>
            </a:extLst>
          </p:cNvPr>
          <p:cNvSpPr txBox="1"/>
          <p:nvPr/>
        </p:nvSpPr>
        <p:spPr>
          <a:xfrm>
            <a:off x="274320" y="2761488"/>
            <a:ext cx="5212080" cy="230832"/>
          </a:xfrm>
          <a:prstGeom prst="rect">
            <a:avLst/>
          </a:prstGeom>
          <a:noFill/>
        </p:spPr>
        <p:txBody>
          <a:bodyPr wrap="square">
            <a:spAutoFit/>
          </a:bodyPr>
          <a:lstStyle/>
          <a:p>
            <a:r>
              <a:rPr lang="en-GB" sz="800" dirty="0"/>
              <a:t>Source: </a:t>
            </a:r>
            <a:r>
              <a:rPr lang="en-GB" sz="800" dirty="0">
                <a:hlinkClick r:id="rId3"/>
              </a:rPr>
              <a:t>https://improvementacademy.org/resource/yorkshire-contributory-factors-framework/</a:t>
            </a:r>
            <a:r>
              <a:rPr lang="en-GB" sz="800" dirty="0"/>
              <a:t> </a:t>
            </a:r>
          </a:p>
        </p:txBody>
      </p:sp>
      <p:pic>
        <p:nvPicPr>
          <p:cNvPr id="8" name="Picture 7">
            <a:extLst>
              <a:ext uri="{FF2B5EF4-FFF2-40B4-BE49-F238E27FC236}">
                <a16:creationId xmlns:a16="http://schemas.microsoft.com/office/drawing/2014/main" id="{C50194F9-F521-1D49-CA9A-3452D1DC2C3F}"/>
              </a:ext>
            </a:extLst>
          </p:cNvPr>
          <p:cNvPicPr>
            <a:picLocks noChangeAspect="1"/>
          </p:cNvPicPr>
          <p:nvPr/>
        </p:nvPicPr>
        <p:blipFill>
          <a:blip r:embed="rId4"/>
          <a:stretch>
            <a:fillRect/>
          </a:stretch>
        </p:blipFill>
        <p:spPr>
          <a:xfrm>
            <a:off x="2718814" y="484579"/>
            <a:ext cx="2878902" cy="2052246"/>
          </a:xfrm>
          <a:prstGeom prst="rect">
            <a:avLst/>
          </a:prstGeom>
        </p:spPr>
      </p:pic>
    </p:spTree>
    <p:extLst>
      <p:ext uri="{BB962C8B-B14F-4D97-AF65-F5344CB8AC3E}">
        <p14:creationId xmlns:p14="http://schemas.microsoft.com/office/powerpoint/2010/main" val="11963678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49530" rIns="0" bIns="0" rtlCol="0">
            <a:spAutoFit/>
          </a:bodyPr>
          <a:lstStyle/>
          <a:p>
            <a:pPr marL="99060">
              <a:lnSpc>
                <a:spcPct val="100000"/>
              </a:lnSpc>
              <a:spcBef>
                <a:spcPts val="390"/>
              </a:spcBef>
            </a:pPr>
            <a:r>
              <a:rPr dirty="0"/>
              <a:t>LENS.ai:</a:t>
            </a:r>
            <a:r>
              <a:rPr spc="229" dirty="0"/>
              <a:t> </a:t>
            </a:r>
            <a:r>
              <a:rPr dirty="0"/>
              <a:t>Annotation</a:t>
            </a:r>
            <a:r>
              <a:rPr spc="80" dirty="0"/>
              <a:t> </a:t>
            </a:r>
            <a:r>
              <a:rPr dirty="0"/>
              <a:t>in</a:t>
            </a:r>
            <a:r>
              <a:rPr spc="80" dirty="0"/>
              <a:t> </a:t>
            </a:r>
            <a:r>
              <a:rPr spc="-10" dirty="0"/>
              <a:t>Action</a:t>
            </a:r>
          </a:p>
          <a:p>
            <a:pPr marL="99060">
              <a:lnSpc>
                <a:spcPct val="100000"/>
              </a:lnSpc>
              <a:spcBef>
                <a:spcPts val="195"/>
              </a:spcBef>
            </a:pPr>
            <a:r>
              <a:rPr sz="1100" b="0" spc="-40" dirty="0">
                <a:solidFill>
                  <a:srgbClr val="6C757C"/>
                </a:solidFill>
                <a:latin typeface="Tahoma"/>
                <a:cs typeface="Tahoma"/>
              </a:rPr>
              <a:t>Colour-</a:t>
            </a:r>
            <a:r>
              <a:rPr sz="1100" b="0" spc="-45" dirty="0">
                <a:solidFill>
                  <a:srgbClr val="6C757C"/>
                </a:solidFill>
                <a:latin typeface="Tahoma"/>
                <a:cs typeface="Tahoma"/>
              </a:rPr>
              <a:t>coded</a:t>
            </a:r>
            <a:r>
              <a:rPr sz="1100" b="0" spc="-10" dirty="0">
                <a:solidFill>
                  <a:srgbClr val="6C757C"/>
                </a:solidFill>
                <a:latin typeface="Tahoma"/>
                <a:cs typeface="Tahoma"/>
              </a:rPr>
              <a:t> </a:t>
            </a:r>
            <a:r>
              <a:rPr sz="1100" b="0" spc="-60" dirty="0">
                <a:solidFill>
                  <a:srgbClr val="6C757C"/>
                </a:solidFill>
                <a:latin typeface="Tahoma"/>
                <a:cs typeface="Tahoma"/>
              </a:rPr>
              <a:t>themes</a:t>
            </a:r>
            <a:r>
              <a:rPr sz="1100" b="0" spc="-10" dirty="0">
                <a:solidFill>
                  <a:srgbClr val="6C757C"/>
                </a:solidFill>
                <a:latin typeface="Tahoma"/>
                <a:cs typeface="Tahoma"/>
              </a:rPr>
              <a:t> </a:t>
            </a:r>
            <a:r>
              <a:rPr sz="1100" b="0" dirty="0">
                <a:solidFill>
                  <a:srgbClr val="6C757C"/>
                </a:solidFill>
                <a:latin typeface="Tahoma"/>
                <a:cs typeface="Tahoma"/>
              </a:rPr>
              <a:t>with</a:t>
            </a:r>
            <a:r>
              <a:rPr sz="1100" b="0" spc="-10" dirty="0">
                <a:solidFill>
                  <a:srgbClr val="6C757C"/>
                </a:solidFill>
                <a:latin typeface="Tahoma"/>
                <a:cs typeface="Tahoma"/>
              </a:rPr>
              <a:t> </a:t>
            </a:r>
            <a:r>
              <a:rPr sz="1100" b="0" dirty="0">
                <a:solidFill>
                  <a:srgbClr val="6C757C"/>
                </a:solidFill>
                <a:latin typeface="Tahoma"/>
                <a:cs typeface="Tahoma"/>
              </a:rPr>
              <a:t>full</a:t>
            </a:r>
            <a:r>
              <a:rPr sz="1100" b="0" spc="-10" dirty="0">
                <a:solidFill>
                  <a:srgbClr val="6C757C"/>
                </a:solidFill>
                <a:latin typeface="Tahoma"/>
                <a:cs typeface="Tahoma"/>
              </a:rPr>
              <a:t> traceability</a:t>
            </a:r>
            <a:endParaRPr sz="1100">
              <a:latin typeface="Tahoma"/>
              <a:cs typeface="Tahoma"/>
            </a:endParaRPr>
          </a:p>
        </p:txBody>
      </p:sp>
      <p:sp>
        <p:nvSpPr>
          <p:cNvPr id="4" name="object 4"/>
          <p:cNvSpPr txBox="1"/>
          <p:nvPr/>
        </p:nvSpPr>
        <p:spPr>
          <a:xfrm>
            <a:off x="390297" y="2789312"/>
            <a:ext cx="2198370" cy="184089"/>
          </a:xfrm>
          <a:prstGeom prst="rect">
            <a:avLst/>
          </a:prstGeom>
        </p:spPr>
        <p:txBody>
          <a:bodyPr vert="horz" wrap="square" lIns="0" tIns="13335" rIns="0" bIns="0" rtlCol="0">
            <a:spAutoFit/>
          </a:bodyPr>
          <a:lstStyle/>
          <a:p>
            <a:pPr marL="12700" marR="5080" indent="104775">
              <a:lnSpc>
                <a:spcPct val="123300"/>
              </a:lnSpc>
              <a:spcBef>
                <a:spcPts val="105"/>
              </a:spcBef>
              <a:buClr>
                <a:srgbClr val="005F73"/>
              </a:buClr>
              <a:buFont typeface="Times New Roman"/>
              <a:buChar char="•"/>
              <a:tabLst>
                <a:tab pos="117475" algn="l"/>
              </a:tabLst>
            </a:pPr>
            <a:r>
              <a:rPr sz="1000" spc="-10" dirty="0">
                <a:solidFill>
                  <a:srgbClr val="202429"/>
                </a:solidFill>
                <a:latin typeface="Tahoma"/>
                <a:cs typeface="Tahoma"/>
              </a:rPr>
              <a:t>Text</a:t>
            </a:r>
            <a:r>
              <a:rPr sz="1000" spc="-55" dirty="0">
                <a:solidFill>
                  <a:srgbClr val="202429"/>
                </a:solidFill>
                <a:latin typeface="Tahoma"/>
                <a:cs typeface="Tahoma"/>
              </a:rPr>
              <a:t> </a:t>
            </a:r>
            <a:r>
              <a:rPr sz="1000" dirty="0">
                <a:solidFill>
                  <a:srgbClr val="202429"/>
                </a:solidFill>
                <a:latin typeface="Tahoma"/>
                <a:cs typeface="Tahoma"/>
              </a:rPr>
              <a:t>is</a:t>
            </a:r>
            <a:r>
              <a:rPr sz="1000" spc="-50" dirty="0">
                <a:solidFill>
                  <a:srgbClr val="202429"/>
                </a:solidFill>
                <a:latin typeface="Tahoma"/>
                <a:cs typeface="Tahoma"/>
              </a:rPr>
              <a:t> </a:t>
            </a:r>
            <a:r>
              <a:rPr sz="1000" b="1" spc="-35" dirty="0">
                <a:solidFill>
                  <a:srgbClr val="202429"/>
                </a:solidFill>
                <a:latin typeface="Arial"/>
                <a:cs typeface="Arial"/>
              </a:rPr>
              <a:t>highlighted</a:t>
            </a:r>
            <a:r>
              <a:rPr sz="1000" b="1" spc="10" dirty="0">
                <a:solidFill>
                  <a:srgbClr val="202429"/>
                </a:solidFill>
                <a:latin typeface="Arial"/>
                <a:cs typeface="Arial"/>
              </a:rPr>
              <a:t> </a:t>
            </a:r>
            <a:r>
              <a:rPr sz="1000" b="1" spc="-10" dirty="0">
                <a:solidFill>
                  <a:srgbClr val="202429"/>
                </a:solidFill>
                <a:latin typeface="Arial"/>
                <a:cs typeface="Arial"/>
              </a:rPr>
              <a:t>by</a:t>
            </a:r>
            <a:r>
              <a:rPr sz="1000" b="1" spc="10" dirty="0">
                <a:solidFill>
                  <a:srgbClr val="202429"/>
                </a:solidFill>
                <a:latin typeface="Arial"/>
                <a:cs typeface="Arial"/>
              </a:rPr>
              <a:t> </a:t>
            </a:r>
            <a:r>
              <a:rPr lang="en-GB" sz="1000" b="1" spc="-10" dirty="0">
                <a:solidFill>
                  <a:srgbClr val="202429"/>
                </a:solidFill>
                <a:latin typeface="Arial"/>
                <a:cs typeface="Arial"/>
              </a:rPr>
              <a:t>factor</a:t>
            </a:r>
            <a:endParaRPr sz="900" dirty="0">
              <a:latin typeface="Tahoma"/>
              <a:cs typeface="Tahoma"/>
            </a:endParaRPr>
          </a:p>
        </p:txBody>
      </p:sp>
      <p:sp>
        <p:nvSpPr>
          <p:cNvPr id="5" name="object 5"/>
          <p:cNvSpPr/>
          <p:nvPr/>
        </p:nvSpPr>
        <p:spPr>
          <a:xfrm>
            <a:off x="2791078" y="2661293"/>
            <a:ext cx="0" cy="348615"/>
          </a:xfrm>
          <a:custGeom>
            <a:avLst/>
            <a:gdLst/>
            <a:ahLst/>
            <a:cxnLst/>
            <a:rect l="l" t="t" r="r" b="b"/>
            <a:pathLst>
              <a:path h="348614">
                <a:moveTo>
                  <a:pt x="0" y="348157"/>
                </a:moveTo>
                <a:lnTo>
                  <a:pt x="0" y="0"/>
                </a:lnTo>
              </a:path>
            </a:pathLst>
          </a:custGeom>
          <a:ln w="6325">
            <a:solidFill>
              <a:srgbClr val="6C757C"/>
            </a:solidFill>
          </a:ln>
        </p:spPr>
        <p:txBody>
          <a:bodyPr wrap="square" lIns="0" tIns="0" rIns="0" bIns="0" rtlCol="0"/>
          <a:lstStyle/>
          <a:p>
            <a:endParaRPr/>
          </a:p>
        </p:txBody>
      </p:sp>
      <p:sp>
        <p:nvSpPr>
          <p:cNvPr id="6" name="object 6"/>
          <p:cNvSpPr txBox="1"/>
          <p:nvPr/>
        </p:nvSpPr>
        <p:spPr>
          <a:xfrm>
            <a:off x="2959100" y="2661293"/>
            <a:ext cx="2750985" cy="343043"/>
          </a:xfrm>
          <a:prstGeom prst="rect">
            <a:avLst/>
          </a:prstGeom>
        </p:spPr>
        <p:txBody>
          <a:bodyPr vert="horz" wrap="square" lIns="0" tIns="12065" rIns="0" bIns="0" rtlCol="0">
            <a:spAutoFit/>
          </a:bodyPr>
          <a:lstStyle/>
          <a:p>
            <a:pPr marL="12700" marR="5080" indent="104775">
              <a:lnSpc>
                <a:spcPct val="100000"/>
              </a:lnSpc>
              <a:spcBef>
                <a:spcPts val="95"/>
              </a:spcBef>
              <a:buClr>
                <a:srgbClr val="005F73"/>
              </a:buClr>
              <a:buFont typeface="Times New Roman"/>
              <a:buChar char="•"/>
              <a:tabLst>
                <a:tab pos="117475" algn="l"/>
              </a:tabLst>
            </a:pPr>
            <a:r>
              <a:rPr sz="1000" spc="-10" dirty="0">
                <a:solidFill>
                  <a:srgbClr val="202429"/>
                </a:solidFill>
                <a:latin typeface="Tahoma"/>
                <a:cs typeface="Tahoma"/>
              </a:rPr>
              <a:t>Each</a:t>
            </a:r>
            <a:r>
              <a:rPr sz="1000" spc="-40" dirty="0">
                <a:solidFill>
                  <a:srgbClr val="202429"/>
                </a:solidFill>
                <a:latin typeface="Tahoma"/>
                <a:cs typeface="Tahoma"/>
              </a:rPr>
              <a:t> </a:t>
            </a:r>
            <a:r>
              <a:rPr sz="1000" spc="-30" dirty="0">
                <a:solidFill>
                  <a:srgbClr val="202429"/>
                </a:solidFill>
                <a:latin typeface="Tahoma"/>
                <a:cs typeface="Tahoma"/>
              </a:rPr>
              <a:t>annotation</a:t>
            </a:r>
            <a:r>
              <a:rPr sz="1000" spc="-35" dirty="0">
                <a:solidFill>
                  <a:srgbClr val="202429"/>
                </a:solidFill>
                <a:latin typeface="Tahoma"/>
                <a:cs typeface="Tahoma"/>
              </a:rPr>
              <a:t> </a:t>
            </a:r>
            <a:r>
              <a:rPr sz="1000" spc="-10" dirty="0">
                <a:solidFill>
                  <a:srgbClr val="202429"/>
                </a:solidFill>
                <a:latin typeface="Tahoma"/>
                <a:cs typeface="Tahoma"/>
              </a:rPr>
              <a:t>links</a:t>
            </a:r>
            <a:r>
              <a:rPr sz="1000" spc="-35" dirty="0">
                <a:solidFill>
                  <a:srgbClr val="202429"/>
                </a:solidFill>
                <a:latin typeface="Tahoma"/>
                <a:cs typeface="Tahoma"/>
              </a:rPr>
              <a:t> </a:t>
            </a:r>
            <a:r>
              <a:rPr sz="1000" dirty="0">
                <a:solidFill>
                  <a:srgbClr val="202429"/>
                </a:solidFill>
                <a:latin typeface="Tahoma"/>
                <a:cs typeface="Tahoma"/>
              </a:rPr>
              <a:t>to</a:t>
            </a:r>
            <a:r>
              <a:rPr sz="1000" spc="-30" dirty="0">
                <a:solidFill>
                  <a:srgbClr val="202429"/>
                </a:solidFill>
                <a:latin typeface="Tahoma"/>
                <a:cs typeface="Tahoma"/>
              </a:rPr>
              <a:t> </a:t>
            </a:r>
            <a:r>
              <a:rPr sz="1000" spc="-10" dirty="0">
                <a:solidFill>
                  <a:srgbClr val="202429"/>
                </a:solidFill>
                <a:latin typeface="Tahoma"/>
                <a:cs typeface="Tahoma"/>
              </a:rPr>
              <a:t>the</a:t>
            </a:r>
            <a:r>
              <a:rPr sz="1000" spc="-35" dirty="0">
                <a:solidFill>
                  <a:srgbClr val="202429"/>
                </a:solidFill>
                <a:latin typeface="Tahoma"/>
                <a:cs typeface="Tahoma"/>
              </a:rPr>
              <a:t> </a:t>
            </a:r>
            <a:r>
              <a:rPr sz="1000" b="1" spc="-35" dirty="0">
                <a:solidFill>
                  <a:srgbClr val="202429"/>
                </a:solidFill>
                <a:latin typeface="Arial"/>
                <a:cs typeface="Arial"/>
              </a:rPr>
              <a:t>original </a:t>
            </a:r>
            <a:r>
              <a:rPr sz="1000" b="1" spc="-10" dirty="0">
                <a:solidFill>
                  <a:srgbClr val="202429"/>
                </a:solidFill>
                <a:latin typeface="Arial"/>
                <a:cs typeface="Arial"/>
              </a:rPr>
              <a:t>sentence</a:t>
            </a:r>
            <a:endParaRPr sz="1000" dirty="0">
              <a:latin typeface="Arial"/>
              <a:cs typeface="Arial"/>
            </a:endParaRPr>
          </a:p>
          <a:p>
            <a:pPr marL="12700">
              <a:lnSpc>
                <a:spcPct val="100000"/>
              </a:lnSpc>
              <a:spcBef>
                <a:spcPts val="250"/>
              </a:spcBef>
            </a:pPr>
            <a:r>
              <a:rPr sz="900" dirty="0">
                <a:solidFill>
                  <a:srgbClr val="6C757C"/>
                </a:solidFill>
                <a:latin typeface="Tahoma"/>
                <a:cs typeface="Tahoma"/>
              </a:rPr>
              <a:t>Full</a:t>
            </a:r>
            <a:r>
              <a:rPr sz="900" spc="35" dirty="0">
                <a:solidFill>
                  <a:srgbClr val="6C757C"/>
                </a:solidFill>
                <a:latin typeface="Tahoma"/>
                <a:cs typeface="Tahoma"/>
              </a:rPr>
              <a:t> </a:t>
            </a:r>
            <a:r>
              <a:rPr sz="900" spc="-10" dirty="0">
                <a:solidFill>
                  <a:srgbClr val="6C757C"/>
                </a:solidFill>
                <a:latin typeface="Tahoma"/>
                <a:cs typeface="Tahoma"/>
              </a:rPr>
              <a:t>traceability</a:t>
            </a:r>
            <a:r>
              <a:rPr sz="900" spc="35" dirty="0">
                <a:solidFill>
                  <a:srgbClr val="6C757C"/>
                </a:solidFill>
                <a:latin typeface="Tahoma"/>
                <a:cs typeface="Tahoma"/>
              </a:rPr>
              <a:t> </a:t>
            </a:r>
            <a:r>
              <a:rPr sz="900" spc="-10" dirty="0">
                <a:solidFill>
                  <a:srgbClr val="6C757C"/>
                </a:solidFill>
                <a:latin typeface="Tahoma"/>
                <a:cs typeface="Tahoma"/>
              </a:rPr>
              <a:t>maintained</a:t>
            </a:r>
            <a:endParaRPr sz="900" dirty="0">
              <a:latin typeface="Tahoma"/>
              <a:cs typeface="Tahoma"/>
            </a:endParaRPr>
          </a:p>
        </p:txBody>
      </p:sp>
      <p:sp>
        <p:nvSpPr>
          <p:cNvPr id="7" name="object 7"/>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0" name="Slide Number Placeholder 9">
            <a:extLst>
              <a:ext uri="{FF2B5EF4-FFF2-40B4-BE49-F238E27FC236}">
                <a16:creationId xmlns:a16="http://schemas.microsoft.com/office/drawing/2014/main" id="{E4B8B1B9-5FDF-A233-89D4-DFFB2199E6A9}"/>
              </a:ext>
            </a:extLst>
          </p:cNvPr>
          <p:cNvSpPr>
            <a:spLocks noGrp="1"/>
          </p:cNvSpPr>
          <p:nvPr>
            <p:ph type="sldNum" sz="quarter" idx="7"/>
          </p:nvPr>
        </p:nvSpPr>
        <p:spPr>
          <a:xfrm>
            <a:off x="4952745" y="3070861"/>
            <a:ext cx="548640" cy="173989"/>
          </a:xfrm>
        </p:spPr>
        <p:txBody>
          <a:bodyPr/>
          <a:lstStyle/>
          <a:p>
            <a:pPr marL="39370">
              <a:lnSpc>
                <a:spcPct val="100000"/>
              </a:lnSpc>
              <a:spcBef>
                <a:spcPts val="219"/>
              </a:spcBef>
            </a:pPr>
            <a:fld id="{81D60167-4931-47E6-BA6A-407CBD079E47}" type="slidenum">
              <a:rPr lang="en-GB" smtClean="0"/>
              <a:t>30</a:t>
            </a:fld>
            <a:r>
              <a:rPr lang="en-GB" spc="20" dirty="0"/>
              <a:t> </a:t>
            </a:r>
            <a:r>
              <a:rPr lang="en-GB" spc="120" dirty="0"/>
              <a:t>/</a:t>
            </a:r>
            <a:r>
              <a:rPr lang="en-GB" spc="25" dirty="0"/>
              <a:t> </a:t>
            </a:r>
            <a:r>
              <a:rPr lang="en-GB" spc="-25" dirty="0"/>
              <a:t>39</a:t>
            </a:r>
          </a:p>
        </p:txBody>
      </p:sp>
      <p:pic>
        <p:nvPicPr>
          <p:cNvPr id="9" name="Picture 8">
            <a:extLst>
              <a:ext uri="{FF2B5EF4-FFF2-40B4-BE49-F238E27FC236}">
                <a16:creationId xmlns:a16="http://schemas.microsoft.com/office/drawing/2014/main" id="{498D13C3-5657-61C7-6F95-0B3CB7132BDD}"/>
              </a:ext>
            </a:extLst>
          </p:cNvPr>
          <p:cNvPicPr>
            <a:picLocks noChangeAspect="1"/>
          </p:cNvPicPr>
          <p:nvPr/>
        </p:nvPicPr>
        <p:blipFill>
          <a:blip r:embed="rId3"/>
          <a:stretch>
            <a:fillRect/>
          </a:stretch>
        </p:blipFill>
        <p:spPr>
          <a:xfrm>
            <a:off x="228330" y="450610"/>
            <a:ext cx="5425208" cy="2117581"/>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91097" rIns="0" bIns="0" rtlCol="0">
            <a:spAutoFit/>
          </a:bodyPr>
          <a:lstStyle/>
          <a:p>
            <a:pPr marL="99060">
              <a:lnSpc>
                <a:spcPct val="100000"/>
              </a:lnSpc>
              <a:spcBef>
                <a:spcPts val="390"/>
              </a:spcBef>
            </a:pPr>
            <a:r>
              <a:rPr dirty="0"/>
              <a:t>LENS.ai: How Well Does It Work?</a:t>
            </a:r>
          </a:p>
          <a:p>
            <a:pPr marL="99060">
              <a:lnSpc>
                <a:spcPct val="100000"/>
              </a:lnSpc>
              <a:spcBef>
                <a:spcPts val="195"/>
              </a:spcBef>
            </a:pPr>
            <a:r>
              <a:rPr sz="1100" b="0" dirty="0">
                <a:solidFill>
                  <a:srgbClr val="6C757C"/>
                </a:solidFill>
                <a:latin typeface="Tahoma"/>
                <a:cs typeface="Tahoma"/>
              </a:rPr>
              <a:t>Evaluated against expert annotation of 130 PFD reports</a:t>
            </a:r>
            <a:endParaRPr sz="1100">
              <a:latin typeface="Tahoma"/>
              <a:cs typeface="Tahoma"/>
            </a:endParaRPr>
          </a:p>
        </p:txBody>
      </p:sp>
      <p:sp>
        <p:nvSpPr>
          <p:cNvPr id="3" name="object 3"/>
          <p:cNvSpPr/>
          <p:nvPr/>
        </p:nvSpPr>
        <p:spPr>
          <a:xfrm>
            <a:off x="359994" y="645299"/>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sp>
        <p:nvSpPr>
          <p:cNvPr id="7" name="object 7"/>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0" name="Slide Number Placeholder 9">
            <a:extLst>
              <a:ext uri="{FF2B5EF4-FFF2-40B4-BE49-F238E27FC236}">
                <a16:creationId xmlns:a16="http://schemas.microsoft.com/office/drawing/2014/main" id="{1019FFE0-454A-3622-A4B2-667CE95FD803}"/>
              </a:ext>
            </a:extLst>
          </p:cNvPr>
          <p:cNvSpPr>
            <a:spLocks noGrp="1"/>
          </p:cNvSpPr>
          <p:nvPr>
            <p:ph type="sldNum" sz="quarter" idx="7"/>
          </p:nvPr>
        </p:nvSpPr>
        <p:spPr>
          <a:xfrm>
            <a:off x="5217160" y="3070861"/>
            <a:ext cx="548640" cy="173989"/>
          </a:xfrm>
        </p:spPr>
        <p:txBody>
          <a:bodyPr/>
          <a:lstStyle/>
          <a:p>
            <a:pPr marL="39370">
              <a:lnSpc>
                <a:spcPct val="100000"/>
              </a:lnSpc>
              <a:spcBef>
                <a:spcPts val="219"/>
              </a:spcBef>
            </a:pPr>
            <a:fld id="{81D60167-4931-47E6-BA6A-407CBD079E47}" type="slidenum">
              <a:rPr lang="en-GB" smtClean="0"/>
              <a:t>31</a:t>
            </a:fld>
            <a:r>
              <a:rPr lang="en-GB" spc="20" dirty="0"/>
              <a:t> </a:t>
            </a:r>
            <a:r>
              <a:rPr lang="en-GB" spc="120" dirty="0"/>
              <a:t>/</a:t>
            </a:r>
            <a:r>
              <a:rPr lang="en-GB" spc="25" dirty="0"/>
              <a:t> </a:t>
            </a:r>
            <a:r>
              <a:rPr lang="en-GB" spc="-25" dirty="0"/>
              <a:t>39</a:t>
            </a:r>
          </a:p>
        </p:txBody>
      </p:sp>
      <p:sp>
        <p:nvSpPr>
          <p:cNvPr id="11" name="Eval step 1 box"/>
          <p:cNvSpPr/>
          <p:nvPr/>
        </p:nvSpPr>
        <p:spPr>
          <a:xfrm>
            <a:off x="347472" y="749808"/>
            <a:ext cx="1116838" cy="329184"/>
          </a:xfrm>
          <a:prstGeom prst="roundRect">
            <a:avLst>
              <a:gd name="adj" fmla="val 6000"/>
            </a:avLst>
          </a:prstGeom>
          <a:solidFill>
            <a:srgbClr val="F2F6F7"/>
          </a:solidFill>
          <a:ln w="9525">
            <a:solidFill>
              <a:srgbClr val="CED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Eval step 1 text"/>
          <p:cNvSpPr txBox="1"/>
          <p:nvPr/>
        </p:nvSpPr>
        <p:spPr>
          <a:xfrm>
            <a:off x="402336" y="749808"/>
            <a:ext cx="1007109" cy="329184"/>
          </a:xfrm>
          <a:prstGeom prst="rect">
            <a:avLst/>
          </a:prstGeom>
          <a:noFill/>
        </p:spPr>
        <p:txBody>
          <a:bodyPr wrap="square" lIns="0" tIns="0" rIns="0" bIns="0" anchor="ctr">
            <a:spAutoFit/>
          </a:bodyPr>
          <a:lstStyle/>
          <a:p>
            <a:pPr algn="ctr"/>
            <a:r>
              <a:rPr sz="850" b="1">
                <a:solidFill>
                  <a:srgbClr val="005F73"/>
                </a:solidFill>
                <a:latin typeface="Arial"/>
              </a:rPr>
              <a:t>1  Annotate</a:t>
            </a:r>
          </a:p>
        </p:txBody>
      </p:sp>
      <p:cxnSp>
        <p:nvCxnSpPr>
          <p:cNvPr id="13" name="Eval arrow 1"/>
          <p:cNvCxnSpPr/>
          <p:nvPr/>
        </p:nvCxnSpPr>
        <p:spPr>
          <a:xfrm>
            <a:off x="1482598" y="914400"/>
            <a:ext cx="164591" cy="0"/>
          </a:xfrm>
          <a:prstGeom prst="line">
            <a:avLst/>
          </a:prstGeom>
          <a:ln w="19050">
            <a:solidFill>
              <a:srgbClr val="005F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Eval step 2 box"/>
          <p:cNvSpPr/>
          <p:nvPr/>
        </p:nvSpPr>
        <p:spPr>
          <a:xfrm>
            <a:off x="1665478" y="749808"/>
            <a:ext cx="1116838" cy="329184"/>
          </a:xfrm>
          <a:prstGeom prst="roundRect">
            <a:avLst>
              <a:gd name="adj" fmla="val 6000"/>
            </a:avLst>
          </a:prstGeom>
          <a:solidFill>
            <a:srgbClr val="F2F6F7"/>
          </a:solidFill>
          <a:ln w="9525">
            <a:solidFill>
              <a:srgbClr val="CED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Eval step 2 text"/>
          <p:cNvSpPr txBox="1"/>
          <p:nvPr/>
        </p:nvSpPr>
        <p:spPr>
          <a:xfrm>
            <a:off x="1720342" y="749808"/>
            <a:ext cx="1007109" cy="329184"/>
          </a:xfrm>
          <a:prstGeom prst="rect">
            <a:avLst/>
          </a:prstGeom>
          <a:noFill/>
        </p:spPr>
        <p:txBody>
          <a:bodyPr wrap="square" lIns="0" tIns="0" rIns="0" bIns="0" anchor="ctr">
            <a:spAutoFit/>
          </a:bodyPr>
          <a:lstStyle/>
          <a:p>
            <a:pPr algn="ctr"/>
            <a:r>
              <a:rPr sz="850" b="1">
                <a:solidFill>
                  <a:srgbClr val="005F73"/>
                </a:solidFill>
                <a:latin typeface="Arial"/>
              </a:rPr>
              <a:t>2  Compare with experts</a:t>
            </a:r>
          </a:p>
        </p:txBody>
      </p:sp>
      <p:cxnSp>
        <p:nvCxnSpPr>
          <p:cNvPr id="16" name="Eval arrow 2"/>
          <p:cNvCxnSpPr/>
          <p:nvPr/>
        </p:nvCxnSpPr>
        <p:spPr>
          <a:xfrm>
            <a:off x="2800604" y="914400"/>
            <a:ext cx="164592" cy="0"/>
          </a:xfrm>
          <a:prstGeom prst="line">
            <a:avLst/>
          </a:prstGeom>
          <a:ln w="19050">
            <a:solidFill>
              <a:srgbClr val="005F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Eval step 3 box"/>
          <p:cNvSpPr/>
          <p:nvPr/>
        </p:nvSpPr>
        <p:spPr>
          <a:xfrm>
            <a:off x="2983484" y="749808"/>
            <a:ext cx="1116838" cy="329184"/>
          </a:xfrm>
          <a:prstGeom prst="roundRect">
            <a:avLst>
              <a:gd name="adj" fmla="val 6000"/>
            </a:avLst>
          </a:prstGeom>
          <a:solidFill>
            <a:srgbClr val="F2F6F7"/>
          </a:solidFill>
          <a:ln w="9525">
            <a:solidFill>
              <a:srgbClr val="CED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Eval step 3 text"/>
          <p:cNvSpPr txBox="1"/>
          <p:nvPr/>
        </p:nvSpPr>
        <p:spPr>
          <a:xfrm>
            <a:off x="3038348" y="749808"/>
            <a:ext cx="1007109" cy="329184"/>
          </a:xfrm>
          <a:prstGeom prst="rect">
            <a:avLst/>
          </a:prstGeom>
          <a:noFill/>
        </p:spPr>
        <p:txBody>
          <a:bodyPr wrap="square" lIns="0" tIns="0" rIns="0" bIns="0" anchor="ctr">
            <a:spAutoFit/>
          </a:bodyPr>
          <a:lstStyle/>
          <a:p>
            <a:pPr algn="ctr"/>
            <a:r>
              <a:rPr sz="850" b="1">
                <a:solidFill>
                  <a:srgbClr val="005F73"/>
                </a:solidFill>
                <a:latin typeface="Arial"/>
              </a:rPr>
              <a:t>3  Adjudicate</a:t>
            </a:r>
          </a:p>
        </p:txBody>
      </p:sp>
      <p:cxnSp>
        <p:nvCxnSpPr>
          <p:cNvPr id="19" name="Eval arrow 3"/>
          <p:cNvCxnSpPr/>
          <p:nvPr/>
        </p:nvCxnSpPr>
        <p:spPr>
          <a:xfrm>
            <a:off x="4118610" y="914400"/>
            <a:ext cx="164592" cy="0"/>
          </a:xfrm>
          <a:prstGeom prst="line">
            <a:avLst/>
          </a:prstGeom>
          <a:ln w="19050">
            <a:solidFill>
              <a:srgbClr val="005F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Eval step 4 box"/>
          <p:cNvSpPr/>
          <p:nvPr/>
        </p:nvSpPr>
        <p:spPr>
          <a:xfrm>
            <a:off x="4301490" y="749808"/>
            <a:ext cx="1116838" cy="329184"/>
          </a:xfrm>
          <a:prstGeom prst="roundRect">
            <a:avLst>
              <a:gd name="adj" fmla="val 6000"/>
            </a:avLst>
          </a:prstGeom>
          <a:solidFill>
            <a:srgbClr val="F2F6F7"/>
          </a:solidFill>
          <a:ln w="9525">
            <a:solidFill>
              <a:srgbClr val="CED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Eval step 4 text"/>
          <p:cNvSpPr txBox="1"/>
          <p:nvPr/>
        </p:nvSpPr>
        <p:spPr>
          <a:xfrm>
            <a:off x="4356354" y="749808"/>
            <a:ext cx="1007109" cy="329184"/>
          </a:xfrm>
          <a:prstGeom prst="rect">
            <a:avLst/>
          </a:prstGeom>
          <a:noFill/>
        </p:spPr>
        <p:txBody>
          <a:bodyPr wrap="square" lIns="0" tIns="0" rIns="0" bIns="0" anchor="ctr">
            <a:spAutoFit/>
          </a:bodyPr>
          <a:lstStyle/>
          <a:p>
            <a:pPr algn="ctr"/>
            <a:r>
              <a:rPr sz="850" b="1">
                <a:solidFill>
                  <a:srgbClr val="005F73"/>
                </a:solidFill>
                <a:latin typeface="Arial"/>
              </a:rPr>
              <a:t>4  Result</a:t>
            </a:r>
          </a:p>
        </p:txBody>
      </p:sp>
      <p:sp>
        <p:nvSpPr>
          <p:cNvPr id="22" name="Eval stat 1 box"/>
          <p:cNvSpPr/>
          <p:nvPr/>
        </p:nvSpPr>
        <p:spPr>
          <a:xfrm>
            <a:off x="347472" y="1298448"/>
            <a:ext cx="1116838" cy="868680"/>
          </a:xfrm>
          <a:prstGeom prst="roundRect">
            <a:avLst>
              <a:gd name="adj" fmla="val 6000"/>
            </a:avLst>
          </a:prstGeom>
          <a:solidFill>
            <a:srgbClr val="E6F0F2"/>
          </a:solidFill>
          <a:ln w="9525">
            <a:solidFill>
              <a:srgbClr val="005F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Eval stat 1 number"/>
          <p:cNvSpPr txBox="1"/>
          <p:nvPr/>
        </p:nvSpPr>
        <p:spPr>
          <a:xfrm>
            <a:off x="393192" y="1353312"/>
            <a:ext cx="1025397" cy="411480"/>
          </a:xfrm>
          <a:prstGeom prst="rect">
            <a:avLst/>
          </a:prstGeom>
          <a:noFill/>
        </p:spPr>
        <p:txBody>
          <a:bodyPr wrap="square" lIns="0" tIns="0" rIns="0" bIns="0" anchor="t">
            <a:spAutoFit/>
          </a:bodyPr>
          <a:lstStyle/>
          <a:p>
            <a:pPr algn="ctr"/>
            <a:r>
              <a:rPr sz="2200" b="1">
                <a:solidFill>
                  <a:srgbClr val="005F73"/>
                </a:solidFill>
                <a:latin typeface="Arial"/>
              </a:rPr>
              <a:t>88%</a:t>
            </a:r>
          </a:p>
        </p:txBody>
      </p:sp>
      <p:sp>
        <p:nvSpPr>
          <p:cNvPr id="24" name="Eval stat 1 label"/>
          <p:cNvSpPr txBox="1"/>
          <p:nvPr/>
        </p:nvSpPr>
        <p:spPr>
          <a:xfrm>
            <a:off x="420624" y="1783080"/>
            <a:ext cx="970534" cy="347472"/>
          </a:xfrm>
          <a:prstGeom prst="rect">
            <a:avLst/>
          </a:prstGeom>
          <a:noFill/>
        </p:spPr>
        <p:txBody>
          <a:bodyPr wrap="square" lIns="0" tIns="0" rIns="0" bIns="0" anchor="t">
            <a:spAutoFit/>
          </a:bodyPr>
          <a:lstStyle/>
          <a:p>
            <a:pPr algn="ctr"/>
            <a:r>
              <a:rPr sz="800" b="0">
                <a:solidFill>
                  <a:srgbClr val="202429"/>
                </a:solidFill>
                <a:latin typeface="Tahoma"/>
              </a:rPr>
              <a:t>agreement with the experts</a:t>
            </a:r>
          </a:p>
        </p:txBody>
      </p:sp>
      <p:sp>
        <p:nvSpPr>
          <p:cNvPr id="25" name="Eval stat 2 box"/>
          <p:cNvSpPr/>
          <p:nvPr/>
        </p:nvSpPr>
        <p:spPr>
          <a:xfrm>
            <a:off x="1665478" y="1298448"/>
            <a:ext cx="1116838" cy="868680"/>
          </a:xfrm>
          <a:prstGeom prst="roundRect">
            <a:avLst>
              <a:gd name="adj" fmla="val 6000"/>
            </a:avLst>
          </a:prstGeom>
          <a:solidFill>
            <a:srgbClr val="E6F0F2"/>
          </a:solidFill>
          <a:ln w="9525">
            <a:solidFill>
              <a:srgbClr val="005F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Eval stat 2 number"/>
          <p:cNvSpPr txBox="1"/>
          <p:nvPr/>
        </p:nvSpPr>
        <p:spPr>
          <a:xfrm>
            <a:off x="1711198" y="1353312"/>
            <a:ext cx="1025397" cy="411480"/>
          </a:xfrm>
          <a:prstGeom prst="rect">
            <a:avLst/>
          </a:prstGeom>
          <a:noFill/>
        </p:spPr>
        <p:txBody>
          <a:bodyPr wrap="square" lIns="0" tIns="0" rIns="0" bIns="0" anchor="t">
            <a:spAutoFit/>
          </a:bodyPr>
          <a:lstStyle/>
          <a:p>
            <a:pPr algn="ctr"/>
            <a:r>
              <a:rPr sz="2200" b="1">
                <a:solidFill>
                  <a:srgbClr val="005F73"/>
                </a:solidFill>
                <a:latin typeface="Arial"/>
              </a:rPr>
              <a:t>0.68</a:t>
            </a:r>
          </a:p>
        </p:txBody>
      </p:sp>
      <p:sp>
        <p:nvSpPr>
          <p:cNvPr id="27" name="Eval stat 2 label"/>
          <p:cNvSpPr txBox="1"/>
          <p:nvPr/>
        </p:nvSpPr>
        <p:spPr>
          <a:xfrm>
            <a:off x="1738630" y="1783080"/>
            <a:ext cx="970534" cy="347472"/>
          </a:xfrm>
          <a:prstGeom prst="rect">
            <a:avLst/>
          </a:prstGeom>
          <a:noFill/>
        </p:spPr>
        <p:txBody>
          <a:bodyPr wrap="square" lIns="0" tIns="0" rIns="0" bIns="0" anchor="t">
            <a:spAutoFit/>
          </a:bodyPr>
          <a:lstStyle/>
          <a:p>
            <a:pPr algn="ctr"/>
            <a:r>
              <a:rPr sz="800" b="0">
                <a:solidFill>
                  <a:srgbClr val="202429"/>
                </a:solidFill>
                <a:latin typeface="Tahoma"/>
              </a:rPr>
              <a:t>Cohen’s kappa, substantial</a:t>
            </a:r>
          </a:p>
        </p:txBody>
      </p:sp>
      <p:sp>
        <p:nvSpPr>
          <p:cNvPr id="28" name="Eval stat 3 box"/>
          <p:cNvSpPr/>
          <p:nvPr/>
        </p:nvSpPr>
        <p:spPr>
          <a:xfrm>
            <a:off x="2983484" y="1298448"/>
            <a:ext cx="1116838" cy="868680"/>
          </a:xfrm>
          <a:prstGeom prst="roundRect">
            <a:avLst>
              <a:gd name="adj" fmla="val 6000"/>
            </a:avLst>
          </a:prstGeom>
          <a:solidFill>
            <a:srgbClr val="E6F0F2"/>
          </a:solidFill>
          <a:ln w="9525">
            <a:solidFill>
              <a:srgbClr val="005F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Eval stat 3 number"/>
          <p:cNvSpPr txBox="1"/>
          <p:nvPr/>
        </p:nvSpPr>
        <p:spPr>
          <a:xfrm>
            <a:off x="3029203" y="1353312"/>
            <a:ext cx="1025397" cy="411480"/>
          </a:xfrm>
          <a:prstGeom prst="rect">
            <a:avLst/>
          </a:prstGeom>
          <a:noFill/>
        </p:spPr>
        <p:txBody>
          <a:bodyPr wrap="square" lIns="0" tIns="0" rIns="0" bIns="0" anchor="t">
            <a:spAutoFit/>
          </a:bodyPr>
          <a:lstStyle/>
          <a:p>
            <a:pPr algn="ctr"/>
            <a:r>
              <a:rPr sz="2200" b="1">
                <a:solidFill>
                  <a:srgbClr val="005F73"/>
                </a:solidFill>
                <a:latin typeface="Arial"/>
              </a:rPr>
              <a:t>81%</a:t>
            </a:r>
          </a:p>
        </p:txBody>
      </p:sp>
      <p:sp>
        <p:nvSpPr>
          <p:cNvPr id="30" name="Eval stat 3 label"/>
          <p:cNvSpPr txBox="1"/>
          <p:nvPr/>
        </p:nvSpPr>
        <p:spPr>
          <a:xfrm>
            <a:off x="3056636" y="1783080"/>
            <a:ext cx="970534" cy="347472"/>
          </a:xfrm>
          <a:prstGeom prst="rect">
            <a:avLst/>
          </a:prstGeom>
          <a:noFill/>
        </p:spPr>
        <p:txBody>
          <a:bodyPr wrap="square" lIns="0" tIns="0" rIns="0" bIns="0" anchor="t">
            <a:spAutoFit/>
          </a:bodyPr>
          <a:lstStyle/>
          <a:p>
            <a:pPr algn="ctr"/>
            <a:r>
              <a:rPr sz="800" b="0">
                <a:solidFill>
                  <a:srgbClr val="202429"/>
                </a:solidFill>
                <a:latin typeface="Tahoma"/>
              </a:rPr>
              <a:t>of expert factors found (recall)</a:t>
            </a:r>
          </a:p>
        </p:txBody>
      </p:sp>
      <p:sp>
        <p:nvSpPr>
          <p:cNvPr id="31" name="Eval stat 4 box"/>
          <p:cNvSpPr/>
          <p:nvPr/>
        </p:nvSpPr>
        <p:spPr>
          <a:xfrm>
            <a:off x="4301490" y="1298448"/>
            <a:ext cx="1116838" cy="868680"/>
          </a:xfrm>
          <a:prstGeom prst="roundRect">
            <a:avLst>
              <a:gd name="adj" fmla="val 6000"/>
            </a:avLst>
          </a:prstGeom>
          <a:solidFill>
            <a:srgbClr val="E6F0F2"/>
          </a:solidFill>
          <a:ln w="9525">
            <a:solidFill>
              <a:srgbClr val="005F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Eval stat 4 number"/>
          <p:cNvSpPr txBox="1"/>
          <p:nvPr/>
        </p:nvSpPr>
        <p:spPr>
          <a:xfrm>
            <a:off x="4347210" y="1353312"/>
            <a:ext cx="1025397" cy="411480"/>
          </a:xfrm>
          <a:prstGeom prst="rect">
            <a:avLst/>
          </a:prstGeom>
          <a:noFill/>
        </p:spPr>
        <p:txBody>
          <a:bodyPr wrap="square" lIns="0" tIns="0" rIns="0" bIns="0" anchor="t">
            <a:spAutoFit/>
          </a:bodyPr>
          <a:lstStyle/>
          <a:p>
            <a:pPr algn="ctr"/>
            <a:r>
              <a:rPr sz="2200" b="1">
                <a:solidFill>
                  <a:srgbClr val="005F73"/>
                </a:solidFill>
                <a:latin typeface="Arial"/>
              </a:rPr>
              <a:t>70%</a:t>
            </a:r>
          </a:p>
        </p:txBody>
      </p:sp>
      <p:sp>
        <p:nvSpPr>
          <p:cNvPr id="33" name="Eval stat 4 label"/>
          <p:cNvSpPr txBox="1"/>
          <p:nvPr/>
        </p:nvSpPr>
        <p:spPr>
          <a:xfrm>
            <a:off x="4374642" y="1783080"/>
            <a:ext cx="970534" cy="347472"/>
          </a:xfrm>
          <a:prstGeom prst="rect">
            <a:avLst/>
          </a:prstGeom>
          <a:noFill/>
        </p:spPr>
        <p:txBody>
          <a:bodyPr wrap="square" lIns="0" tIns="0" rIns="0" bIns="0" anchor="t">
            <a:spAutoFit/>
          </a:bodyPr>
          <a:lstStyle/>
          <a:p>
            <a:pPr algn="ctr"/>
            <a:r>
              <a:rPr sz="800" b="0">
                <a:solidFill>
                  <a:srgbClr val="202429"/>
                </a:solidFill>
                <a:latin typeface="Tahoma"/>
              </a:rPr>
              <a:t>of AI factors correct (precision)</a:t>
            </a:r>
          </a:p>
        </p:txBody>
      </p:sp>
      <p:sp>
        <p:nvSpPr>
          <p:cNvPr id="34" name="Model choice box"/>
          <p:cNvSpPr/>
          <p:nvPr/>
        </p:nvSpPr>
        <p:spPr>
          <a:xfrm>
            <a:off x="347472" y="2377440"/>
            <a:ext cx="5070856" cy="457200"/>
          </a:xfrm>
          <a:prstGeom prst="roundRect">
            <a:avLst>
              <a:gd name="adj" fmla="val 6000"/>
            </a:avLst>
          </a:prstGeom>
          <a:solidFill>
            <a:srgbClr val="FDF1E7"/>
          </a:solidFill>
          <a:ln w="9525">
            <a:solidFill>
              <a:srgbClr val="E8B4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Model choice text"/>
          <p:cNvSpPr txBox="1"/>
          <p:nvPr/>
        </p:nvSpPr>
        <p:spPr>
          <a:xfrm>
            <a:off x="457200" y="2377440"/>
            <a:ext cx="4851400" cy="457200"/>
          </a:xfrm>
          <a:prstGeom prst="rect">
            <a:avLst/>
          </a:prstGeom>
          <a:noFill/>
        </p:spPr>
        <p:txBody>
          <a:bodyPr wrap="square" lIns="0" tIns="0" rIns="0" bIns="0" anchor="ctr">
            <a:spAutoFit/>
          </a:bodyPr>
          <a:lstStyle/>
          <a:p>
            <a:pPr algn="ctr"/>
            <a:r>
              <a:rPr sz="900" b="1">
                <a:solidFill>
                  <a:srgbClr val="202429"/>
                </a:solidFill>
                <a:latin typeface="Arial"/>
              </a:rPr>
              <a:t>Model choice. </a:t>
            </a:r>
            <a:r>
              <a:rPr sz="900" b="0">
                <a:solidFill>
                  <a:srgbClr val="202429"/>
                </a:solidFill>
                <a:latin typeface="Tahoma"/>
              </a:rPr>
              <a:t>Claude found 80% of the experts’ factors and ChatGPT 54%, so Claude was selected.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49530" rIns="0" bIns="0" rtlCol="0">
            <a:spAutoFit/>
          </a:bodyPr>
          <a:lstStyle/>
          <a:p>
            <a:pPr marL="99060">
              <a:lnSpc>
                <a:spcPct val="100000"/>
              </a:lnSpc>
              <a:spcBef>
                <a:spcPts val="390"/>
              </a:spcBef>
            </a:pPr>
            <a:r>
              <a:rPr dirty="0"/>
              <a:t>LENS.ai: Causes of Death</a:t>
            </a:r>
          </a:p>
          <a:p>
            <a:pPr marL="99060">
              <a:lnSpc>
                <a:spcPct val="100000"/>
              </a:lnSpc>
              <a:spcBef>
                <a:spcPts val="195"/>
              </a:spcBef>
            </a:pPr>
            <a:r>
              <a:rPr sz="1100" b="0" dirty="0">
                <a:solidFill>
                  <a:srgbClr val="6C757C"/>
                </a:solidFill>
                <a:latin typeface="Tahoma"/>
                <a:cs typeface="Tahoma"/>
              </a:rPr>
              <a:t>Coded to ICD-10, with grouping, filters and downloads</a:t>
            </a:r>
            <a:endParaRPr sz="1100">
              <a:latin typeface="Tahoma"/>
              <a:cs typeface="Tahoma"/>
            </a:endParaRPr>
          </a:p>
        </p:txBody>
      </p:sp>
      <p:sp>
        <p:nvSpPr>
          <p:cNvPr id="7" name="object 7"/>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0" name="Slide Number Placeholder 9">
            <a:extLst>
              <a:ext uri="{FF2B5EF4-FFF2-40B4-BE49-F238E27FC236}">
                <a16:creationId xmlns:a16="http://schemas.microsoft.com/office/drawing/2014/main" id="{E4B8B1B9-5FDF-A233-89D4-DFFB2199E6A9}"/>
              </a:ext>
            </a:extLst>
          </p:cNvPr>
          <p:cNvSpPr>
            <a:spLocks noGrp="1"/>
          </p:cNvSpPr>
          <p:nvPr>
            <p:ph type="sldNum" sz="quarter" idx="7"/>
          </p:nvPr>
        </p:nvSpPr>
        <p:spPr>
          <a:xfrm>
            <a:off x="4952745" y="3070861"/>
            <a:ext cx="548640" cy="173989"/>
          </a:xfrm>
        </p:spPr>
        <p:txBody>
          <a:bodyPr/>
          <a:lstStyle/>
          <a:p>
            <a:pPr marL="39370">
              <a:lnSpc>
                <a:spcPct val="100000"/>
              </a:lnSpc>
              <a:spcBef>
                <a:spcPts val="219"/>
              </a:spcBef>
            </a:pPr>
            <a:fld id="{81D60167-4931-47E6-BA6A-407CBD079E47}" type="slidenum">
              <a:rPr lang="en-GB" smtClean="0"/>
              <a:t>32</a:t>
            </a:fld>
            <a:r>
              <a:rPr lang="en-GB" spc="20" dirty="0"/>
              <a:t> </a:t>
            </a:r>
            <a:r>
              <a:rPr lang="en-GB" spc="120" dirty="0"/>
              <a:t>/</a:t>
            </a:r>
            <a:r>
              <a:rPr lang="en-GB" spc="25" dirty="0"/>
              <a:t> </a:t>
            </a:r>
            <a:r>
              <a:rPr lang="en-GB" spc="-25" dirty="0"/>
              <a:t>39</a:t>
            </a:r>
          </a:p>
        </p:txBody>
      </p:sp>
      <p:pic>
        <p:nvPicPr>
          <p:cNvPr id="11" name="Dashboard screenshot" descr="LENS.ai dashboard: PFD reports by cause of death, grouped by WHO ICD-10 category, with grouping, filter and download controls"/>
          <p:cNvPicPr>
            <a:picLocks noChangeAspect="1"/>
          </p:cNvPicPr>
          <p:nvPr/>
        </p:nvPicPr>
        <p:blipFill>
          <a:blip r:embed="rId3"/>
          <a:stretch>
            <a:fillRect/>
          </a:stretch>
        </p:blipFill>
        <p:spPr>
          <a:xfrm>
            <a:off x="274319" y="658368"/>
            <a:ext cx="5217160" cy="2074574"/>
          </a:xfrm>
          <a:prstGeom prst="rect">
            <a:avLst/>
          </a:prstGeom>
          <a:ln w="6350">
            <a:solidFill>
              <a:srgbClr val="CED3DA"/>
            </a:solid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49530" rIns="0" bIns="0" rtlCol="0">
            <a:spAutoFit/>
          </a:bodyPr>
          <a:lstStyle/>
          <a:p>
            <a:pPr marL="99060">
              <a:lnSpc>
                <a:spcPct val="100000"/>
              </a:lnSpc>
              <a:spcBef>
                <a:spcPts val="390"/>
              </a:spcBef>
            </a:pPr>
            <a:r>
              <a:rPr dirty="0"/>
              <a:t>LENS.ai: Contributory Factors</a:t>
            </a:r>
          </a:p>
          <a:p>
            <a:pPr marL="99060">
              <a:lnSpc>
                <a:spcPct val="100000"/>
              </a:lnSpc>
              <a:spcBef>
                <a:spcPts val="195"/>
              </a:spcBef>
            </a:pPr>
            <a:r>
              <a:rPr sz="1100" b="0" dirty="0">
                <a:solidFill>
                  <a:srgbClr val="6C757C"/>
                </a:solidFill>
                <a:latin typeface="Tahoma"/>
                <a:cs typeface="Tahoma"/>
              </a:rPr>
              <a:t>Factors ranked by how many reports they appear in</a:t>
            </a:r>
            <a:endParaRPr sz="1100">
              <a:latin typeface="Tahoma"/>
              <a:cs typeface="Tahoma"/>
            </a:endParaRPr>
          </a:p>
        </p:txBody>
      </p:sp>
      <p:sp>
        <p:nvSpPr>
          <p:cNvPr id="7" name="object 7"/>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0" name="Slide Number Placeholder 9">
            <a:extLst>
              <a:ext uri="{FF2B5EF4-FFF2-40B4-BE49-F238E27FC236}">
                <a16:creationId xmlns:a16="http://schemas.microsoft.com/office/drawing/2014/main" id="{E4B8B1B9-5FDF-A233-89D4-DFFB2199E6A9}"/>
              </a:ext>
            </a:extLst>
          </p:cNvPr>
          <p:cNvSpPr>
            <a:spLocks noGrp="1"/>
          </p:cNvSpPr>
          <p:nvPr>
            <p:ph type="sldNum" sz="quarter" idx="7"/>
          </p:nvPr>
        </p:nvSpPr>
        <p:spPr>
          <a:xfrm>
            <a:off x="4952745" y="3070861"/>
            <a:ext cx="548640" cy="173989"/>
          </a:xfrm>
        </p:spPr>
        <p:txBody>
          <a:bodyPr/>
          <a:lstStyle/>
          <a:p>
            <a:pPr marL="39370">
              <a:lnSpc>
                <a:spcPct val="100000"/>
              </a:lnSpc>
              <a:spcBef>
                <a:spcPts val="219"/>
              </a:spcBef>
            </a:pPr>
            <a:fld id="{81D60167-4931-47E6-BA6A-407CBD079E47}" type="slidenum">
              <a:rPr lang="en-GB" smtClean="0"/>
              <a:t>33</a:t>
            </a:fld>
            <a:r>
              <a:rPr lang="en-GB" spc="20" dirty="0"/>
              <a:t> </a:t>
            </a:r>
            <a:r>
              <a:rPr lang="en-GB" spc="120" dirty="0"/>
              <a:t>/</a:t>
            </a:r>
            <a:r>
              <a:rPr lang="en-GB" spc="25" dirty="0"/>
              <a:t> </a:t>
            </a:r>
            <a:r>
              <a:rPr lang="en-GB" spc="-25" dirty="0"/>
              <a:t>39</a:t>
            </a:r>
          </a:p>
        </p:txBody>
      </p:sp>
      <p:pic>
        <p:nvPicPr>
          <p:cNvPr id="11" name="Factor ranking screenshot" descr="LENS.ai factor distribution: Yorkshire Contributory Factors ranked by number of reports, led by local policies and procedures (53.7%), care planning (49.4%) and verbal and written communication (44.0%)"/>
          <p:cNvPicPr>
            <a:picLocks noChangeAspect="1"/>
          </p:cNvPicPr>
          <p:nvPr/>
        </p:nvPicPr>
        <p:blipFill>
          <a:blip r:embed="rId3"/>
          <a:stretch>
            <a:fillRect/>
          </a:stretch>
        </p:blipFill>
        <p:spPr>
          <a:xfrm>
            <a:off x="274319" y="658368"/>
            <a:ext cx="5217160" cy="2109330"/>
          </a:xfrm>
          <a:prstGeom prst="rect">
            <a:avLst/>
          </a:prstGeom>
          <a:ln w="6350">
            <a:solidFill>
              <a:srgbClr val="CED3DA"/>
            </a:solid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49530" rIns="0" bIns="0" rtlCol="0">
            <a:spAutoFit/>
          </a:bodyPr>
          <a:lstStyle/>
          <a:p>
            <a:pPr marL="99060">
              <a:lnSpc>
                <a:spcPct val="100000"/>
              </a:lnSpc>
              <a:spcBef>
                <a:spcPts val="390"/>
              </a:spcBef>
            </a:pPr>
            <a:r>
              <a:rPr dirty="0"/>
              <a:t>LENS.ai: Factors Over Time</a:t>
            </a:r>
          </a:p>
          <a:p>
            <a:pPr marL="99060">
              <a:lnSpc>
                <a:spcPct val="100000"/>
              </a:lnSpc>
              <a:spcBef>
                <a:spcPts val="195"/>
              </a:spcBef>
            </a:pPr>
            <a:r>
              <a:rPr sz="1100" b="0" dirty="0">
                <a:solidFill>
                  <a:srgbClr val="6C757C"/>
                </a:solidFill>
                <a:latin typeface="Tahoma"/>
                <a:cs typeface="Tahoma"/>
              </a:rPr>
              <a:t>Each factor tracked year by year</a:t>
            </a:r>
            <a:endParaRPr sz="1100">
              <a:latin typeface="Tahoma"/>
              <a:cs typeface="Tahoma"/>
            </a:endParaRPr>
          </a:p>
        </p:txBody>
      </p:sp>
      <p:sp>
        <p:nvSpPr>
          <p:cNvPr id="7" name="object 7"/>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0" name="Slide Number Placeholder 9">
            <a:extLst>
              <a:ext uri="{FF2B5EF4-FFF2-40B4-BE49-F238E27FC236}">
                <a16:creationId xmlns:a16="http://schemas.microsoft.com/office/drawing/2014/main" id="{E4B8B1B9-5FDF-A233-89D4-DFFB2199E6A9}"/>
              </a:ext>
            </a:extLst>
          </p:cNvPr>
          <p:cNvSpPr>
            <a:spLocks noGrp="1"/>
          </p:cNvSpPr>
          <p:nvPr>
            <p:ph type="sldNum" sz="quarter" idx="7"/>
          </p:nvPr>
        </p:nvSpPr>
        <p:spPr>
          <a:xfrm>
            <a:off x="4952745" y="3070861"/>
            <a:ext cx="548640" cy="173989"/>
          </a:xfrm>
        </p:spPr>
        <p:txBody>
          <a:bodyPr/>
          <a:lstStyle/>
          <a:p>
            <a:pPr marL="39370">
              <a:lnSpc>
                <a:spcPct val="100000"/>
              </a:lnSpc>
              <a:spcBef>
                <a:spcPts val="219"/>
              </a:spcBef>
            </a:pPr>
            <a:fld id="{81D60167-4931-47E6-BA6A-407CBD079E47}" type="slidenum">
              <a:rPr lang="en-GB" smtClean="0"/>
              <a:t>34</a:t>
            </a:fld>
            <a:r>
              <a:rPr lang="en-GB" spc="20" dirty="0"/>
              <a:t> </a:t>
            </a:r>
            <a:r>
              <a:rPr lang="en-GB" spc="120" dirty="0"/>
              <a:t>/</a:t>
            </a:r>
            <a:r>
              <a:rPr lang="en-GB" spc="25" dirty="0"/>
              <a:t> </a:t>
            </a:r>
            <a:r>
              <a:rPr lang="en-GB" spc="-25" dirty="0"/>
              <a:t>39</a:t>
            </a:r>
          </a:p>
        </p:txBody>
      </p:sp>
      <p:pic>
        <p:nvPicPr>
          <p:cNvPr id="11" name="Factor heatmap screenshot" descr="LENS.ai factor analysis: heatmap of Yorkshire Contributory Factors by year, 2021 to 2026, with the percentage and number of reports citing each factor"/>
          <p:cNvPicPr>
            <a:picLocks noChangeAspect="1"/>
          </p:cNvPicPr>
          <p:nvPr/>
        </p:nvPicPr>
        <p:blipFill>
          <a:blip r:embed="rId3"/>
          <a:stretch>
            <a:fillRect/>
          </a:stretch>
        </p:blipFill>
        <p:spPr>
          <a:xfrm>
            <a:off x="283309" y="658368"/>
            <a:ext cx="5199180" cy="2331720"/>
          </a:xfrm>
          <a:prstGeom prst="rect">
            <a:avLst/>
          </a:prstGeom>
          <a:ln w="6350">
            <a:solidFill>
              <a:srgbClr val="CED3DA"/>
            </a:solid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49530" rIns="0" bIns="0" rtlCol="0">
            <a:spAutoFit/>
          </a:bodyPr>
          <a:lstStyle/>
          <a:p>
            <a:pPr marL="99060">
              <a:lnSpc>
                <a:spcPct val="100000"/>
              </a:lnSpc>
              <a:spcBef>
                <a:spcPts val="390"/>
              </a:spcBef>
            </a:pPr>
            <a:r>
              <a:rPr dirty="0"/>
              <a:t>LENS.ai: Themes Over Time and by Region</a:t>
            </a:r>
          </a:p>
          <a:p>
            <a:pPr marL="99060">
              <a:lnSpc>
                <a:spcPct val="100000"/>
              </a:lnSpc>
              <a:spcBef>
                <a:spcPts val="195"/>
              </a:spcBef>
            </a:pPr>
            <a:r>
              <a:rPr sz="1100" b="0" dirty="0">
                <a:solidFill>
                  <a:srgbClr val="6C757C"/>
                </a:solidFill>
                <a:latin typeface="Tahoma"/>
                <a:cs typeface="Tahoma"/>
              </a:rPr>
              <a:t>Follow a theme over time and compare NHS regions</a:t>
            </a:r>
            <a:endParaRPr sz="1100">
              <a:latin typeface="Tahoma"/>
              <a:cs typeface="Tahoma"/>
            </a:endParaRPr>
          </a:p>
        </p:txBody>
      </p:sp>
      <p:sp>
        <p:nvSpPr>
          <p:cNvPr id="7" name="object 7"/>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0" name="Slide Number Placeholder 9">
            <a:extLst>
              <a:ext uri="{FF2B5EF4-FFF2-40B4-BE49-F238E27FC236}">
                <a16:creationId xmlns:a16="http://schemas.microsoft.com/office/drawing/2014/main" id="{E4B8B1B9-5FDF-A233-89D4-DFFB2199E6A9}"/>
              </a:ext>
            </a:extLst>
          </p:cNvPr>
          <p:cNvSpPr>
            <a:spLocks noGrp="1"/>
          </p:cNvSpPr>
          <p:nvPr>
            <p:ph type="sldNum" sz="quarter" idx="7"/>
          </p:nvPr>
        </p:nvSpPr>
        <p:spPr>
          <a:xfrm>
            <a:off x="4952745" y="3070861"/>
            <a:ext cx="548640" cy="173989"/>
          </a:xfrm>
        </p:spPr>
        <p:txBody>
          <a:bodyPr/>
          <a:lstStyle/>
          <a:p>
            <a:pPr marL="39370">
              <a:lnSpc>
                <a:spcPct val="100000"/>
              </a:lnSpc>
              <a:spcBef>
                <a:spcPts val="219"/>
              </a:spcBef>
            </a:pPr>
            <a:fld id="{81D60167-4931-47E6-BA6A-407CBD079E47}" type="slidenum">
              <a:rPr lang="en-GB" smtClean="0"/>
              <a:t>35</a:t>
            </a:fld>
            <a:r>
              <a:rPr lang="en-GB" spc="20" dirty="0"/>
              <a:t> </a:t>
            </a:r>
            <a:r>
              <a:rPr lang="en-GB" spc="120" dirty="0"/>
              <a:t>/</a:t>
            </a:r>
            <a:r>
              <a:rPr lang="en-GB" spc="25" dirty="0"/>
              <a:t> </a:t>
            </a:r>
            <a:r>
              <a:rPr lang="en-GB" spc="-25" dirty="0"/>
              <a:t>39</a:t>
            </a:r>
          </a:p>
        </p:txBody>
      </p:sp>
      <p:pic>
        <p:nvPicPr>
          <p:cNvPr id="11" name="Theme analysis screenshot" descr="LENS.ai theme analysis: trend over time for Delays in Care Provision, and a heatmap of the top 20 themes by NHS region"/>
          <p:cNvPicPr>
            <a:picLocks noChangeAspect="1"/>
          </p:cNvPicPr>
          <p:nvPr/>
        </p:nvPicPr>
        <p:blipFill>
          <a:blip r:embed="rId3"/>
          <a:stretch>
            <a:fillRect/>
          </a:stretch>
        </p:blipFill>
        <p:spPr>
          <a:xfrm>
            <a:off x="480248" y="658368"/>
            <a:ext cx="4805303" cy="2331720"/>
          </a:xfrm>
          <a:prstGeom prst="rect">
            <a:avLst/>
          </a:prstGeom>
          <a:ln w="6350">
            <a:solidFill>
              <a:srgbClr val="CED3DA"/>
            </a:solid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49530" rIns="0" bIns="0" rtlCol="0">
            <a:spAutoFit/>
          </a:bodyPr>
          <a:lstStyle/>
          <a:p>
            <a:pPr marL="99060">
              <a:lnSpc>
                <a:spcPct val="100000"/>
              </a:lnSpc>
              <a:spcBef>
                <a:spcPts val="390"/>
              </a:spcBef>
            </a:pPr>
            <a:r>
              <a:rPr dirty="0"/>
              <a:t>LENS.ai: Could It Help Your Work?</a:t>
            </a:r>
          </a:p>
          <a:p>
            <a:pPr marL="99060">
              <a:lnSpc>
                <a:spcPct val="100000"/>
              </a:lnSpc>
              <a:spcBef>
                <a:spcPts val="195"/>
              </a:spcBef>
            </a:pPr>
            <a:r>
              <a:rPr sz="1100" b="0" dirty="0">
                <a:solidFill>
                  <a:srgbClr val="6C757C"/>
                </a:solidFill>
                <a:latin typeface="Tahoma"/>
                <a:cs typeface="Tahoma"/>
              </a:rPr>
              <a:t>Ways teams can use it</a:t>
            </a:r>
            <a:endParaRPr sz="1100">
              <a:latin typeface="Tahoma"/>
              <a:cs typeface="Tahoma"/>
            </a:endParaRPr>
          </a:p>
        </p:txBody>
      </p:sp>
      <p:sp>
        <p:nvSpPr>
          <p:cNvPr id="7" name="object 7"/>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0" name="Slide Number Placeholder 9">
            <a:extLst>
              <a:ext uri="{FF2B5EF4-FFF2-40B4-BE49-F238E27FC236}">
                <a16:creationId xmlns:a16="http://schemas.microsoft.com/office/drawing/2014/main" id="{E4B8B1B9-5FDF-A233-89D4-DFFB2199E6A9}"/>
              </a:ext>
            </a:extLst>
          </p:cNvPr>
          <p:cNvSpPr>
            <a:spLocks noGrp="1"/>
          </p:cNvSpPr>
          <p:nvPr>
            <p:ph type="sldNum" sz="quarter" idx="7"/>
          </p:nvPr>
        </p:nvSpPr>
        <p:spPr>
          <a:xfrm>
            <a:off x="4952745" y="3070861"/>
            <a:ext cx="548640" cy="173989"/>
          </a:xfrm>
        </p:spPr>
        <p:txBody>
          <a:bodyPr/>
          <a:lstStyle/>
          <a:p>
            <a:pPr marL="39370">
              <a:lnSpc>
                <a:spcPct val="100000"/>
              </a:lnSpc>
              <a:spcBef>
                <a:spcPts val="219"/>
              </a:spcBef>
            </a:pPr>
            <a:fld id="{81D60167-4931-47E6-BA6A-407CBD079E47}" type="slidenum">
              <a:rPr lang="en-GB" smtClean="0"/>
              <a:t>36</a:t>
            </a:fld>
            <a:r>
              <a:rPr lang="en-GB" spc="20" dirty="0"/>
              <a:t> </a:t>
            </a:r>
            <a:r>
              <a:rPr lang="en-GB" spc="120" dirty="0"/>
              <a:t>/</a:t>
            </a:r>
            <a:r>
              <a:rPr lang="en-GB" spc="25" dirty="0"/>
              <a:t> </a:t>
            </a:r>
            <a:r>
              <a:rPr lang="en-GB" spc="-25" dirty="0"/>
              <a:t>39</a:t>
            </a:r>
          </a:p>
        </p:txBody>
      </p:sp>
      <p:sp>
        <p:nvSpPr>
          <p:cNvPr id="11" name="Use 1 box"/>
          <p:cNvSpPr/>
          <p:nvPr/>
        </p:nvSpPr>
        <p:spPr>
          <a:xfrm>
            <a:off x="347472" y="777240"/>
            <a:ext cx="1171702" cy="1325880"/>
          </a:xfrm>
          <a:prstGeom prst="roundRect">
            <a:avLst>
              <a:gd name="adj" fmla="val 6000"/>
            </a:avLst>
          </a:prstGeom>
          <a:solidFill>
            <a:srgbClr val="F2F6F7"/>
          </a:solidFill>
          <a:ln w="9525">
            <a:solidFill>
              <a:srgbClr val="CED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Use 1 heading"/>
          <p:cNvSpPr txBox="1"/>
          <p:nvPr/>
        </p:nvSpPr>
        <p:spPr>
          <a:xfrm>
            <a:off x="438912" y="886968"/>
            <a:ext cx="988822" cy="228600"/>
          </a:xfrm>
          <a:prstGeom prst="rect">
            <a:avLst/>
          </a:prstGeom>
          <a:noFill/>
        </p:spPr>
        <p:txBody>
          <a:bodyPr wrap="square" lIns="0" tIns="0" rIns="0" bIns="0" anchor="t">
            <a:spAutoFit/>
          </a:bodyPr>
          <a:lstStyle/>
          <a:p>
            <a:pPr algn="ctr"/>
            <a:r>
              <a:rPr sz="1200" b="1">
                <a:solidFill>
                  <a:srgbClr val="005F73"/>
                </a:solidFill>
                <a:latin typeface="Arial"/>
              </a:rPr>
              <a:t>Find</a:t>
            </a:r>
          </a:p>
        </p:txBody>
      </p:sp>
      <p:sp>
        <p:nvSpPr>
          <p:cNvPr id="13" name="Use 1 text"/>
          <p:cNvSpPr txBox="1"/>
          <p:nvPr/>
        </p:nvSpPr>
        <p:spPr>
          <a:xfrm>
            <a:off x="438912" y="1207008"/>
            <a:ext cx="988822" cy="822960"/>
          </a:xfrm>
          <a:prstGeom prst="rect">
            <a:avLst/>
          </a:prstGeom>
          <a:noFill/>
        </p:spPr>
        <p:txBody>
          <a:bodyPr wrap="square" lIns="0" tIns="0" rIns="0" bIns="0" anchor="t">
            <a:spAutoFit/>
          </a:bodyPr>
          <a:lstStyle/>
          <a:p>
            <a:pPr algn="ctr"/>
            <a:r>
              <a:rPr sz="1050" b="0">
                <a:solidFill>
                  <a:srgbClr val="202429"/>
                </a:solidFill>
                <a:latin typeface="Tahoma"/>
              </a:rPr>
              <a:t>Reports on a topic, speciality or area</a:t>
            </a:r>
          </a:p>
        </p:txBody>
      </p:sp>
      <p:sp>
        <p:nvSpPr>
          <p:cNvPr id="14" name="Use 2 box"/>
          <p:cNvSpPr/>
          <p:nvPr/>
        </p:nvSpPr>
        <p:spPr>
          <a:xfrm>
            <a:off x="1647190" y="777240"/>
            <a:ext cx="1171702" cy="1325880"/>
          </a:xfrm>
          <a:prstGeom prst="roundRect">
            <a:avLst>
              <a:gd name="adj" fmla="val 6000"/>
            </a:avLst>
          </a:prstGeom>
          <a:solidFill>
            <a:srgbClr val="F2F6F7"/>
          </a:solidFill>
          <a:ln w="9525">
            <a:solidFill>
              <a:srgbClr val="CED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Use 2 heading"/>
          <p:cNvSpPr txBox="1"/>
          <p:nvPr/>
        </p:nvSpPr>
        <p:spPr>
          <a:xfrm>
            <a:off x="1738630" y="886968"/>
            <a:ext cx="988822" cy="228600"/>
          </a:xfrm>
          <a:prstGeom prst="rect">
            <a:avLst/>
          </a:prstGeom>
          <a:noFill/>
        </p:spPr>
        <p:txBody>
          <a:bodyPr wrap="square" lIns="0" tIns="0" rIns="0" bIns="0" anchor="t">
            <a:spAutoFit/>
          </a:bodyPr>
          <a:lstStyle/>
          <a:p>
            <a:pPr algn="ctr"/>
            <a:r>
              <a:rPr sz="1200" b="1">
                <a:solidFill>
                  <a:srgbClr val="005F73"/>
                </a:solidFill>
                <a:latin typeface="Arial"/>
              </a:rPr>
              <a:t>Understand</a:t>
            </a:r>
          </a:p>
        </p:txBody>
      </p:sp>
      <p:sp>
        <p:nvSpPr>
          <p:cNvPr id="16" name="Use 2 text"/>
          <p:cNvSpPr txBox="1"/>
          <p:nvPr/>
        </p:nvSpPr>
        <p:spPr>
          <a:xfrm>
            <a:off x="1738630" y="1207008"/>
            <a:ext cx="988822" cy="822960"/>
          </a:xfrm>
          <a:prstGeom prst="rect">
            <a:avLst/>
          </a:prstGeom>
          <a:noFill/>
        </p:spPr>
        <p:txBody>
          <a:bodyPr wrap="square" lIns="0" tIns="0" rIns="0" bIns="0" anchor="t">
            <a:spAutoFit/>
          </a:bodyPr>
          <a:lstStyle/>
          <a:p>
            <a:pPr algn="ctr"/>
            <a:r>
              <a:rPr sz="1050" b="0">
                <a:solidFill>
                  <a:srgbClr val="202429"/>
                </a:solidFill>
                <a:latin typeface="Tahoma"/>
              </a:rPr>
              <a:t>Recurring themes and contributory factors</a:t>
            </a:r>
          </a:p>
        </p:txBody>
      </p:sp>
      <p:sp>
        <p:nvSpPr>
          <p:cNvPr id="17" name="Use 3 box"/>
          <p:cNvSpPr/>
          <p:nvPr/>
        </p:nvSpPr>
        <p:spPr>
          <a:xfrm>
            <a:off x="2946908" y="777240"/>
            <a:ext cx="1171702" cy="1325880"/>
          </a:xfrm>
          <a:prstGeom prst="roundRect">
            <a:avLst>
              <a:gd name="adj" fmla="val 6000"/>
            </a:avLst>
          </a:prstGeom>
          <a:solidFill>
            <a:srgbClr val="F2F6F7"/>
          </a:solidFill>
          <a:ln w="9525">
            <a:solidFill>
              <a:srgbClr val="CED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Use 3 heading"/>
          <p:cNvSpPr txBox="1"/>
          <p:nvPr/>
        </p:nvSpPr>
        <p:spPr>
          <a:xfrm>
            <a:off x="3038348" y="886968"/>
            <a:ext cx="988822" cy="228600"/>
          </a:xfrm>
          <a:prstGeom prst="rect">
            <a:avLst/>
          </a:prstGeom>
          <a:noFill/>
        </p:spPr>
        <p:txBody>
          <a:bodyPr wrap="square" lIns="0" tIns="0" rIns="0" bIns="0" anchor="t">
            <a:spAutoFit/>
          </a:bodyPr>
          <a:lstStyle/>
          <a:p>
            <a:pPr algn="ctr"/>
            <a:r>
              <a:rPr sz="1200" b="1">
                <a:solidFill>
                  <a:srgbClr val="005F73"/>
                </a:solidFill>
                <a:latin typeface="Arial"/>
              </a:rPr>
              <a:t>Compare</a:t>
            </a:r>
          </a:p>
        </p:txBody>
      </p:sp>
      <p:sp>
        <p:nvSpPr>
          <p:cNvPr id="19" name="Use 3 text"/>
          <p:cNvSpPr txBox="1"/>
          <p:nvPr/>
        </p:nvSpPr>
        <p:spPr>
          <a:xfrm>
            <a:off x="3038348" y="1207008"/>
            <a:ext cx="988822" cy="822960"/>
          </a:xfrm>
          <a:prstGeom prst="rect">
            <a:avLst/>
          </a:prstGeom>
          <a:noFill/>
        </p:spPr>
        <p:txBody>
          <a:bodyPr wrap="square" lIns="0" tIns="0" rIns="0" bIns="0" anchor="t">
            <a:spAutoFit/>
          </a:bodyPr>
          <a:lstStyle/>
          <a:p>
            <a:pPr algn="ctr"/>
            <a:r>
              <a:rPr sz="1050" b="0">
                <a:solidFill>
                  <a:srgbClr val="202429"/>
                </a:solidFill>
                <a:latin typeface="Tahoma"/>
              </a:rPr>
              <a:t>Trends over time and across regions</a:t>
            </a:r>
          </a:p>
        </p:txBody>
      </p:sp>
      <p:sp>
        <p:nvSpPr>
          <p:cNvPr id="20" name="Use 4 box"/>
          <p:cNvSpPr/>
          <p:nvPr/>
        </p:nvSpPr>
        <p:spPr>
          <a:xfrm>
            <a:off x="4246626" y="777240"/>
            <a:ext cx="1171702" cy="1325880"/>
          </a:xfrm>
          <a:prstGeom prst="roundRect">
            <a:avLst>
              <a:gd name="adj" fmla="val 6000"/>
            </a:avLst>
          </a:prstGeom>
          <a:solidFill>
            <a:srgbClr val="F2F6F7"/>
          </a:solidFill>
          <a:ln w="9525">
            <a:solidFill>
              <a:srgbClr val="CED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Use 4 heading"/>
          <p:cNvSpPr txBox="1"/>
          <p:nvPr/>
        </p:nvSpPr>
        <p:spPr>
          <a:xfrm>
            <a:off x="4338066" y="886968"/>
            <a:ext cx="988822" cy="228600"/>
          </a:xfrm>
          <a:prstGeom prst="rect">
            <a:avLst/>
          </a:prstGeom>
          <a:noFill/>
        </p:spPr>
        <p:txBody>
          <a:bodyPr wrap="square" lIns="0" tIns="0" rIns="0" bIns="0" anchor="t">
            <a:spAutoFit/>
          </a:bodyPr>
          <a:lstStyle/>
          <a:p>
            <a:pPr algn="ctr"/>
            <a:r>
              <a:rPr sz="1200" b="1">
                <a:solidFill>
                  <a:srgbClr val="005F73"/>
                </a:solidFill>
                <a:latin typeface="Arial"/>
              </a:rPr>
              <a:t>Share</a:t>
            </a:r>
          </a:p>
        </p:txBody>
      </p:sp>
      <p:sp>
        <p:nvSpPr>
          <p:cNvPr id="22" name="Use 4 text"/>
          <p:cNvSpPr txBox="1"/>
          <p:nvPr/>
        </p:nvSpPr>
        <p:spPr>
          <a:xfrm>
            <a:off x="4338066" y="1207008"/>
            <a:ext cx="988822" cy="822960"/>
          </a:xfrm>
          <a:prstGeom prst="rect">
            <a:avLst/>
          </a:prstGeom>
          <a:noFill/>
        </p:spPr>
        <p:txBody>
          <a:bodyPr wrap="square" lIns="0" tIns="0" rIns="0" bIns="0" anchor="t">
            <a:spAutoFit/>
          </a:bodyPr>
          <a:lstStyle/>
          <a:p>
            <a:pPr algn="ctr"/>
            <a:r>
              <a:rPr sz="1050" b="0">
                <a:solidFill>
                  <a:srgbClr val="202429"/>
                </a:solidFill>
                <a:latin typeface="Tahoma"/>
              </a:rPr>
              <a:t>Shared projects, with charts and data to download</a:t>
            </a:r>
          </a:p>
        </p:txBody>
      </p:sp>
      <p:sp>
        <p:nvSpPr>
          <p:cNvPr id="23" name="Get in touch box"/>
          <p:cNvSpPr/>
          <p:nvPr/>
        </p:nvSpPr>
        <p:spPr>
          <a:xfrm>
            <a:off x="347472" y="2212848"/>
            <a:ext cx="5070856" cy="502920"/>
          </a:xfrm>
          <a:prstGeom prst="roundRect">
            <a:avLst>
              <a:gd name="adj" fmla="val 6000"/>
            </a:avLst>
          </a:prstGeom>
          <a:solidFill>
            <a:srgbClr val="FDF1E7"/>
          </a:solidFill>
          <a:ln w="9525">
            <a:solidFill>
              <a:srgbClr val="E8B4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Get in touch text"/>
          <p:cNvSpPr txBox="1"/>
          <p:nvPr/>
        </p:nvSpPr>
        <p:spPr>
          <a:xfrm>
            <a:off x="457200" y="2212848"/>
            <a:ext cx="4851400" cy="502920"/>
          </a:xfrm>
          <a:prstGeom prst="rect">
            <a:avLst/>
          </a:prstGeom>
          <a:noFill/>
        </p:spPr>
        <p:txBody>
          <a:bodyPr wrap="square" lIns="0" tIns="0" rIns="0" bIns="0" anchor="ctr">
            <a:spAutoFit/>
          </a:bodyPr>
          <a:lstStyle/>
          <a:p>
            <a:pPr algn="ctr"/>
            <a:r>
              <a:rPr lang="en-GB" sz="1000" b="1" dirty="0">
                <a:solidFill>
                  <a:srgbClr val="C2571A"/>
                </a:solidFill>
                <a:latin typeface="Arial"/>
              </a:rPr>
              <a:t>LENS.ai is currently available to NHS England and HSSIB.</a:t>
            </a:r>
          </a:p>
          <a:p>
            <a:pPr algn="ctr"/>
            <a:r>
              <a:rPr lang="en-GB" sz="950" b="0" dirty="0">
                <a:solidFill>
                  <a:srgbClr val="202429"/>
                </a:solidFill>
                <a:latin typeface="Tahoma"/>
              </a:rPr>
              <a:t>Interested in analysing particular types of death? We would be glad to talk.</a:t>
            </a:r>
          </a:p>
        </p:txBody>
      </p:sp>
      <p:sp>
        <p:nvSpPr>
          <p:cNvPr id="40" name="Funding note"/>
          <p:cNvSpPr txBox="1"/>
          <p:nvPr/>
        </p:nvSpPr>
        <p:spPr>
          <a:xfrm>
            <a:off x="347472" y="2788920"/>
            <a:ext cx="5070856" cy="164592"/>
          </a:xfrm>
          <a:prstGeom prst="rect">
            <a:avLst/>
          </a:prstGeom>
          <a:noFill/>
        </p:spPr>
        <p:txBody>
          <a:bodyPr wrap="square" lIns="0" tIns="0" rIns="0" bIns="0" anchor="ctr"/>
          <a:lstStyle/>
          <a:p>
            <a:pPr algn="ctr"/>
            <a:r>
              <a:rPr lang="en-GB" sz="750" b="0" i="1">
                <a:solidFill>
                  <a:srgbClr val="5F6670"/>
                </a:solidFill>
                <a:latin typeface="Tahoma"/>
              </a:rPr>
              <a:t>Funded by a Loughborough University Impact Accelerator Award, as part of a REF 2029 impact case study.</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75118" rIns="0" bIns="0" rtlCol="0">
            <a:spAutoFit/>
          </a:bodyPr>
          <a:lstStyle/>
          <a:p>
            <a:pPr marL="99060">
              <a:lnSpc>
                <a:spcPct val="100000"/>
              </a:lnSpc>
              <a:spcBef>
                <a:spcPts val="135"/>
              </a:spcBef>
            </a:pPr>
            <a:r>
              <a:rPr dirty="0"/>
              <a:t>Key</a:t>
            </a:r>
            <a:r>
              <a:rPr spc="105" dirty="0"/>
              <a:t> </a:t>
            </a:r>
            <a:r>
              <a:rPr spc="-55" dirty="0"/>
              <a:t>Takeaways</a:t>
            </a:r>
          </a:p>
        </p:txBody>
      </p:sp>
      <p:sp>
        <p:nvSpPr>
          <p:cNvPr id="3" name="object 3"/>
          <p:cNvSpPr/>
          <p:nvPr/>
        </p:nvSpPr>
        <p:spPr>
          <a:xfrm>
            <a:off x="359994" y="543178"/>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sp>
        <p:nvSpPr>
          <p:cNvPr id="4" name="object 4"/>
          <p:cNvSpPr txBox="1"/>
          <p:nvPr/>
        </p:nvSpPr>
        <p:spPr>
          <a:xfrm>
            <a:off x="169824" y="789004"/>
            <a:ext cx="1514475" cy="889635"/>
          </a:xfrm>
          <a:prstGeom prst="rect">
            <a:avLst/>
          </a:prstGeom>
        </p:spPr>
        <p:txBody>
          <a:bodyPr vert="horz" wrap="square" lIns="0" tIns="113030" rIns="0" bIns="0" rtlCol="0">
            <a:spAutoFit/>
          </a:bodyPr>
          <a:lstStyle/>
          <a:p>
            <a:pPr marL="419734">
              <a:lnSpc>
                <a:spcPct val="100000"/>
              </a:lnSpc>
              <a:spcBef>
                <a:spcPts val="890"/>
              </a:spcBef>
            </a:pPr>
            <a:r>
              <a:rPr sz="1200" b="1" spc="-10" dirty="0">
                <a:solidFill>
                  <a:srgbClr val="005F73"/>
                </a:solidFill>
                <a:latin typeface="Arial"/>
                <a:cs typeface="Arial"/>
              </a:rPr>
              <a:t>Challenge</a:t>
            </a:r>
            <a:endParaRPr sz="1200">
              <a:latin typeface="Arial"/>
              <a:cs typeface="Arial"/>
            </a:endParaRPr>
          </a:p>
          <a:p>
            <a:pPr marL="12700" marR="5080" indent="88900">
              <a:lnSpc>
                <a:spcPct val="112900"/>
              </a:lnSpc>
              <a:spcBef>
                <a:spcPts val="509"/>
              </a:spcBef>
            </a:pPr>
            <a:r>
              <a:rPr sz="1000" spc="-35" dirty="0">
                <a:solidFill>
                  <a:srgbClr val="202429"/>
                </a:solidFill>
                <a:latin typeface="Tahoma"/>
                <a:cs typeface="Tahoma"/>
              </a:rPr>
              <a:t>Unstructured</a:t>
            </a:r>
            <a:r>
              <a:rPr sz="1000" spc="25" dirty="0">
                <a:solidFill>
                  <a:srgbClr val="202429"/>
                </a:solidFill>
                <a:latin typeface="Tahoma"/>
                <a:cs typeface="Tahoma"/>
              </a:rPr>
              <a:t> </a:t>
            </a:r>
            <a:r>
              <a:rPr sz="1000" spc="-45" dirty="0">
                <a:solidFill>
                  <a:srgbClr val="202429"/>
                </a:solidFill>
                <a:latin typeface="Tahoma"/>
                <a:cs typeface="Tahoma"/>
              </a:rPr>
              <a:t>safety</a:t>
            </a:r>
            <a:r>
              <a:rPr sz="1000" spc="25" dirty="0">
                <a:solidFill>
                  <a:srgbClr val="202429"/>
                </a:solidFill>
                <a:latin typeface="Tahoma"/>
                <a:cs typeface="Tahoma"/>
              </a:rPr>
              <a:t> </a:t>
            </a:r>
            <a:r>
              <a:rPr sz="1000" spc="-20" dirty="0">
                <a:solidFill>
                  <a:srgbClr val="202429"/>
                </a:solidFill>
                <a:latin typeface="Tahoma"/>
                <a:cs typeface="Tahoma"/>
              </a:rPr>
              <a:t>data </a:t>
            </a:r>
            <a:r>
              <a:rPr sz="1000" spc="-30" dirty="0">
                <a:solidFill>
                  <a:srgbClr val="202429"/>
                </a:solidFill>
                <a:latin typeface="Tahoma"/>
                <a:cs typeface="Tahoma"/>
              </a:rPr>
              <a:t>contains</a:t>
            </a:r>
            <a:r>
              <a:rPr sz="1000" spc="-35" dirty="0">
                <a:solidFill>
                  <a:srgbClr val="202429"/>
                </a:solidFill>
                <a:latin typeface="Tahoma"/>
                <a:cs typeface="Tahoma"/>
              </a:rPr>
              <a:t> </a:t>
            </a:r>
            <a:r>
              <a:rPr sz="1000" spc="-25" dirty="0">
                <a:solidFill>
                  <a:srgbClr val="202429"/>
                </a:solidFill>
                <a:latin typeface="Tahoma"/>
                <a:cs typeface="Tahoma"/>
              </a:rPr>
              <a:t>insights</a:t>
            </a:r>
            <a:r>
              <a:rPr sz="1000" spc="-30" dirty="0">
                <a:solidFill>
                  <a:srgbClr val="202429"/>
                </a:solidFill>
                <a:latin typeface="Tahoma"/>
                <a:cs typeface="Tahoma"/>
              </a:rPr>
              <a:t> </a:t>
            </a:r>
            <a:r>
              <a:rPr sz="1000" dirty="0">
                <a:solidFill>
                  <a:srgbClr val="202429"/>
                </a:solidFill>
                <a:latin typeface="Tahoma"/>
                <a:cs typeface="Tahoma"/>
              </a:rPr>
              <a:t>but</a:t>
            </a:r>
            <a:r>
              <a:rPr sz="1000" spc="-25" dirty="0">
                <a:solidFill>
                  <a:srgbClr val="202429"/>
                </a:solidFill>
                <a:latin typeface="Tahoma"/>
                <a:cs typeface="Tahoma"/>
              </a:rPr>
              <a:t> </a:t>
            </a:r>
            <a:r>
              <a:rPr sz="1000" dirty="0">
                <a:solidFill>
                  <a:srgbClr val="202429"/>
                </a:solidFill>
                <a:latin typeface="Tahoma"/>
                <a:cs typeface="Tahoma"/>
              </a:rPr>
              <a:t>is</a:t>
            </a:r>
            <a:r>
              <a:rPr sz="1000" spc="-30" dirty="0">
                <a:solidFill>
                  <a:srgbClr val="202429"/>
                </a:solidFill>
                <a:latin typeface="Tahoma"/>
                <a:cs typeface="Tahoma"/>
              </a:rPr>
              <a:t> </a:t>
            </a:r>
            <a:r>
              <a:rPr sz="1000" spc="-45" dirty="0">
                <a:solidFill>
                  <a:srgbClr val="202429"/>
                </a:solidFill>
                <a:latin typeface="Tahoma"/>
                <a:cs typeface="Tahoma"/>
              </a:rPr>
              <a:t>hard</a:t>
            </a:r>
            <a:endParaRPr sz="1000">
              <a:latin typeface="Tahoma"/>
              <a:cs typeface="Tahoma"/>
            </a:endParaRPr>
          </a:p>
          <a:p>
            <a:pPr marL="251460">
              <a:lnSpc>
                <a:spcPct val="100000"/>
              </a:lnSpc>
              <a:spcBef>
                <a:spcPts val="155"/>
              </a:spcBef>
            </a:pPr>
            <a:r>
              <a:rPr sz="1000" dirty="0">
                <a:solidFill>
                  <a:srgbClr val="202429"/>
                </a:solidFill>
                <a:latin typeface="Tahoma"/>
                <a:cs typeface="Tahoma"/>
              </a:rPr>
              <a:t>to</a:t>
            </a:r>
            <a:r>
              <a:rPr sz="1000" spc="-20" dirty="0">
                <a:solidFill>
                  <a:srgbClr val="202429"/>
                </a:solidFill>
                <a:latin typeface="Tahoma"/>
                <a:cs typeface="Tahoma"/>
              </a:rPr>
              <a:t> </a:t>
            </a:r>
            <a:r>
              <a:rPr sz="1000" spc="-40" dirty="0">
                <a:solidFill>
                  <a:srgbClr val="202429"/>
                </a:solidFill>
                <a:latin typeface="Tahoma"/>
                <a:cs typeface="Tahoma"/>
              </a:rPr>
              <a:t>analyse</a:t>
            </a:r>
            <a:r>
              <a:rPr sz="1000" spc="-15" dirty="0">
                <a:solidFill>
                  <a:srgbClr val="202429"/>
                </a:solidFill>
                <a:latin typeface="Tahoma"/>
                <a:cs typeface="Tahoma"/>
              </a:rPr>
              <a:t> </a:t>
            </a:r>
            <a:r>
              <a:rPr sz="1000" dirty="0">
                <a:solidFill>
                  <a:srgbClr val="202429"/>
                </a:solidFill>
                <a:latin typeface="Tahoma"/>
                <a:cs typeface="Tahoma"/>
              </a:rPr>
              <a:t>at</a:t>
            </a:r>
            <a:r>
              <a:rPr sz="1000" spc="-15" dirty="0">
                <a:solidFill>
                  <a:srgbClr val="202429"/>
                </a:solidFill>
                <a:latin typeface="Tahoma"/>
                <a:cs typeface="Tahoma"/>
              </a:rPr>
              <a:t> </a:t>
            </a:r>
            <a:r>
              <a:rPr sz="1000" spc="-10" dirty="0">
                <a:solidFill>
                  <a:srgbClr val="202429"/>
                </a:solidFill>
                <a:latin typeface="Tahoma"/>
                <a:cs typeface="Tahoma"/>
              </a:rPr>
              <a:t>scale.</a:t>
            </a:r>
            <a:endParaRPr sz="1000">
              <a:latin typeface="Tahoma"/>
              <a:cs typeface="Tahoma"/>
            </a:endParaRPr>
          </a:p>
        </p:txBody>
      </p:sp>
      <p:sp>
        <p:nvSpPr>
          <p:cNvPr id="5" name="object 5"/>
          <p:cNvSpPr/>
          <p:nvPr/>
        </p:nvSpPr>
        <p:spPr>
          <a:xfrm>
            <a:off x="1903196" y="949451"/>
            <a:ext cx="0" cy="1260475"/>
          </a:xfrm>
          <a:custGeom>
            <a:avLst/>
            <a:gdLst/>
            <a:ahLst/>
            <a:cxnLst/>
            <a:rect l="l" t="t" r="r" b="b"/>
            <a:pathLst>
              <a:path h="1260475">
                <a:moveTo>
                  <a:pt x="0" y="1260005"/>
                </a:moveTo>
                <a:lnTo>
                  <a:pt x="0" y="0"/>
                </a:lnTo>
              </a:path>
            </a:pathLst>
          </a:custGeom>
          <a:ln w="6325">
            <a:solidFill>
              <a:srgbClr val="CED3DA"/>
            </a:solidFill>
          </a:ln>
        </p:spPr>
        <p:txBody>
          <a:bodyPr wrap="square" lIns="0" tIns="0" rIns="0" bIns="0" rtlCol="0"/>
          <a:lstStyle/>
          <a:p>
            <a:endParaRPr/>
          </a:p>
        </p:txBody>
      </p:sp>
      <p:sp>
        <p:nvSpPr>
          <p:cNvPr id="6" name="object 6"/>
          <p:cNvSpPr txBox="1"/>
          <p:nvPr/>
        </p:nvSpPr>
        <p:spPr>
          <a:xfrm>
            <a:off x="2139962" y="789004"/>
            <a:ext cx="1480185" cy="889635"/>
          </a:xfrm>
          <a:prstGeom prst="rect">
            <a:avLst/>
          </a:prstGeom>
        </p:spPr>
        <p:txBody>
          <a:bodyPr vert="horz" wrap="square" lIns="0" tIns="113030" rIns="0" bIns="0" rtlCol="0">
            <a:spAutoFit/>
          </a:bodyPr>
          <a:lstStyle/>
          <a:p>
            <a:pPr algn="ctr">
              <a:lnSpc>
                <a:spcPct val="100000"/>
              </a:lnSpc>
              <a:spcBef>
                <a:spcPts val="890"/>
              </a:spcBef>
            </a:pPr>
            <a:r>
              <a:rPr sz="1200" b="1" spc="-10" dirty="0">
                <a:solidFill>
                  <a:srgbClr val="D65F2C"/>
                </a:solidFill>
                <a:latin typeface="Arial"/>
                <a:cs typeface="Arial"/>
              </a:rPr>
              <a:t>Methods</a:t>
            </a:r>
            <a:endParaRPr sz="1200">
              <a:latin typeface="Arial"/>
              <a:cs typeface="Arial"/>
            </a:endParaRPr>
          </a:p>
          <a:p>
            <a:pPr marL="12700" marR="5080" algn="ctr">
              <a:lnSpc>
                <a:spcPct val="112900"/>
              </a:lnSpc>
              <a:spcBef>
                <a:spcPts val="509"/>
              </a:spcBef>
            </a:pPr>
            <a:r>
              <a:rPr sz="1000" dirty="0">
                <a:solidFill>
                  <a:srgbClr val="202429"/>
                </a:solidFill>
                <a:latin typeface="Tahoma"/>
                <a:cs typeface="Tahoma"/>
              </a:rPr>
              <a:t>Our</a:t>
            </a:r>
            <a:r>
              <a:rPr sz="1000" spc="-55" dirty="0">
                <a:solidFill>
                  <a:srgbClr val="202429"/>
                </a:solidFill>
                <a:latin typeface="Tahoma"/>
                <a:cs typeface="Tahoma"/>
              </a:rPr>
              <a:t> </a:t>
            </a:r>
            <a:r>
              <a:rPr sz="1000" dirty="0">
                <a:solidFill>
                  <a:srgbClr val="202429"/>
                </a:solidFill>
                <a:latin typeface="Tahoma"/>
                <a:cs typeface="Tahoma"/>
              </a:rPr>
              <a:t>tools</a:t>
            </a:r>
            <a:r>
              <a:rPr sz="1000" spc="-50" dirty="0">
                <a:solidFill>
                  <a:srgbClr val="202429"/>
                </a:solidFill>
                <a:latin typeface="Tahoma"/>
                <a:cs typeface="Tahoma"/>
              </a:rPr>
              <a:t> </a:t>
            </a:r>
            <a:r>
              <a:rPr sz="1000" spc="-30" dirty="0">
                <a:solidFill>
                  <a:srgbClr val="202429"/>
                </a:solidFill>
                <a:latin typeface="Tahoma"/>
                <a:cs typeface="Tahoma"/>
              </a:rPr>
              <a:t>combine</a:t>
            </a:r>
            <a:r>
              <a:rPr sz="1000" spc="-50" dirty="0">
                <a:solidFill>
                  <a:srgbClr val="202429"/>
                </a:solidFill>
                <a:latin typeface="Tahoma"/>
                <a:cs typeface="Tahoma"/>
              </a:rPr>
              <a:t> </a:t>
            </a:r>
            <a:r>
              <a:rPr sz="1000" spc="-10" dirty="0">
                <a:solidFill>
                  <a:srgbClr val="202429"/>
                </a:solidFill>
                <a:latin typeface="Tahoma"/>
                <a:cs typeface="Tahoma"/>
              </a:rPr>
              <a:t>human </a:t>
            </a:r>
            <a:r>
              <a:rPr sz="1000" spc="-40" dirty="0">
                <a:solidFill>
                  <a:srgbClr val="202429"/>
                </a:solidFill>
                <a:latin typeface="Tahoma"/>
                <a:cs typeface="Tahoma"/>
              </a:rPr>
              <a:t>expertise</a:t>
            </a:r>
            <a:r>
              <a:rPr sz="1000" spc="-30" dirty="0">
                <a:solidFill>
                  <a:srgbClr val="202429"/>
                </a:solidFill>
                <a:latin typeface="Tahoma"/>
                <a:cs typeface="Tahoma"/>
              </a:rPr>
              <a:t> </a:t>
            </a:r>
            <a:r>
              <a:rPr sz="1000" dirty="0">
                <a:solidFill>
                  <a:srgbClr val="202429"/>
                </a:solidFill>
                <a:latin typeface="Tahoma"/>
                <a:cs typeface="Tahoma"/>
              </a:rPr>
              <a:t>with</a:t>
            </a:r>
            <a:r>
              <a:rPr sz="1000" spc="-35" dirty="0">
                <a:solidFill>
                  <a:srgbClr val="202429"/>
                </a:solidFill>
                <a:latin typeface="Tahoma"/>
                <a:cs typeface="Tahoma"/>
              </a:rPr>
              <a:t> </a:t>
            </a:r>
            <a:r>
              <a:rPr sz="1000" dirty="0">
                <a:solidFill>
                  <a:srgbClr val="202429"/>
                </a:solidFill>
                <a:latin typeface="Tahoma"/>
                <a:cs typeface="Tahoma"/>
              </a:rPr>
              <a:t>AI</a:t>
            </a:r>
            <a:r>
              <a:rPr sz="1000" spc="-30" dirty="0">
                <a:solidFill>
                  <a:srgbClr val="202429"/>
                </a:solidFill>
                <a:latin typeface="Tahoma"/>
                <a:cs typeface="Tahoma"/>
              </a:rPr>
              <a:t> </a:t>
            </a:r>
            <a:r>
              <a:rPr sz="1000" dirty="0">
                <a:solidFill>
                  <a:srgbClr val="202429"/>
                </a:solidFill>
                <a:latin typeface="Tahoma"/>
                <a:cs typeface="Tahoma"/>
              </a:rPr>
              <a:t>to</a:t>
            </a:r>
            <a:r>
              <a:rPr sz="1000" spc="-30" dirty="0">
                <a:solidFill>
                  <a:srgbClr val="202429"/>
                </a:solidFill>
                <a:latin typeface="Tahoma"/>
                <a:cs typeface="Tahoma"/>
              </a:rPr>
              <a:t> </a:t>
            </a:r>
            <a:r>
              <a:rPr sz="1000" spc="-25" dirty="0">
                <a:solidFill>
                  <a:srgbClr val="202429"/>
                </a:solidFill>
                <a:latin typeface="Tahoma"/>
                <a:cs typeface="Tahoma"/>
              </a:rPr>
              <a:t>extract </a:t>
            </a:r>
            <a:r>
              <a:rPr sz="1000" spc="-45" dirty="0">
                <a:solidFill>
                  <a:srgbClr val="202429"/>
                </a:solidFill>
                <a:latin typeface="Tahoma"/>
                <a:cs typeface="Tahoma"/>
              </a:rPr>
              <a:t>safety</a:t>
            </a:r>
            <a:r>
              <a:rPr sz="1000" spc="20" dirty="0">
                <a:solidFill>
                  <a:srgbClr val="202429"/>
                </a:solidFill>
                <a:latin typeface="Tahoma"/>
                <a:cs typeface="Tahoma"/>
              </a:rPr>
              <a:t> </a:t>
            </a:r>
            <a:r>
              <a:rPr sz="1000" spc="-30" dirty="0">
                <a:solidFill>
                  <a:srgbClr val="202429"/>
                </a:solidFill>
                <a:latin typeface="Tahoma"/>
                <a:cs typeface="Tahoma"/>
              </a:rPr>
              <a:t>intelligence</a:t>
            </a:r>
            <a:r>
              <a:rPr sz="1000" spc="25" dirty="0">
                <a:solidFill>
                  <a:srgbClr val="202429"/>
                </a:solidFill>
                <a:latin typeface="Tahoma"/>
                <a:cs typeface="Tahoma"/>
              </a:rPr>
              <a:t> </a:t>
            </a:r>
            <a:r>
              <a:rPr sz="1000" spc="-10" dirty="0">
                <a:solidFill>
                  <a:srgbClr val="202429"/>
                </a:solidFill>
                <a:latin typeface="Tahoma"/>
                <a:cs typeface="Tahoma"/>
              </a:rPr>
              <a:t>fairly.</a:t>
            </a:r>
            <a:endParaRPr sz="1000">
              <a:latin typeface="Tahoma"/>
              <a:cs typeface="Tahoma"/>
            </a:endParaRPr>
          </a:p>
        </p:txBody>
      </p:sp>
      <p:sp>
        <p:nvSpPr>
          <p:cNvPr id="7" name="object 7"/>
          <p:cNvSpPr/>
          <p:nvPr/>
        </p:nvSpPr>
        <p:spPr>
          <a:xfrm>
            <a:off x="3856799" y="949451"/>
            <a:ext cx="0" cy="1260475"/>
          </a:xfrm>
          <a:custGeom>
            <a:avLst/>
            <a:gdLst/>
            <a:ahLst/>
            <a:cxnLst/>
            <a:rect l="l" t="t" r="r" b="b"/>
            <a:pathLst>
              <a:path h="1260475">
                <a:moveTo>
                  <a:pt x="0" y="1260005"/>
                </a:moveTo>
                <a:lnTo>
                  <a:pt x="0" y="0"/>
                </a:lnTo>
              </a:path>
            </a:pathLst>
          </a:custGeom>
          <a:ln w="6325">
            <a:solidFill>
              <a:srgbClr val="CED3DA"/>
            </a:solidFill>
          </a:ln>
        </p:spPr>
        <p:txBody>
          <a:bodyPr wrap="square" lIns="0" tIns="0" rIns="0" bIns="0" rtlCol="0"/>
          <a:lstStyle/>
          <a:p>
            <a:endParaRPr/>
          </a:p>
        </p:txBody>
      </p:sp>
      <p:sp>
        <p:nvSpPr>
          <p:cNvPr id="8" name="object 8"/>
          <p:cNvSpPr txBox="1"/>
          <p:nvPr/>
        </p:nvSpPr>
        <p:spPr>
          <a:xfrm>
            <a:off x="4109554" y="789004"/>
            <a:ext cx="1447800" cy="889635"/>
          </a:xfrm>
          <a:prstGeom prst="rect">
            <a:avLst/>
          </a:prstGeom>
        </p:spPr>
        <p:txBody>
          <a:bodyPr vert="horz" wrap="square" lIns="0" tIns="113030" rIns="0" bIns="0" rtlCol="0">
            <a:spAutoFit/>
          </a:bodyPr>
          <a:lstStyle/>
          <a:p>
            <a:pPr algn="ctr">
              <a:lnSpc>
                <a:spcPct val="100000"/>
              </a:lnSpc>
              <a:spcBef>
                <a:spcPts val="890"/>
              </a:spcBef>
            </a:pPr>
            <a:r>
              <a:rPr sz="1200" b="1" spc="-10" dirty="0">
                <a:solidFill>
                  <a:srgbClr val="005F73"/>
                </a:solidFill>
                <a:latin typeface="Arial"/>
                <a:cs typeface="Arial"/>
              </a:rPr>
              <a:t>Ethics</a:t>
            </a:r>
            <a:endParaRPr sz="1200">
              <a:latin typeface="Arial"/>
              <a:cs typeface="Arial"/>
            </a:endParaRPr>
          </a:p>
          <a:p>
            <a:pPr marL="12700" marR="5080" algn="ctr">
              <a:lnSpc>
                <a:spcPct val="112900"/>
              </a:lnSpc>
              <a:spcBef>
                <a:spcPts val="509"/>
              </a:spcBef>
            </a:pPr>
            <a:r>
              <a:rPr sz="1000" spc="-40" dirty="0">
                <a:solidFill>
                  <a:srgbClr val="202429"/>
                </a:solidFill>
                <a:latin typeface="Tahoma"/>
                <a:cs typeface="Tahoma"/>
              </a:rPr>
              <a:t>Fairness,</a:t>
            </a:r>
            <a:r>
              <a:rPr sz="1000" spc="-10" dirty="0">
                <a:solidFill>
                  <a:srgbClr val="202429"/>
                </a:solidFill>
                <a:latin typeface="Tahoma"/>
                <a:cs typeface="Tahoma"/>
              </a:rPr>
              <a:t> </a:t>
            </a:r>
            <a:r>
              <a:rPr sz="1000" spc="-50" dirty="0">
                <a:solidFill>
                  <a:srgbClr val="202429"/>
                </a:solidFill>
                <a:latin typeface="Tahoma"/>
                <a:cs typeface="Tahoma"/>
              </a:rPr>
              <a:t>transparency,</a:t>
            </a:r>
            <a:r>
              <a:rPr sz="1000" spc="-5" dirty="0">
                <a:solidFill>
                  <a:srgbClr val="202429"/>
                </a:solidFill>
                <a:latin typeface="Tahoma"/>
                <a:cs typeface="Tahoma"/>
              </a:rPr>
              <a:t> </a:t>
            </a:r>
            <a:r>
              <a:rPr sz="1000" spc="-25" dirty="0">
                <a:solidFill>
                  <a:srgbClr val="202429"/>
                </a:solidFill>
                <a:latin typeface="Tahoma"/>
                <a:cs typeface="Tahoma"/>
              </a:rPr>
              <a:t>and </a:t>
            </a:r>
            <a:r>
              <a:rPr sz="1000" spc="-50" dirty="0">
                <a:solidFill>
                  <a:srgbClr val="202429"/>
                </a:solidFill>
                <a:latin typeface="Tahoma"/>
                <a:cs typeface="Tahoma"/>
              </a:rPr>
              <a:t>human</a:t>
            </a:r>
            <a:r>
              <a:rPr sz="1000" spc="-20" dirty="0">
                <a:solidFill>
                  <a:srgbClr val="202429"/>
                </a:solidFill>
                <a:latin typeface="Tahoma"/>
                <a:cs typeface="Tahoma"/>
              </a:rPr>
              <a:t> </a:t>
            </a:r>
            <a:r>
              <a:rPr sz="1000" spc="-35" dirty="0">
                <a:solidFill>
                  <a:srgbClr val="202429"/>
                </a:solidFill>
                <a:latin typeface="Tahoma"/>
                <a:cs typeface="Tahoma"/>
              </a:rPr>
              <a:t>oversight</a:t>
            </a:r>
            <a:r>
              <a:rPr sz="1000" spc="-15" dirty="0">
                <a:solidFill>
                  <a:srgbClr val="202429"/>
                </a:solidFill>
                <a:latin typeface="Tahoma"/>
                <a:cs typeface="Tahoma"/>
              </a:rPr>
              <a:t> </a:t>
            </a:r>
            <a:r>
              <a:rPr sz="1000" spc="-20" dirty="0">
                <a:solidFill>
                  <a:srgbClr val="202429"/>
                </a:solidFill>
                <a:latin typeface="Tahoma"/>
                <a:cs typeface="Tahoma"/>
              </a:rPr>
              <a:t>must</a:t>
            </a:r>
            <a:r>
              <a:rPr sz="1000" spc="-15" dirty="0">
                <a:solidFill>
                  <a:srgbClr val="202429"/>
                </a:solidFill>
                <a:latin typeface="Tahoma"/>
                <a:cs typeface="Tahoma"/>
              </a:rPr>
              <a:t> </a:t>
            </a:r>
            <a:r>
              <a:rPr sz="1000" spc="-25" dirty="0">
                <a:solidFill>
                  <a:srgbClr val="202429"/>
                </a:solidFill>
                <a:latin typeface="Tahoma"/>
                <a:cs typeface="Tahoma"/>
              </a:rPr>
              <a:t>be </a:t>
            </a:r>
            <a:r>
              <a:rPr sz="1000" spc="-50" dirty="0">
                <a:solidFill>
                  <a:srgbClr val="202429"/>
                </a:solidFill>
                <a:latin typeface="Tahoma"/>
                <a:cs typeface="Tahoma"/>
              </a:rPr>
              <a:t>designed</a:t>
            </a:r>
            <a:r>
              <a:rPr sz="1000" spc="-30" dirty="0">
                <a:solidFill>
                  <a:srgbClr val="202429"/>
                </a:solidFill>
                <a:latin typeface="Tahoma"/>
                <a:cs typeface="Tahoma"/>
              </a:rPr>
              <a:t> </a:t>
            </a:r>
            <a:r>
              <a:rPr sz="1000" dirty="0">
                <a:solidFill>
                  <a:srgbClr val="202429"/>
                </a:solidFill>
                <a:latin typeface="Tahoma"/>
                <a:cs typeface="Tahoma"/>
              </a:rPr>
              <a:t>in</a:t>
            </a:r>
            <a:r>
              <a:rPr sz="1000" spc="-60" dirty="0">
                <a:solidFill>
                  <a:srgbClr val="202429"/>
                </a:solidFill>
                <a:latin typeface="Tahoma"/>
                <a:cs typeface="Tahoma"/>
              </a:rPr>
              <a:t> </a:t>
            </a:r>
            <a:r>
              <a:rPr sz="1000" spc="-10" dirty="0">
                <a:solidFill>
                  <a:srgbClr val="202429"/>
                </a:solidFill>
                <a:latin typeface="Tahoma"/>
                <a:cs typeface="Tahoma"/>
              </a:rPr>
              <a:t>from</a:t>
            </a:r>
            <a:r>
              <a:rPr sz="1000" spc="-45" dirty="0">
                <a:solidFill>
                  <a:srgbClr val="202429"/>
                </a:solidFill>
                <a:latin typeface="Tahoma"/>
                <a:cs typeface="Tahoma"/>
              </a:rPr>
              <a:t> </a:t>
            </a:r>
            <a:r>
              <a:rPr sz="1000" spc="-10" dirty="0">
                <a:solidFill>
                  <a:srgbClr val="202429"/>
                </a:solidFill>
                <a:latin typeface="Tahoma"/>
                <a:cs typeface="Tahoma"/>
              </a:rPr>
              <a:t>the</a:t>
            </a:r>
            <a:r>
              <a:rPr sz="1000" spc="-45" dirty="0">
                <a:solidFill>
                  <a:srgbClr val="202429"/>
                </a:solidFill>
                <a:latin typeface="Tahoma"/>
                <a:cs typeface="Tahoma"/>
              </a:rPr>
              <a:t> </a:t>
            </a:r>
            <a:r>
              <a:rPr sz="1000" spc="-10" dirty="0">
                <a:solidFill>
                  <a:srgbClr val="202429"/>
                </a:solidFill>
                <a:latin typeface="Tahoma"/>
                <a:cs typeface="Tahoma"/>
              </a:rPr>
              <a:t>start.</a:t>
            </a:r>
            <a:endParaRPr sz="1000">
              <a:latin typeface="Tahoma"/>
              <a:cs typeface="Tahoma"/>
            </a:endParaRPr>
          </a:p>
        </p:txBody>
      </p:sp>
      <p:sp>
        <p:nvSpPr>
          <p:cNvPr id="9" name="object 9"/>
          <p:cNvSpPr txBox="1"/>
          <p:nvPr/>
        </p:nvSpPr>
        <p:spPr>
          <a:xfrm>
            <a:off x="1039507" y="2504757"/>
            <a:ext cx="3681095" cy="238125"/>
          </a:xfrm>
          <a:prstGeom prst="rect">
            <a:avLst/>
          </a:prstGeom>
          <a:solidFill>
            <a:srgbClr val="FFF3EB"/>
          </a:solidFill>
          <a:ln w="5060">
            <a:solidFill>
              <a:srgbClr val="D65F2C"/>
            </a:solidFill>
          </a:ln>
        </p:spPr>
        <p:txBody>
          <a:bodyPr vert="horz" wrap="square" lIns="0" tIns="28575" rIns="0" bIns="0" rtlCol="0">
            <a:spAutoFit/>
          </a:bodyPr>
          <a:lstStyle/>
          <a:p>
            <a:pPr marL="1075055">
              <a:lnSpc>
                <a:spcPct val="100000"/>
              </a:lnSpc>
              <a:spcBef>
                <a:spcPts val="225"/>
              </a:spcBef>
            </a:pPr>
            <a:r>
              <a:rPr sz="1000" b="1" dirty="0">
                <a:solidFill>
                  <a:srgbClr val="202429"/>
                </a:solidFill>
                <a:latin typeface="Arial"/>
                <a:cs typeface="Arial"/>
              </a:rPr>
              <a:t>AI</a:t>
            </a:r>
            <a:r>
              <a:rPr sz="1000" b="1" spc="55" dirty="0">
                <a:solidFill>
                  <a:srgbClr val="202429"/>
                </a:solidFill>
                <a:latin typeface="Arial"/>
                <a:cs typeface="Arial"/>
              </a:rPr>
              <a:t> </a:t>
            </a:r>
            <a:r>
              <a:rPr sz="1000" b="1" spc="-55" dirty="0">
                <a:solidFill>
                  <a:srgbClr val="202429"/>
                </a:solidFill>
                <a:latin typeface="Arial"/>
                <a:cs typeface="Arial"/>
              </a:rPr>
              <a:t>assists,</a:t>
            </a:r>
            <a:r>
              <a:rPr sz="1000" b="1" spc="60" dirty="0">
                <a:solidFill>
                  <a:srgbClr val="202429"/>
                </a:solidFill>
                <a:latin typeface="Arial"/>
                <a:cs typeface="Arial"/>
              </a:rPr>
              <a:t> </a:t>
            </a:r>
            <a:r>
              <a:rPr sz="1000" b="1" spc="-50" dirty="0">
                <a:solidFill>
                  <a:srgbClr val="202429"/>
                </a:solidFill>
                <a:latin typeface="Arial"/>
                <a:cs typeface="Arial"/>
              </a:rPr>
              <a:t>human</a:t>
            </a:r>
            <a:r>
              <a:rPr lang="en-GB" sz="1000" b="1" spc="-50" dirty="0">
                <a:solidFill>
                  <a:srgbClr val="202429"/>
                </a:solidFill>
                <a:latin typeface="Arial"/>
                <a:cs typeface="Arial"/>
              </a:rPr>
              <a:t>s</a:t>
            </a:r>
            <a:r>
              <a:rPr lang="en-GB" sz="1000" b="1" spc="55" dirty="0">
                <a:solidFill>
                  <a:srgbClr val="202429"/>
                </a:solidFill>
                <a:latin typeface="Arial"/>
                <a:cs typeface="Arial"/>
              </a:rPr>
              <a:t> </a:t>
            </a:r>
            <a:r>
              <a:rPr lang="en-GB" sz="1000" b="1" spc="-10" dirty="0">
                <a:solidFill>
                  <a:srgbClr val="202429"/>
                </a:solidFill>
                <a:latin typeface="Arial"/>
                <a:cs typeface="Arial"/>
              </a:rPr>
              <a:t>decide</a:t>
            </a:r>
            <a:endParaRPr sz="1000" dirty="0">
              <a:latin typeface="Arial"/>
              <a:cs typeface="Arial"/>
            </a:endParaRPr>
          </a:p>
        </p:txBody>
      </p:sp>
      <p:sp>
        <p:nvSpPr>
          <p:cNvPr id="10" name="object 10"/>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3" name="Slide Number Placeholder 12">
            <a:extLst>
              <a:ext uri="{FF2B5EF4-FFF2-40B4-BE49-F238E27FC236}">
                <a16:creationId xmlns:a16="http://schemas.microsoft.com/office/drawing/2014/main" id="{63D4272E-ED98-3C0B-7335-C96B5108E3FB}"/>
              </a:ext>
            </a:extLst>
          </p:cNvPr>
          <p:cNvSpPr>
            <a:spLocks noGrp="1"/>
          </p:cNvSpPr>
          <p:nvPr>
            <p:ph type="sldNum" sz="quarter" idx="7"/>
          </p:nvPr>
        </p:nvSpPr>
        <p:spPr>
          <a:xfrm>
            <a:off x="4674831" y="3028689"/>
            <a:ext cx="548640" cy="173989"/>
          </a:xfrm>
        </p:spPr>
        <p:txBody>
          <a:bodyPr/>
          <a:lstStyle/>
          <a:p>
            <a:pPr marL="39370">
              <a:lnSpc>
                <a:spcPct val="100000"/>
              </a:lnSpc>
              <a:spcBef>
                <a:spcPts val="219"/>
              </a:spcBef>
            </a:pPr>
            <a:fld id="{81D60167-4931-47E6-BA6A-407CBD079E47}" type="slidenum">
              <a:rPr lang="en-GB" smtClean="0"/>
              <a:t>37</a:t>
            </a:fld>
            <a:r>
              <a:rPr lang="en-GB" spc="20"/>
              <a:t> </a:t>
            </a:r>
            <a:r>
              <a:rPr lang="en-GB" spc="120"/>
              <a:t>/</a:t>
            </a:r>
            <a:r>
              <a:rPr lang="en-GB" spc="25"/>
              <a:t> </a:t>
            </a:r>
            <a:r>
              <a:rPr lang="en-GB" spc="-25"/>
              <a:t>39</a:t>
            </a:r>
            <a:endParaRPr lang="en-GB" spc="-25"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47294" y="365706"/>
            <a:ext cx="1119505" cy="244475"/>
          </a:xfrm>
          <a:prstGeom prst="rect">
            <a:avLst/>
          </a:prstGeom>
        </p:spPr>
        <p:txBody>
          <a:bodyPr vert="horz" wrap="square" lIns="0" tIns="17145" rIns="0" bIns="0" rtlCol="0">
            <a:spAutoFit/>
          </a:bodyPr>
          <a:lstStyle/>
          <a:p>
            <a:pPr marL="12700">
              <a:lnSpc>
                <a:spcPct val="100000"/>
              </a:lnSpc>
              <a:spcBef>
                <a:spcPts val="135"/>
              </a:spcBef>
            </a:pPr>
            <a:r>
              <a:rPr dirty="0"/>
              <a:t>Get</a:t>
            </a:r>
            <a:r>
              <a:rPr spc="105" dirty="0"/>
              <a:t> </a:t>
            </a:r>
            <a:r>
              <a:rPr dirty="0"/>
              <a:t>in</a:t>
            </a:r>
            <a:r>
              <a:rPr spc="110" dirty="0"/>
              <a:t> </a:t>
            </a:r>
            <a:r>
              <a:rPr spc="-20" dirty="0"/>
              <a:t>Touch</a:t>
            </a:r>
          </a:p>
        </p:txBody>
      </p:sp>
      <p:sp>
        <p:nvSpPr>
          <p:cNvPr id="3" name="object 3"/>
          <p:cNvSpPr/>
          <p:nvPr/>
        </p:nvSpPr>
        <p:spPr>
          <a:xfrm>
            <a:off x="359994" y="750887"/>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sp>
        <p:nvSpPr>
          <p:cNvPr id="4" name="object 4"/>
          <p:cNvSpPr txBox="1"/>
          <p:nvPr/>
        </p:nvSpPr>
        <p:spPr>
          <a:xfrm>
            <a:off x="259534" y="842258"/>
            <a:ext cx="2690995" cy="755976"/>
          </a:xfrm>
          <a:prstGeom prst="rect">
            <a:avLst/>
          </a:prstGeom>
          <a:solidFill>
            <a:srgbClr val="E8F4F8"/>
          </a:solidFill>
          <a:ln w="5060">
            <a:solidFill>
              <a:srgbClr val="005F73"/>
            </a:solidFill>
          </a:ln>
        </p:spPr>
        <p:txBody>
          <a:bodyPr vert="horz" wrap="square" lIns="0" tIns="62865" rIns="0" bIns="0" rtlCol="0">
            <a:spAutoFit/>
          </a:bodyPr>
          <a:lstStyle/>
          <a:p>
            <a:pPr algn="l">
              <a:lnSpc>
                <a:spcPct val="100000"/>
              </a:lnSpc>
            </a:pPr>
            <a:r>
              <a:rPr sz="900" b="1" dirty="0"/>
              <a:t>Georgina Cosma</a:t>
            </a:r>
            <a:endParaRPr lang="en-GB" sz="900" b="1" dirty="0"/>
          </a:p>
          <a:p>
            <a:pPr algn="l">
              <a:lnSpc>
                <a:spcPct val="100000"/>
              </a:lnSpc>
            </a:pPr>
            <a:r>
              <a:rPr sz="900" dirty="0"/>
              <a:t>Professor of AI &amp; Data Science </a:t>
            </a:r>
            <a:endParaRPr lang="en-GB" sz="900" dirty="0"/>
          </a:p>
          <a:p>
            <a:pPr algn="l">
              <a:lnSpc>
                <a:spcPct val="100000"/>
              </a:lnSpc>
            </a:pPr>
            <a:r>
              <a:rPr sz="900" dirty="0"/>
              <a:t>Loughborough University</a:t>
            </a:r>
            <a:endParaRPr lang="en-GB" sz="900" dirty="0"/>
          </a:p>
          <a:p>
            <a:pPr algn="l">
              <a:lnSpc>
                <a:spcPct val="100000"/>
              </a:lnSpc>
            </a:pPr>
            <a:r>
              <a:rPr sz="900" dirty="0">
                <a:hlinkClick r:id="rId3"/>
              </a:rPr>
              <a:t>g.cosma@lboro.ac.uk</a:t>
            </a:r>
            <a:endParaRPr lang="en-GB" sz="900" dirty="0"/>
          </a:p>
          <a:p>
            <a:pPr algn="l">
              <a:lnSpc>
                <a:spcPct val="100000"/>
              </a:lnSpc>
            </a:pPr>
            <a:r>
              <a:rPr lang="en-GB" sz="900" dirty="0"/>
              <a:t>Research website: </a:t>
            </a:r>
            <a:r>
              <a:rPr lang="en-GB" sz="900" dirty="0">
                <a:hlinkClick r:id="rId4"/>
              </a:rPr>
              <a:t>https://cosmos-ai.com</a:t>
            </a:r>
            <a:r>
              <a:rPr sz="900" dirty="0">
                <a:hlinkClick r:id="rId4"/>
              </a:rPr>
              <a:t>/</a:t>
            </a:r>
            <a:endParaRPr sz="700" dirty="0">
              <a:latin typeface="Tahoma"/>
              <a:cs typeface="Tahoma"/>
            </a:endParaRPr>
          </a:p>
        </p:txBody>
      </p:sp>
      <p:sp>
        <p:nvSpPr>
          <p:cNvPr id="5" name="object 5"/>
          <p:cNvSpPr/>
          <p:nvPr/>
        </p:nvSpPr>
        <p:spPr>
          <a:xfrm>
            <a:off x="3132010" y="1010399"/>
            <a:ext cx="0" cy="1620520"/>
          </a:xfrm>
          <a:custGeom>
            <a:avLst/>
            <a:gdLst/>
            <a:ahLst/>
            <a:cxnLst/>
            <a:rect l="l" t="t" r="r" b="b"/>
            <a:pathLst>
              <a:path h="1620520">
                <a:moveTo>
                  <a:pt x="0" y="1619999"/>
                </a:moveTo>
                <a:lnTo>
                  <a:pt x="0" y="0"/>
                </a:lnTo>
              </a:path>
            </a:pathLst>
          </a:custGeom>
          <a:ln w="6325">
            <a:solidFill>
              <a:srgbClr val="CED3DA"/>
            </a:solidFill>
          </a:ln>
        </p:spPr>
        <p:txBody>
          <a:bodyPr wrap="square" lIns="0" tIns="0" rIns="0" bIns="0" rtlCol="0"/>
          <a:lstStyle/>
          <a:p>
            <a:endParaRPr/>
          </a:p>
        </p:txBody>
      </p:sp>
      <p:sp>
        <p:nvSpPr>
          <p:cNvPr id="6" name="object 6"/>
          <p:cNvSpPr txBox="1"/>
          <p:nvPr/>
        </p:nvSpPr>
        <p:spPr>
          <a:xfrm>
            <a:off x="3340104" y="995405"/>
            <a:ext cx="2193616" cy="962443"/>
          </a:xfrm>
          <a:prstGeom prst="rect">
            <a:avLst/>
          </a:prstGeom>
        </p:spPr>
        <p:txBody>
          <a:bodyPr vert="horz" wrap="square" lIns="0" tIns="99695" rIns="0" bIns="0" rtlCol="0">
            <a:spAutoFit/>
          </a:bodyPr>
          <a:lstStyle/>
          <a:p>
            <a:pPr marL="12700">
              <a:lnSpc>
                <a:spcPct val="100000"/>
              </a:lnSpc>
              <a:spcBef>
                <a:spcPts val="785"/>
              </a:spcBef>
            </a:pPr>
            <a:r>
              <a:rPr sz="1100" b="1" dirty="0">
                <a:solidFill>
                  <a:srgbClr val="202429"/>
                </a:solidFill>
                <a:latin typeface="Arial"/>
                <a:cs typeface="Arial"/>
              </a:rPr>
              <a:t>If</a:t>
            </a:r>
            <a:r>
              <a:rPr sz="1100" b="1" spc="25" dirty="0">
                <a:solidFill>
                  <a:srgbClr val="202429"/>
                </a:solidFill>
                <a:latin typeface="Arial"/>
                <a:cs typeface="Arial"/>
              </a:rPr>
              <a:t> </a:t>
            </a:r>
            <a:r>
              <a:rPr sz="1100" b="1" spc="-45" dirty="0">
                <a:solidFill>
                  <a:srgbClr val="202429"/>
                </a:solidFill>
                <a:latin typeface="Arial"/>
                <a:cs typeface="Arial"/>
              </a:rPr>
              <a:t>you</a:t>
            </a:r>
            <a:r>
              <a:rPr sz="1100" b="1" spc="25" dirty="0">
                <a:solidFill>
                  <a:srgbClr val="202429"/>
                </a:solidFill>
                <a:latin typeface="Arial"/>
                <a:cs typeface="Arial"/>
              </a:rPr>
              <a:t> </a:t>
            </a:r>
            <a:r>
              <a:rPr sz="1100" b="1" spc="-10" dirty="0">
                <a:solidFill>
                  <a:srgbClr val="202429"/>
                </a:solidFill>
                <a:latin typeface="Arial"/>
                <a:cs typeface="Arial"/>
              </a:rPr>
              <a:t>are</a:t>
            </a:r>
            <a:r>
              <a:rPr sz="1100" b="1" spc="25" dirty="0">
                <a:solidFill>
                  <a:srgbClr val="202429"/>
                </a:solidFill>
                <a:latin typeface="Arial"/>
                <a:cs typeface="Arial"/>
              </a:rPr>
              <a:t> </a:t>
            </a:r>
            <a:r>
              <a:rPr sz="1100" b="1" spc="-30" dirty="0">
                <a:solidFill>
                  <a:srgbClr val="202429"/>
                </a:solidFill>
                <a:latin typeface="Arial"/>
                <a:cs typeface="Arial"/>
              </a:rPr>
              <a:t>interested</a:t>
            </a:r>
            <a:r>
              <a:rPr sz="1100" b="1" spc="30" dirty="0">
                <a:solidFill>
                  <a:srgbClr val="202429"/>
                </a:solidFill>
                <a:latin typeface="Arial"/>
                <a:cs typeface="Arial"/>
              </a:rPr>
              <a:t> </a:t>
            </a:r>
            <a:r>
              <a:rPr sz="1100" b="1" spc="-25" dirty="0">
                <a:solidFill>
                  <a:srgbClr val="202429"/>
                </a:solidFill>
                <a:latin typeface="Arial"/>
                <a:cs typeface="Arial"/>
              </a:rPr>
              <a:t>in:</a:t>
            </a:r>
            <a:endParaRPr sz="1100" dirty="0">
              <a:latin typeface="Arial"/>
              <a:cs typeface="Arial"/>
            </a:endParaRPr>
          </a:p>
          <a:p>
            <a:pPr marL="117475" indent="-104775">
              <a:lnSpc>
                <a:spcPct val="100000"/>
              </a:lnSpc>
              <a:spcBef>
                <a:spcPts val="630"/>
              </a:spcBef>
              <a:buClr>
                <a:srgbClr val="005F73"/>
              </a:buClr>
              <a:buFont typeface="Times New Roman"/>
              <a:buChar char="•"/>
              <a:tabLst>
                <a:tab pos="117475" algn="l"/>
              </a:tabLst>
            </a:pPr>
            <a:r>
              <a:rPr sz="1000" spc="-10" dirty="0">
                <a:solidFill>
                  <a:srgbClr val="202429"/>
                </a:solidFill>
                <a:latin typeface="Tahoma"/>
                <a:cs typeface="Tahoma"/>
              </a:rPr>
              <a:t>Finding</a:t>
            </a:r>
            <a:r>
              <a:rPr sz="1000" spc="-50" dirty="0">
                <a:solidFill>
                  <a:srgbClr val="202429"/>
                </a:solidFill>
                <a:latin typeface="Tahoma"/>
                <a:cs typeface="Tahoma"/>
              </a:rPr>
              <a:t> </a:t>
            </a:r>
            <a:r>
              <a:rPr sz="1000" dirty="0">
                <a:solidFill>
                  <a:srgbClr val="202429"/>
                </a:solidFill>
                <a:latin typeface="Tahoma"/>
                <a:cs typeface="Tahoma"/>
              </a:rPr>
              <a:t>out</a:t>
            </a:r>
            <a:r>
              <a:rPr sz="1000" spc="-40" dirty="0">
                <a:solidFill>
                  <a:srgbClr val="202429"/>
                </a:solidFill>
                <a:latin typeface="Tahoma"/>
                <a:cs typeface="Tahoma"/>
              </a:rPr>
              <a:t> </a:t>
            </a:r>
            <a:r>
              <a:rPr sz="1000" spc="-50" dirty="0">
                <a:solidFill>
                  <a:srgbClr val="202429"/>
                </a:solidFill>
                <a:latin typeface="Tahoma"/>
                <a:cs typeface="Tahoma"/>
              </a:rPr>
              <a:t>more</a:t>
            </a:r>
            <a:r>
              <a:rPr sz="1000" spc="-30" dirty="0">
                <a:solidFill>
                  <a:srgbClr val="202429"/>
                </a:solidFill>
                <a:latin typeface="Tahoma"/>
                <a:cs typeface="Tahoma"/>
              </a:rPr>
              <a:t> </a:t>
            </a:r>
            <a:r>
              <a:rPr sz="1000" spc="-20" dirty="0">
                <a:solidFill>
                  <a:srgbClr val="202429"/>
                </a:solidFill>
                <a:latin typeface="Tahoma"/>
                <a:cs typeface="Tahoma"/>
              </a:rPr>
              <a:t>about</a:t>
            </a:r>
            <a:r>
              <a:rPr sz="1000" spc="-35" dirty="0">
                <a:solidFill>
                  <a:srgbClr val="202429"/>
                </a:solidFill>
                <a:latin typeface="Tahoma"/>
                <a:cs typeface="Tahoma"/>
              </a:rPr>
              <a:t> </a:t>
            </a:r>
            <a:r>
              <a:rPr sz="1000" spc="-20" dirty="0">
                <a:solidFill>
                  <a:srgbClr val="202429"/>
                </a:solidFill>
                <a:latin typeface="Tahoma"/>
                <a:cs typeface="Tahoma"/>
              </a:rPr>
              <a:t>our</a:t>
            </a:r>
            <a:r>
              <a:rPr sz="1000" spc="-40" dirty="0">
                <a:solidFill>
                  <a:srgbClr val="202429"/>
                </a:solidFill>
                <a:latin typeface="Tahoma"/>
                <a:cs typeface="Tahoma"/>
              </a:rPr>
              <a:t> </a:t>
            </a:r>
            <a:r>
              <a:rPr sz="1000" spc="-20" dirty="0">
                <a:solidFill>
                  <a:srgbClr val="202429"/>
                </a:solidFill>
                <a:latin typeface="Tahoma"/>
                <a:cs typeface="Tahoma"/>
              </a:rPr>
              <a:t>work</a:t>
            </a:r>
            <a:endParaRPr sz="1000" dirty="0">
              <a:latin typeface="Tahoma"/>
              <a:cs typeface="Tahoma"/>
            </a:endParaRPr>
          </a:p>
          <a:p>
            <a:pPr marL="117475" indent="-104775">
              <a:lnSpc>
                <a:spcPct val="100000"/>
              </a:lnSpc>
              <a:spcBef>
                <a:spcPts val="495"/>
              </a:spcBef>
              <a:buClr>
                <a:srgbClr val="005F73"/>
              </a:buClr>
              <a:buFont typeface="Times New Roman"/>
              <a:buChar char="•"/>
              <a:tabLst>
                <a:tab pos="117475" algn="l"/>
              </a:tabLst>
            </a:pPr>
            <a:r>
              <a:rPr sz="1000" spc="-10" dirty="0">
                <a:solidFill>
                  <a:srgbClr val="202429"/>
                </a:solidFill>
                <a:latin typeface="Tahoma"/>
                <a:cs typeface="Tahoma"/>
              </a:rPr>
              <a:t>Using</a:t>
            </a:r>
            <a:r>
              <a:rPr sz="1000" spc="-30" dirty="0">
                <a:solidFill>
                  <a:srgbClr val="202429"/>
                </a:solidFill>
                <a:latin typeface="Tahoma"/>
                <a:cs typeface="Tahoma"/>
              </a:rPr>
              <a:t> </a:t>
            </a:r>
            <a:r>
              <a:rPr sz="1000" spc="-20" dirty="0">
                <a:solidFill>
                  <a:srgbClr val="202429"/>
                </a:solidFill>
                <a:latin typeface="Tahoma"/>
                <a:cs typeface="Tahoma"/>
              </a:rPr>
              <a:t>the</a:t>
            </a:r>
            <a:r>
              <a:rPr sz="1000" spc="-25" dirty="0">
                <a:solidFill>
                  <a:srgbClr val="202429"/>
                </a:solidFill>
                <a:latin typeface="Tahoma"/>
                <a:cs typeface="Tahoma"/>
              </a:rPr>
              <a:t> </a:t>
            </a:r>
            <a:r>
              <a:rPr sz="1000" dirty="0">
                <a:solidFill>
                  <a:srgbClr val="202429"/>
                </a:solidFill>
                <a:latin typeface="Tahoma"/>
                <a:cs typeface="Tahoma"/>
              </a:rPr>
              <a:t>tool</a:t>
            </a:r>
            <a:r>
              <a:rPr sz="1000" spc="-25" dirty="0">
                <a:solidFill>
                  <a:srgbClr val="202429"/>
                </a:solidFill>
                <a:latin typeface="Tahoma"/>
                <a:cs typeface="Tahoma"/>
              </a:rPr>
              <a:t> </a:t>
            </a:r>
            <a:r>
              <a:rPr sz="1000" dirty="0">
                <a:solidFill>
                  <a:srgbClr val="202429"/>
                </a:solidFill>
                <a:latin typeface="Tahoma"/>
                <a:cs typeface="Tahoma"/>
              </a:rPr>
              <a:t>to</a:t>
            </a:r>
            <a:r>
              <a:rPr sz="1000" spc="-20" dirty="0">
                <a:solidFill>
                  <a:srgbClr val="202429"/>
                </a:solidFill>
                <a:latin typeface="Tahoma"/>
                <a:cs typeface="Tahoma"/>
              </a:rPr>
              <a:t> </a:t>
            </a:r>
            <a:r>
              <a:rPr sz="1000" spc="-40" dirty="0">
                <a:solidFill>
                  <a:srgbClr val="202429"/>
                </a:solidFill>
                <a:latin typeface="Tahoma"/>
                <a:cs typeface="Tahoma"/>
              </a:rPr>
              <a:t>analyse</a:t>
            </a:r>
            <a:r>
              <a:rPr sz="1000" spc="-25" dirty="0">
                <a:solidFill>
                  <a:srgbClr val="202429"/>
                </a:solidFill>
                <a:latin typeface="Tahoma"/>
                <a:cs typeface="Tahoma"/>
              </a:rPr>
              <a:t> </a:t>
            </a:r>
            <a:r>
              <a:rPr sz="1000" spc="-45" dirty="0">
                <a:solidFill>
                  <a:srgbClr val="202429"/>
                </a:solidFill>
                <a:latin typeface="Tahoma"/>
                <a:cs typeface="Tahoma"/>
              </a:rPr>
              <a:t>your</a:t>
            </a:r>
            <a:r>
              <a:rPr sz="1000" spc="-25" dirty="0">
                <a:solidFill>
                  <a:srgbClr val="202429"/>
                </a:solidFill>
                <a:latin typeface="Tahoma"/>
                <a:cs typeface="Tahoma"/>
              </a:rPr>
              <a:t> reports</a:t>
            </a:r>
            <a:endParaRPr sz="1000" dirty="0">
              <a:latin typeface="Tahoma"/>
              <a:cs typeface="Tahoma"/>
            </a:endParaRPr>
          </a:p>
          <a:p>
            <a:pPr marL="117475" indent="-104775">
              <a:lnSpc>
                <a:spcPct val="100000"/>
              </a:lnSpc>
              <a:spcBef>
                <a:spcPts val="650"/>
              </a:spcBef>
              <a:buClr>
                <a:srgbClr val="005F73"/>
              </a:buClr>
              <a:buFont typeface="Times New Roman"/>
              <a:buChar char="•"/>
              <a:tabLst>
                <a:tab pos="117475" algn="l"/>
              </a:tabLst>
            </a:pPr>
            <a:r>
              <a:rPr sz="1000" spc="-50" dirty="0">
                <a:solidFill>
                  <a:srgbClr val="202429"/>
                </a:solidFill>
                <a:latin typeface="Tahoma"/>
                <a:cs typeface="Tahoma"/>
              </a:rPr>
              <a:t>Research</a:t>
            </a:r>
            <a:r>
              <a:rPr sz="1000" spc="-10" dirty="0">
                <a:solidFill>
                  <a:srgbClr val="202429"/>
                </a:solidFill>
                <a:latin typeface="Tahoma"/>
                <a:cs typeface="Tahoma"/>
              </a:rPr>
              <a:t> partnerships</a:t>
            </a:r>
            <a:endParaRPr lang="en-GB" sz="1000" spc="-10" dirty="0">
              <a:solidFill>
                <a:srgbClr val="202429"/>
              </a:solidFill>
              <a:latin typeface="Tahoma"/>
              <a:cs typeface="Tahoma"/>
            </a:endParaRPr>
          </a:p>
        </p:txBody>
      </p:sp>
      <p:sp>
        <p:nvSpPr>
          <p:cNvPr id="7" name="object 7"/>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0" name="Slide Number Placeholder 9">
            <a:extLst>
              <a:ext uri="{FF2B5EF4-FFF2-40B4-BE49-F238E27FC236}">
                <a16:creationId xmlns:a16="http://schemas.microsoft.com/office/drawing/2014/main" id="{1D589291-5C0A-E61A-DAD2-4996029A1338}"/>
              </a:ext>
            </a:extLst>
          </p:cNvPr>
          <p:cNvSpPr>
            <a:spLocks noGrp="1"/>
          </p:cNvSpPr>
          <p:nvPr>
            <p:ph type="sldNum" sz="quarter" idx="7"/>
          </p:nvPr>
        </p:nvSpPr>
        <p:spPr>
          <a:xfrm>
            <a:off x="5255292" y="3076698"/>
            <a:ext cx="548640" cy="173989"/>
          </a:xfrm>
        </p:spPr>
        <p:txBody>
          <a:bodyPr/>
          <a:lstStyle/>
          <a:p>
            <a:pPr marL="39370">
              <a:lnSpc>
                <a:spcPct val="100000"/>
              </a:lnSpc>
              <a:spcBef>
                <a:spcPts val="219"/>
              </a:spcBef>
            </a:pPr>
            <a:fld id="{81D60167-4931-47E6-BA6A-407CBD079E47}" type="slidenum">
              <a:rPr lang="en-GB" smtClean="0"/>
              <a:t>38</a:t>
            </a:fld>
            <a:r>
              <a:rPr lang="en-GB" spc="20" dirty="0"/>
              <a:t> </a:t>
            </a:r>
            <a:r>
              <a:rPr lang="en-GB" spc="120" dirty="0"/>
              <a:t>/</a:t>
            </a:r>
            <a:r>
              <a:rPr lang="en-GB" spc="25" dirty="0"/>
              <a:t> </a:t>
            </a:r>
            <a:r>
              <a:rPr lang="en-GB" spc="-25" dirty="0"/>
              <a:t>39</a:t>
            </a:r>
          </a:p>
        </p:txBody>
      </p:sp>
      <p:sp>
        <p:nvSpPr>
          <p:cNvPr id="9" name="object 4">
            <a:extLst>
              <a:ext uri="{FF2B5EF4-FFF2-40B4-BE49-F238E27FC236}">
                <a16:creationId xmlns:a16="http://schemas.microsoft.com/office/drawing/2014/main" id="{85EC79A8-8FD1-112A-8153-8D9B2584939C}"/>
              </a:ext>
            </a:extLst>
          </p:cNvPr>
          <p:cNvSpPr txBox="1"/>
          <p:nvPr/>
        </p:nvSpPr>
        <p:spPr>
          <a:xfrm>
            <a:off x="250242" y="1689604"/>
            <a:ext cx="2700286" cy="1032975"/>
          </a:xfrm>
          <a:prstGeom prst="rect">
            <a:avLst/>
          </a:prstGeom>
          <a:solidFill>
            <a:srgbClr val="E8F4F8"/>
          </a:solidFill>
          <a:ln w="5060">
            <a:solidFill>
              <a:srgbClr val="005F73"/>
            </a:solidFill>
          </a:ln>
        </p:spPr>
        <p:txBody>
          <a:bodyPr vert="horz" wrap="square" lIns="0" tIns="62865" rIns="0" bIns="0" rtlCol="0">
            <a:spAutoFit/>
          </a:bodyPr>
          <a:lstStyle/>
          <a:p>
            <a:pPr algn="l"/>
            <a:r>
              <a:rPr lang="en-GB" sz="900" b="1" spc="-50" dirty="0">
                <a:solidFill>
                  <a:srgbClr val="202429"/>
                </a:solidFill>
                <a:latin typeface="Arial"/>
                <a:cs typeface="Arial"/>
              </a:rPr>
              <a:t>Patrick Waterson</a:t>
            </a:r>
          </a:p>
          <a:p>
            <a:pPr algn="l"/>
            <a:r>
              <a:rPr lang="en-GB" sz="900" dirty="0"/>
              <a:t>Professor of Human Factors and Complex Systems</a:t>
            </a:r>
          </a:p>
          <a:p>
            <a:pPr algn="l"/>
            <a:r>
              <a:rPr sz="900" spc="-45" dirty="0">
                <a:solidFill>
                  <a:schemeClr val="tx1"/>
                </a:solidFill>
                <a:latin typeface="Tahoma"/>
                <a:cs typeface="Tahoma"/>
              </a:rPr>
              <a:t>Loughborough</a:t>
            </a:r>
            <a:r>
              <a:rPr sz="900" spc="30" dirty="0">
                <a:solidFill>
                  <a:schemeClr val="tx1"/>
                </a:solidFill>
                <a:latin typeface="Tahoma"/>
                <a:cs typeface="Tahoma"/>
              </a:rPr>
              <a:t> </a:t>
            </a:r>
            <a:r>
              <a:rPr sz="900" spc="-10" dirty="0">
                <a:solidFill>
                  <a:schemeClr val="tx1"/>
                </a:solidFill>
                <a:latin typeface="Tahoma"/>
                <a:cs typeface="Tahoma"/>
              </a:rPr>
              <a:t>University</a:t>
            </a:r>
            <a:endParaRPr lang="en-GB" sz="900" spc="-10" dirty="0">
              <a:solidFill>
                <a:schemeClr val="tx1"/>
              </a:solidFill>
              <a:latin typeface="Tahoma"/>
              <a:cs typeface="Tahoma"/>
            </a:endParaRPr>
          </a:p>
          <a:p>
            <a:pPr marR="372745" algn="l"/>
            <a:r>
              <a:rPr lang="en-GB" sz="900" spc="-10" dirty="0">
                <a:solidFill>
                  <a:schemeClr val="tx1"/>
                </a:solidFill>
                <a:latin typeface="Tahoma"/>
                <a:cs typeface="Tahoma"/>
                <a:hlinkClick r:id="rId5"/>
              </a:rPr>
              <a:t>P.Waterson@lboro.ac.uk</a:t>
            </a:r>
            <a:r>
              <a:rPr lang="en-GB" sz="900" spc="-10" dirty="0">
                <a:solidFill>
                  <a:schemeClr val="tx1"/>
                </a:solidFill>
                <a:latin typeface="Tahoma"/>
                <a:cs typeface="Tahoma"/>
              </a:rPr>
              <a:t> </a:t>
            </a:r>
          </a:p>
          <a:p>
            <a:pPr marR="372745" algn="l"/>
            <a:r>
              <a:rPr lang="en-GB" sz="900" spc="-10" dirty="0">
                <a:solidFill>
                  <a:srgbClr val="6C757C"/>
                </a:solidFill>
                <a:latin typeface="Tahoma"/>
                <a:cs typeface="Tahoma"/>
              </a:rPr>
              <a:t>Website: </a:t>
            </a:r>
            <a:r>
              <a:rPr lang="en-GB" sz="900" spc="-10" dirty="0">
                <a:solidFill>
                  <a:srgbClr val="6C757C"/>
                </a:solidFill>
                <a:latin typeface="Tahoma"/>
                <a:cs typeface="Tahoma"/>
                <a:hlinkClick r:id="rId6"/>
              </a:rPr>
              <a:t>https://www.lboro.ac.uk/schools/design-creative-arts/people/patrick-waterson/</a:t>
            </a:r>
            <a:r>
              <a:rPr lang="en-GB" sz="900" spc="-10" dirty="0">
                <a:solidFill>
                  <a:srgbClr val="6C757C"/>
                </a:solidFill>
                <a:latin typeface="Tahoma"/>
                <a:cs typeface="Tahoma"/>
              </a:rPr>
              <a:t> </a:t>
            </a:r>
            <a:endParaRPr sz="900" dirty="0">
              <a:latin typeface="Tahoma"/>
              <a:cs typeface="Tahom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 y="3024060"/>
            <a:ext cx="5760085" cy="216535"/>
          </a:xfrm>
          <a:custGeom>
            <a:avLst/>
            <a:gdLst/>
            <a:ahLst/>
            <a:cxnLst/>
            <a:rect l="l" t="t" r="r" b="b"/>
            <a:pathLst>
              <a:path w="5760085" h="216535">
                <a:moveTo>
                  <a:pt x="0" y="216005"/>
                </a:moveTo>
                <a:lnTo>
                  <a:pt x="0" y="0"/>
                </a:lnTo>
                <a:lnTo>
                  <a:pt x="5760073" y="0"/>
                </a:lnTo>
                <a:lnTo>
                  <a:pt x="5760073" y="216005"/>
                </a:lnTo>
                <a:lnTo>
                  <a:pt x="0" y="216005"/>
                </a:lnTo>
                <a:close/>
              </a:path>
            </a:pathLst>
          </a:custGeom>
          <a:solidFill>
            <a:srgbClr val="005F73"/>
          </a:solidFill>
        </p:spPr>
        <p:txBody>
          <a:bodyPr wrap="square" lIns="0" tIns="0" rIns="0" bIns="0" rtlCol="0"/>
          <a:lstStyle/>
          <a:p>
            <a:endParaRPr/>
          </a:p>
        </p:txBody>
      </p:sp>
      <p:sp>
        <p:nvSpPr>
          <p:cNvPr id="3" name="object 3" descr="$PPTXTitle"/>
          <p:cNvSpPr txBox="1">
            <a:spLocks noGrp="1"/>
          </p:cNvSpPr>
          <p:nvPr>
            <p:ph type="title"/>
          </p:nvPr>
        </p:nvSpPr>
        <p:spPr>
          <a:xfrm>
            <a:off x="1721637" y="397719"/>
            <a:ext cx="2315845" cy="572135"/>
          </a:xfrm>
          <a:prstGeom prst="rect">
            <a:avLst/>
          </a:prstGeom>
        </p:spPr>
        <p:txBody>
          <a:bodyPr vert="horz" wrap="square" lIns="0" tIns="17145" rIns="0" bIns="0" rtlCol="0">
            <a:spAutoFit/>
          </a:bodyPr>
          <a:lstStyle/>
          <a:p>
            <a:pPr marL="12700">
              <a:lnSpc>
                <a:spcPct val="100000"/>
              </a:lnSpc>
              <a:spcBef>
                <a:spcPts val="135"/>
              </a:spcBef>
            </a:pPr>
            <a:r>
              <a:rPr sz="3550" dirty="0"/>
              <a:t>Thank</a:t>
            </a:r>
            <a:r>
              <a:rPr sz="3550" spc="290" dirty="0"/>
              <a:t> </a:t>
            </a:r>
            <a:r>
              <a:rPr sz="3550" spc="-114" dirty="0"/>
              <a:t>You</a:t>
            </a:r>
            <a:endParaRPr sz="3550"/>
          </a:p>
        </p:txBody>
      </p:sp>
      <p:sp>
        <p:nvSpPr>
          <p:cNvPr id="4" name="object 4"/>
          <p:cNvSpPr/>
          <p:nvPr/>
        </p:nvSpPr>
        <p:spPr>
          <a:xfrm>
            <a:off x="2160003" y="1163878"/>
            <a:ext cx="1440180" cy="0"/>
          </a:xfrm>
          <a:custGeom>
            <a:avLst/>
            <a:gdLst/>
            <a:ahLst/>
            <a:cxnLst/>
            <a:rect l="l" t="t" r="r" b="b"/>
            <a:pathLst>
              <a:path w="1440179">
                <a:moveTo>
                  <a:pt x="0" y="0"/>
                </a:moveTo>
                <a:lnTo>
                  <a:pt x="1440002" y="0"/>
                </a:lnTo>
              </a:path>
            </a:pathLst>
          </a:custGeom>
          <a:ln w="25304">
            <a:solidFill>
              <a:srgbClr val="005F73"/>
            </a:solidFill>
          </a:ln>
        </p:spPr>
        <p:txBody>
          <a:bodyPr wrap="square" lIns="0" tIns="0" rIns="0" bIns="0" rtlCol="0"/>
          <a:lstStyle/>
          <a:p>
            <a:endParaRPr/>
          </a:p>
        </p:txBody>
      </p:sp>
      <p:sp>
        <p:nvSpPr>
          <p:cNvPr id="5" name="object 5"/>
          <p:cNvSpPr txBox="1"/>
          <p:nvPr/>
        </p:nvSpPr>
        <p:spPr>
          <a:xfrm>
            <a:off x="720851" y="1323661"/>
            <a:ext cx="4318635" cy="1445260"/>
          </a:xfrm>
          <a:prstGeom prst="rect">
            <a:avLst/>
          </a:prstGeom>
        </p:spPr>
        <p:txBody>
          <a:bodyPr vert="horz" wrap="square" lIns="0" tIns="36195" rIns="0" bIns="0" rtlCol="0">
            <a:spAutoFit/>
          </a:bodyPr>
          <a:lstStyle/>
          <a:p>
            <a:pPr algn="ctr">
              <a:lnSpc>
                <a:spcPct val="100000"/>
              </a:lnSpc>
              <a:spcBef>
                <a:spcPts val="285"/>
              </a:spcBef>
            </a:pPr>
            <a:r>
              <a:rPr sz="1000" b="1" spc="-30" dirty="0">
                <a:solidFill>
                  <a:srgbClr val="202429"/>
                </a:solidFill>
                <a:latin typeface="Arial"/>
                <a:cs typeface="Arial"/>
              </a:rPr>
              <a:t>Selected</a:t>
            </a:r>
            <a:r>
              <a:rPr sz="1000" b="1" spc="35" dirty="0">
                <a:solidFill>
                  <a:srgbClr val="202429"/>
                </a:solidFill>
                <a:latin typeface="Arial"/>
                <a:cs typeface="Arial"/>
              </a:rPr>
              <a:t> </a:t>
            </a:r>
            <a:r>
              <a:rPr sz="1000" b="1" spc="-10" dirty="0">
                <a:solidFill>
                  <a:srgbClr val="202429"/>
                </a:solidFill>
                <a:latin typeface="Arial"/>
                <a:cs typeface="Arial"/>
              </a:rPr>
              <a:t>Publications</a:t>
            </a:r>
            <a:endParaRPr sz="1000" dirty="0">
              <a:latin typeface="Arial"/>
              <a:cs typeface="Arial"/>
            </a:endParaRPr>
          </a:p>
          <a:p>
            <a:pPr marL="91440" marR="83820" algn="ctr">
              <a:lnSpc>
                <a:spcPct val="101499"/>
              </a:lnSpc>
              <a:spcBef>
                <a:spcPts val="150"/>
              </a:spcBef>
            </a:pPr>
            <a:r>
              <a:rPr sz="900" spc="-60" dirty="0">
                <a:solidFill>
                  <a:srgbClr val="005F73"/>
                </a:solidFill>
                <a:latin typeface="Tahoma"/>
                <a:cs typeface="Tahoma"/>
              </a:rPr>
              <a:t>I-</a:t>
            </a:r>
            <a:r>
              <a:rPr sz="900" spc="-10" dirty="0">
                <a:solidFill>
                  <a:srgbClr val="005F73"/>
                </a:solidFill>
                <a:latin typeface="Tahoma"/>
                <a:cs typeface="Tahoma"/>
              </a:rPr>
              <a:t>SIRch:</a:t>
            </a:r>
            <a:r>
              <a:rPr sz="900" spc="55" dirty="0">
                <a:solidFill>
                  <a:srgbClr val="005F73"/>
                </a:solidFill>
                <a:latin typeface="Tahoma"/>
                <a:cs typeface="Tahoma"/>
              </a:rPr>
              <a:t> </a:t>
            </a:r>
            <a:r>
              <a:rPr sz="900" spc="-25" dirty="0">
                <a:solidFill>
                  <a:srgbClr val="005F73"/>
                </a:solidFill>
                <a:latin typeface="Tahoma"/>
                <a:cs typeface="Tahoma"/>
              </a:rPr>
              <a:t>AI-</a:t>
            </a:r>
            <a:r>
              <a:rPr sz="900" spc="-35" dirty="0">
                <a:solidFill>
                  <a:srgbClr val="005F73"/>
                </a:solidFill>
                <a:latin typeface="Tahoma"/>
                <a:cs typeface="Tahoma"/>
              </a:rPr>
              <a:t>powered</a:t>
            </a:r>
            <a:r>
              <a:rPr sz="900" spc="-30" dirty="0">
                <a:solidFill>
                  <a:srgbClr val="005F73"/>
                </a:solidFill>
                <a:latin typeface="Tahoma"/>
                <a:cs typeface="Tahoma"/>
              </a:rPr>
              <a:t> </a:t>
            </a:r>
            <a:r>
              <a:rPr sz="900" spc="-10" dirty="0">
                <a:solidFill>
                  <a:srgbClr val="005F73"/>
                </a:solidFill>
                <a:latin typeface="Tahoma"/>
                <a:cs typeface="Tahoma"/>
              </a:rPr>
              <a:t>concept</a:t>
            </a:r>
            <a:r>
              <a:rPr sz="900" spc="-25" dirty="0">
                <a:solidFill>
                  <a:srgbClr val="005F73"/>
                </a:solidFill>
                <a:latin typeface="Tahoma"/>
                <a:cs typeface="Tahoma"/>
              </a:rPr>
              <a:t> </a:t>
            </a:r>
            <a:r>
              <a:rPr sz="900" spc="-10" dirty="0">
                <a:solidFill>
                  <a:srgbClr val="005F73"/>
                </a:solidFill>
                <a:latin typeface="Tahoma"/>
                <a:cs typeface="Tahoma"/>
              </a:rPr>
              <a:t>annotation</a:t>
            </a:r>
            <a:r>
              <a:rPr sz="900" spc="-25" dirty="0">
                <a:solidFill>
                  <a:srgbClr val="005F73"/>
                </a:solidFill>
                <a:latin typeface="Tahoma"/>
                <a:cs typeface="Tahoma"/>
              </a:rPr>
              <a:t> </a:t>
            </a:r>
            <a:r>
              <a:rPr sz="900" dirty="0">
                <a:solidFill>
                  <a:srgbClr val="005F73"/>
                </a:solidFill>
                <a:latin typeface="Tahoma"/>
                <a:cs typeface="Tahoma"/>
              </a:rPr>
              <a:t>tool</a:t>
            </a:r>
            <a:r>
              <a:rPr sz="900" spc="-25" dirty="0">
                <a:solidFill>
                  <a:srgbClr val="005F73"/>
                </a:solidFill>
                <a:latin typeface="Tahoma"/>
                <a:cs typeface="Tahoma"/>
              </a:rPr>
              <a:t> </a:t>
            </a:r>
            <a:r>
              <a:rPr sz="900" dirty="0">
                <a:solidFill>
                  <a:srgbClr val="005F73"/>
                </a:solidFill>
                <a:latin typeface="Tahoma"/>
                <a:cs typeface="Tahoma"/>
              </a:rPr>
              <a:t>for</a:t>
            </a:r>
            <a:r>
              <a:rPr sz="900" spc="-25" dirty="0">
                <a:solidFill>
                  <a:srgbClr val="005F73"/>
                </a:solidFill>
                <a:latin typeface="Tahoma"/>
                <a:cs typeface="Tahoma"/>
              </a:rPr>
              <a:t> </a:t>
            </a:r>
            <a:r>
              <a:rPr sz="900" spc="-20" dirty="0">
                <a:solidFill>
                  <a:srgbClr val="005F73"/>
                </a:solidFill>
                <a:latin typeface="Tahoma"/>
                <a:cs typeface="Tahoma"/>
              </a:rPr>
              <a:t>equitable</a:t>
            </a:r>
            <a:r>
              <a:rPr sz="900" spc="-25" dirty="0">
                <a:solidFill>
                  <a:srgbClr val="005F73"/>
                </a:solidFill>
                <a:latin typeface="Tahoma"/>
                <a:cs typeface="Tahoma"/>
              </a:rPr>
              <a:t> </a:t>
            </a:r>
            <a:r>
              <a:rPr sz="900" spc="-10" dirty="0">
                <a:solidFill>
                  <a:srgbClr val="005F73"/>
                </a:solidFill>
                <a:latin typeface="Tahoma"/>
                <a:cs typeface="Tahoma"/>
              </a:rPr>
              <a:t>extraction</a:t>
            </a:r>
            <a:r>
              <a:rPr sz="900" spc="-25" dirty="0">
                <a:solidFill>
                  <a:srgbClr val="005F73"/>
                </a:solidFill>
                <a:latin typeface="Tahoma"/>
                <a:cs typeface="Tahoma"/>
              </a:rPr>
              <a:t> </a:t>
            </a:r>
            <a:r>
              <a:rPr sz="900" spc="-10" dirty="0">
                <a:solidFill>
                  <a:srgbClr val="005F73"/>
                </a:solidFill>
                <a:latin typeface="Tahoma"/>
                <a:cs typeface="Tahoma"/>
              </a:rPr>
              <a:t>and</a:t>
            </a:r>
            <a:r>
              <a:rPr sz="900" spc="-30" dirty="0">
                <a:solidFill>
                  <a:srgbClr val="005F73"/>
                </a:solidFill>
                <a:latin typeface="Tahoma"/>
                <a:cs typeface="Tahoma"/>
              </a:rPr>
              <a:t> </a:t>
            </a:r>
            <a:r>
              <a:rPr sz="900" spc="-20" dirty="0">
                <a:solidFill>
                  <a:srgbClr val="005F73"/>
                </a:solidFill>
                <a:latin typeface="Tahoma"/>
                <a:cs typeface="Tahoma"/>
              </a:rPr>
              <a:t>analysis</a:t>
            </a:r>
            <a:r>
              <a:rPr sz="900" spc="-25" dirty="0">
                <a:solidFill>
                  <a:srgbClr val="005F73"/>
                </a:solidFill>
                <a:latin typeface="Tahoma"/>
                <a:cs typeface="Tahoma"/>
              </a:rPr>
              <a:t> of safety</a:t>
            </a:r>
            <a:r>
              <a:rPr sz="900" spc="-20" dirty="0">
                <a:solidFill>
                  <a:srgbClr val="005F73"/>
                </a:solidFill>
                <a:latin typeface="Tahoma"/>
                <a:cs typeface="Tahoma"/>
              </a:rPr>
              <a:t> </a:t>
            </a:r>
            <a:r>
              <a:rPr sz="900" spc="-10" dirty="0">
                <a:solidFill>
                  <a:srgbClr val="005F73"/>
                </a:solidFill>
                <a:latin typeface="Tahoma"/>
                <a:cs typeface="Tahoma"/>
              </a:rPr>
              <a:t>insights</a:t>
            </a:r>
            <a:r>
              <a:rPr sz="900" spc="-25" dirty="0">
                <a:solidFill>
                  <a:srgbClr val="005F73"/>
                </a:solidFill>
                <a:latin typeface="Tahoma"/>
                <a:cs typeface="Tahoma"/>
              </a:rPr>
              <a:t> </a:t>
            </a:r>
            <a:r>
              <a:rPr sz="900" dirty="0">
                <a:solidFill>
                  <a:srgbClr val="005F73"/>
                </a:solidFill>
                <a:latin typeface="Tahoma"/>
                <a:cs typeface="Tahoma"/>
              </a:rPr>
              <a:t>from</a:t>
            </a:r>
            <a:r>
              <a:rPr sz="900" spc="-20" dirty="0">
                <a:solidFill>
                  <a:srgbClr val="005F73"/>
                </a:solidFill>
                <a:latin typeface="Tahoma"/>
                <a:cs typeface="Tahoma"/>
              </a:rPr>
              <a:t> </a:t>
            </a:r>
            <a:r>
              <a:rPr sz="900" spc="-10" dirty="0">
                <a:solidFill>
                  <a:srgbClr val="005F73"/>
                </a:solidFill>
                <a:latin typeface="Tahoma"/>
                <a:cs typeface="Tahoma"/>
              </a:rPr>
              <a:t>maternity</a:t>
            </a:r>
            <a:r>
              <a:rPr sz="900" spc="-20" dirty="0">
                <a:solidFill>
                  <a:srgbClr val="005F73"/>
                </a:solidFill>
                <a:latin typeface="Tahoma"/>
                <a:cs typeface="Tahoma"/>
              </a:rPr>
              <a:t> </a:t>
            </a:r>
            <a:r>
              <a:rPr sz="900" spc="-10" dirty="0">
                <a:solidFill>
                  <a:srgbClr val="005F73"/>
                </a:solidFill>
                <a:latin typeface="Tahoma"/>
                <a:cs typeface="Tahoma"/>
              </a:rPr>
              <a:t>investigations</a:t>
            </a:r>
            <a:endParaRPr sz="900" dirty="0">
              <a:latin typeface="Tahoma"/>
              <a:cs typeface="Tahoma"/>
            </a:endParaRPr>
          </a:p>
          <a:p>
            <a:pPr marL="810895" marR="802640" algn="ctr">
              <a:lnSpc>
                <a:spcPct val="110000"/>
              </a:lnSpc>
            </a:pPr>
            <a:r>
              <a:rPr sz="900" spc="-20" dirty="0">
                <a:solidFill>
                  <a:srgbClr val="6C757C"/>
                </a:solidFill>
                <a:latin typeface="Tahoma"/>
                <a:cs typeface="Tahoma"/>
              </a:rPr>
              <a:t>International</a:t>
            </a:r>
            <a:r>
              <a:rPr sz="900" spc="-15" dirty="0">
                <a:solidFill>
                  <a:srgbClr val="6C757C"/>
                </a:solidFill>
                <a:latin typeface="Tahoma"/>
                <a:cs typeface="Tahoma"/>
              </a:rPr>
              <a:t> </a:t>
            </a:r>
            <a:r>
              <a:rPr sz="900" dirty="0">
                <a:solidFill>
                  <a:srgbClr val="6C757C"/>
                </a:solidFill>
                <a:latin typeface="Tahoma"/>
                <a:cs typeface="Tahoma"/>
              </a:rPr>
              <a:t>Journal</a:t>
            </a:r>
            <a:r>
              <a:rPr sz="900" spc="-10" dirty="0">
                <a:solidFill>
                  <a:srgbClr val="6C757C"/>
                </a:solidFill>
                <a:latin typeface="Tahoma"/>
                <a:cs typeface="Tahoma"/>
              </a:rPr>
              <a:t> </a:t>
            </a:r>
            <a:r>
              <a:rPr sz="900" dirty="0">
                <a:solidFill>
                  <a:srgbClr val="6C757C"/>
                </a:solidFill>
                <a:latin typeface="Tahoma"/>
                <a:cs typeface="Tahoma"/>
              </a:rPr>
              <a:t>of</a:t>
            </a:r>
            <a:r>
              <a:rPr sz="900" spc="-10" dirty="0">
                <a:solidFill>
                  <a:srgbClr val="6C757C"/>
                </a:solidFill>
                <a:latin typeface="Tahoma"/>
                <a:cs typeface="Tahoma"/>
              </a:rPr>
              <a:t> </a:t>
            </a:r>
            <a:r>
              <a:rPr sz="900" dirty="0">
                <a:solidFill>
                  <a:srgbClr val="6C757C"/>
                </a:solidFill>
                <a:latin typeface="Tahoma"/>
                <a:cs typeface="Tahoma"/>
              </a:rPr>
              <a:t>Population</a:t>
            </a:r>
            <a:r>
              <a:rPr sz="900" spc="-15" dirty="0">
                <a:solidFill>
                  <a:srgbClr val="6C757C"/>
                </a:solidFill>
                <a:latin typeface="Tahoma"/>
                <a:cs typeface="Tahoma"/>
              </a:rPr>
              <a:t> </a:t>
            </a:r>
            <a:r>
              <a:rPr sz="900" dirty="0">
                <a:solidFill>
                  <a:srgbClr val="6C757C"/>
                </a:solidFill>
                <a:latin typeface="Tahoma"/>
                <a:cs typeface="Tahoma"/>
              </a:rPr>
              <a:t>Data</a:t>
            </a:r>
            <a:r>
              <a:rPr sz="900" spc="-10" dirty="0">
                <a:solidFill>
                  <a:srgbClr val="6C757C"/>
                </a:solidFill>
                <a:latin typeface="Tahoma"/>
                <a:cs typeface="Tahoma"/>
              </a:rPr>
              <a:t> </a:t>
            </a:r>
            <a:r>
              <a:rPr sz="900" spc="-20" dirty="0">
                <a:solidFill>
                  <a:srgbClr val="6C757C"/>
                </a:solidFill>
                <a:latin typeface="Tahoma"/>
                <a:cs typeface="Tahoma"/>
              </a:rPr>
              <a:t>Science,</a:t>
            </a:r>
            <a:r>
              <a:rPr sz="900" spc="-10" dirty="0">
                <a:solidFill>
                  <a:srgbClr val="6C757C"/>
                </a:solidFill>
                <a:latin typeface="Tahoma"/>
                <a:cs typeface="Tahoma"/>
              </a:rPr>
              <a:t> </a:t>
            </a:r>
            <a:r>
              <a:rPr sz="900" spc="-20" dirty="0">
                <a:solidFill>
                  <a:srgbClr val="6C757C"/>
                </a:solidFill>
                <a:latin typeface="Tahoma"/>
                <a:cs typeface="Tahoma"/>
              </a:rPr>
              <a:t>2024 </a:t>
            </a:r>
            <a:r>
              <a:rPr sz="900" dirty="0">
                <a:solidFill>
                  <a:srgbClr val="6C757C"/>
                </a:solidFill>
                <a:latin typeface="Tahoma"/>
                <a:cs typeface="Tahoma"/>
              </a:rPr>
              <a:t>doi:</a:t>
            </a:r>
            <a:r>
              <a:rPr sz="900" spc="20" dirty="0">
                <a:solidFill>
                  <a:srgbClr val="6C757C"/>
                </a:solidFill>
                <a:latin typeface="Tahoma"/>
                <a:cs typeface="Tahoma"/>
              </a:rPr>
              <a:t> </a:t>
            </a:r>
            <a:r>
              <a:rPr sz="900" spc="-10" dirty="0">
                <a:solidFill>
                  <a:srgbClr val="6C757C"/>
                </a:solidFill>
                <a:latin typeface="Tahoma"/>
                <a:cs typeface="Tahoma"/>
              </a:rPr>
              <a:t>10.23889/ijpds.v9i2.2439</a:t>
            </a:r>
            <a:endParaRPr sz="900" dirty="0">
              <a:latin typeface="Tahoma"/>
              <a:cs typeface="Tahoma"/>
            </a:endParaRPr>
          </a:p>
          <a:p>
            <a:pPr marL="12065" marR="5080" algn="ctr">
              <a:lnSpc>
                <a:spcPct val="101499"/>
              </a:lnSpc>
              <a:spcBef>
                <a:spcPts val="505"/>
              </a:spcBef>
            </a:pPr>
            <a:r>
              <a:rPr sz="900" spc="-20" dirty="0">
                <a:solidFill>
                  <a:srgbClr val="005F73"/>
                </a:solidFill>
                <a:latin typeface="Tahoma"/>
                <a:cs typeface="Tahoma"/>
              </a:rPr>
              <a:t>Intelligent</a:t>
            </a:r>
            <a:r>
              <a:rPr sz="900" spc="5" dirty="0">
                <a:solidFill>
                  <a:srgbClr val="005F73"/>
                </a:solidFill>
                <a:latin typeface="Tahoma"/>
                <a:cs typeface="Tahoma"/>
              </a:rPr>
              <a:t> </a:t>
            </a:r>
            <a:r>
              <a:rPr sz="900" dirty="0">
                <a:solidFill>
                  <a:srgbClr val="005F73"/>
                </a:solidFill>
                <a:latin typeface="Tahoma"/>
                <a:cs typeface="Tahoma"/>
              </a:rPr>
              <a:t>Multi-Document</a:t>
            </a:r>
            <a:r>
              <a:rPr sz="900" spc="5" dirty="0">
                <a:solidFill>
                  <a:srgbClr val="005F73"/>
                </a:solidFill>
                <a:latin typeface="Tahoma"/>
                <a:cs typeface="Tahoma"/>
              </a:rPr>
              <a:t> </a:t>
            </a:r>
            <a:r>
              <a:rPr sz="900" spc="-20" dirty="0">
                <a:solidFill>
                  <a:srgbClr val="005F73"/>
                </a:solidFill>
                <a:latin typeface="Tahoma"/>
                <a:cs typeface="Tahoma"/>
              </a:rPr>
              <a:t>Summarisation</a:t>
            </a:r>
            <a:r>
              <a:rPr sz="900" dirty="0">
                <a:solidFill>
                  <a:srgbClr val="005F73"/>
                </a:solidFill>
                <a:latin typeface="Tahoma"/>
                <a:cs typeface="Tahoma"/>
              </a:rPr>
              <a:t> for</a:t>
            </a:r>
            <a:r>
              <a:rPr sz="900" spc="5" dirty="0">
                <a:solidFill>
                  <a:srgbClr val="005F73"/>
                </a:solidFill>
                <a:latin typeface="Tahoma"/>
                <a:cs typeface="Tahoma"/>
              </a:rPr>
              <a:t> </a:t>
            </a:r>
            <a:r>
              <a:rPr sz="900" dirty="0">
                <a:solidFill>
                  <a:srgbClr val="005F73"/>
                </a:solidFill>
                <a:latin typeface="Tahoma"/>
                <a:cs typeface="Tahoma"/>
              </a:rPr>
              <a:t>Extracting</a:t>
            </a:r>
            <a:r>
              <a:rPr sz="900" spc="5" dirty="0">
                <a:solidFill>
                  <a:srgbClr val="005F73"/>
                </a:solidFill>
                <a:latin typeface="Tahoma"/>
                <a:cs typeface="Tahoma"/>
              </a:rPr>
              <a:t> </a:t>
            </a:r>
            <a:r>
              <a:rPr sz="900" spc="-25" dirty="0">
                <a:solidFill>
                  <a:srgbClr val="005F73"/>
                </a:solidFill>
                <a:latin typeface="Tahoma"/>
                <a:cs typeface="Tahoma"/>
              </a:rPr>
              <a:t>Insights</a:t>
            </a:r>
            <a:r>
              <a:rPr sz="900" spc="5" dirty="0">
                <a:solidFill>
                  <a:srgbClr val="005F73"/>
                </a:solidFill>
                <a:latin typeface="Tahoma"/>
                <a:cs typeface="Tahoma"/>
              </a:rPr>
              <a:t> </a:t>
            </a:r>
            <a:r>
              <a:rPr sz="900" dirty="0">
                <a:solidFill>
                  <a:srgbClr val="005F73"/>
                </a:solidFill>
                <a:latin typeface="Tahoma"/>
                <a:cs typeface="Tahoma"/>
              </a:rPr>
              <a:t>on</a:t>
            </a:r>
            <a:r>
              <a:rPr sz="900" spc="10" dirty="0">
                <a:solidFill>
                  <a:srgbClr val="005F73"/>
                </a:solidFill>
                <a:latin typeface="Tahoma"/>
                <a:cs typeface="Tahoma"/>
              </a:rPr>
              <a:t> </a:t>
            </a:r>
            <a:r>
              <a:rPr sz="900" dirty="0">
                <a:solidFill>
                  <a:srgbClr val="005F73"/>
                </a:solidFill>
                <a:latin typeface="Tahoma"/>
                <a:cs typeface="Tahoma"/>
              </a:rPr>
              <a:t>Racial</a:t>
            </a:r>
            <a:r>
              <a:rPr sz="900" spc="5" dirty="0">
                <a:solidFill>
                  <a:srgbClr val="005F73"/>
                </a:solidFill>
                <a:latin typeface="Tahoma"/>
                <a:cs typeface="Tahoma"/>
              </a:rPr>
              <a:t> </a:t>
            </a:r>
            <a:r>
              <a:rPr sz="900" spc="-10" dirty="0">
                <a:solidFill>
                  <a:srgbClr val="005F73"/>
                </a:solidFill>
                <a:latin typeface="Tahoma"/>
                <a:cs typeface="Tahoma"/>
              </a:rPr>
              <a:t>Inequalities </a:t>
            </a:r>
            <a:r>
              <a:rPr sz="900" dirty="0">
                <a:solidFill>
                  <a:srgbClr val="005F73"/>
                </a:solidFill>
                <a:latin typeface="Tahoma"/>
                <a:cs typeface="Tahoma"/>
              </a:rPr>
              <a:t>from</a:t>
            </a:r>
            <a:r>
              <a:rPr sz="900" spc="5" dirty="0">
                <a:solidFill>
                  <a:srgbClr val="005F73"/>
                </a:solidFill>
                <a:latin typeface="Tahoma"/>
                <a:cs typeface="Tahoma"/>
              </a:rPr>
              <a:t> </a:t>
            </a:r>
            <a:r>
              <a:rPr sz="900" dirty="0">
                <a:solidFill>
                  <a:srgbClr val="005F73"/>
                </a:solidFill>
                <a:latin typeface="Tahoma"/>
                <a:cs typeface="Tahoma"/>
              </a:rPr>
              <a:t>Maternity </a:t>
            </a:r>
            <a:r>
              <a:rPr sz="900" spc="-20" dirty="0">
                <a:solidFill>
                  <a:srgbClr val="005F73"/>
                </a:solidFill>
                <a:latin typeface="Tahoma"/>
                <a:cs typeface="Tahoma"/>
              </a:rPr>
              <a:t>Incident</a:t>
            </a:r>
            <a:r>
              <a:rPr sz="900" spc="10" dirty="0">
                <a:solidFill>
                  <a:srgbClr val="005F73"/>
                </a:solidFill>
                <a:latin typeface="Tahoma"/>
                <a:cs typeface="Tahoma"/>
              </a:rPr>
              <a:t> </a:t>
            </a:r>
            <a:r>
              <a:rPr sz="900" spc="-30" dirty="0">
                <a:solidFill>
                  <a:srgbClr val="005F73"/>
                </a:solidFill>
                <a:latin typeface="Tahoma"/>
                <a:cs typeface="Tahoma"/>
              </a:rPr>
              <a:t>Investigation</a:t>
            </a:r>
            <a:r>
              <a:rPr sz="900" spc="5" dirty="0">
                <a:solidFill>
                  <a:srgbClr val="005F73"/>
                </a:solidFill>
                <a:latin typeface="Tahoma"/>
                <a:cs typeface="Tahoma"/>
              </a:rPr>
              <a:t> </a:t>
            </a:r>
            <a:r>
              <a:rPr sz="900" spc="-10" dirty="0">
                <a:solidFill>
                  <a:srgbClr val="005F73"/>
                </a:solidFill>
                <a:latin typeface="Tahoma"/>
                <a:cs typeface="Tahoma"/>
              </a:rPr>
              <a:t>Reports</a:t>
            </a:r>
            <a:endParaRPr sz="900" dirty="0">
              <a:latin typeface="Tahoma"/>
              <a:cs typeface="Tahoma"/>
            </a:endParaRPr>
          </a:p>
          <a:p>
            <a:pPr marL="751205" marR="744220" algn="ctr">
              <a:lnSpc>
                <a:spcPct val="110000"/>
              </a:lnSpc>
            </a:pPr>
            <a:r>
              <a:rPr sz="900" dirty="0">
                <a:solidFill>
                  <a:srgbClr val="6C757C"/>
                </a:solidFill>
                <a:latin typeface="Tahoma"/>
                <a:cs typeface="Tahoma"/>
              </a:rPr>
              <a:t>Artiﬁcial</a:t>
            </a:r>
            <a:r>
              <a:rPr sz="900" spc="35" dirty="0">
                <a:solidFill>
                  <a:srgbClr val="6C757C"/>
                </a:solidFill>
                <a:latin typeface="Tahoma"/>
                <a:cs typeface="Tahoma"/>
              </a:rPr>
              <a:t> </a:t>
            </a:r>
            <a:r>
              <a:rPr sz="900" spc="-25" dirty="0">
                <a:solidFill>
                  <a:srgbClr val="6C757C"/>
                </a:solidFill>
                <a:latin typeface="Tahoma"/>
                <a:cs typeface="Tahoma"/>
              </a:rPr>
              <a:t>Intelligence</a:t>
            </a:r>
            <a:r>
              <a:rPr sz="900" spc="40" dirty="0">
                <a:solidFill>
                  <a:srgbClr val="6C757C"/>
                </a:solidFill>
                <a:latin typeface="Tahoma"/>
                <a:cs typeface="Tahoma"/>
              </a:rPr>
              <a:t> </a:t>
            </a:r>
            <a:r>
              <a:rPr sz="900" dirty="0">
                <a:solidFill>
                  <a:srgbClr val="6C757C"/>
                </a:solidFill>
                <a:latin typeface="Tahoma"/>
                <a:cs typeface="Tahoma"/>
              </a:rPr>
              <a:t>in</a:t>
            </a:r>
            <a:r>
              <a:rPr sz="900" spc="35" dirty="0">
                <a:solidFill>
                  <a:srgbClr val="6C757C"/>
                </a:solidFill>
                <a:latin typeface="Tahoma"/>
                <a:cs typeface="Tahoma"/>
              </a:rPr>
              <a:t> </a:t>
            </a:r>
            <a:r>
              <a:rPr sz="900" spc="-20" dirty="0">
                <a:solidFill>
                  <a:srgbClr val="6C757C"/>
                </a:solidFill>
                <a:latin typeface="Tahoma"/>
                <a:cs typeface="Tahoma"/>
              </a:rPr>
              <a:t>Healthcare</a:t>
            </a:r>
            <a:r>
              <a:rPr sz="900" spc="35" dirty="0">
                <a:solidFill>
                  <a:srgbClr val="6C757C"/>
                </a:solidFill>
                <a:latin typeface="Tahoma"/>
                <a:cs typeface="Tahoma"/>
              </a:rPr>
              <a:t> </a:t>
            </a:r>
            <a:r>
              <a:rPr sz="900" dirty="0">
                <a:solidFill>
                  <a:srgbClr val="6C757C"/>
                </a:solidFill>
                <a:latin typeface="Tahoma"/>
                <a:cs typeface="Tahoma"/>
              </a:rPr>
              <a:t>(AIiH),</a:t>
            </a:r>
            <a:r>
              <a:rPr sz="900" spc="35" dirty="0">
                <a:solidFill>
                  <a:srgbClr val="6C757C"/>
                </a:solidFill>
                <a:latin typeface="Tahoma"/>
                <a:cs typeface="Tahoma"/>
              </a:rPr>
              <a:t> </a:t>
            </a:r>
            <a:r>
              <a:rPr sz="900" spc="-25" dirty="0">
                <a:solidFill>
                  <a:srgbClr val="6C757C"/>
                </a:solidFill>
                <a:latin typeface="Tahoma"/>
                <a:cs typeface="Tahoma"/>
              </a:rPr>
              <a:t>Springer,</a:t>
            </a:r>
            <a:r>
              <a:rPr sz="900" spc="40" dirty="0">
                <a:solidFill>
                  <a:srgbClr val="6C757C"/>
                </a:solidFill>
                <a:latin typeface="Tahoma"/>
                <a:cs typeface="Tahoma"/>
              </a:rPr>
              <a:t> </a:t>
            </a:r>
            <a:r>
              <a:rPr sz="900" spc="-20" dirty="0">
                <a:solidFill>
                  <a:srgbClr val="6C757C"/>
                </a:solidFill>
                <a:latin typeface="Tahoma"/>
                <a:cs typeface="Tahoma"/>
              </a:rPr>
              <a:t>2024 </a:t>
            </a:r>
            <a:r>
              <a:rPr sz="900" spc="-10" dirty="0">
                <a:solidFill>
                  <a:srgbClr val="6C757C"/>
                </a:solidFill>
                <a:latin typeface="Tahoma"/>
                <a:cs typeface="Tahoma"/>
              </a:rPr>
              <a:t>https://arxiv.org/abs/2407.08322</a:t>
            </a:r>
            <a:endParaRPr sz="900" dirty="0">
              <a:latin typeface="Tahoma"/>
              <a:cs typeface="Tahoma"/>
            </a:endParaRPr>
          </a:p>
        </p:txBody>
      </p:sp>
      <p:sp>
        <p:nvSpPr>
          <p:cNvPr id="6" name="Slide Number Placeholder 5">
            <a:extLst>
              <a:ext uri="{FF2B5EF4-FFF2-40B4-BE49-F238E27FC236}">
                <a16:creationId xmlns:a16="http://schemas.microsoft.com/office/drawing/2014/main" id="{AB736A50-6FCD-72AE-5BEB-241CCB965C28}"/>
              </a:ext>
            </a:extLst>
          </p:cNvPr>
          <p:cNvSpPr>
            <a:spLocks noGrp="1"/>
          </p:cNvSpPr>
          <p:nvPr>
            <p:ph type="sldNum" sz="quarter" idx="7"/>
          </p:nvPr>
        </p:nvSpPr>
        <p:spPr>
          <a:xfrm>
            <a:off x="4674831" y="3028689"/>
            <a:ext cx="548640" cy="173989"/>
          </a:xfrm>
        </p:spPr>
        <p:txBody>
          <a:bodyPr/>
          <a:lstStyle/>
          <a:p>
            <a:pPr marL="39370">
              <a:lnSpc>
                <a:spcPct val="100000"/>
              </a:lnSpc>
              <a:spcBef>
                <a:spcPts val="219"/>
              </a:spcBef>
            </a:pPr>
            <a:fld id="{81D60167-4931-47E6-BA6A-407CBD079E47}" type="slidenum">
              <a:rPr lang="en-GB" smtClean="0"/>
              <a:t>39</a:t>
            </a:fld>
            <a:r>
              <a:rPr lang="en-GB" spc="20"/>
              <a:t> </a:t>
            </a:r>
            <a:r>
              <a:rPr lang="en-GB" spc="120"/>
              <a:t>/</a:t>
            </a:r>
            <a:r>
              <a:rPr lang="en-GB" spc="25"/>
              <a:t> </a:t>
            </a:r>
            <a:r>
              <a:rPr lang="en-GB" spc="-25"/>
              <a:t>39</a:t>
            </a:r>
            <a:endParaRPr lang="en-GB" spc="-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6708</TotalTime>
  <Words>5907</Words>
  <Application>Microsoft Office PowerPoint</Application>
  <PresentationFormat>Custom</PresentationFormat>
  <Paragraphs>628</Paragraphs>
  <Slides>39</Slides>
  <Notes>39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39</vt:i4>
      </vt:variant>
    </vt:vector>
  </HeadingPairs>
  <TitlesOfParts>
    <vt:vector size="47" baseType="lpstr">
      <vt:lpstr>Adobe Text Pro</vt:lpstr>
      <vt:lpstr>Aptos</vt:lpstr>
      <vt:lpstr>Arial</vt:lpstr>
      <vt:lpstr>Calibri</vt:lpstr>
      <vt:lpstr>Droid Serif Bold Italics</vt:lpstr>
      <vt:lpstr>Tahoma</vt:lpstr>
      <vt:lpstr>Times New Roman</vt:lpstr>
      <vt:lpstr>Office Theme</vt:lpstr>
      <vt:lpstr>Extracting Safety Intelligence from Healthcare Incident Reports:   Combining Human Factors and  Artificial Intelligence</vt:lpstr>
      <vt:lpstr>About Me</vt:lpstr>
      <vt:lpstr>Our Partner: HSIB → HSSIB</vt:lpstr>
      <vt:lpstr>PowerPoint Presentation</vt:lpstr>
      <vt:lpstr>The Challenge Making sense of safety data at scale</vt:lpstr>
      <vt:lpstr>PowerPoint Presentation</vt:lpstr>
      <vt:lpstr>01</vt:lpstr>
      <vt:lpstr>What is Concept Annotation? Extracting human factors from investigation text</vt:lpstr>
      <vt:lpstr>The SIRch Taxonomy: SEIPS Framework Human factors framework for maternity safety investigations</vt:lpstr>
      <vt:lpstr>I-SIRch: How It Works Human expertise at every stage, fully offline</vt:lpstr>
      <vt:lpstr>I-SIRch: Overall Performance Tested on 97 real unseen reports</vt:lpstr>
      <vt:lpstr>I-SIRch: Fairness Across Ethnic Groups Does the model perform equally for all groups?</vt:lpstr>
      <vt:lpstr>02</vt:lpstr>
      <vt:lpstr>PowerPoint Presentation</vt:lpstr>
      <vt:lpstr>Human Factors Distribution Across Reports 188 reports, 3,122 annotated sentences</vt:lpstr>
      <vt:lpstr>Communication</vt:lpstr>
      <vt:lpstr>Teamworking</vt:lpstr>
      <vt:lpstr>Assessment</vt:lpstr>
      <vt:lpstr>03</vt:lpstr>
      <vt:lpstr>PowerPoint Presentation</vt:lpstr>
      <vt:lpstr>Example AI-Generated Summaries Demonstrating summarisation quality and traceability</vt:lpstr>
      <vt:lpstr>Ethical Risks of AI Summarisation Identiﬁed risks and mitigations</vt:lpstr>
      <vt:lpstr>PowerPoint Presentation</vt:lpstr>
      <vt:lpstr>LENS.ai</vt:lpstr>
      <vt:lpstr>Beyond Maternity: LENS.ai</vt:lpstr>
      <vt:lpstr>LENS.ai: Updated Automatically Every Night</vt:lpstr>
      <vt:lpstr>LENS.ai: How It Works From a coroner’s PDF to structured, coded evidence</vt:lpstr>
      <vt:lpstr>LENS.ai: From Local Models to LLMs More capable AI for PFD reports, with a human in the loop</vt:lpstr>
      <vt:lpstr>Yorkshire Contributory Factors Framework</vt:lpstr>
      <vt:lpstr>LENS.ai: Annotation in Action Colour-coded themes with full traceability</vt:lpstr>
      <vt:lpstr>LENS.ai: How Well Does It Work? Evaluated against expert annotation of 130 PFD reports</vt:lpstr>
      <vt:lpstr>LENS.ai: Causes of Death Coded to ICD-10, with grouping, filters and downloads</vt:lpstr>
      <vt:lpstr>LENS.ai: Contributory Factors Factors ranked by how many reports they appear in</vt:lpstr>
      <vt:lpstr>LENS.ai: Factors Over Time Each factor tracked year by year</vt:lpstr>
      <vt:lpstr>LENS.ai: Themes Over Time and by Region Follow a theme over time and compare NHS regions</vt:lpstr>
      <vt:lpstr>LENS.ai: Could It Help Your Work? Ways teams can use it</vt:lpstr>
      <vt:lpstr>Key Takeaways</vt:lpstr>
      <vt:lpstr>Get in Touch</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Georgina Cosma</cp:lastModifiedBy>
  <cp:revision>22</cp:revision>
  <dcterms:created xsi:type="dcterms:W3CDTF">2026-03-18T09:08:53Z</dcterms:created>
  <dcterms:modified xsi:type="dcterms:W3CDTF">2026-10-14T11:23:33Z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2026-03-18T00:00:00Z</vt:filetime>
  </property>
  <property fmtid="{D5CDD505-2E9C-101B-9397-08002B2CF9AE}" pid="3" name="Creator">
    <vt:lpwstr>LaTeX with Beamer class</vt:lpwstr>
  </property>
  <property fmtid="{D5CDD505-2E9C-101B-9397-08002B2CF9AE}" pid="4" name="Producer">
    <vt:lpwstr>xdvipdfmx (20250410)</vt:lpwstr>
  </property>
  <property fmtid="{D5CDD505-2E9C-101B-9397-08002B2CF9AE}" pid="5" name="LastSaved">
    <vt:filetime>2026-03-18T00:00:00Z</vt:filetime>
  </property>
</Properties>
</file>