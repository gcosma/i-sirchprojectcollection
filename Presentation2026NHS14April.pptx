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1"/>
  </p:notesMasterIdLst>
  <p:sldIdLst>
    <p:sldId id="256" r:id="rId2"/>
    <p:sldId id="257" r:id="rId3"/>
    <p:sldId id="300" r:id="rId4"/>
    <p:sldId id="259" r:id="rId5"/>
    <p:sldId id="261" r:id="rId6"/>
    <p:sldId id="301" r:id="rId7"/>
    <p:sldId id="262" r:id="rId8"/>
    <p:sldId id="263" r:id="rId9"/>
    <p:sldId id="264" r:id="rId10"/>
    <p:sldId id="265" r:id="rId11"/>
    <p:sldId id="266" r:id="rId12"/>
    <p:sldId id="267" r:id="rId13"/>
    <p:sldId id="268" r:id="rId14"/>
    <p:sldId id="269" r:id="rId15"/>
    <p:sldId id="270" r:id="rId16"/>
    <p:sldId id="272" r:id="rId17"/>
    <p:sldId id="273" r:id="rId18"/>
    <p:sldId id="274" r:id="rId19"/>
    <p:sldId id="275" r:id="rId20"/>
    <p:sldId id="276" r:id="rId21"/>
    <p:sldId id="277" r:id="rId22"/>
    <p:sldId id="278" r:id="rId23"/>
    <p:sldId id="279" r:id="rId24"/>
    <p:sldId id="280" r:id="rId25"/>
    <p:sldId id="298"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Lst>
  <p:sldSz cx="5765800" cy="3244850"/>
  <p:notesSz cx="5765800" cy="324485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88D5629-078C-B5E1-A6C1-1180F09838E1}" v="6" dt="2026-04-14T15:39:25.450"/>
    <p1510:client id="{CCCBF7C6-AFB9-5C93-B070-6BEEAA8F0F0D}" v="134" dt="2026-04-14T15:45:44.972"/>
    <p1510:client id="{EE5FB405-871C-4BBB-A29E-8D5F2F644A30}" v="9" dt="2026-04-15T13:49:59.432"/>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880"/>
        <p:guide pos="2160"/>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47"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microsoft.com/office/2016/11/relationships/changesInfo" Target="changesInfos/changesInfo1.xml"/><Relationship Id="rId20" Type="http://schemas.openxmlformats.org/officeDocument/2006/relationships/slide" Target="slides/slide19.xml"/><Relationship Id="rId41"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eorgina Cosma" userId="S::cogc@lunet.lboro.ac.uk::0a0bfe4a-e089-44eb-9fbc-e832a563fa80" providerId="AD" clId="Web-{CCCBF7C6-AFB9-5C93-B070-6BEEAA8F0F0D}"/>
    <pc:docChg chg="modSld">
      <pc:chgData name="Georgina Cosma" userId="S::cogc@lunet.lboro.ac.uk::0a0bfe4a-e089-44eb-9fbc-e832a563fa80" providerId="AD" clId="Web-{CCCBF7C6-AFB9-5C93-B070-6BEEAA8F0F0D}" dt="2026-04-14T15:45:32.065" v="95" actId="20577"/>
      <pc:docMkLst>
        <pc:docMk/>
      </pc:docMkLst>
      <pc:sldChg chg="modSp">
        <pc:chgData name="Georgina Cosma" userId="S::cogc@lunet.lboro.ac.uk::0a0bfe4a-e089-44eb-9fbc-e832a563fa80" providerId="AD" clId="Web-{CCCBF7C6-AFB9-5C93-B070-6BEEAA8F0F0D}" dt="2026-04-14T15:40:00.092" v="5" actId="1076"/>
        <pc:sldMkLst>
          <pc:docMk/>
          <pc:sldMk cId="0" sldId="256"/>
        </pc:sldMkLst>
        <pc:spChg chg="mod">
          <ac:chgData name="Georgina Cosma" userId="S::cogc@lunet.lboro.ac.uk::0a0bfe4a-e089-44eb-9fbc-e832a563fa80" providerId="AD" clId="Web-{CCCBF7C6-AFB9-5C93-B070-6BEEAA8F0F0D}" dt="2026-04-14T15:40:00.092" v="5" actId="1076"/>
          <ac:spMkLst>
            <pc:docMk/>
            <pc:sldMk cId="0" sldId="256"/>
            <ac:spMk id="3" creationId="{00000000-0000-0000-0000-000000000000}"/>
          </ac:spMkLst>
        </pc:spChg>
        <pc:spChg chg="mod">
          <ac:chgData name="Georgina Cosma" userId="S::cogc@lunet.lboro.ac.uk::0a0bfe4a-e089-44eb-9fbc-e832a563fa80" providerId="AD" clId="Web-{CCCBF7C6-AFB9-5C93-B070-6BEEAA8F0F0D}" dt="2026-04-14T15:39:57.060" v="4" actId="1076"/>
          <ac:spMkLst>
            <pc:docMk/>
            <pc:sldMk cId="0" sldId="256"/>
            <ac:spMk id="4" creationId="{00000000-0000-0000-0000-000000000000}"/>
          </ac:spMkLst>
        </pc:spChg>
      </pc:sldChg>
      <pc:sldChg chg="addSp delSp modSp">
        <pc:chgData name="Georgina Cosma" userId="S::cogc@lunet.lboro.ac.uk::0a0bfe4a-e089-44eb-9fbc-e832a563fa80" providerId="AD" clId="Web-{CCCBF7C6-AFB9-5C93-B070-6BEEAA8F0F0D}" dt="2026-04-14T15:45:32.065" v="95" actId="20577"/>
        <pc:sldMkLst>
          <pc:docMk/>
          <pc:sldMk cId="0" sldId="257"/>
        </pc:sldMkLst>
        <pc:spChg chg="mod">
          <ac:chgData name="Georgina Cosma" userId="S::cogc@lunet.lboro.ac.uk::0a0bfe4a-e089-44eb-9fbc-e832a563fa80" providerId="AD" clId="Web-{CCCBF7C6-AFB9-5C93-B070-6BEEAA8F0F0D}" dt="2026-04-14T15:40:35.358" v="9" actId="1076"/>
          <ac:spMkLst>
            <pc:docMk/>
            <pc:sldMk cId="0" sldId="257"/>
            <ac:spMk id="3" creationId="{00000000-0000-0000-0000-000000000000}"/>
          </ac:spMkLst>
        </pc:spChg>
        <pc:spChg chg="mod">
          <ac:chgData name="Georgina Cosma" userId="S::cogc@lunet.lboro.ac.uk::0a0bfe4a-e089-44eb-9fbc-e832a563fa80" providerId="AD" clId="Web-{CCCBF7C6-AFB9-5C93-B070-6BEEAA8F0F0D}" dt="2026-04-14T15:45:32.065" v="95" actId="20577"/>
          <ac:spMkLst>
            <pc:docMk/>
            <pc:sldMk cId="0" sldId="257"/>
            <ac:spMk id="5" creationId="{00000000-0000-0000-0000-000000000000}"/>
          </ac:spMkLst>
        </pc:spChg>
        <pc:spChg chg="del">
          <ac:chgData name="Georgina Cosma" userId="S::cogc@lunet.lboro.ac.uk::0a0bfe4a-e089-44eb-9fbc-e832a563fa80" providerId="AD" clId="Web-{CCCBF7C6-AFB9-5C93-B070-6BEEAA8F0F0D}" dt="2026-04-14T15:40:16.717" v="6"/>
          <ac:spMkLst>
            <pc:docMk/>
            <pc:sldMk cId="0" sldId="257"/>
            <ac:spMk id="7" creationId="{00000000-0000-0000-0000-000000000000}"/>
          </ac:spMkLst>
        </pc:spChg>
        <pc:spChg chg="add mod">
          <ac:chgData name="Georgina Cosma" userId="S::cogc@lunet.lboro.ac.uk::0a0bfe4a-e089-44eb-9fbc-e832a563fa80" providerId="AD" clId="Web-{CCCBF7C6-AFB9-5C93-B070-6BEEAA8F0F0D}" dt="2026-04-14T15:45:27.080" v="93" actId="20577"/>
          <ac:spMkLst>
            <pc:docMk/>
            <pc:sldMk cId="0" sldId="257"/>
            <ac:spMk id="10" creationId="{EAF501FC-EBEF-B0A7-A056-F4EF59E9E126}"/>
          </ac:spMkLst>
        </pc:spChg>
        <pc:picChg chg="mod">
          <ac:chgData name="Georgina Cosma" userId="S::cogc@lunet.lboro.ac.uk::0a0bfe4a-e089-44eb-9fbc-e832a563fa80" providerId="AD" clId="Web-{CCCBF7C6-AFB9-5C93-B070-6BEEAA8F0F0D}" dt="2026-04-14T15:40:35.373" v="10" actId="1076"/>
          <ac:picMkLst>
            <pc:docMk/>
            <pc:sldMk cId="0" sldId="257"/>
            <ac:picMk id="4" creationId="{00000000-0000-0000-0000-000000000000}"/>
          </ac:picMkLst>
        </pc:picChg>
        <pc:picChg chg="add mod modCrop">
          <ac:chgData name="Georgina Cosma" userId="S::cogc@lunet.lboro.ac.uk::0a0bfe4a-e089-44eb-9fbc-e832a563fa80" providerId="AD" clId="Web-{CCCBF7C6-AFB9-5C93-B070-6BEEAA8F0F0D}" dt="2026-04-14T15:44:22.751" v="72" actId="1076"/>
          <ac:picMkLst>
            <pc:docMk/>
            <pc:sldMk cId="0" sldId="257"/>
            <ac:picMk id="9" creationId="{84DB3C45-9467-F218-A09B-5FE92B9D0293}"/>
          </ac:picMkLst>
        </pc:picChg>
      </pc:sldChg>
    </pc:docChg>
  </pc:docChgLst>
  <pc:docChgLst>
    <pc:chgData name="Georgina Cosma" userId="0a0bfe4a-e089-44eb-9fbc-e832a563fa80" providerId="ADAL" clId="{48598B71-6FEE-4370-BF50-269A73C8338D}"/>
    <pc:docChg chg="undo redo custSel addSld delSld modSld">
      <pc:chgData name="Georgina Cosma" userId="0a0bfe4a-e089-44eb-9fbc-e832a563fa80" providerId="ADAL" clId="{48598B71-6FEE-4370-BF50-269A73C8338D}" dt="2026-04-15T13:49:59.433" v="157" actId="47"/>
      <pc:docMkLst>
        <pc:docMk/>
      </pc:docMkLst>
      <pc:sldChg chg="modSp mod">
        <pc:chgData name="Georgina Cosma" userId="0a0bfe4a-e089-44eb-9fbc-e832a563fa80" providerId="ADAL" clId="{48598B71-6FEE-4370-BF50-269A73C8338D}" dt="2026-04-14T15:46:32.758" v="61" actId="207"/>
        <pc:sldMkLst>
          <pc:docMk/>
          <pc:sldMk cId="0" sldId="256"/>
        </pc:sldMkLst>
        <pc:spChg chg="mod">
          <ac:chgData name="Georgina Cosma" userId="0a0bfe4a-e089-44eb-9fbc-e832a563fa80" providerId="ADAL" clId="{48598B71-6FEE-4370-BF50-269A73C8338D}" dt="2026-04-14T15:46:32.758" v="61" actId="207"/>
          <ac:spMkLst>
            <pc:docMk/>
            <pc:sldMk cId="0" sldId="256"/>
            <ac:spMk id="6" creationId="{00000000-0000-0000-0000-000000000000}"/>
          </ac:spMkLst>
        </pc:spChg>
      </pc:sldChg>
      <pc:sldChg chg="modSp mod modNotesTx">
        <pc:chgData name="Georgina Cosma" userId="0a0bfe4a-e089-44eb-9fbc-e832a563fa80" providerId="ADAL" clId="{48598B71-6FEE-4370-BF50-269A73C8338D}" dt="2026-04-14T15:51:36.971" v="115" actId="20577"/>
        <pc:sldMkLst>
          <pc:docMk/>
          <pc:sldMk cId="0" sldId="257"/>
        </pc:sldMkLst>
        <pc:spChg chg="mod">
          <ac:chgData name="Georgina Cosma" userId="0a0bfe4a-e089-44eb-9fbc-e832a563fa80" providerId="ADAL" clId="{48598B71-6FEE-4370-BF50-269A73C8338D}" dt="2026-04-14T15:51:26.059" v="114" actId="255"/>
          <ac:spMkLst>
            <pc:docMk/>
            <pc:sldMk cId="0" sldId="257"/>
            <ac:spMk id="5" creationId="{00000000-0000-0000-0000-000000000000}"/>
          </ac:spMkLst>
        </pc:spChg>
        <pc:spChg chg="mod">
          <ac:chgData name="Georgina Cosma" userId="0a0bfe4a-e089-44eb-9fbc-e832a563fa80" providerId="ADAL" clId="{48598B71-6FEE-4370-BF50-269A73C8338D}" dt="2026-04-14T15:51:21.857" v="113" actId="255"/>
          <ac:spMkLst>
            <pc:docMk/>
            <pc:sldMk cId="0" sldId="257"/>
            <ac:spMk id="10" creationId="{EAF501FC-EBEF-B0A7-A056-F4EF59E9E126}"/>
          </ac:spMkLst>
        </pc:spChg>
      </pc:sldChg>
      <pc:sldChg chg="add del">
        <pc:chgData name="Georgina Cosma" userId="0a0bfe4a-e089-44eb-9fbc-e832a563fa80" providerId="ADAL" clId="{48598B71-6FEE-4370-BF50-269A73C8338D}" dt="2026-04-15T13:49:59.242" v="156" actId="47"/>
        <pc:sldMkLst>
          <pc:docMk/>
          <pc:sldMk cId="0" sldId="258"/>
        </pc:sldMkLst>
      </pc:sldChg>
      <pc:sldChg chg="add del">
        <pc:chgData name="Georgina Cosma" userId="0a0bfe4a-e089-44eb-9fbc-e832a563fa80" providerId="ADAL" clId="{48598B71-6FEE-4370-BF50-269A73C8338D}" dt="2026-04-15T13:49:59.433" v="157" actId="47"/>
        <pc:sldMkLst>
          <pc:docMk/>
          <pc:sldMk cId="0" sldId="260"/>
        </pc:sldMkLst>
      </pc:sldChg>
      <pc:sldChg chg="modSp mod">
        <pc:chgData name="Georgina Cosma" userId="0a0bfe4a-e089-44eb-9fbc-e832a563fa80" providerId="ADAL" clId="{48598B71-6FEE-4370-BF50-269A73C8338D}" dt="2026-04-14T15:54:19.392" v="149" actId="14100"/>
        <pc:sldMkLst>
          <pc:docMk/>
          <pc:sldMk cId="0" sldId="263"/>
        </pc:sldMkLst>
        <pc:spChg chg="mod">
          <ac:chgData name="Georgina Cosma" userId="0a0bfe4a-e089-44eb-9fbc-e832a563fa80" providerId="ADAL" clId="{48598B71-6FEE-4370-BF50-269A73C8338D}" dt="2026-04-14T15:54:19.392" v="149" actId="14100"/>
          <ac:spMkLst>
            <pc:docMk/>
            <pc:sldMk cId="0" sldId="263"/>
            <ac:spMk id="16" creationId="{D086BEB3-826D-B1AA-F593-2F1D78E7C42C}"/>
          </ac:spMkLst>
        </pc:spChg>
      </pc:sldChg>
      <pc:sldChg chg="modSp mod">
        <pc:chgData name="Georgina Cosma" userId="0a0bfe4a-e089-44eb-9fbc-e832a563fa80" providerId="ADAL" clId="{48598B71-6FEE-4370-BF50-269A73C8338D}" dt="2026-04-14T15:54:08.885" v="148" actId="1076"/>
        <pc:sldMkLst>
          <pc:docMk/>
          <pc:sldMk cId="0" sldId="291"/>
        </pc:sldMkLst>
        <pc:spChg chg="mod">
          <ac:chgData name="Georgina Cosma" userId="0a0bfe4a-e089-44eb-9fbc-e832a563fa80" providerId="ADAL" clId="{48598B71-6FEE-4370-BF50-269A73C8338D}" dt="2026-04-14T15:54:08.885" v="148" actId="1076"/>
          <ac:spMkLst>
            <pc:docMk/>
            <pc:sldMk cId="0" sldId="291"/>
            <ac:spMk id="10" creationId="{E4B8B1B9-5FDF-A233-89D4-DFFB2199E6A9}"/>
          </ac:spMkLst>
        </pc:spChg>
      </pc:sldChg>
      <pc:sldChg chg="addSp delSp modSp mod">
        <pc:chgData name="Georgina Cosma" userId="0a0bfe4a-e089-44eb-9fbc-e832a563fa80" providerId="ADAL" clId="{48598B71-6FEE-4370-BF50-269A73C8338D}" dt="2026-04-14T15:53:45.724" v="144" actId="1076"/>
        <pc:sldMkLst>
          <pc:docMk/>
          <pc:sldMk cId="0" sldId="294"/>
        </pc:sldMkLst>
        <pc:spChg chg="mod">
          <ac:chgData name="Georgina Cosma" userId="0a0bfe4a-e089-44eb-9fbc-e832a563fa80" providerId="ADAL" clId="{48598B71-6FEE-4370-BF50-269A73C8338D}" dt="2026-04-14T15:53:45.724" v="144" actId="1076"/>
          <ac:spMkLst>
            <pc:docMk/>
            <pc:sldMk cId="0" sldId="294"/>
            <ac:spMk id="4" creationId="{00000000-0000-0000-0000-000000000000}"/>
          </ac:spMkLst>
        </pc:spChg>
        <pc:spChg chg="add mod">
          <ac:chgData name="Georgina Cosma" userId="0a0bfe4a-e089-44eb-9fbc-e832a563fa80" providerId="ADAL" clId="{48598B71-6FEE-4370-BF50-269A73C8338D}" dt="2026-04-14T15:53:14.428" v="135" actId="20577"/>
          <ac:spMkLst>
            <pc:docMk/>
            <pc:sldMk cId="0" sldId="294"/>
            <ac:spMk id="8" creationId="{F7CAD8EE-0BF5-7B8D-5943-9506BACF3720}"/>
          </ac:spMkLst>
        </pc:spChg>
        <pc:spChg chg="add del">
          <ac:chgData name="Georgina Cosma" userId="0a0bfe4a-e089-44eb-9fbc-e832a563fa80" providerId="ADAL" clId="{48598B71-6FEE-4370-BF50-269A73C8338D}" dt="2026-04-14T15:52:46.927" v="125" actId="478"/>
          <ac:spMkLst>
            <pc:docMk/>
            <pc:sldMk cId="0" sldId="294"/>
            <ac:spMk id="9" creationId="{1503E00A-F8FA-DEFE-EF8E-891C02525A77}"/>
          </ac:spMkLst>
        </pc:spChg>
      </pc:sldChg>
      <pc:sldChg chg="modSp mod">
        <pc:chgData name="Georgina Cosma" userId="0a0bfe4a-e089-44eb-9fbc-e832a563fa80" providerId="ADAL" clId="{48598B71-6FEE-4370-BF50-269A73C8338D}" dt="2026-04-14T15:53:56.846" v="146" actId="1076"/>
        <pc:sldMkLst>
          <pc:docMk/>
          <pc:sldMk cId="0" sldId="295"/>
        </pc:sldMkLst>
        <pc:spChg chg="mod">
          <ac:chgData name="Georgina Cosma" userId="0a0bfe4a-e089-44eb-9fbc-e832a563fa80" providerId="ADAL" clId="{48598B71-6FEE-4370-BF50-269A73C8338D}" dt="2026-04-14T15:53:56.846" v="146" actId="1076"/>
          <ac:spMkLst>
            <pc:docMk/>
            <pc:sldMk cId="0" sldId="295"/>
            <ac:spMk id="6" creationId="{AB736A50-6FCD-72AE-5BEB-241CCB965C28}"/>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498725" cy="161925"/>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265488" y="0"/>
            <a:ext cx="2498725" cy="161925"/>
          </a:xfrm>
          <a:prstGeom prst="rect">
            <a:avLst/>
          </a:prstGeom>
        </p:spPr>
        <p:txBody>
          <a:bodyPr vert="horz" lIns="91440" tIns="45720" rIns="91440" bIns="45720" rtlCol="0"/>
          <a:lstStyle>
            <a:lvl1pPr algn="r">
              <a:defRPr sz="1200"/>
            </a:lvl1pPr>
          </a:lstStyle>
          <a:p>
            <a:fld id="{F9A268F8-4381-4FA5-B225-307DDEFF73B5}" type="datetimeFigureOut">
              <a:rPr lang="en-GB" smtClean="0"/>
              <a:t>15/04/2026</a:t>
            </a:fld>
            <a:endParaRPr lang="en-GB"/>
          </a:p>
        </p:txBody>
      </p:sp>
      <p:sp>
        <p:nvSpPr>
          <p:cNvPr id="4" name="Slide Image Placeholder 3"/>
          <p:cNvSpPr>
            <a:spLocks noGrp="1" noRot="1" noChangeAspect="1"/>
          </p:cNvSpPr>
          <p:nvPr>
            <p:ph type="sldImg" idx="2"/>
          </p:nvPr>
        </p:nvSpPr>
        <p:spPr>
          <a:xfrm>
            <a:off x="1911350" y="406400"/>
            <a:ext cx="1943100" cy="1093788"/>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576263" y="1562100"/>
            <a:ext cx="4613275" cy="12779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3082925"/>
            <a:ext cx="2498725" cy="161925"/>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265488" y="3082925"/>
            <a:ext cx="2498725" cy="161925"/>
          </a:xfrm>
          <a:prstGeom prst="rect">
            <a:avLst/>
          </a:prstGeom>
        </p:spPr>
        <p:txBody>
          <a:bodyPr vert="horz" lIns="91440" tIns="45720" rIns="91440" bIns="45720" rtlCol="0" anchor="b"/>
          <a:lstStyle>
            <a:lvl1pPr algn="r">
              <a:defRPr sz="1200"/>
            </a:lvl1pPr>
          </a:lstStyle>
          <a:p>
            <a:fld id="{F10B2870-B0ED-4556-8BC9-29F84A64811B}" type="slidenum">
              <a:rPr lang="en-GB" smtClean="0"/>
              <a:t>‹#›</a:t>
            </a:fld>
            <a:endParaRPr lang="en-GB"/>
          </a:p>
        </p:txBody>
      </p:sp>
    </p:spTree>
    <p:extLst>
      <p:ext uri="{BB962C8B-B14F-4D97-AF65-F5344CB8AC3E}">
        <p14:creationId xmlns:p14="http://schemas.microsoft.com/office/powerpoint/2010/main" val="760880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Good afternoon everyone, thank you for inviting me. I'm Georgina Cosma from Loughborough University.</a:t>
            </a:r>
          </a:p>
          <a:p>
            <a:r>
              <a:rPr lang="en-GB"/>
              <a:t>Today I’ll explain how we built and used AI to extract safety intelligence from healthcare investigation reports and share some findings from our maternity safety case study. I'll also show how we extended this work to coroner reports and other healthcare investigations.</a:t>
            </a:r>
          </a:p>
          <a:p>
            <a:endParaRPr lang="en-GB"/>
          </a:p>
        </p:txBody>
      </p:sp>
      <p:sp>
        <p:nvSpPr>
          <p:cNvPr id="4" name="Slide Number Placeholder 3"/>
          <p:cNvSpPr>
            <a:spLocks noGrp="1"/>
          </p:cNvSpPr>
          <p:nvPr>
            <p:ph type="sldNum" sz="quarter" idx="5"/>
          </p:nvPr>
        </p:nvSpPr>
        <p:spPr/>
        <p:txBody>
          <a:bodyPr/>
          <a:lstStyle/>
          <a:p>
            <a:fld id="{F10B2870-B0ED-4556-8BC9-29F84A64811B}" type="slidenum">
              <a:rPr lang="en-GB" smtClean="0"/>
              <a:t>1</a:t>
            </a:fld>
            <a:endParaRPr lang="en-GB"/>
          </a:p>
        </p:txBody>
      </p:sp>
    </p:spTree>
    <p:extLst>
      <p:ext uri="{BB962C8B-B14F-4D97-AF65-F5344CB8AC3E}">
        <p14:creationId xmlns:p14="http://schemas.microsoft.com/office/powerpoint/2010/main" val="34007983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F10B2870-B0ED-4556-8BC9-29F84A64811B}" type="slidenum">
              <a:rPr lang="en-GB" smtClean="0"/>
              <a:t>2</a:t>
            </a:fld>
            <a:endParaRPr lang="en-GB"/>
          </a:p>
        </p:txBody>
      </p:sp>
    </p:spTree>
    <p:extLst>
      <p:ext uri="{BB962C8B-B14F-4D97-AF65-F5344CB8AC3E}">
        <p14:creationId xmlns:p14="http://schemas.microsoft.com/office/powerpoint/2010/main" val="23371341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a:t>Here is an illustration of the challenge. On the left, you'll see an investigator with reports that need detailed human factors analysis.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a:p>
          <a:p>
            <a:pPr marL="0" marR="0" lvl="0" indent="0" algn="l" defTabSz="914400" rtl="0" eaLnBrk="1" fontAlgn="auto" latinLnBrk="0" hangingPunct="1">
              <a:lnSpc>
                <a:spcPct val="100000"/>
              </a:lnSpc>
              <a:spcBef>
                <a:spcPts val="0"/>
              </a:spcBef>
              <a:spcAft>
                <a:spcPts val="0"/>
              </a:spcAft>
              <a:buClrTx/>
              <a:buSzTx/>
              <a:buFontTx/>
              <a:buNone/>
              <a:tabLst/>
              <a:defRPr/>
            </a:pPr>
            <a:r>
              <a:rPr lang="en-GB"/>
              <a:t>The middle shows us the SEIPS (Systems Engineering Initiative for Patient Safety)  model - that's how work systems connect to healthcare outcomes.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a:p>
          <a:p>
            <a:pPr marL="0" marR="0" lvl="0" indent="0" algn="l" defTabSz="914400" rtl="0" eaLnBrk="1" fontAlgn="auto" latinLnBrk="0" hangingPunct="1">
              <a:lnSpc>
                <a:spcPct val="100000"/>
              </a:lnSpc>
              <a:spcBef>
                <a:spcPts val="0"/>
              </a:spcBef>
              <a:spcAft>
                <a:spcPts val="0"/>
              </a:spcAft>
              <a:buClrTx/>
              <a:buSzTx/>
              <a:buFontTx/>
              <a:buNone/>
              <a:tabLst/>
              <a:defRPr/>
            </a:pPr>
            <a:r>
              <a:rPr lang="en-GB"/>
              <a:t>The challenge faced my human factors experts is that they need to extract intelligence from these reports and often use taxonomies to organise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a:p>
          <a:p>
            <a:pPr marL="0" marR="0" lvl="0" indent="0" algn="l" defTabSz="914400" rtl="0" eaLnBrk="1" fontAlgn="auto" latinLnBrk="0" hangingPunct="1">
              <a:lnSpc>
                <a:spcPct val="100000"/>
              </a:lnSpc>
              <a:spcBef>
                <a:spcPts val="0"/>
              </a:spcBef>
              <a:spcAft>
                <a:spcPts val="0"/>
              </a:spcAft>
              <a:buClrTx/>
              <a:buSzTx/>
              <a:buFontTx/>
              <a:buNone/>
              <a:tabLst/>
              <a:defRPr/>
            </a:pPr>
            <a:r>
              <a:rPr lang="en-GB"/>
              <a:t>And on the right, we have a taxonomy developed by Professors Waterson, which gives us a structured way to categorise these factors in maternity investigations. This taxonomy is based on SEIPS. More about this later.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a:p>
          <a:p>
            <a:pPr>
              <a:buFont typeface="Arial" panose="020B0604020202020204" pitchFamily="34" charset="0"/>
              <a:buChar char="•"/>
            </a:pPr>
            <a:endParaRPr lang="en-GB" sz="1200"/>
          </a:p>
        </p:txBody>
      </p:sp>
      <p:sp>
        <p:nvSpPr>
          <p:cNvPr id="4" name="Slide Number Placeholder 3"/>
          <p:cNvSpPr>
            <a:spLocks noGrp="1"/>
          </p:cNvSpPr>
          <p:nvPr>
            <p:ph type="sldNum" sz="quarter" idx="5"/>
          </p:nvPr>
        </p:nvSpPr>
        <p:spPr/>
        <p:txBody>
          <a:bodyPr/>
          <a:lstStyle/>
          <a:p>
            <a:fld id="{AD986472-5914-4616-9FD0-2D7EC413B228}" type="slidenum">
              <a:rPr lang="en-GB" smtClean="0"/>
              <a:t>3</a:t>
            </a:fld>
            <a:endParaRPr lang="en-GB"/>
          </a:p>
        </p:txBody>
      </p:sp>
    </p:spTree>
    <p:extLst>
      <p:ext uri="{BB962C8B-B14F-4D97-AF65-F5344CB8AC3E}">
        <p14:creationId xmlns:p14="http://schemas.microsoft.com/office/powerpoint/2010/main" val="1444583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a:solidFill>
                  <a:schemeClr val="tx1"/>
                </a:solidFill>
                <a:effectLst/>
                <a:latin typeface="+mn-lt"/>
                <a:ea typeface="+mn-ea"/>
                <a:cs typeface="+mn-cs"/>
              </a:rPr>
              <a:t>I've structured todays talk around three key questions..</a:t>
            </a:r>
          </a:p>
          <a:p>
            <a:endParaRPr lang="en-GB" sz="1200" kern="120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kern="1200">
                <a:solidFill>
                  <a:schemeClr val="tx1"/>
                </a:solidFill>
                <a:effectLst/>
                <a:latin typeface="+mn-lt"/>
                <a:ea typeface="+mn-ea"/>
                <a:cs typeface="+mn-cs"/>
              </a:rPr>
              <a:t>First, the challenge: Healthcare generates enormous amounts of unstructured text. How can AI help us make sense of it? And to extract and organise important findings and analyse those.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kern="120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kern="1200">
                <a:solidFill>
                  <a:schemeClr val="tx1"/>
                </a:solidFill>
                <a:effectLst/>
                <a:latin typeface="+mn-lt"/>
                <a:ea typeface="+mn-ea"/>
                <a:cs typeface="+mn-cs"/>
              </a:rPr>
              <a:t>Second, what AI techniques did we use? How did we develop and test them? And can AI find patterns reliably and fairly across all patient groups?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a:p>
          <a:p>
            <a:r>
              <a:rPr lang="en-GB" sz="1200" kern="1200">
                <a:solidFill>
                  <a:schemeClr val="tx1"/>
                </a:solidFill>
                <a:effectLst/>
                <a:latin typeface="+mn-lt"/>
                <a:ea typeface="+mn-ea"/>
                <a:cs typeface="+mn-cs"/>
              </a:rPr>
              <a:t>And third, how do we ensure AI systems remain accountable? How do we keep humans in control?</a:t>
            </a:r>
          </a:p>
          <a:p>
            <a:endParaRPr lang="en-GB" sz="1200" kern="1200">
              <a:solidFill>
                <a:schemeClr val="tx1"/>
              </a:solidFill>
              <a:effectLst/>
              <a:latin typeface="+mn-lt"/>
              <a:ea typeface="+mn-ea"/>
              <a:cs typeface="+mn-cs"/>
            </a:endParaRPr>
          </a:p>
          <a:p>
            <a:r>
              <a:rPr lang="en-GB" sz="1200" kern="1200">
                <a:solidFill>
                  <a:schemeClr val="tx1"/>
                </a:solidFill>
                <a:effectLst/>
                <a:latin typeface="+mn-lt"/>
                <a:ea typeface="+mn-ea"/>
                <a:cs typeface="+mn-cs"/>
              </a:rPr>
              <a:t>We'll use UK maternity safety as our case study — but the AI principles we'll discuss apply far more broadly across healthcare.</a:t>
            </a:r>
          </a:p>
          <a:p>
            <a:endParaRPr lang="en-GB" sz="1200" kern="120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GB"/>
          </a:p>
        </p:txBody>
      </p:sp>
      <p:sp>
        <p:nvSpPr>
          <p:cNvPr id="4" name="Slide Number Placeholder 3"/>
          <p:cNvSpPr>
            <a:spLocks noGrp="1"/>
          </p:cNvSpPr>
          <p:nvPr>
            <p:ph type="sldNum" sz="quarter" idx="5"/>
          </p:nvPr>
        </p:nvSpPr>
        <p:spPr/>
        <p:txBody>
          <a:bodyPr/>
          <a:lstStyle/>
          <a:p>
            <a:fld id="{F10B2870-B0ED-4556-8BC9-29F84A64811B}" type="slidenum">
              <a:rPr lang="en-GB" smtClean="0"/>
              <a:t>4</a:t>
            </a:fld>
            <a:endParaRPr lang="en-GB"/>
          </a:p>
        </p:txBody>
      </p:sp>
    </p:spTree>
    <p:extLst>
      <p:ext uri="{BB962C8B-B14F-4D97-AF65-F5344CB8AC3E}">
        <p14:creationId xmlns:p14="http://schemas.microsoft.com/office/powerpoint/2010/main" val="34979328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How can we use AI to extract actionable safety intelligence from hundreds of unstructured reports, responsibly and fairly?</a:t>
            </a:r>
          </a:p>
          <a:p>
            <a:r>
              <a:rPr lang="en-GB"/>
              <a:t>[PAUSE]</a:t>
            </a:r>
          </a:p>
          <a:p>
            <a:r>
              <a:rPr lang="en-GB"/>
              <a:t>This was our driving question. Let me show you the AI methods we developed.</a:t>
            </a:r>
          </a:p>
          <a:p>
            <a:endParaRPr lang="en-GB"/>
          </a:p>
        </p:txBody>
      </p:sp>
      <p:sp>
        <p:nvSpPr>
          <p:cNvPr id="4" name="Slide Number Placeholder 3"/>
          <p:cNvSpPr>
            <a:spLocks noGrp="1"/>
          </p:cNvSpPr>
          <p:nvPr>
            <p:ph type="sldNum" sz="quarter" idx="5"/>
          </p:nvPr>
        </p:nvSpPr>
        <p:spPr/>
        <p:txBody>
          <a:bodyPr/>
          <a:lstStyle/>
          <a:p>
            <a:fld id="{F10B2870-B0ED-4556-8BC9-29F84A64811B}" type="slidenum">
              <a:rPr lang="en-GB" smtClean="0"/>
              <a:t>5</a:t>
            </a:fld>
            <a:endParaRPr lang="en-GB"/>
          </a:p>
        </p:txBody>
      </p:sp>
    </p:spTree>
    <p:extLst>
      <p:ext uri="{BB962C8B-B14F-4D97-AF65-F5344CB8AC3E}">
        <p14:creationId xmlns:p14="http://schemas.microsoft.com/office/powerpoint/2010/main" val="7716409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E9E8B1-0632-518B-6418-D4541325CF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410835-9C1D-8BBC-05F4-2DB0E956B0F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501739E-CB03-6D0A-194F-5BB48A8C5848}"/>
              </a:ext>
            </a:extLst>
          </p:cNvPr>
          <p:cNvSpPr>
            <a:spLocks noGrp="1"/>
          </p:cNvSpPr>
          <p:nvPr>
            <p:ph type="body" idx="1"/>
          </p:nvPr>
        </p:nvSpPr>
        <p:spPr/>
        <p:txBody>
          <a:bodyPr/>
          <a:lstStyle/>
          <a:p>
            <a:r>
              <a:rPr lang="en-GB"/>
              <a:t>Let's look at some of the findings. There isn't enough time to go through all the detailed findings today — I've focused this presentation on the AI methods. But if you're interested in the maternity findings specifically, I'm happy to arrange another meeting or share them with you directly.</a:t>
            </a:r>
          </a:p>
        </p:txBody>
      </p:sp>
      <p:sp>
        <p:nvSpPr>
          <p:cNvPr id="4" name="Slide Number Placeholder 3">
            <a:extLst>
              <a:ext uri="{FF2B5EF4-FFF2-40B4-BE49-F238E27FC236}">
                <a16:creationId xmlns:a16="http://schemas.microsoft.com/office/drawing/2014/main" id="{85728C29-97DA-9C34-2ABE-542D48FDCA02}"/>
              </a:ext>
            </a:extLst>
          </p:cNvPr>
          <p:cNvSpPr>
            <a:spLocks noGrp="1"/>
          </p:cNvSpPr>
          <p:nvPr>
            <p:ph type="sldNum" sz="quarter" idx="5"/>
          </p:nvPr>
        </p:nvSpPr>
        <p:spPr/>
        <p:txBody>
          <a:bodyPr/>
          <a:lstStyle/>
          <a:p>
            <a:fld id="{F10B2870-B0ED-4556-8BC9-29F84A64811B}" type="slidenum">
              <a:rPr lang="en-GB" smtClean="0"/>
              <a:t>6</a:t>
            </a:fld>
            <a:endParaRPr lang="en-GB"/>
          </a:p>
        </p:txBody>
      </p:sp>
    </p:spTree>
    <p:extLst>
      <p:ext uri="{BB962C8B-B14F-4D97-AF65-F5344CB8AC3E}">
        <p14:creationId xmlns:p14="http://schemas.microsoft.com/office/powerpoint/2010/main" val="19860214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We trained the AI using concept annotation. Here's how it works.</a:t>
            </a:r>
          </a:p>
          <a:p>
            <a:r>
              <a:rPr lang="en-GB"/>
              <a:t>Concept annotation is the process of mapping sentences to factors (what we also call labels). The aim is to then train a machine learning model to map labels to unseen sentences. </a:t>
            </a:r>
          </a:p>
          <a:p>
            <a:r>
              <a:rPr lang="en-GB"/>
              <a:t>Take this sentence from a real report: "The abnormal CTG was not recognised and did not prompt escalation to the obstetric team, in line with local guidance."</a:t>
            </a:r>
          </a:p>
          <a:p>
            <a:r>
              <a:rPr lang="en-GB"/>
              <a:t>An expert spots three things: CTG interpretation problem, no escalation, local guidance issue. One sentence, multiple human factors.</a:t>
            </a:r>
          </a:p>
          <a:p>
            <a:r>
              <a:rPr lang="en-GB"/>
              <a:t>Why does this matter? Once every sentence is labelled, we can ask bigger questions. Which factors appear most often? Do certain issues cluster together? Are there patterns across ethnic groups or adverse event types like maternal death, neonatal death, or stillbirth?</a:t>
            </a:r>
          </a:p>
          <a:p>
            <a:r>
              <a:rPr lang="en-GB"/>
              <a:t>In our analysis, we had ethnicity and outcome data for each report, so we could examine whether certain human factors appeared more frequently for specific groups.</a:t>
            </a:r>
          </a:p>
          <a:p>
            <a:r>
              <a:rPr lang="en-GB"/>
              <a:t>Reading reports one by one won't answer that. We need structured data. That's what concept annotation gives us—and we trained the AI to do it automatically.</a:t>
            </a:r>
          </a:p>
          <a:p>
            <a:r>
              <a:rPr lang="en-GB" sz="1200" b="1" i="1" kern="1200">
                <a:solidFill>
                  <a:schemeClr val="tx1"/>
                </a:solidFill>
                <a:effectLst/>
                <a:latin typeface="+mn-lt"/>
                <a:ea typeface="+mn-ea"/>
                <a:cs typeface="+mn-cs"/>
              </a:rPr>
              <a:t>[Step 2 - labels appear]</a:t>
            </a:r>
            <a:endParaRPr lang="en-GB"/>
          </a:p>
          <a:p>
            <a:r>
              <a:rPr lang="en-GB"/>
              <a:t>Hence one sentence can get multiple labels. Here we get three: Interpretation, Escalation/referral, Local guidance.</a:t>
            </a:r>
          </a:p>
          <a:p>
            <a:r>
              <a:rPr lang="en-GB" sz="1200" kern="1200">
                <a:solidFill>
                  <a:schemeClr val="tx1"/>
                </a:solidFill>
                <a:effectLst/>
                <a:latin typeface="+mn-lt"/>
                <a:ea typeface="+mn-ea"/>
                <a:cs typeface="+mn-cs"/>
              </a:rPr>
              <a:t>This is what we can train AI to do. Given a sentence, it identifies which human factors concepts are present. </a:t>
            </a:r>
          </a:p>
          <a:p>
            <a:endParaRPr lang="en-GB" sz="1200" b="1" i="1" kern="1200">
              <a:solidFill>
                <a:schemeClr val="tx1"/>
              </a:solidFill>
              <a:effectLst/>
              <a:latin typeface="+mn-lt"/>
              <a:ea typeface="+mn-ea"/>
              <a:cs typeface="+mn-cs"/>
            </a:endParaRPr>
          </a:p>
          <a:p>
            <a:r>
              <a:rPr lang="en-GB" sz="1200" b="1" i="1" kern="1200">
                <a:solidFill>
                  <a:schemeClr val="tx1"/>
                </a:solidFill>
                <a:effectLst/>
                <a:latin typeface="+mn-lt"/>
                <a:ea typeface="+mn-ea"/>
                <a:cs typeface="+mn-cs"/>
              </a:rPr>
              <a:t>[PAUSE for separator]</a:t>
            </a:r>
          </a:p>
          <a:p>
            <a:r>
              <a:rPr lang="en-GB" sz="1200" b="1" i="1" kern="1200">
                <a:solidFill>
                  <a:schemeClr val="tx1"/>
                </a:solidFill>
                <a:effectLst/>
                <a:latin typeface="+mn-lt"/>
                <a:ea typeface="+mn-ea"/>
                <a:cs typeface="+mn-cs"/>
              </a:rPr>
              <a:t>[After taxonomy reveals]</a:t>
            </a:r>
            <a:endParaRPr lang="en-GB" sz="1200" kern="1200">
              <a:solidFill>
                <a:schemeClr val="tx1"/>
              </a:solidFill>
              <a:effectLst/>
              <a:latin typeface="+mn-lt"/>
              <a:ea typeface="+mn-ea"/>
              <a:cs typeface="+mn-cs"/>
            </a:endParaRPr>
          </a:p>
          <a:p>
            <a:r>
              <a:rPr lang="en-GB" sz="1200" kern="1200">
                <a:solidFill>
                  <a:schemeClr val="tx1"/>
                </a:solidFill>
                <a:effectLst/>
                <a:latin typeface="+mn-lt"/>
                <a:ea typeface="+mn-ea"/>
                <a:cs typeface="+mn-cs"/>
              </a:rPr>
              <a:t>We use the taxonomy that Patrick developed which is based on SEIPS-based Patient Safety. It's an internationally recognised framework that organises human factors into six categories.</a:t>
            </a:r>
          </a:p>
          <a:p>
            <a:r>
              <a:rPr lang="en-GB" sz="1200" kern="1200">
                <a:solidFill>
                  <a:schemeClr val="tx1"/>
                </a:solidFill>
                <a:effectLst/>
                <a:latin typeface="+mn-lt"/>
                <a:ea typeface="+mn-ea"/>
                <a:cs typeface="+mn-cs"/>
              </a:rPr>
              <a:t>My colleague Professor Patrick Waterson refined the SEIPS taxonomy to make it specific to maternity incidents. The AI learns to apply the factors within the taxonomy consistently at scale.</a:t>
            </a:r>
          </a:p>
          <a:p>
            <a:endParaRPr lang="en-GB" sz="1200" kern="1200">
              <a:solidFill>
                <a:schemeClr val="tx1"/>
              </a:solidFill>
              <a:effectLst/>
              <a:latin typeface="+mn-lt"/>
              <a:ea typeface="+mn-ea"/>
              <a:cs typeface="+mn-cs"/>
            </a:endParaRPr>
          </a:p>
          <a:p>
            <a:endParaRPr lang="en-GB"/>
          </a:p>
        </p:txBody>
      </p:sp>
      <p:sp>
        <p:nvSpPr>
          <p:cNvPr id="4" name="Slide Number Placeholder 3"/>
          <p:cNvSpPr>
            <a:spLocks noGrp="1"/>
          </p:cNvSpPr>
          <p:nvPr>
            <p:ph type="sldNum" sz="quarter" idx="5"/>
          </p:nvPr>
        </p:nvSpPr>
        <p:spPr/>
        <p:txBody>
          <a:bodyPr/>
          <a:lstStyle/>
          <a:p>
            <a:fld id="{F10B2870-B0ED-4556-8BC9-29F84A64811B}" type="slidenum">
              <a:rPr lang="en-GB" smtClean="0"/>
              <a:t>7</a:t>
            </a:fld>
            <a:endParaRPr lang="en-GB"/>
          </a:p>
        </p:txBody>
      </p:sp>
    </p:spTree>
    <p:extLst>
      <p:ext uri="{BB962C8B-B14F-4D97-AF65-F5344CB8AC3E}">
        <p14:creationId xmlns:p14="http://schemas.microsoft.com/office/powerpoint/2010/main" val="18427334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This is I-SIRch, our framework for safety intelligence extraction. Three stages, and none of it is a black box—human oversight runs through the whole thing.</a:t>
            </a:r>
          </a:p>
          <a:p>
            <a:endParaRPr lang="en-GB"/>
          </a:p>
          <a:p>
            <a:r>
              <a:rPr lang="en-GB"/>
              <a:t>[First column] Data Preparation. We extract text from the reports and select the relevant sections. Not everything gets processed—we control what goes in.</a:t>
            </a:r>
          </a:p>
          <a:p>
            <a:endParaRPr lang="en-GB"/>
          </a:p>
          <a:p>
            <a:r>
              <a:rPr lang="en-GB"/>
              <a:t>[Second column] Training and Learning. Human experts annotate sentences with human factors concepts, then we train the AI to replicate their judgements. The word is replicate—it learns from human expertise, it doesn't replace it.</a:t>
            </a:r>
          </a:p>
          <a:p>
            <a:r>
              <a:rPr lang="en-GB"/>
              <a:t>[Third column] Monitoring. Continuous bias checks across demographic groups, and human verification of outputs.</a:t>
            </a:r>
          </a:p>
          <a:p>
            <a:endParaRPr lang="en-GB"/>
          </a:p>
          <a:p>
            <a:r>
              <a:rPr lang="en-GB"/>
              <a:t>[PAUSE]</a:t>
            </a:r>
          </a:p>
          <a:p>
            <a:r>
              <a:rPr lang="en-GB"/>
              <a:t>So why not just use ChatGPT or something off the shelf?</a:t>
            </a:r>
          </a:p>
          <a:p>
            <a:r>
              <a:rPr lang="en-GB"/>
              <a:t>A few reasons. We trained this model from scratch, specifically to recognise our taxonomy of human factors. No inherited biases from large language models trained on internet data. It runs entirely offline, so no data leaves our secure environment. Every output traces back to source documents, which means it can be verified. And we have full control over what the model learns.</a:t>
            </a:r>
          </a:p>
          <a:p>
            <a:r>
              <a:rPr lang="en-GB"/>
              <a:t>General-purpose AI just wasn't built with these requirements in mind.</a:t>
            </a:r>
          </a:p>
          <a:p>
            <a:endParaRPr lang="en-GB"/>
          </a:p>
        </p:txBody>
      </p:sp>
      <p:sp>
        <p:nvSpPr>
          <p:cNvPr id="4" name="Slide Number Placeholder 3"/>
          <p:cNvSpPr>
            <a:spLocks noGrp="1"/>
          </p:cNvSpPr>
          <p:nvPr>
            <p:ph type="sldNum" sz="quarter" idx="5"/>
          </p:nvPr>
        </p:nvSpPr>
        <p:spPr/>
        <p:txBody>
          <a:bodyPr/>
          <a:lstStyle/>
          <a:p>
            <a:fld id="{F10B2870-B0ED-4556-8BC9-29F84A64811B}" type="slidenum">
              <a:rPr lang="en-GB" smtClean="0"/>
              <a:t>8</a:t>
            </a:fld>
            <a:endParaRPr lang="en-GB"/>
          </a:p>
        </p:txBody>
      </p:sp>
    </p:spTree>
    <p:extLst>
      <p:ext uri="{BB962C8B-B14F-4D97-AF65-F5344CB8AC3E}">
        <p14:creationId xmlns:p14="http://schemas.microsoft.com/office/powerpoint/2010/main" val="50785276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Let me walk you through the full taxonomy we used. This is what the AI learns to recognise.</a:t>
            </a:r>
          </a:p>
          <a:p>
            <a:r>
              <a:rPr lang="en-GB"/>
              <a:t>As previously mentioned, this taxonomy was developed by Professor Patrick Waterson. </a:t>
            </a:r>
            <a:r>
              <a:rPr lang="en-GB" sz="1200" kern="1200">
                <a:solidFill>
                  <a:schemeClr val="tx1"/>
                </a:solidFill>
                <a:effectLst/>
                <a:latin typeface="+mn-lt"/>
                <a:ea typeface="+mn-ea"/>
                <a:cs typeface="+mn-cs"/>
              </a:rPr>
              <a:t>The full taxonomy. 44 possible factors across 7 categories. In our 188 maternity reports, 27 actually appeared in the reports we analysed. This gives the scope of what we're tracking: everything from external policy down to individual decision errors.</a:t>
            </a:r>
          </a:p>
          <a:p>
            <a:endParaRPr lang="en-GB"/>
          </a:p>
          <a:p>
            <a:endParaRPr lang="en-GB"/>
          </a:p>
        </p:txBody>
      </p:sp>
      <p:sp>
        <p:nvSpPr>
          <p:cNvPr id="4" name="Slide Number Placeholder 3"/>
          <p:cNvSpPr>
            <a:spLocks noGrp="1"/>
          </p:cNvSpPr>
          <p:nvPr>
            <p:ph type="sldNum" sz="quarter" idx="5"/>
          </p:nvPr>
        </p:nvSpPr>
        <p:spPr/>
        <p:txBody>
          <a:bodyPr/>
          <a:lstStyle/>
          <a:p>
            <a:fld id="{F10B2870-B0ED-4556-8BC9-29F84A64811B}" type="slidenum">
              <a:rPr lang="en-GB" smtClean="0"/>
              <a:t>9</a:t>
            </a:fld>
            <a:endParaRPr lang="en-GB"/>
          </a:p>
        </p:txBody>
      </p:sp>
    </p:spTree>
    <p:extLst>
      <p:ext uri="{BB962C8B-B14F-4D97-AF65-F5344CB8AC3E}">
        <p14:creationId xmlns:p14="http://schemas.microsoft.com/office/powerpoint/2010/main" val="286700148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[PAUSE]</a:t>
            </a:r>
          </a:p>
          <a:p>
            <a:r>
              <a:rPr lang="en-GB"/>
              <a:t>How did we actually train the AI? This is where the human expertise comes in.</a:t>
            </a:r>
          </a:p>
          <a:p>
            <a:endParaRPr lang="en-GB"/>
          </a:p>
          <a:p>
            <a:r>
              <a:rPr lang="en-GB"/>
              <a:t>[Left column]</a:t>
            </a:r>
          </a:p>
          <a:p>
            <a:r>
              <a:rPr lang="en-GB"/>
              <a:t>Three domain experts annotated the reports, colleagues from HSSIB with deep expertise in patient safety and human factors. The sessions were lead by Prof Patrick Waterson.</a:t>
            </a:r>
          </a:p>
          <a:p>
            <a:endParaRPr lang="en-GB"/>
          </a:p>
          <a:p>
            <a:r>
              <a:rPr lang="en-GB"/>
              <a:t>The annotators couldn't see the patient's ethnic background while coding the text. This prevents human biases from entering the training data, which would then be amplified by the AI.</a:t>
            </a:r>
          </a:p>
          <a:p>
            <a:endParaRPr lang="en-GB"/>
          </a:p>
          <a:p>
            <a:r>
              <a:rPr lang="en-GB"/>
              <a:t>Our inter-rater reliability was 80.15%, that's the percentage of sentences where all three annotators agreed. This high agreement gives us confidence that the concepts are being applied consistently before we used them to train the model.</a:t>
            </a:r>
          </a:p>
          <a:p>
            <a:endParaRPr lang="en-GB"/>
          </a:p>
        </p:txBody>
      </p:sp>
      <p:sp>
        <p:nvSpPr>
          <p:cNvPr id="4" name="Slide Number Placeholder 3"/>
          <p:cNvSpPr>
            <a:spLocks noGrp="1"/>
          </p:cNvSpPr>
          <p:nvPr>
            <p:ph type="sldNum" sz="quarter" idx="5"/>
          </p:nvPr>
        </p:nvSpPr>
        <p:spPr/>
        <p:txBody>
          <a:bodyPr/>
          <a:lstStyle/>
          <a:p>
            <a:fld id="{F10B2870-B0ED-4556-8BC9-29F84A64811B}" type="slidenum">
              <a:rPr lang="en-GB" smtClean="0"/>
              <a:t>10</a:t>
            </a:fld>
            <a:endParaRPr lang="en-GB"/>
          </a:p>
        </p:txBody>
      </p:sp>
    </p:spTree>
    <p:extLst>
      <p:ext uri="{BB962C8B-B14F-4D97-AF65-F5344CB8AC3E}">
        <p14:creationId xmlns:p14="http://schemas.microsoft.com/office/powerpoint/2010/main" val="293457985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The reports came In batches and we only had ethnicity for 72 reports. Also, while waiting for batch 2 we created a synthetic dataset that was based on batch 1 and we used that for further evaluations. </a:t>
            </a:r>
          </a:p>
          <a:p>
            <a:endParaRPr lang="en-GB"/>
          </a:p>
          <a:p>
            <a:r>
              <a:rPr lang="en-GB"/>
              <a:t>In total we received 188 reports, 3122 sentences extracted from real reports, and 818 from synthetic batch. </a:t>
            </a:r>
          </a:p>
        </p:txBody>
      </p:sp>
      <p:sp>
        <p:nvSpPr>
          <p:cNvPr id="4" name="Slide Number Placeholder 3"/>
          <p:cNvSpPr>
            <a:spLocks noGrp="1"/>
          </p:cNvSpPr>
          <p:nvPr>
            <p:ph type="sldNum" sz="quarter" idx="5"/>
          </p:nvPr>
        </p:nvSpPr>
        <p:spPr/>
        <p:txBody>
          <a:bodyPr/>
          <a:lstStyle/>
          <a:p>
            <a:fld id="{F10B2870-B0ED-4556-8BC9-29F84A64811B}" type="slidenum">
              <a:rPr lang="en-GB" smtClean="0"/>
              <a:t>11</a:t>
            </a:fld>
            <a:endParaRPr lang="en-GB"/>
          </a:p>
        </p:txBody>
      </p:sp>
    </p:spTree>
    <p:extLst>
      <p:ext uri="{BB962C8B-B14F-4D97-AF65-F5344CB8AC3E}">
        <p14:creationId xmlns:p14="http://schemas.microsoft.com/office/powerpoint/2010/main" val="26690932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This diagram shows our iterative development process.</a:t>
            </a:r>
          </a:p>
          <a:p>
            <a:r>
              <a:rPr lang="en-GB"/>
              <a:t>[Point to diagram] Starting from the left. Batch 1, we train the initial model on 76 annotated reports. We test it on Batch 4, the synthetic data, to check whether the model has genuinely learned the concepts or just memorised phrases. These are paraphrased versions of the original sentences, same meaning but different wording.</a:t>
            </a:r>
          </a:p>
          <a:p>
            <a:r>
              <a:rPr lang="en-GB"/>
              <a:t>When a new batch comes in, we first test the model on it to evaluate performance on unseen data. Then instead of discarding that batch, we annotate it and use it for retraining. The model keeps improving as more data arrives.</a:t>
            </a:r>
          </a:p>
          <a:p>
            <a:r>
              <a:rPr lang="en-GB"/>
              <a:t>[Right column] At each stage, we evaluate fairness. Not just overall accuracy, but performance per factor and across ethnic groups.</a:t>
            </a:r>
          </a:p>
          <a:p>
            <a:endParaRPr lang="en-GB"/>
          </a:p>
        </p:txBody>
      </p:sp>
      <p:sp>
        <p:nvSpPr>
          <p:cNvPr id="4" name="Slide Number Placeholder 3"/>
          <p:cNvSpPr>
            <a:spLocks noGrp="1"/>
          </p:cNvSpPr>
          <p:nvPr>
            <p:ph type="sldNum" sz="quarter" idx="5"/>
          </p:nvPr>
        </p:nvSpPr>
        <p:spPr/>
        <p:txBody>
          <a:bodyPr/>
          <a:lstStyle/>
          <a:p>
            <a:fld id="{F10B2870-B0ED-4556-8BC9-29F84A64811B}" type="slidenum">
              <a:rPr lang="en-GB" smtClean="0"/>
              <a:t>12</a:t>
            </a:fld>
            <a:endParaRPr lang="en-GB"/>
          </a:p>
        </p:txBody>
      </p:sp>
    </p:spTree>
    <p:extLst>
      <p:ext uri="{BB962C8B-B14F-4D97-AF65-F5344CB8AC3E}">
        <p14:creationId xmlns:p14="http://schemas.microsoft.com/office/powerpoint/2010/main" val="67883783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This slide summarises what we've just covered. Let's move on to the results.</a:t>
            </a:r>
          </a:p>
        </p:txBody>
      </p:sp>
      <p:sp>
        <p:nvSpPr>
          <p:cNvPr id="4" name="Slide Number Placeholder 3"/>
          <p:cNvSpPr>
            <a:spLocks noGrp="1"/>
          </p:cNvSpPr>
          <p:nvPr>
            <p:ph type="sldNum" sz="quarter" idx="5"/>
          </p:nvPr>
        </p:nvSpPr>
        <p:spPr/>
        <p:txBody>
          <a:bodyPr/>
          <a:lstStyle/>
          <a:p>
            <a:fld id="{F10B2870-B0ED-4556-8BC9-29F84A64811B}" type="slidenum">
              <a:rPr lang="en-GB" smtClean="0"/>
              <a:t>13</a:t>
            </a:fld>
            <a:endParaRPr lang="en-GB"/>
          </a:p>
        </p:txBody>
      </p:sp>
    </p:spTree>
    <p:extLst>
      <p:ext uri="{BB962C8B-B14F-4D97-AF65-F5344CB8AC3E}">
        <p14:creationId xmlns:p14="http://schemas.microsoft.com/office/powerpoint/2010/main" val="265628918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Trained on real data batch 1 and 2 and tested on real data batch 3 we achieved h</a:t>
            </a:r>
            <a:r>
              <a:rPr lang="en-GB" sz="1200">
                <a:solidFill>
                  <a:srgbClr val="202429"/>
                </a:solidFill>
                <a:latin typeface="Tahoma"/>
                <a:cs typeface="Tahoma"/>
              </a:rPr>
              <a:t>igh</a:t>
            </a:r>
            <a:r>
              <a:rPr lang="en-GB" sz="1200" spc="-25">
                <a:solidFill>
                  <a:srgbClr val="202429"/>
                </a:solidFill>
                <a:latin typeface="Tahoma"/>
                <a:cs typeface="Tahoma"/>
              </a:rPr>
              <a:t> </a:t>
            </a:r>
            <a:r>
              <a:rPr lang="en-GB" sz="1200">
                <a:solidFill>
                  <a:srgbClr val="202429"/>
                </a:solidFill>
                <a:latin typeface="Tahoma"/>
                <a:cs typeface="Tahoma"/>
              </a:rPr>
              <a:t>recall</a:t>
            </a:r>
            <a:r>
              <a:rPr lang="en-GB" sz="1200" spc="-20">
                <a:solidFill>
                  <a:srgbClr val="202429"/>
                </a:solidFill>
                <a:latin typeface="Tahoma"/>
                <a:cs typeface="Tahoma"/>
              </a:rPr>
              <a:t> (93%) </a:t>
            </a:r>
            <a:r>
              <a:rPr lang="en-GB" sz="1200" spc="-35">
                <a:solidFill>
                  <a:srgbClr val="202429"/>
                </a:solidFill>
                <a:latin typeface="Tahoma"/>
                <a:cs typeface="Tahoma"/>
              </a:rPr>
              <a:t>means </a:t>
            </a:r>
            <a:r>
              <a:rPr lang="en-GB" sz="1200">
                <a:solidFill>
                  <a:srgbClr val="202429"/>
                </a:solidFill>
                <a:latin typeface="Tahoma"/>
                <a:cs typeface="Tahoma"/>
              </a:rPr>
              <a:t>the</a:t>
            </a:r>
            <a:r>
              <a:rPr lang="en-GB" sz="1200" spc="10">
                <a:solidFill>
                  <a:srgbClr val="202429"/>
                </a:solidFill>
                <a:latin typeface="Tahoma"/>
                <a:cs typeface="Tahoma"/>
              </a:rPr>
              <a:t> </a:t>
            </a:r>
            <a:r>
              <a:rPr lang="en-GB" sz="1200">
                <a:solidFill>
                  <a:srgbClr val="202429"/>
                </a:solidFill>
                <a:latin typeface="Tahoma"/>
                <a:cs typeface="Tahoma"/>
              </a:rPr>
              <a:t>model</a:t>
            </a:r>
            <a:r>
              <a:rPr lang="en-GB" sz="1200" spc="10">
                <a:solidFill>
                  <a:srgbClr val="202429"/>
                </a:solidFill>
                <a:latin typeface="Tahoma"/>
                <a:cs typeface="Tahoma"/>
              </a:rPr>
              <a:t> </a:t>
            </a:r>
            <a:r>
              <a:rPr lang="en-GB" sz="1200" spc="-10">
                <a:solidFill>
                  <a:srgbClr val="202429"/>
                </a:solidFill>
                <a:latin typeface="Tahoma"/>
                <a:cs typeface="Tahoma"/>
              </a:rPr>
              <a:t>catches</a:t>
            </a:r>
            <a:r>
              <a:rPr lang="en-GB" sz="1200" spc="15">
                <a:solidFill>
                  <a:srgbClr val="202429"/>
                </a:solidFill>
                <a:latin typeface="Tahoma"/>
                <a:cs typeface="Tahoma"/>
              </a:rPr>
              <a:t> </a:t>
            </a:r>
            <a:r>
              <a:rPr lang="en-GB" sz="1200">
                <a:solidFill>
                  <a:srgbClr val="202429"/>
                </a:solidFill>
                <a:latin typeface="Tahoma"/>
                <a:cs typeface="Tahoma"/>
              </a:rPr>
              <a:t>the</a:t>
            </a:r>
            <a:r>
              <a:rPr lang="en-GB" sz="1200" spc="15">
                <a:solidFill>
                  <a:srgbClr val="202429"/>
                </a:solidFill>
                <a:latin typeface="Tahoma"/>
                <a:cs typeface="Tahoma"/>
              </a:rPr>
              <a:t> </a:t>
            </a:r>
            <a:r>
              <a:rPr lang="en-GB" sz="1200">
                <a:solidFill>
                  <a:srgbClr val="202429"/>
                </a:solidFill>
                <a:latin typeface="Tahoma"/>
                <a:cs typeface="Tahoma"/>
              </a:rPr>
              <a:t>vast</a:t>
            </a:r>
            <a:r>
              <a:rPr lang="en-GB" sz="1200" spc="10">
                <a:solidFill>
                  <a:srgbClr val="202429"/>
                </a:solidFill>
                <a:latin typeface="Tahoma"/>
                <a:cs typeface="Tahoma"/>
              </a:rPr>
              <a:t> </a:t>
            </a:r>
            <a:r>
              <a:rPr lang="en-GB" sz="1200" spc="-10">
                <a:solidFill>
                  <a:srgbClr val="202429"/>
                </a:solidFill>
                <a:latin typeface="Tahoma"/>
                <a:cs typeface="Tahoma"/>
              </a:rPr>
              <a:t>majority</a:t>
            </a:r>
            <a:r>
              <a:rPr lang="en-GB" sz="1200" spc="10">
                <a:solidFill>
                  <a:srgbClr val="202429"/>
                </a:solidFill>
                <a:latin typeface="Tahoma"/>
                <a:cs typeface="Tahoma"/>
              </a:rPr>
              <a:t> </a:t>
            </a:r>
            <a:r>
              <a:rPr lang="en-GB" sz="1200" spc="-25">
                <a:solidFill>
                  <a:srgbClr val="202429"/>
                </a:solidFill>
                <a:latin typeface="Tahoma"/>
                <a:cs typeface="Tahoma"/>
              </a:rPr>
              <a:t>of </a:t>
            </a:r>
            <a:r>
              <a:rPr lang="en-GB" sz="1200" spc="-45">
                <a:solidFill>
                  <a:srgbClr val="202429"/>
                </a:solidFill>
                <a:latin typeface="Tahoma"/>
                <a:cs typeface="Tahoma"/>
              </a:rPr>
              <a:t>safety</a:t>
            </a:r>
            <a:r>
              <a:rPr lang="en-GB" sz="1200" spc="15">
                <a:solidFill>
                  <a:srgbClr val="202429"/>
                </a:solidFill>
                <a:latin typeface="Tahoma"/>
                <a:cs typeface="Tahoma"/>
              </a:rPr>
              <a:t> </a:t>
            </a:r>
            <a:r>
              <a:rPr lang="en-GB" sz="1200" spc="-10">
                <a:solidFill>
                  <a:srgbClr val="202429"/>
                </a:solidFill>
                <a:latin typeface="Tahoma"/>
                <a:cs typeface="Tahoma"/>
              </a:rPr>
              <a:t>issues.</a:t>
            </a:r>
            <a:endParaRPr lang="en-GB"/>
          </a:p>
          <a:p>
            <a:endParaRPr lang="en-GB"/>
          </a:p>
          <a:p>
            <a:r>
              <a:rPr lang="en-GB"/>
              <a:t>These are the results on the 97 real unseen reports. 90% balanced accuracy, 93% recall, 87% precision.</a:t>
            </a:r>
          </a:p>
          <a:p>
            <a:r>
              <a:rPr lang="en-GB"/>
              <a:t>The key number is that 93% recall. That means the model catches the vast majority of safety issues. In this context, missing an issue is worse than flagging something incorrectly, so high recall matters.</a:t>
            </a:r>
          </a:p>
          <a:p>
            <a:r>
              <a:rPr lang="en-GB"/>
              <a:t>But good overall performance isn't enough. The question is: does it perform equally for all groups?</a:t>
            </a:r>
          </a:p>
          <a:p>
            <a:endParaRPr lang="en-GB"/>
          </a:p>
        </p:txBody>
      </p:sp>
      <p:sp>
        <p:nvSpPr>
          <p:cNvPr id="4" name="Slide Number Placeholder 3"/>
          <p:cNvSpPr>
            <a:spLocks noGrp="1"/>
          </p:cNvSpPr>
          <p:nvPr>
            <p:ph type="sldNum" sz="quarter" idx="5"/>
          </p:nvPr>
        </p:nvSpPr>
        <p:spPr/>
        <p:txBody>
          <a:bodyPr/>
          <a:lstStyle/>
          <a:p>
            <a:fld id="{F10B2870-B0ED-4556-8BC9-29F84A64811B}" type="slidenum">
              <a:rPr lang="en-GB" smtClean="0"/>
              <a:t>14</a:t>
            </a:fld>
            <a:endParaRPr lang="en-GB"/>
          </a:p>
        </p:txBody>
      </p:sp>
    </p:spTree>
    <p:extLst>
      <p:ext uri="{BB962C8B-B14F-4D97-AF65-F5344CB8AC3E}">
        <p14:creationId xmlns:p14="http://schemas.microsoft.com/office/powerpoint/2010/main" val="387579569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So does the model perform equally for all groups?</a:t>
            </a:r>
          </a:p>
          <a:p>
            <a:r>
              <a:rPr lang="en-GB"/>
              <a:t>We couldn't test fairness on Batch 3 because ethnicity data wasn't available for those 97 real reports. So we tested fairness on Batch 4, the synthetic data, where ethnicity was preserved from the original Batch 1 reports.</a:t>
            </a:r>
          </a:p>
          <a:p>
            <a:r>
              <a:rPr lang="en-GB"/>
              <a:t>The n values here are concept annotations, not reports. </a:t>
            </a:r>
          </a:p>
          <a:p>
            <a:endParaRPr lang="en-GB"/>
          </a:p>
          <a:p>
            <a:r>
              <a:rPr lang="en-GB"/>
              <a:t>Looking at the results, balanced accuracy ranges from 82% to 85% across all ethnic groups. Precision is 1.0 across the board, meaning when the model flags a concept, it's correct. Recall ranges from 64% to 69%.</a:t>
            </a:r>
          </a:p>
          <a:p>
            <a:endParaRPr lang="en-GB"/>
          </a:p>
          <a:p>
            <a:r>
              <a:rPr lang="en-GB"/>
              <a:t>We tested for statistical significance between the groups where we had sufficient sample sizes. No significant difference between Black and White British groups, and no significant difference between Asian and White groups. </a:t>
            </a:r>
          </a:p>
          <a:p>
            <a:endParaRPr lang="en-GB"/>
          </a:p>
          <a:p>
            <a:r>
              <a:rPr lang="en-GB"/>
              <a:t>We didn't run pairwise tests across all groups because the sample sizes for some groups, particularly Mixed Background with just 13 concepts, were too small for meaningful statistical comparison.</a:t>
            </a:r>
          </a:p>
          <a:p>
            <a:endParaRPr lang="en-GB"/>
          </a:p>
          <a:p>
            <a:r>
              <a:rPr lang="en-GB"/>
              <a:t>The model performs consistently across ethnic groups. This is what we need to demonstrate before deploying AI in a clinical safety context.</a:t>
            </a:r>
          </a:p>
          <a:p>
            <a:endParaRPr lang="en-GB"/>
          </a:p>
        </p:txBody>
      </p:sp>
      <p:sp>
        <p:nvSpPr>
          <p:cNvPr id="4" name="Slide Number Placeholder 3"/>
          <p:cNvSpPr>
            <a:spLocks noGrp="1"/>
          </p:cNvSpPr>
          <p:nvPr>
            <p:ph type="sldNum" sz="quarter" idx="5"/>
          </p:nvPr>
        </p:nvSpPr>
        <p:spPr/>
        <p:txBody>
          <a:bodyPr/>
          <a:lstStyle/>
          <a:p>
            <a:fld id="{F10B2870-B0ED-4556-8BC9-29F84A64811B}" type="slidenum">
              <a:rPr lang="en-GB" smtClean="0"/>
              <a:t>15</a:t>
            </a:fld>
            <a:endParaRPr lang="en-GB"/>
          </a:p>
        </p:txBody>
      </p:sp>
    </p:spTree>
    <p:extLst>
      <p:ext uri="{BB962C8B-B14F-4D97-AF65-F5344CB8AC3E}">
        <p14:creationId xmlns:p14="http://schemas.microsoft.com/office/powerpoint/2010/main" val="359033241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Let's look at some of the findings. There isn't enough time to go through all the detailed findings today — I've focused this presentation on the AI methods. But if you're interested in the maternity findings specifically, I'm happy to arrange another meeting or share them with you directly.</a:t>
            </a:r>
          </a:p>
        </p:txBody>
      </p:sp>
      <p:sp>
        <p:nvSpPr>
          <p:cNvPr id="4" name="Slide Number Placeholder 3"/>
          <p:cNvSpPr>
            <a:spLocks noGrp="1"/>
          </p:cNvSpPr>
          <p:nvPr>
            <p:ph type="sldNum" sz="quarter" idx="5"/>
          </p:nvPr>
        </p:nvSpPr>
        <p:spPr/>
        <p:txBody>
          <a:bodyPr/>
          <a:lstStyle/>
          <a:p>
            <a:fld id="{F10B2870-B0ED-4556-8BC9-29F84A64811B}" type="slidenum">
              <a:rPr lang="en-GB" smtClean="0"/>
              <a:t>16</a:t>
            </a:fld>
            <a:endParaRPr lang="en-GB"/>
          </a:p>
        </p:txBody>
      </p:sp>
    </p:spTree>
    <p:extLst>
      <p:ext uri="{BB962C8B-B14F-4D97-AF65-F5344CB8AC3E}">
        <p14:creationId xmlns:p14="http://schemas.microsoft.com/office/powerpoint/2010/main" val="214766084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a:t>What patterns emerge when AI analyses 188 maternity investigation reports?</a:t>
            </a:r>
          </a:p>
          <a:p>
            <a:endParaRPr lang="en-GB"/>
          </a:p>
        </p:txBody>
      </p:sp>
      <p:sp>
        <p:nvSpPr>
          <p:cNvPr id="4" name="Slide Number Placeholder 3"/>
          <p:cNvSpPr>
            <a:spLocks noGrp="1"/>
          </p:cNvSpPr>
          <p:nvPr>
            <p:ph type="sldNum" sz="quarter" idx="5"/>
          </p:nvPr>
        </p:nvSpPr>
        <p:spPr/>
        <p:txBody>
          <a:bodyPr/>
          <a:lstStyle/>
          <a:p>
            <a:fld id="{F10B2870-B0ED-4556-8BC9-29F84A64811B}" type="slidenum">
              <a:rPr lang="en-GB" smtClean="0"/>
              <a:t>17</a:t>
            </a:fld>
            <a:endParaRPr lang="en-GB"/>
          </a:p>
        </p:txBody>
      </p:sp>
    </p:spTree>
    <p:extLst>
      <p:ext uri="{BB962C8B-B14F-4D97-AF65-F5344CB8AC3E}">
        <p14:creationId xmlns:p14="http://schemas.microsoft.com/office/powerpoint/2010/main" val="369892308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a:p>
            <a:r>
              <a:rPr lang="en-GB"/>
              <a:t>This chart shows the distribution of human factors across all 188 reports.</a:t>
            </a:r>
          </a:p>
          <a:p>
            <a:endParaRPr lang="en-GB"/>
          </a:p>
          <a:p>
            <a:r>
              <a:rPr lang="en-GB"/>
              <a:t>The three green bars are the most common </a:t>
            </a:r>
            <a:r>
              <a:rPr lang="en-GB" err="1"/>
              <a:t>factoes</a:t>
            </a:r>
            <a:r>
              <a:rPr lang="en-GB"/>
              <a:t>: Communication, Teamworking, and Assessment</a:t>
            </a:r>
          </a:p>
          <a:p>
            <a:endParaRPr lang="en-GB"/>
          </a:p>
          <a:p>
            <a:r>
              <a:rPr lang="en-GB"/>
              <a:t>The adverse outcomes are serious: therapeutic hypothermia, maternal death, stillbirth.</a:t>
            </a:r>
          </a:p>
          <a:p>
            <a:r>
              <a:rPr lang="en-GB"/>
              <a:t>[PAUSE]</a:t>
            </a:r>
          </a:p>
          <a:p>
            <a:r>
              <a:rPr lang="en-GB"/>
              <a:t>The AI shows patterns across the whole dataset that no individual could spot by reading alone.</a:t>
            </a:r>
          </a:p>
          <a:p>
            <a:endParaRPr lang="en-GB"/>
          </a:p>
          <a:p>
            <a:endParaRPr lang="en-GB"/>
          </a:p>
        </p:txBody>
      </p:sp>
      <p:sp>
        <p:nvSpPr>
          <p:cNvPr id="4" name="Slide Number Placeholder 3"/>
          <p:cNvSpPr>
            <a:spLocks noGrp="1"/>
          </p:cNvSpPr>
          <p:nvPr>
            <p:ph type="sldNum" sz="quarter" idx="5"/>
          </p:nvPr>
        </p:nvSpPr>
        <p:spPr/>
        <p:txBody>
          <a:bodyPr/>
          <a:lstStyle/>
          <a:p>
            <a:fld id="{F10B2870-B0ED-4556-8BC9-29F84A64811B}" type="slidenum">
              <a:rPr lang="en-GB" smtClean="0"/>
              <a:t>18</a:t>
            </a:fld>
            <a:endParaRPr lang="en-GB"/>
          </a:p>
        </p:txBody>
      </p:sp>
    </p:spTree>
    <p:extLst>
      <p:ext uri="{BB962C8B-B14F-4D97-AF65-F5344CB8AC3E}">
        <p14:creationId xmlns:p14="http://schemas.microsoft.com/office/powerpoint/2010/main" val="414386432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a:t>These are actual sentences and not AI generated. Communication was the most frequently occurring factor.</a:t>
            </a:r>
          </a:p>
        </p:txBody>
      </p:sp>
      <p:sp>
        <p:nvSpPr>
          <p:cNvPr id="4" name="Slide Number Placeholder 3"/>
          <p:cNvSpPr>
            <a:spLocks noGrp="1"/>
          </p:cNvSpPr>
          <p:nvPr>
            <p:ph type="sldNum" sz="quarter" idx="5"/>
          </p:nvPr>
        </p:nvSpPr>
        <p:spPr/>
        <p:txBody>
          <a:bodyPr/>
          <a:lstStyle/>
          <a:p>
            <a:fld id="{F10B2870-B0ED-4556-8BC9-29F84A64811B}" type="slidenum">
              <a:rPr lang="en-GB" smtClean="0"/>
              <a:t>19</a:t>
            </a:fld>
            <a:endParaRPr lang="en-GB"/>
          </a:p>
        </p:txBody>
      </p:sp>
    </p:spTree>
    <p:extLst>
      <p:ext uri="{BB962C8B-B14F-4D97-AF65-F5344CB8AC3E}">
        <p14:creationId xmlns:p14="http://schemas.microsoft.com/office/powerpoint/2010/main" val="276735857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kern="1200">
                <a:solidFill>
                  <a:schemeClr val="tx1"/>
                </a:solidFill>
                <a:effectLst/>
                <a:latin typeface="+mn-lt"/>
                <a:ea typeface="+mn-ea"/>
                <a:cs typeface="+mn-cs"/>
              </a:rPr>
              <a:t>Teamworking was the second most common factor the AI identified.</a:t>
            </a:r>
          </a:p>
          <a:p>
            <a:endParaRPr lang="en-GB"/>
          </a:p>
        </p:txBody>
      </p:sp>
      <p:sp>
        <p:nvSpPr>
          <p:cNvPr id="4" name="Slide Number Placeholder 3"/>
          <p:cNvSpPr>
            <a:spLocks noGrp="1"/>
          </p:cNvSpPr>
          <p:nvPr>
            <p:ph type="sldNum" sz="quarter" idx="5"/>
          </p:nvPr>
        </p:nvSpPr>
        <p:spPr/>
        <p:txBody>
          <a:bodyPr/>
          <a:lstStyle/>
          <a:p>
            <a:fld id="{F10B2870-B0ED-4556-8BC9-29F84A64811B}" type="slidenum">
              <a:rPr lang="en-GB" smtClean="0"/>
              <a:t>20</a:t>
            </a:fld>
            <a:endParaRPr lang="en-GB"/>
          </a:p>
        </p:txBody>
      </p:sp>
    </p:spTree>
    <p:extLst>
      <p:ext uri="{BB962C8B-B14F-4D97-AF65-F5344CB8AC3E}">
        <p14:creationId xmlns:p14="http://schemas.microsoft.com/office/powerpoint/2010/main" val="227897390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kern="1200">
                <a:solidFill>
                  <a:schemeClr val="tx1"/>
                </a:solidFill>
                <a:effectLst/>
                <a:latin typeface="+mn-lt"/>
                <a:ea typeface="+mn-ea"/>
                <a:cs typeface="+mn-cs"/>
              </a:rPr>
              <a:t>And Assessment — the third key factor we identified as most commonly occurring across </a:t>
            </a:r>
            <a:r>
              <a:rPr lang="en-GB" sz="1200" kern="1200" err="1">
                <a:solidFill>
                  <a:schemeClr val="tx1"/>
                </a:solidFill>
                <a:effectLst/>
                <a:latin typeface="+mn-lt"/>
                <a:ea typeface="+mn-ea"/>
                <a:cs typeface="+mn-cs"/>
              </a:rPr>
              <a:t>reprots</a:t>
            </a:r>
            <a:r>
              <a:rPr lang="en-GB" sz="1200" kern="1200">
                <a:solidFill>
                  <a:schemeClr val="tx1"/>
                </a:solidFill>
                <a:effectLst/>
                <a:latin typeface="+mn-lt"/>
                <a:ea typeface="+mn-ea"/>
                <a:cs typeface="+mn-cs"/>
              </a:rPr>
              <a:t>..</a:t>
            </a:r>
          </a:p>
          <a:p>
            <a:endParaRPr lang="en-GB"/>
          </a:p>
        </p:txBody>
      </p:sp>
      <p:sp>
        <p:nvSpPr>
          <p:cNvPr id="4" name="Slide Number Placeholder 3"/>
          <p:cNvSpPr>
            <a:spLocks noGrp="1"/>
          </p:cNvSpPr>
          <p:nvPr>
            <p:ph type="sldNum" sz="quarter" idx="5"/>
          </p:nvPr>
        </p:nvSpPr>
        <p:spPr/>
        <p:txBody>
          <a:bodyPr/>
          <a:lstStyle/>
          <a:p>
            <a:fld id="{F10B2870-B0ED-4556-8BC9-29F84A64811B}" type="slidenum">
              <a:rPr lang="en-GB" smtClean="0"/>
              <a:t>21</a:t>
            </a:fld>
            <a:endParaRPr lang="en-GB"/>
          </a:p>
        </p:txBody>
      </p:sp>
    </p:spTree>
    <p:extLst>
      <p:ext uri="{BB962C8B-B14F-4D97-AF65-F5344CB8AC3E}">
        <p14:creationId xmlns:p14="http://schemas.microsoft.com/office/powerpoint/2010/main" val="184850649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[PAUSE]</a:t>
            </a:r>
          </a:p>
          <a:p>
            <a:r>
              <a:rPr lang="en-GB"/>
              <a:t>This is our </a:t>
            </a:r>
            <a:r>
              <a:rPr lang="en-GB" err="1"/>
              <a:t>I-SIRch:CS</a:t>
            </a:r>
            <a:r>
              <a:rPr lang="en-GB"/>
              <a:t> Framework. CS stands for Concept Summarisation.</a:t>
            </a:r>
          </a:p>
          <a:p>
            <a:r>
              <a:rPr lang="en-GB"/>
              <a:t>Incident reports go in, get annotated with human factors, then clustered and summarised.</a:t>
            </a:r>
          </a:p>
          <a:p>
            <a:r>
              <a:rPr lang="en-GB"/>
              <a:t>[PAUSE]</a:t>
            </a:r>
          </a:p>
          <a:p>
            <a:r>
              <a:rPr lang="en-GB"/>
              <a:t>Because we have factor, sentences per factor, ethnic group, and outcome linked together, we generated summaries for all combinations — for example, communication issues in Black maternal deaths.</a:t>
            </a:r>
          </a:p>
          <a:p>
            <a:r>
              <a:rPr lang="en-GB"/>
              <a:t>Generative summaries are often needed when we want to preserve anonymity.</a:t>
            </a:r>
          </a:p>
          <a:p>
            <a:endParaRPr lang="en-GB"/>
          </a:p>
        </p:txBody>
      </p:sp>
      <p:sp>
        <p:nvSpPr>
          <p:cNvPr id="4" name="Slide Number Placeholder 3"/>
          <p:cNvSpPr>
            <a:spLocks noGrp="1"/>
          </p:cNvSpPr>
          <p:nvPr>
            <p:ph type="sldNum" sz="quarter" idx="5"/>
          </p:nvPr>
        </p:nvSpPr>
        <p:spPr/>
        <p:txBody>
          <a:bodyPr/>
          <a:lstStyle/>
          <a:p>
            <a:fld id="{F10B2870-B0ED-4556-8BC9-29F84A64811B}" type="slidenum">
              <a:rPr lang="en-GB" smtClean="0"/>
              <a:t>24</a:t>
            </a:fld>
            <a:endParaRPr lang="en-GB"/>
          </a:p>
        </p:txBody>
      </p:sp>
    </p:spTree>
    <p:extLst>
      <p:ext uri="{BB962C8B-B14F-4D97-AF65-F5344CB8AC3E}">
        <p14:creationId xmlns:p14="http://schemas.microsoft.com/office/powerpoint/2010/main" val="350621215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[PAUSE]</a:t>
            </a:r>
          </a:p>
          <a:p>
            <a:r>
              <a:rPr lang="en-GB"/>
              <a:t>This table shows what the AI was working with. 3,760 annotated sentences across 27 human factors concepts.</a:t>
            </a:r>
          </a:p>
          <a:p>
            <a:r>
              <a:rPr lang="en-GB"/>
              <a:t>[Highlight key entries]</a:t>
            </a:r>
          </a:p>
          <a:p>
            <a:r>
              <a:rPr lang="en-GB"/>
              <a:t>The three most frequent match what we saw earlier: Teamworking with 530 sentences, Communication with 477, Assessment with 381.</a:t>
            </a:r>
          </a:p>
          <a:p>
            <a:r>
              <a:rPr lang="en-GB"/>
              <a:t>[PAUSE]</a:t>
            </a:r>
          </a:p>
          <a:p>
            <a:r>
              <a:rPr lang="en-GB"/>
              <a:t>The AI can generate summaries for any of these concepts. A synthesised view of what all 188 reports say about, for example, communication failures.</a:t>
            </a:r>
          </a:p>
          <a:p>
            <a:r>
              <a:rPr lang="en-GB"/>
              <a:t>Information scattered across hundreds of documents, made accessible.</a:t>
            </a:r>
          </a:p>
          <a:p>
            <a:endParaRPr lang="en-GB"/>
          </a:p>
        </p:txBody>
      </p:sp>
      <p:sp>
        <p:nvSpPr>
          <p:cNvPr id="4" name="Slide Number Placeholder 3"/>
          <p:cNvSpPr>
            <a:spLocks noGrp="1"/>
          </p:cNvSpPr>
          <p:nvPr>
            <p:ph type="sldNum" sz="quarter" idx="5"/>
          </p:nvPr>
        </p:nvSpPr>
        <p:spPr/>
        <p:txBody>
          <a:bodyPr/>
          <a:lstStyle/>
          <a:p>
            <a:fld id="{1C25A763-C29A-41B1-B3FF-48BA43549E56}" type="slidenum">
              <a:rPr lang="en-GB" smtClean="0"/>
              <a:t>25</a:t>
            </a:fld>
            <a:endParaRPr lang="en-GB"/>
          </a:p>
        </p:txBody>
      </p:sp>
    </p:spTree>
    <p:extLst>
      <p:ext uri="{BB962C8B-B14F-4D97-AF65-F5344CB8AC3E}">
        <p14:creationId xmlns:p14="http://schemas.microsoft.com/office/powerpoint/2010/main" val="16011899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We measured six things.</a:t>
            </a:r>
          </a:p>
          <a:p>
            <a:r>
              <a:rPr lang="en-GB"/>
              <a:t>Diversity: does it cover different aspects? </a:t>
            </a:r>
          </a:p>
          <a:p>
            <a:r>
              <a:rPr lang="en-GB"/>
              <a:t>Relevance: does it capture what matters? </a:t>
            </a:r>
          </a:p>
          <a:p>
            <a:r>
              <a:rPr lang="en-GB"/>
              <a:t>Coverage: how much of the original content is included? </a:t>
            </a:r>
          </a:p>
          <a:p>
            <a:r>
              <a:rPr lang="en-GB"/>
              <a:t>Coherence: does it flow logically? </a:t>
            </a:r>
          </a:p>
          <a:p>
            <a:r>
              <a:rPr lang="en-GB"/>
              <a:t>Conciseness: is it brief without losing meaning? </a:t>
            </a:r>
          </a:p>
          <a:p>
            <a:r>
              <a:rPr lang="en-GB"/>
              <a:t>Readability: is it easy to understand?</a:t>
            </a:r>
          </a:p>
          <a:p>
            <a:r>
              <a:rPr lang="en-GB"/>
              <a:t>The boxplots show consistent performance across ethnic groups. White British shows more variability and some lower scores, but look at the sample sizes: 52 reports for White British compared to 6 or 7 for Asian and Black. More data means more variability. It's not model bias.</a:t>
            </a:r>
          </a:p>
          <a:p>
            <a:endParaRPr lang="en-GB"/>
          </a:p>
          <a:p>
            <a:r>
              <a:rPr lang="en-GB"/>
              <a:t>Asian, Black, Mixed, and Other White all score consistently high. White British shows lower scores and more spread, but that's because it has 52 reports compared to 6 or 7 for other groups. Larger sample, more variability. Not model bias.</a:t>
            </a:r>
          </a:p>
          <a:p>
            <a:r>
              <a:rPr lang="en-GB"/>
              <a:t>Fairness, transparency, and accountability must be designed in from the start.</a:t>
            </a:r>
          </a:p>
          <a:p>
            <a:endParaRPr lang="en-GB"/>
          </a:p>
        </p:txBody>
      </p:sp>
      <p:sp>
        <p:nvSpPr>
          <p:cNvPr id="4" name="Slide Number Placeholder 3"/>
          <p:cNvSpPr>
            <a:spLocks noGrp="1"/>
          </p:cNvSpPr>
          <p:nvPr>
            <p:ph type="sldNum" sz="quarter" idx="5"/>
          </p:nvPr>
        </p:nvSpPr>
        <p:spPr/>
        <p:txBody>
          <a:bodyPr/>
          <a:lstStyle/>
          <a:p>
            <a:fld id="{F10B2870-B0ED-4556-8BC9-29F84A64811B}" type="slidenum">
              <a:rPr lang="en-GB" smtClean="0"/>
              <a:t>26</a:t>
            </a:fld>
            <a:endParaRPr lang="en-GB"/>
          </a:p>
        </p:txBody>
      </p:sp>
    </p:spTree>
    <p:extLst>
      <p:ext uri="{BB962C8B-B14F-4D97-AF65-F5344CB8AC3E}">
        <p14:creationId xmlns:p14="http://schemas.microsoft.com/office/powerpoint/2010/main" val="184825692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SKIP </a:t>
            </a:r>
          </a:p>
          <a:p>
            <a:r>
              <a:rPr lang="en-GB"/>
              <a:t>We measured six things.</a:t>
            </a:r>
          </a:p>
          <a:p>
            <a:r>
              <a:rPr lang="en-GB"/>
              <a:t>Diversity: does it cover different aspects? </a:t>
            </a:r>
          </a:p>
          <a:p>
            <a:r>
              <a:rPr lang="en-GB"/>
              <a:t>Relevance: does it capture what matters? </a:t>
            </a:r>
          </a:p>
          <a:p>
            <a:r>
              <a:rPr lang="en-GB"/>
              <a:t>Coverage: how much of the original content is included? </a:t>
            </a:r>
          </a:p>
          <a:p>
            <a:r>
              <a:rPr lang="en-GB"/>
              <a:t>Coherence: does it flow logically? </a:t>
            </a:r>
          </a:p>
          <a:p>
            <a:r>
              <a:rPr lang="en-GB"/>
              <a:t>Conciseness: is it brief without losing meaning? </a:t>
            </a:r>
          </a:p>
          <a:p>
            <a:r>
              <a:rPr lang="en-GB"/>
              <a:t>Readability: is it easy to understand?</a:t>
            </a:r>
          </a:p>
          <a:p>
            <a:r>
              <a:rPr lang="en-GB"/>
              <a:t>The boxplots show consistent performance across ethnic groups. White British shows more variability and some lower scores, but look at the sample sizes: 52 reports for White British compared to 6 or 7 for Asian and Black. More data means more variability. It's not model bias.</a:t>
            </a:r>
          </a:p>
          <a:p>
            <a:endParaRPr lang="en-GB"/>
          </a:p>
        </p:txBody>
      </p:sp>
      <p:sp>
        <p:nvSpPr>
          <p:cNvPr id="4" name="Slide Number Placeholder 3"/>
          <p:cNvSpPr>
            <a:spLocks noGrp="1"/>
          </p:cNvSpPr>
          <p:nvPr>
            <p:ph type="sldNum" sz="quarter" idx="5"/>
          </p:nvPr>
        </p:nvSpPr>
        <p:spPr/>
        <p:txBody>
          <a:bodyPr/>
          <a:lstStyle/>
          <a:p>
            <a:fld id="{F10B2870-B0ED-4556-8BC9-29F84A64811B}" type="slidenum">
              <a:rPr lang="en-GB" smtClean="0"/>
              <a:t>27</a:t>
            </a:fld>
            <a:endParaRPr lang="en-GB"/>
          </a:p>
        </p:txBody>
      </p:sp>
    </p:spTree>
    <p:extLst>
      <p:ext uri="{BB962C8B-B14F-4D97-AF65-F5344CB8AC3E}">
        <p14:creationId xmlns:p14="http://schemas.microsoft.com/office/powerpoint/2010/main" val="396323554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a:solidFill>
                  <a:schemeClr val="tx1"/>
                </a:solidFill>
                <a:effectLst/>
                <a:latin typeface="+mn-lt"/>
                <a:ea typeface="+mn-ea"/>
                <a:cs typeface="+mn-cs"/>
              </a:rPr>
              <a:t>Here are two of the summaries our AI tool generated for Communication and Acuity. </a:t>
            </a:r>
            <a:endParaRPr lang="en-GB"/>
          </a:p>
        </p:txBody>
      </p:sp>
      <p:sp>
        <p:nvSpPr>
          <p:cNvPr id="4" name="Slide Number Placeholder 3"/>
          <p:cNvSpPr>
            <a:spLocks noGrp="1"/>
          </p:cNvSpPr>
          <p:nvPr>
            <p:ph type="sldNum" sz="quarter" idx="5"/>
          </p:nvPr>
        </p:nvSpPr>
        <p:spPr/>
        <p:txBody>
          <a:bodyPr/>
          <a:lstStyle/>
          <a:p>
            <a:fld id="{F10B2870-B0ED-4556-8BC9-29F84A64811B}" type="slidenum">
              <a:rPr lang="en-GB" smtClean="0"/>
              <a:t>28</a:t>
            </a:fld>
            <a:endParaRPr lang="en-GB"/>
          </a:p>
        </p:txBody>
      </p:sp>
    </p:spTree>
    <p:extLst>
      <p:ext uri="{BB962C8B-B14F-4D97-AF65-F5344CB8AC3E}">
        <p14:creationId xmlns:p14="http://schemas.microsoft.com/office/powerpoint/2010/main" val="54096266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This screenshot shows example summaries from real reports.</a:t>
            </a:r>
          </a:p>
          <a:p>
            <a:r>
              <a:rPr lang="en-GB"/>
              <a:t>We extract the original sentences first, then generate summaries from them. Both are stored. So we can always compare the summary against the source sentences and check accuracy.</a:t>
            </a:r>
          </a:p>
          <a:p>
            <a:endParaRPr lang="en-GB"/>
          </a:p>
        </p:txBody>
      </p:sp>
      <p:sp>
        <p:nvSpPr>
          <p:cNvPr id="4" name="Slide Number Placeholder 3"/>
          <p:cNvSpPr>
            <a:spLocks noGrp="1"/>
          </p:cNvSpPr>
          <p:nvPr>
            <p:ph type="sldNum" sz="quarter" idx="5"/>
          </p:nvPr>
        </p:nvSpPr>
        <p:spPr/>
        <p:txBody>
          <a:bodyPr/>
          <a:lstStyle/>
          <a:p>
            <a:fld id="{F10B2870-B0ED-4556-8BC9-29F84A64811B}" type="slidenum">
              <a:rPr lang="en-GB" smtClean="0"/>
              <a:t>29</a:t>
            </a:fld>
            <a:endParaRPr lang="en-GB"/>
          </a:p>
        </p:txBody>
      </p:sp>
    </p:spTree>
    <p:extLst>
      <p:ext uri="{BB962C8B-B14F-4D97-AF65-F5344CB8AC3E}">
        <p14:creationId xmlns:p14="http://schemas.microsoft.com/office/powerpoint/2010/main" val="250327113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So what can go wrong with generative AI?</a:t>
            </a:r>
          </a:p>
          <a:p>
            <a:r>
              <a:rPr lang="en-GB"/>
              <a:t>Hallucination: AI generates content that sounds plausible but isn't true. We mitigate this by keeping the original sentences so we can check the summary against the source.</a:t>
            </a:r>
          </a:p>
          <a:p>
            <a:r>
              <a:rPr lang="en-GB"/>
              <a:t>Bias amplification: AI can amplify patterns in the training data. We run regular bias audits across ethnic groups.</a:t>
            </a:r>
          </a:p>
          <a:p>
            <a:r>
              <a:rPr lang="en-GB"/>
              <a:t>Sensitive data exposure: healthcare data is highly sensitive. We use offline models so no data leaves our secure environment.</a:t>
            </a:r>
          </a:p>
          <a:p>
            <a:r>
              <a:rPr lang="en-GB"/>
              <a:t>Sample size variability: small numbers for minority groups can affect reliability. We use algorithms designed for high-variability data and report performance per group.</a:t>
            </a:r>
          </a:p>
          <a:p>
            <a:endParaRPr lang="en-GB"/>
          </a:p>
        </p:txBody>
      </p:sp>
      <p:sp>
        <p:nvSpPr>
          <p:cNvPr id="4" name="Slide Number Placeholder 3"/>
          <p:cNvSpPr>
            <a:spLocks noGrp="1"/>
          </p:cNvSpPr>
          <p:nvPr>
            <p:ph type="sldNum" sz="quarter" idx="5"/>
          </p:nvPr>
        </p:nvSpPr>
        <p:spPr/>
        <p:txBody>
          <a:bodyPr/>
          <a:lstStyle/>
          <a:p>
            <a:fld id="{F10B2870-B0ED-4556-8BC9-29F84A64811B}" type="slidenum">
              <a:rPr lang="en-GB" smtClean="0"/>
              <a:t>30</a:t>
            </a:fld>
            <a:endParaRPr lang="en-GB"/>
          </a:p>
        </p:txBody>
      </p:sp>
    </p:spTree>
    <p:extLst>
      <p:ext uri="{BB962C8B-B14F-4D97-AF65-F5344CB8AC3E}">
        <p14:creationId xmlns:p14="http://schemas.microsoft.com/office/powerpoint/2010/main" val="152720790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a:t>Now I want to show you how we're extending these methods beyond maternity.</a:t>
            </a:r>
          </a:p>
          <a:p>
            <a:endParaRPr lang="en-GB"/>
          </a:p>
        </p:txBody>
      </p:sp>
      <p:sp>
        <p:nvSpPr>
          <p:cNvPr id="4" name="Slide Number Placeholder 3"/>
          <p:cNvSpPr>
            <a:spLocks noGrp="1"/>
          </p:cNvSpPr>
          <p:nvPr>
            <p:ph type="sldNum" sz="quarter" idx="5"/>
          </p:nvPr>
        </p:nvSpPr>
        <p:spPr/>
        <p:txBody>
          <a:bodyPr/>
          <a:lstStyle/>
          <a:p>
            <a:fld id="{F10B2870-B0ED-4556-8BC9-29F84A64811B}" type="slidenum">
              <a:rPr lang="en-GB" smtClean="0"/>
              <a:t>32</a:t>
            </a:fld>
            <a:endParaRPr lang="en-GB"/>
          </a:p>
        </p:txBody>
      </p:sp>
    </p:spTree>
    <p:extLst>
      <p:ext uri="{BB962C8B-B14F-4D97-AF65-F5344CB8AC3E}">
        <p14:creationId xmlns:p14="http://schemas.microsoft.com/office/powerpoint/2010/main" val="291951278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[PAUSE]</a:t>
            </a:r>
          </a:p>
          <a:p>
            <a:r>
              <a:rPr lang="en-GB"/>
              <a:t>We developed LENS.ai, applying the same approach to Prevention of Future Death reports.</a:t>
            </a:r>
          </a:p>
          <a:p>
            <a:r>
              <a:rPr lang="en-GB"/>
              <a:t>PFD reports are issued by coroners when action could prevent future deaths. They highlight risks, system failures, and learning opportunities.</a:t>
            </a:r>
          </a:p>
          <a:p>
            <a:r>
              <a:rPr lang="en-GB"/>
              <a:t>LENS.ai supports systematic review, identification of recurring themes, and structured analysis across cases. It's adaptable to different frameworks like the Yorkshire Contributory Factors.</a:t>
            </a:r>
          </a:p>
          <a:p>
            <a:r>
              <a:rPr lang="en-GB"/>
              <a:t>Same principles: domain-specific, traceable, tested for fairness.</a:t>
            </a:r>
          </a:p>
          <a:p>
            <a:endParaRPr lang="en-GB"/>
          </a:p>
        </p:txBody>
      </p:sp>
      <p:sp>
        <p:nvSpPr>
          <p:cNvPr id="4" name="Slide Number Placeholder 3"/>
          <p:cNvSpPr>
            <a:spLocks noGrp="1"/>
          </p:cNvSpPr>
          <p:nvPr>
            <p:ph type="sldNum" sz="quarter" idx="5"/>
          </p:nvPr>
        </p:nvSpPr>
        <p:spPr/>
        <p:txBody>
          <a:bodyPr/>
          <a:lstStyle/>
          <a:p>
            <a:fld id="{F10B2870-B0ED-4556-8BC9-29F84A64811B}" type="slidenum">
              <a:rPr lang="en-GB" smtClean="0"/>
              <a:t>33</a:t>
            </a:fld>
            <a:endParaRPr lang="en-GB"/>
          </a:p>
        </p:txBody>
      </p:sp>
    </p:spTree>
    <p:extLst>
      <p:ext uri="{BB962C8B-B14F-4D97-AF65-F5344CB8AC3E}">
        <p14:creationId xmlns:p14="http://schemas.microsoft.com/office/powerpoint/2010/main" val="106220392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Lense.ai Started as a research prototype. Now used by HSSIB to support their incident report annotation.</a:t>
            </a:r>
          </a:p>
          <a:p>
            <a:r>
              <a:rPr lang="en-GB"/>
              <a:t>Patrick is leading the annotation work and has annotated hundreds of non-maternity reports. My team handles the fine-tuning and evaluation. We are working hard on improving the model with each iteration.</a:t>
            </a:r>
          </a:p>
          <a:p>
            <a:r>
              <a:rPr lang="en-GB"/>
              <a:t>We have internal funding to revamp the interface and continue this work. If you're interested in collaborating, please get in touch.</a:t>
            </a:r>
          </a:p>
          <a:p>
            <a:endParaRPr lang="en-GB"/>
          </a:p>
        </p:txBody>
      </p:sp>
      <p:sp>
        <p:nvSpPr>
          <p:cNvPr id="4" name="Slide Number Placeholder 3"/>
          <p:cNvSpPr>
            <a:spLocks noGrp="1"/>
          </p:cNvSpPr>
          <p:nvPr>
            <p:ph type="sldNum" sz="quarter" idx="5"/>
          </p:nvPr>
        </p:nvSpPr>
        <p:spPr/>
        <p:txBody>
          <a:bodyPr/>
          <a:lstStyle/>
          <a:p>
            <a:fld id="{F10B2870-B0ED-4556-8BC9-29F84A64811B}" type="slidenum">
              <a:rPr lang="en-GB" smtClean="0"/>
              <a:t>36</a:t>
            </a:fld>
            <a:endParaRPr lang="en-GB"/>
          </a:p>
        </p:txBody>
      </p:sp>
    </p:spTree>
    <p:extLst>
      <p:ext uri="{BB962C8B-B14F-4D97-AF65-F5344CB8AC3E}">
        <p14:creationId xmlns:p14="http://schemas.microsoft.com/office/powerpoint/2010/main" val="364923535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[PAUSE]</a:t>
            </a:r>
          </a:p>
          <a:p>
            <a:r>
              <a:rPr lang="en-GB"/>
              <a:t>Let me bring together what we've covered.</a:t>
            </a:r>
          </a:p>
          <a:p>
            <a:r>
              <a:rPr lang="en-GB"/>
              <a:t>[Three columns]</a:t>
            </a:r>
          </a:p>
          <a:p>
            <a:r>
              <a:rPr lang="en-GB"/>
              <a:t>The Challenge: unstructured safety data contains insights but is hard to analyse at scale.</a:t>
            </a:r>
          </a:p>
          <a:p>
            <a:r>
              <a:rPr lang="en-GB"/>
              <a:t>The Methods: our AI tools combine human expertise with machine learning. The AI learns from humans and augments their capabilities. It doesn't replace judgement.</a:t>
            </a:r>
          </a:p>
          <a:p>
            <a:r>
              <a:rPr lang="en-GB"/>
              <a:t>The Safeguards: fairness, transparency, and human oversight designed in from the start. Every output is traceable. Performance tested across all groups.</a:t>
            </a:r>
          </a:p>
          <a:p>
            <a:endParaRPr lang="en-GB"/>
          </a:p>
        </p:txBody>
      </p:sp>
      <p:sp>
        <p:nvSpPr>
          <p:cNvPr id="4" name="Slide Number Placeholder 3"/>
          <p:cNvSpPr>
            <a:spLocks noGrp="1"/>
          </p:cNvSpPr>
          <p:nvPr>
            <p:ph type="sldNum" sz="quarter" idx="5"/>
          </p:nvPr>
        </p:nvSpPr>
        <p:spPr/>
        <p:txBody>
          <a:bodyPr/>
          <a:lstStyle/>
          <a:p>
            <a:fld id="{F10B2870-B0ED-4556-8BC9-29F84A64811B}" type="slidenum">
              <a:rPr lang="en-GB" smtClean="0"/>
              <a:t>37</a:t>
            </a:fld>
            <a:endParaRPr lang="en-GB"/>
          </a:p>
        </p:txBody>
      </p:sp>
    </p:spTree>
    <p:extLst>
      <p:ext uri="{BB962C8B-B14F-4D97-AF65-F5344CB8AC3E}">
        <p14:creationId xmlns:p14="http://schemas.microsoft.com/office/powerpoint/2010/main" val="51503094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1" i="1" kern="1200">
                <a:solidFill>
                  <a:schemeClr val="tx1"/>
                </a:solidFill>
                <a:effectLst/>
                <a:latin typeface="+mn-lt"/>
                <a:ea typeface="+mn-ea"/>
                <a:cs typeface="+mn-cs"/>
              </a:rPr>
              <a:t>[PAUSE]</a:t>
            </a:r>
            <a:endParaRPr lang="en-GB" sz="1200" kern="1200">
              <a:solidFill>
                <a:schemeClr val="tx1"/>
              </a:solidFill>
              <a:effectLst/>
              <a:latin typeface="+mn-lt"/>
              <a:ea typeface="+mn-ea"/>
              <a:cs typeface="+mn-cs"/>
            </a:endParaRPr>
          </a:p>
          <a:p>
            <a:r>
              <a:rPr lang="en-GB" sz="1200" kern="1200">
                <a:solidFill>
                  <a:schemeClr val="tx1"/>
                </a:solidFill>
                <a:effectLst/>
                <a:latin typeface="+mn-lt"/>
                <a:ea typeface="+mn-ea"/>
                <a:cs typeface="+mn-cs"/>
              </a:rPr>
              <a:t>If you're interested in exploring how these AI methods might apply to your work, I'd love to hear from you.</a:t>
            </a:r>
          </a:p>
          <a:p>
            <a:r>
              <a:rPr lang="en-GB" sz="1200" b="1" i="1" kern="1200">
                <a:solidFill>
                  <a:schemeClr val="tx1"/>
                </a:solidFill>
                <a:effectLst/>
                <a:latin typeface="+mn-lt"/>
                <a:ea typeface="+mn-ea"/>
                <a:cs typeface="+mn-cs"/>
              </a:rPr>
              <a:t>[Contact details]</a:t>
            </a:r>
            <a:endParaRPr lang="en-GB" sz="1200" kern="1200">
              <a:solidFill>
                <a:schemeClr val="tx1"/>
              </a:solidFill>
              <a:effectLst/>
              <a:latin typeface="+mn-lt"/>
              <a:ea typeface="+mn-ea"/>
              <a:cs typeface="+mn-cs"/>
            </a:endParaRPr>
          </a:p>
          <a:p>
            <a:r>
              <a:rPr lang="en-GB" sz="1200" kern="1200">
                <a:solidFill>
                  <a:schemeClr val="tx1"/>
                </a:solidFill>
                <a:effectLst/>
                <a:latin typeface="+mn-lt"/>
                <a:ea typeface="+mn-ea"/>
                <a:cs typeface="+mn-cs"/>
              </a:rPr>
              <a:t>I'm happy to discuss healthcare AI research partnerships, patient safety data projects, or ethical AI frameworks.</a:t>
            </a:r>
          </a:p>
          <a:p>
            <a:r>
              <a:rPr lang="en-GB" sz="1200" kern="1200">
                <a:solidFill>
                  <a:schemeClr val="tx1"/>
                </a:solidFill>
                <a:effectLst/>
                <a:latin typeface="+mn-lt"/>
                <a:ea typeface="+mn-ea"/>
                <a:cs typeface="+mn-cs"/>
              </a:rPr>
              <a:t>You can reach me at g.cosma@lboro.ac.uk </a:t>
            </a:r>
          </a:p>
          <a:p>
            <a:r>
              <a:rPr lang="en-GB" sz="1200" kern="1200">
                <a:solidFill>
                  <a:schemeClr val="tx1"/>
                </a:solidFill>
                <a:effectLst/>
                <a:latin typeface="+mn-lt"/>
                <a:ea typeface="+mn-ea"/>
                <a:cs typeface="+mn-cs"/>
              </a:rPr>
              <a:t> </a:t>
            </a:r>
          </a:p>
          <a:p>
            <a:endParaRPr lang="en-GB"/>
          </a:p>
        </p:txBody>
      </p:sp>
      <p:sp>
        <p:nvSpPr>
          <p:cNvPr id="4" name="Slide Number Placeholder 3"/>
          <p:cNvSpPr>
            <a:spLocks noGrp="1"/>
          </p:cNvSpPr>
          <p:nvPr>
            <p:ph type="sldNum" sz="quarter" idx="5"/>
          </p:nvPr>
        </p:nvSpPr>
        <p:spPr/>
        <p:txBody>
          <a:bodyPr/>
          <a:lstStyle/>
          <a:p>
            <a:fld id="{F10B2870-B0ED-4556-8BC9-29F84A64811B}" type="slidenum">
              <a:rPr lang="en-GB" smtClean="0"/>
              <a:t>38</a:t>
            </a:fld>
            <a:endParaRPr lang="en-GB"/>
          </a:p>
        </p:txBody>
      </p:sp>
    </p:spTree>
    <p:extLst>
      <p:ext uri="{BB962C8B-B14F-4D97-AF65-F5344CB8AC3E}">
        <p14:creationId xmlns:p14="http://schemas.microsoft.com/office/powerpoint/2010/main" val="14448142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432435" y="1005903"/>
            <a:ext cx="4900930" cy="681418"/>
          </a:xfrm>
          <a:prstGeom prst="rect">
            <a:avLst/>
          </a:prstGeom>
        </p:spPr>
        <p:txBody>
          <a:bodyPr wrap="square" lIns="0" tIns="0" rIns="0" bIns="0">
            <a:spAutoFit/>
          </a:bodyPr>
          <a:lstStyle>
            <a:lvl1pPr>
              <a:defRPr sz="1400" b="1" i="0">
                <a:solidFill>
                  <a:srgbClr val="202429"/>
                </a:solidFill>
                <a:latin typeface="Arial"/>
                <a:cs typeface="Arial"/>
              </a:defRPr>
            </a:lvl1pPr>
          </a:lstStyle>
          <a:p>
            <a:endParaRPr/>
          </a:p>
        </p:txBody>
      </p:sp>
      <p:sp>
        <p:nvSpPr>
          <p:cNvPr id="3" name="Holder 3"/>
          <p:cNvSpPr>
            <a:spLocks noGrp="1"/>
          </p:cNvSpPr>
          <p:nvPr>
            <p:ph type="subTitle" idx="4"/>
          </p:nvPr>
        </p:nvSpPr>
        <p:spPr>
          <a:xfrm>
            <a:off x="864870" y="1817116"/>
            <a:ext cx="4036060" cy="811212"/>
          </a:xfrm>
          <a:prstGeom prst="rect">
            <a:avLst/>
          </a:prstGeom>
        </p:spPr>
        <p:txBody>
          <a:bodyPr wrap="square" lIns="0" tIns="0" rIns="0" bIns="0">
            <a:spAutoFit/>
          </a:bodyPr>
          <a:lstStyle>
            <a:lvl1pPr>
              <a:defRPr sz="800" b="1" i="0">
                <a:solidFill>
                  <a:srgbClr val="202429"/>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defRPr sz="800" b="0" i="0">
                <a:solidFill>
                  <a:srgbClr val="6C757C"/>
                </a:solidFill>
                <a:latin typeface="Tahoma"/>
                <a:cs typeface="Tahoma"/>
              </a:defRPr>
            </a:lvl1pPr>
          </a:lstStyle>
          <a:p>
            <a:pPr marL="12700">
              <a:lnSpc>
                <a:spcPct val="100000"/>
              </a:lnSpc>
              <a:spcBef>
                <a:spcPts val="219"/>
              </a:spcBef>
            </a:pPr>
            <a:r>
              <a:rPr spc="-10"/>
              <a:t>Responsible</a:t>
            </a:r>
            <a:r>
              <a:rPr spc="20"/>
              <a:t> </a:t>
            </a:r>
            <a:r>
              <a:t>AI</a:t>
            </a:r>
            <a:r>
              <a:rPr spc="25"/>
              <a:t> </a:t>
            </a:r>
            <a:r>
              <a:t>in</a:t>
            </a:r>
            <a:r>
              <a:rPr spc="25"/>
              <a:t> </a:t>
            </a:r>
            <a:r>
              <a:rPr spc="-10"/>
              <a:t>Healthcare</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7AB67371-FF6E-43AB-B5E3-85EBE98660E7}" type="datetime1">
              <a:rPr lang="en-US" smtClean="0"/>
              <a:t>4/15/2026</a:t>
            </a:fld>
            <a:endParaRPr lang="en-US"/>
          </a:p>
        </p:txBody>
      </p:sp>
      <p:sp>
        <p:nvSpPr>
          <p:cNvPr id="6" name="Holder 6"/>
          <p:cNvSpPr>
            <a:spLocks noGrp="1"/>
          </p:cNvSpPr>
          <p:nvPr>
            <p:ph type="sldNum" sz="quarter" idx="7"/>
          </p:nvPr>
        </p:nvSpPr>
        <p:spPr/>
        <p:txBody>
          <a:bodyPr lIns="0" tIns="0" rIns="0" bIns="0"/>
          <a:lstStyle>
            <a:lvl1pPr>
              <a:defRPr sz="800" b="0" i="0">
                <a:solidFill>
                  <a:srgbClr val="6C757C"/>
                </a:solidFill>
                <a:latin typeface="Tahoma"/>
                <a:cs typeface="Tahoma"/>
              </a:defRPr>
            </a:lvl1pPr>
          </a:lstStyle>
          <a:p>
            <a:pPr marL="39370">
              <a:lnSpc>
                <a:spcPct val="100000"/>
              </a:lnSpc>
              <a:spcBef>
                <a:spcPts val="219"/>
              </a:spcBef>
            </a:pPr>
            <a:fld id="{81D60167-4931-47E6-BA6A-407CBD079E47}" type="slidenum">
              <a:rPr dirty="0"/>
              <a:t>‹#›</a:t>
            </a:fld>
            <a:r>
              <a:rPr spc="20"/>
              <a:t> </a:t>
            </a:r>
            <a:r>
              <a:rPr spc="120"/>
              <a:t>/</a:t>
            </a:r>
            <a:r>
              <a:rPr spc="25"/>
              <a:t> </a:t>
            </a:r>
            <a:r>
              <a:rPr spc="-25"/>
              <a:t>41</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400" b="1" i="0">
                <a:solidFill>
                  <a:srgbClr val="202429"/>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sz="800" b="1" i="0">
                <a:solidFill>
                  <a:srgbClr val="202429"/>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defRPr sz="800" b="0" i="0">
                <a:solidFill>
                  <a:srgbClr val="6C757C"/>
                </a:solidFill>
                <a:latin typeface="Tahoma"/>
                <a:cs typeface="Tahoma"/>
              </a:defRPr>
            </a:lvl1pPr>
          </a:lstStyle>
          <a:p>
            <a:pPr marL="12700">
              <a:lnSpc>
                <a:spcPct val="100000"/>
              </a:lnSpc>
              <a:spcBef>
                <a:spcPts val="219"/>
              </a:spcBef>
            </a:pPr>
            <a:r>
              <a:rPr spc="-10"/>
              <a:t>Responsible</a:t>
            </a:r>
            <a:r>
              <a:rPr spc="20"/>
              <a:t> </a:t>
            </a:r>
            <a:r>
              <a:t>AI</a:t>
            </a:r>
            <a:r>
              <a:rPr spc="25"/>
              <a:t> </a:t>
            </a:r>
            <a:r>
              <a:t>in</a:t>
            </a:r>
            <a:r>
              <a:rPr spc="25"/>
              <a:t> </a:t>
            </a:r>
            <a:r>
              <a:rPr spc="-10"/>
              <a:t>Healthcare</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25C217E6-06B6-4972-83BA-3B98A0AA4200}" type="datetime1">
              <a:rPr lang="en-US" smtClean="0"/>
              <a:t>4/15/2026</a:t>
            </a:fld>
            <a:endParaRPr lang="en-US"/>
          </a:p>
        </p:txBody>
      </p:sp>
      <p:sp>
        <p:nvSpPr>
          <p:cNvPr id="6" name="Holder 6"/>
          <p:cNvSpPr>
            <a:spLocks noGrp="1"/>
          </p:cNvSpPr>
          <p:nvPr>
            <p:ph type="sldNum" sz="quarter" idx="7"/>
          </p:nvPr>
        </p:nvSpPr>
        <p:spPr/>
        <p:txBody>
          <a:bodyPr lIns="0" tIns="0" rIns="0" bIns="0"/>
          <a:lstStyle>
            <a:lvl1pPr>
              <a:defRPr sz="800" b="0" i="0">
                <a:solidFill>
                  <a:srgbClr val="6C757C"/>
                </a:solidFill>
                <a:latin typeface="Tahoma"/>
                <a:cs typeface="Tahoma"/>
              </a:defRPr>
            </a:lvl1pPr>
          </a:lstStyle>
          <a:p>
            <a:pPr marL="39370">
              <a:lnSpc>
                <a:spcPct val="100000"/>
              </a:lnSpc>
              <a:spcBef>
                <a:spcPts val="219"/>
              </a:spcBef>
            </a:pPr>
            <a:fld id="{81D60167-4931-47E6-BA6A-407CBD079E47}" type="slidenum">
              <a:rPr dirty="0"/>
              <a:t>‹#›</a:t>
            </a:fld>
            <a:r>
              <a:rPr spc="20"/>
              <a:t> </a:t>
            </a:r>
            <a:r>
              <a:rPr spc="120"/>
              <a:t>/</a:t>
            </a:r>
            <a:r>
              <a:rPr spc="25"/>
              <a:t> </a:t>
            </a:r>
            <a:r>
              <a:rPr spc="-25"/>
              <a:t>41</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400" b="1" i="0">
                <a:solidFill>
                  <a:srgbClr val="202429"/>
                </a:solidFill>
                <a:latin typeface="Arial"/>
                <a:cs typeface="Arial"/>
              </a:defRPr>
            </a:lvl1pPr>
          </a:lstStyle>
          <a:p>
            <a:endParaRPr/>
          </a:p>
        </p:txBody>
      </p:sp>
      <p:sp>
        <p:nvSpPr>
          <p:cNvPr id="3" name="Holder 3"/>
          <p:cNvSpPr>
            <a:spLocks noGrp="1"/>
          </p:cNvSpPr>
          <p:nvPr>
            <p:ph sz="half" idx="2"/>
          </p:nvPr>
        </p:nvSpPr>
        <p:spPr>
          <a:xfrm>
            <a:off x="242874" y="680350"/>
            <a:ext cx="2272665" cy="2247900"/>
          </a:xfrm>
          <a:prstGeom prst="rect">
            <a:avLst/>
          </a:prstGeom>
        </p:spPr>
        <p:txBody>
          <a:bodyPr wrap="square" lIns="0" tIns="0" rIns="0" bIns="0">
            <a:spAutoFit/>
          </a:bodyPr>
          <a:lstStyle>
            <a:lvl1pPr>
              <a:defRPr sz="1000" b="1" i="0">
                <a:solidFill>
                  <a:srgbClr val="005F73"/>
                </a:solidFill>
                <a:latin typeface="Arial"/>
                <a:cs typeface="Arial"/>
              </a:defRPr>
            </a:lvl1pPr>
          </a:lstStyle>
          <a:p>
            <a:endParaRPr/>
          </a:p>
        </p:txBody>
      </p:sp>
      <p:sp>
        <p:nvSpPr>
          <p:cNvPr id="4" name="Holder 4"/>
          <p:cNvSpPr>
            <a:spLocks noGrp="1"/>
          </p:cNvSpPr>
          <p:nvPr>
            <p:ph sz="half" idx="3"/>
          </p:nvPr>
        </p:nvSpPr>
        <p:spPr>
          <a:xfrm>
            <a:off x="3173285" y="680350"/>
            <a:ext cx="2191385" cy="1748155"/>
          </a:xfrm>
          <a:prstGeom prst="rect">
            <a:avLst/>
          </a:prstGeom>
        </p:spPr>
        <p:txBody>
          <a:bodyPr wrap="square" lIns="0" tIns="0" rIns="0" bIns="0">
            <a:spAutoFit/>
          </a:bodyPr>
          <a:lstStyle>
            <a:lvl1pPr>
              <a:defRPr sz="800" b="0" i="0">
                <a:solidFill>
                  <a:srgbClr val="202429"/>
                </a:solidFill>
                <a:latin typeface="Tahoma"/>
                <a:cs typeface="Tahoma"/>
              </a:defRPr>
            </a:lvl1pPr>
          </a:lstStyle>
          <a:p>
            <a:endParaRPr/>
          </a:p>
        </p:txBody>
      </p:sp>
      <p:sp>
        <p:nvSpPr>
          <p:cNvPr id="5" name="Holder 5"/>
          <p:cNvSpPr>
            <a:spLocks noGrp="1"/>
          </p:cNvSpPr>
          <p:nvPr>
            <p:ph type="ftr" sz="quarter" idx="5"/>
          </p:nvPr>
        </p:nvSpPr>
        <p:spPr/>
        <p:txBody>
          <a:bodyPr lIns="0" tIns="0" rIns="0" bIns="0"/>
          <a:lstStyle>
            <a:lvl1pPr>
              <a:defRPr sz="800" b="0" i="0">
                <a:solidFill>
                  <a:srgbClr val="6C757C"/>
                </a:solidFill>
                <a:latin typeface="Tahoma"/>
                <a:cs typeface="Tahoma"/>
              </a:defRPr>
            </a:lvl1pPr>
          </a:lstStyle>
          <a:p>
            <a:pPr marL="12700">
              <a:lnSpc>
                <a:spcPct val="100000"/>
              </a:lnSpc>
              <a:spcBef>
                <a:spcPts val="219"/>
              </a:spcBef>
            </a:pPr>
            <a:r>
              <a:rPr spc="-10"/>
              <a:t>Responsible</a:t>
            </a:r>
            <a:r>
              <a:rPr spc="20"/>
              <a:t> </a:t>
            </a:r>
            <a:r>
              <a:t>AI</a:t>
            </a:r>
            <a:r>
              <a:rPr spc="25"/>
              <a:t> </a:t>
            </a:r>
            <a:r>
              <a:t>in</a:t>
            </a:r>
            <a:r>
              <a:rPr spc="25"/>
              <a:t> </a:t>
            </a:r>
            <a:r>
              <a:rPr spc="-10"/>
              <a:t>Healthcare</a:t>
            </a: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CE7C65A4-C702-4270-811E-2E55DE719C38}" type="datetime1">
              <a:rPr lang="en-US" smtClean="0"/>
              <a:t>4/15/2026</a:t>
            </a:fld>
            <a:endParaRPr lang="en-US"/>
          </a:p>
        </p:txBody>
      </p:sp>
      <p:sp>
        <p:nvSpPr>
          <p:cNvPr id="7" name="Holder 7"/>
          <p:cNvSpPr>
            <a:spLocks noGrp="1"/>
          </p:cNvSpPr>
          <p:nvPr>
            <p:ph type="sldNum" sz="quarter" idx="7"/>
          </p:nvPr>
        </p:nvSpPr>
        <p:spPr/>
        <p:txBody>
          <a:bodyPr lIns="0" tIns="0" rIns="0" bIns="0"/>
          <a:lstStyle>
            <a:lvl1pPr>
              <a:defRPr sz="800" b="0" i="0">
                <a:solidFill>
                  <a:srgbClr val="6C757C"/>
                </a:solidFill>
                <a:latin typeface="Tahoma"/>
                <a:cs typeface="Tahoma"/>
              </a:defRPr>
            </a:lvl1pPr>
          </a:lstStyle>
          <a:p>
            <a:pPr marL="39370">
              <a:lnSpc>
                <a:spcPct val="100000"/>
              </a:lnSpc>
              <a:spcBef>
                <a:spcPts val="219"/>
              </a:spcBef>
            </a:pPr>
            <a:fld id="{81D60167-4931-47E6-BA6A-407CBD079E47}" type="slidenum">
              <a:rPr dirty="0"/>
              <a:t>‹#›</a:t>
            </a:fld>
            <a:r>
              <a:rPr spc="20"/>
              <a:t> </a:t>
            </a:r>
            <a:r>
              <a:rPr spc="120"/>
              <a:t>/</a:t>
            </a:r>
            <a:r>
              <a:rPr spc="25"/>
              <a:t> </a:t>
            </a:r>
            <a:r>
              <a:rPr spc="-25"/>
              <a:t>41</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10" y="0"/>
            <a:ext cx="1620520" cy="3240405"/>
          </a:xfrm>
          <a:custGeom>
            <a:avLst/>
            <a:gdLst/>
            <a:ahLst/>
            <a:cxnLst/>
            <a:rect l="l" t="t" r="r" b="b"/>
            <a:pathLst>
              <a:path w="1620520" h="3240405">
                <a:moveTo>
                  <a:pt x="1620020" y="3240023"/>
                </a:moveTo>
                <a:lnTo>
                  <a:pt x="1620020" y="0"/>
                </a:lnTo>
                <a:lnTo>
                  <a:pt x="0" y="0"/>
                </a:lnTo>
                <a:lnTo>
                  <a:pt x="10" y="3240052"/>
                </a:lnTo>
                <a:lnTo>
                  <a:pt x="1620020" y="3240023"/>
                </a:lnTo>
                <a:close/>
              </a:path>
            </a:pathLst>
          </a:custGeom>
          <a:solidFill>
            <a:srgbClr val="005F73"/>
          </a:solid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1400" b="1" i="0">
                <a:solidFill>
                  <a:srgbClr val="202429"/>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defRPr sz="800" b="0" i="0">
                <a:solidFill>
                  <a:srgbClr val="6C757C"/>
                </a:solidFill>
                <a:latin typeface="Tahoma"/>
                <a:cs typeface="Tahoma"/>
              </a:defRPr>
            </a:lvl1pPr>
          </a:lstStyle>
          <a:p>
            <a:pPr marL="12700">
              <a:lnSpc>
                <a:spcPct val="100000"/>
              </a:lnSpc>
              <a:spcBef>
                <a:spcPts val="219"/>
              </a:spcBef>
            </a:pPr>
            <a:r>
              <a:rPr spc="-10"/>
              <a:t>Responsible</a:t>
            </a:r>
            <a:r>
              <a:rPr spc="20"/>
              <a:t> </a:t>
            </a:r>
            <a:r>
              <a:t>AI</a:t>
            </a:r>
            <a:r>
              <a:rPr spc="25"/>
              <a:t> </a:t>
            </a:r>
            <a:r>
              <a:t>in</a:t>
            </a:r>
            <a:r>
              <a:rPr spc="25"/>
              <a:t> </a:t>
            </a:r>
            <a:r>
              <a:rPr spc="-10"/>
              <a:t>Healthcare</a:t>
            </a: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0F37E7C5-E3F0-49DF-96D9-E0847D062A2B}" type="datetime1">
              <a:rPr lang="en-US" smtClean="0"/>
              <a:t>4/15/2026</a:t>
            </a:fld>
            <a:endParaRPr lang="en-US"/>
          </a:p>
        </p:txBody>
      </p:sp>
      <p:sp>
        <p:nvSpPr>
          <p:cNvPr id="5" name="Holder 5"/>
          <p:cNvSpPr>
            <a:spLocks noGrp="1"/>
          </p:cNvSpPr>
          <p:nvPr>
            <p:ph type="sldNum" sz="quarter" idx="7"/>
          </p:nvPr>
        </p:nvSpPr>
        <p:spPr/>
        <p:txBody>
          <a:bodyPr lIns="0" tIns="0" rIns="0" bIns="0"/>
          <a:lstStyle>
            <a:lvl1pPr>
              <a:defRPr sz="800" b="0" i="0">
                <a:solidFill>
                  <a:srgbClr val="6C757C"/>
                </a:solidFill>
                <a:latin typeface="Tahoma"/>
                <a:cs typeface="Tahoma"/>
              </a:defRPr>
            </a:lvl1pPr>
          </a:lstStyle>
          <a:p>
            <a:pPr marL="39370">
              <a:lnSpc>
                <a:spcPct val="100000"/>
              </a:lnSpc>
              <a:spcBef>
                <a:spcPts val="219"/>
              </a:spcBef>
            </a:pPr>
            <a:fld id="{81D60167-4931-47E6-BA6A-407CBD079E47}" type="slidenum">
              <a:rPr dirty="0"/>
              <a:t>‹#›</a:t>
            </a:fld>
            <a:r>
              <a:rPr spc="20"/>
              <a:t> </a:t>
            </a:r>
            <a:r>
              <a:rPr spc="120"/>
              <a:t>/</a:t>
            </a:r>
            <a:r>
              <a:rPr spc="25"/>
              <a:t> </a:t>
            </a:r>
            <a:r>
              <a:rPr spc="-25"/>
              <a:t>41</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800" b="0" i="0">
                <a:solidFill>
                  <a:srgbClr val="6C757C"/>
                </a:solidFill>
                <a:latin typeface="Tahoma"/>
                <a:cs typeface="Tahoma"/>
              </a:defRPr>
            </a:lvl1pPr>
          </a:lstStyle>
          <a:p>
            <a:pPr marL="12700">
              <a:lnSpc>
                <a:spcPct val="100000"/>
              </a:lnSpc>
              <a:spcBef>
                <a:spcPts val="219"/>
              </a:spcBef>
            </a:pPr>
            <a:r>
              <a:rPr spc="-10"/>
              <a:t>Responsible</a:t>
            </a:r>
            <a:r>
              <a:rPr spc="20"/>
              <a:t> </a:t>
            </a:r>
            <a:r>
              <a:t>AI</a:t>
            </a:r>
            <a:r>
              <a:rPr spc="25"/>
              <a:t> </a:t>
            </a:r>
            <a:r>
              <a:t>in</a:t>
            </a:r>
            <a:r>
              <a:rPr spc="25"/>
              <a:t> </a:t>
            </a:r>
            <a:r>
              <a:rPr spc="-10"/>
              <a:t>Healthcare</a:t>
            </a: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874417F3-C7DF-4F2C-B214-ADD8F7135322}" type="datetime1">
              <a:rPr lang="en-US" smtClean="0"/>
              <a:t>4/15/2026</a:t>
            </a:fld>
            <a:endParaRPr lang="en-US"/>
          </a:p>
        </p:txBody>
      </p:sp>
      <p:sp>
        <p:nvSpPr>
          <p:cNvPr id="4" name="Holder 4"/>
          <p:cNvSpPr>
            <a:spLocks noGrp="1"/>
          </p:cNvSpPr>
          <p:nvPr>
            <p:ph type="sldNum" sz="quarter" idx="7"/>
          </p:nvPr>
        </p:nvSpPr>
        <p:spPr/>
        <p:txBody>
          <a:bodyPr lIns="0" tIns="0" rIns="0" bIns="0"/>
          <a:lstStyle>
            <a:lvl1pPr>
              <a:defRPr sz="800" b="0" i="0">
                <a:solidFill>
                  <a:srgbClr val="6C757C"/>
                </a:solidFill>
                <a:latin typeface="Tahoma"/>
                <a:cs typeface="Tahoma"/>
              </a:defRPr>
            </a:lvl1pPr>
          </a:lstStyle>
          <a:p>
            <a:pPr marL="39370">
              <a:lnSpc>
                <a:spcPct val="100000"/>
              </a:lnSpc>
              <a:spcBef>
                <a:spcPts val="219"/>
              </a:spcBef>
            </a:pPr>
            <a:fld id="{81D60167-4931-47E6-BA6A-407CBD079E47}" type="slidenum">
              <a:rPr dirty="0"/>
              <a:t>‹#›</a:t>
            </a:fld>
            <a:r>
              <a:rPr spc="20"/>
              <a:t> </a:t>
            </a:r>
            <a:r>
              <a:rPr spc="120"/>
              <a:t>/</a:t>
            </a:r>
            <a:r>
              <a:rPr spc="25"/>
              <a:t> </a:t>
            </a:r>
            <a:r>
              <a:rPr spc="-25"/>
              <a:t>41</a:t>
            </a: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260908" y="-13844"/>
            <a:ext cx="5060340" cy="663359"/>
          </a:xfrm>
          <a:prstGeom prst="rect">
            <a:avLst/>
          </a:prstGeom>
        </p:spPr>
        <p:txBody>
          <a:bodyPr wrap="square" lIns="0" tIns="0" rIns="0" bIns="0">
            <a:spAutoFit/>
          </a:bodyPr>
          <a:lstStyle>
            <a:lvl1pPr>
              <a:defRPr sz="1400" b="1" i="0">
                <a:solidFill>
                  <a:srgbClr val="202429"/>
                </a:solidFill>
                <a:latin typeface="Arial"/>
                <a:cs typeface="Arial"/>
              </a:defRPr>
            </a:lvl1pPr>
          </a:lstStyle>
          <a:p>
            <a:endParaRPr/>
          </a:p>
        </p:txBody>
      </p:sp>
      <p:sp>
        <p:nvSpPr>
          <p:cNvPr id="3" name="Holder 3"/>
          <p:cNvSpPr>
            <a:spLocks noGrp="1"/>
          </p:cNvSpPr>
          <p:nvPr>
            <p:ph type="body" idx="1"/>
          </p:nvPr>
        </p:nvSpPr>
        <p:spPr>
          <a:xfrm>
            <a:off x="347294" y="750035"/>
            <a:ext cx="5071211" cy="1856739"/>
          </a:xfrm>
          <a:prstGeom prst="rect">
            <a:avLst/>
          </a:prstGeom>
        </p:spPr>
        <p:txBody>
          <a:bodyPr wrap="square" lIns="0" tIns="0" rIns="0" bIns="0">
            <a:spAutoFit/>
          </a:bodyPr>
          <a:lstStyle>
            <a:lvl1pPr>
              <a:defRPr sz="800" b="1" i="0">
                <a:solidFill>
                  <a:srgbClr val="202429"/>
                </a:solidFill>
                <a:latin typeface="Arial"/>
                <a:cs typeface="Arial"/>
              </a:defRPr>
            </a:lvl1pPr>
          </a:lstStyle>
          <a:p>
            <a:endParaRPr/>
          </a:p>
        </p:txBody>
      </p:sp>
      <p:sp>
        <p:nvSpPr>
          <p:cNvPr id="4" name="Holder 4"/>
          <p:cNvSpPr>
            <a:spLocks noGrp="1"/>
          </p:cNvSpPr>
          <p:nvPr>
            <p:ph type="ftr" sz="quarter" idx="5"/>
          </p:nvPr>
        </p:nvSpPr>
        <p:spPr>
          <a:xfrm>
            <a:off x="70497" y="3034315"/>
            <a:ext cx="1315085" cy="173989"/>
          </a:xfrm>
          <a:prstGeom prst="rect">
            <a:avLst/>
          </a:prstGeom>
        </p:spPr>
        <p:txBody>
          <a:bodyPr wrap="square" lIns="0" tIns="0" rIns="0" bIns="0">
            <a:spAutoFit/>
          </a:bodyPr>
          <a:lstStyle>
            <a:lvl1pPr>
              <a:defRPr sz="800" b="0" i="0">
                <a:solidFill>
                  <a:srgbClr val="6C757C"/>
                </a:solidFill>
                <a:latin typeface="Tahoma"/>
                <a:cs typeface="Tahoma"/>
              </a:defRPr>
            </a:lvl1pPr>
          </a:lstStyle>
          <a:p>
            <a:pPr marL="12700">
              <a:lnSpc>
                <a:spcPct val="100000"/>
              </a:lnSpc>
              <a:spcBef>
                <a:spcPts val="219"/>
              </a:spcBef>
            </a:pPr>
            <a:r>
              <a:rPr spc="-10"/>
              <a:t>Responsible</a:t>
            </a:r>
            <a:r>
              <a:rPr spc="20"/>
              <a:t> </a:t>
            </a:r>
            <a:r>
              <a:t>AI</a:t>
            </a:r>
            <a:r>
              <a:rPr spc="25"/>
              <a:t> </a:t>
            </a:r>
            <a:r>
              <a:t>in</a:t>
            </a:r>
            <a:r>
              <a:rPr spc="25"/>
              <a:t> </a:t>
            </a:r>
            <a:r>
              <a:rPr spc="-10"/>
              <a:t>Healthcare</a:t>
            </a:r>
          </a:p>
        </p:txBody>
      </p:sp>
      <p:sp>
        <p:nvSpPr>
          <p:cNvPr id="5" name="Holder 5"/>
          <p:cNvSpPr>
            <a:spLocks noGrp="1"/>
          </p:cNvSpPr>
          <p:nvPr>
            <p:ph type="dt" sz="half" idx="6"/>
          </p:nvPr>
        </p:nvSpPr>
        <p:spPr>
          <a:xfrm>
            <a:off x="288290" y="3017710"/>
            <a:ext cx="1326134" cy="162242"/>
          </a:xfrm>
          <a:prstGeom prst="rect">
            <a:avLst/>
          </a:prstGeom>
        </p:spPr>
        <p:txBody>
          <a:bodyPr wrap="square" lIns="0" tIns="0" rIns="0" bIns="0">
            <a:spAutoFit/>
          </a:bodyPr>
          <a:lstStyle>
            <a:lvl1pPr algn="l">
              <a:defRPr>
                <a:solidFill>
                  <a:schemeClr val="tx1">
                    <a:tint val="75000"/>
                  </a:schemeClr>
                </a:solidFill>
              </a:defRPr>
            </a:lvl1pPr>
          </a:lstStyle>
          <a:p>
            <a:fld id="{9A78AF5C-8D50-4898-8332-5C084A879377}" type="datetime1">
              <a:rPr lang="en-US" smtClean="0"/>
              <a:t>4/15/2026</a:t>
            </a:fld>
            <a:endParaRPr lang="en-US"/>
          </a:p>
        </p:txBody>
      </p:sp>
      <p:sp>
        <p:nvSpPr>
          <p:cNvPr id="6" name="Holder 6"/>
          <p:cNvSpPr>
            <a:spLocks noGrp="1"/>
          </p:cNvSpPr>
          <p:nvPr>
            <p:ph type="sldNum" sz="quarter" idx="7"/>
          </p:nvPr>
        </p:nvSpPr>
        <p:spPr>
          <a:xfrm>
            <a:off x="4857076" y="3028689"/>
            <a:ext cx="366395" cy="173989"/>
          </a:xfrm>
          <a:prstGeom prst="rect">
            <a:avLst/>
          </a:prstGeom>
        </p:spPr>
        <p:txBody>
          <a:bodyPr wrap="square" lIns="0" tIns="0" rIns="0" bIns="0">
            <a:spAutoFit/>
          </a:bodyPr>
          <a:lstStyle>
            <a:lvl1pPr>
              <a:defRPr sz="800" b="0" i="0">
                <a:solidFill>
                  <a:srgbClr val="6C757C"/>
                </a:solidFill>
                <a:latin typeface="Tahoma"/>
                <a:cs typeface="Tahoma"/>
              </a:defRPr>
            </a:lvl1pPr>
          </a:lstStyle>
          <a:p>
            <a:pPr marL="39370">
              <a:lnSpc>
                <a:spcPct val="100000"/>
              </a:lnSpc>
              <a:spcBef>
                <a:spcPts val="219"/>
              </a:spcBef>
            </a:pPr>
            <a:fld id="{81D60167-4931-47E6-BA6A-407CBD079E47}" type="slidenum">
              <a:rPr dirty="0"/>
              <a:t>‹#›</a:t>
            </a:fld>
            <a:r>
              <a:rPr spc="20"/>
              <a:t> </a:t>
            </a:r>
            <a:r>
              <a:rPr spc="120"/>
              <a:t>/</a:t>
            </a:r>
            <a:r>
              <a:rPr spc="25"/>
              <a:t> </a:t>
            </a:r>
            <a:r>
              <a:rPr spc="-25"/>
              <a:t>41</a:t>
            </a: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ft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hyperlink" Target="https://www.lboro.ac.uk/schools/design-creative-arts/people/patrick-waterson/" TargetMode="External"/><Relationship Id="rId3" Type="http://schemas.openxmlformats.org/officeDocument/2006/relationships/image" Target="../media/image1.png"/><Relationship Id="rId7" Type="http://schemas.openxmlformats.org/officeDocument/2006/relationships/hyperlink" Target="mailto:P.Waterson@lboro.ac.uk"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2.jpeg"/><Relationship Id="rId5" Type="http://schemas.openxmlformats.org/officeDocument/2006/relationships/hyperlink" Target="https://cosmos-ai.com/" TargetMode="External"/><Relationship Id="rId4" Type="http://schemas.openxmlformats.org/officeDocument/2006/relationships/hyperlink" Target="mailto:g.cosma@lboro.ac.uk" TargetMode="External"/></Relationships>
</file>

<file path=ppt/slides/_rels/slide3.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jpeg"/><Relationship Id="rId7"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5.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hyperlink" Target="mailto:g.cosma@lboro.ac.uk" TargetMode="External"/><Relationship Id="rId2" Type="http://schemas.openxmlformats.org/officeDocument/2006/relationships/notesSlide" Target="../notesSlides/notesSlide33.xml"/><Relationship Id="rId1" Type="http://schemas.openxmlformats.org/officeDocument/2006/relationships/slideLayout" Target="../slideLayouts/slideLayout3.xml"/><Relationship Id="rId6" Type="http://schemas.openxmlformats.org/officeDocument/2006/relationships/hyperlink" Target="https://www.lboro.ac.uk/schools/design-creative-arts/people/patrick-waterson/" TargetMode="External"/><Relationship Id="rId5" Type="http://schemas.openxmlformats.org/officeDocument/2006/relationships/hyperlink" Target="mailto:P.Waterson@lboro.ac.uk" TargetMode="External"/><Relationship Id="rId4" Type="http://schemas.openxmlformats.org/officeDocument/2006/relationships/hyperlink" Target="https://cosmos-ai.com/"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0" y="3060059"/>
            <a:ext cx="5760085" cy="180340"/>
          </a:xfrm>
          <a:custGeom>
            <a:avLst/>
            <a:gdLst/>
            <a:ahLst/>
            <a:cxnLst/>
            <a:rect l="l" t="t" r="r" b="b"/>
            <a:pathLst>
              <a:path w="5760085" h="180339">
                <a:moveTo>
                  <a:pt x="0" y="180002"/>
                </a:moveTo>
                <a:lnTo>
                  <a:pt x="0" y="0"/>
                </a:lnTo>
                <a:lnTo>
                  <a:pt x="5760073" y="0"/>
                </a:lnTo>
                <a:lnTo>
                  <a:pt x="5760073" y="180002"/>
                </a:lnTo>
                <a:lnTo>
                  <a:pt x="0" y="180002"/>
                </a:lnTo>
                <a:close/>
              </a:path>
            </a:pathLst>
          </a:custGeom>
          <a:solidFill>
            <a:srgbClr val="005F73"/>
          </a:solidFill>
        </p:spPr>
        <p:txBody>
          <a:bodyPr wrap="square" lIns="0" tIns="0" rIns="0" bIns="0" rtlCol="0"/>
          <a:lstStyle/>
          <a:p>
            <a:endParaRPr/>
          </a:p>
        </p:txBody>
      </p:sp>
      <p:sp>
        <p:nvSpPr>
          <p:cNvPr id="3" name="object 3" descr="$PPTXTitle"/>
          <p:cNvSpPr txBox="1">
            <a:spLocks noGrp="1"/>
          </p:cNvSpPr>
          <p:nvPr>
            <p:ph type="title"/>
          </p:nvPr>
        </p:nvSpPr>
        <p:spPr>
          <a:xfrm>
            <a:off x="930263" y="932550"/>
            <a:ext cx="3904615" cy="288541"/>
          </a:xfrm>
          <a:prstGeom prst="rect">
            <a:avLst/>
          </a:prstGeom>
        </p:spPr>
        <p:txBody>
          <a:bodyPr vert="horz" wrap="square" lIns="0" tIns="11430" rIns="0" bIns="0" rtlCol="0">
            <a:spAutoFit/>
          </a:bodyPr>
          <a:lstStyle/>
          <a:p>
            <a:pPr marL="12700">
              <a:lnSpc>
                <a:spcPct val="100000"/>
              </a:lnSpc>
              <a:spcBef>
                <a:spcPts val="90"/>
              </a:spcBef>
            </a:pPr>
            <a:r>
              <a:rPr sz="1800" spc="-40"/>
              <a:t>Extracting</a:t>
            </a:r>
            <a:r>
              <a:rPr sz="1800" spc="-60"/>
              <a:t> </a:t>
            </a:r>
            <a:r>
              <a:rPr sz="1800" spc="-25"/>
              <a:t>Safety</a:t>
            </a:r>
            <a:r>
              <a:rPr sz="1800" spc="-60"/>
              <a:t> </a:t>
            </a:r>
            <a:r>
              <a:rPr sz="1800" spc="-50"/>
              <a:t>Intelligence</a:t>
            </a:r>
            <a:r>
              <a:rPr sz="1800" spc="-55"/>
              <a:t> </a:t>
            </a:r>
            <a:r>
              <a:rPr sz="1800" spc="-30"/>
              <a:t>from</a:t>
            </a:r>
            <a:endParaRPr sz="1800"/>
          </a:p>
        </p:txBody>
      </p:sp>
      <p:sp>
        <p:nvSpPr>
          <p:cNvPr id="4" name="object 4"/>
          <p:cNvSpPr txBox="1"/>
          <p:nvPr/>
        </p:nvSpPr>
        <p:spPr>
          <a:xfrm>
            <a:off x="777863" y="1124463"/>
            <a:ext cx="3962400" cy="452688"/>
          </a:xfrm>
          <a:prstGeom prst="rect">
            <a:avLst/>
          </a:prstGeom>
        </p:spPr>
        <p:txBody>
          <a:bodyPr vert="horz" wrap="square" lIns="0" tIns="173990" rIns="0" bIns="0" rtlCol="0" anchor="t">
            <a:spAutoFit/>
          </a:bodyPr>
          <a:lstStyle/>
          <a:p>
            <a:pPr algn="ctr">
              <a:lnSpc>
                <a:spcPct val="100000"/>
              </a:lnSpc>
              <a:spcBef>
                <a:spcPts val="1370"/>
              </a:spcBef>
            </a:pPr>
            <a:r>
              <a:rPr b="1" spc="-30">
                <a:solidFill>
                  <a:srgbClr val="202429"/>
                </a:solidFill>
                <a:latin typeface="Arial"/>
                <a:cs typeface="Arial"/>
              </a:rPr>
              <a:t>Healthcare</a:t>
            </a:r>
            <a:r>
              <a:rPr b="1" spc="-40">
                <a:solidFill>
                  <a:srgbClr val="202429"/>
                </a:solidFill>
                <a:latin typeface="Arial"/>
                <a:cs typeface="Arial"/>
              </a:rPr>
              <a:t> </a:t>
            </a:r>
            <a:r>
              <a:rPr lang="en-GB" b="1" spc="-40">
                <a:solidFill>
                  <a:srgbClr val="202429"/>
                </a:solidFill>
                <a:latin typeface="Arial"/>
                <a:cs typeface="Arial"/>
              </a:rPr>
              <a:t>Incident </a:t>
            </a:r>
            <a:r>
              <a:rPr b="1" spc="-75">
                <a:solidFill>
                  <a:srgbClr val="202429"/>
                </a:solidFill>
                <a:latin typeface="Arial"/>
                <a:cs typeface="Arial"/>
              </a:rPr>
              <a:t>Reports</a:t>
            </a:r>
            <a:endParaRPr>
              <a:latin typeface="Arial"/>
              <a:cs typeface="Arial"/>
            </a:endParaRPr>
          </a:p>
        </p:txBody>
      </p:sp>
      <p:sp>
        <p:nvSpPr>
          <p:cNvPr id="5" name="object 5"/>
          <p:cNvSpPr/>
          <p:nvPr/>
        </p:nvSpPr>
        <p:spPr>
          <a:xfrm>
            <a:off x="2146388" y="1698625"/>
            <a:ext cx="1440180" cy="0"/>
          </a:xfrm>
          <a:custGeom>
            <a:avLst/>
            <a:gdLst/>
            <a:ahLst/>
            <a:cxnLst/>
            <a:rect l="l" t="t" r="r" b="b"/>
            <a:pathLst>
              <a:path w="1440179">
                <a:moveTo>
                  <a:pt x="0" y="0"/>
                </a:moveTo>
                <a:lnTo>
                  <a:pt x="1440002" y="0"/>
                </a:lnTo>
              </a:path>
            </a:pathLst>
          </a:custGeom>
          <a:ln w="25304">
            <a:solidFill>
              <a:srgbClr val="005F73"/>
            </a:solidFill>
          </a:ln>
        </p:spPr>
        <p:txBody>
          <a:bodyPr wrap="square" lIns="0" tIns="0" rIns="0" bIns="0" rtlCol="0"/>
          <a:lstStyle/>
          <a:p>
            <a:endParaRPr/>
          </a:p>
        </p:txBody>
      </p:sp>
      <p:sp>
        <p:nvSpPr>
          <p:cNvPr id="6" name="object 6"/>
          <p:cNvSpPr txBox="1"/>
          <p:nvPr/>
        </p:nvSpPr>
        <p:spPr>
          <a:xfrm>
            <a:off x="1385624" y="2082379"/>
            <a:ext cx="2746878" cy="637034"/>
          </a:xfrm>
          <a:prstGeom prst="rect">
            <a:avLst/>
          </a:prstGeom>
        </p:spPr>
        <p:txBody>
          <a:bodyPr vert="horz" wrap="square" lIns="0" tIns="6350" rIns="0" bIns="0" rtlCol="0">
            <a:spAutoFit/>
          </a:bodyPr>
          <a:lstStyle/>
          <a:p>
            <a:pPr marL="12700" marR="5080" indent="-635" algn="ctr">
              <a:lnSpc>
                <a:spcPct val="121500"/>
              </a:lnSpc>
              <a:spcBef>
                <a:spcPts val="50"/>
              </a:spcBef>
            </a:pPr>
            <a:r>
              <a:rPr lang="en-GB" sz="1200" b="1" spc="-50">
                <a:solidFill>
                  <a:schemeClr val="accent5">
                    <a:lumMod val="50000"/>
                  </a:schemeClr>
                </a:solidFill>
                <a:latin typeface="Arial"/>
                <a:cs typeface="Arial"/>
              </a:rPr>
              <a:t>Patrick Waterson and </a:t>
            </a:r>
            <a:r>
              <a:rPr sz="1200" b="1" spc="-50">
                <a:solidFill>
                  <a:schemeClr val="accent5">
                    <a:lumMod val="50000"/>
                  </a:schemeClr>
                </a:solidFill>
                <a:latin typeface="Arial"/>
                <a:cs typeface="Arial"/>
              </a:rPr>
              <a:t>Georgina</a:t>
            </a:r>
            <a:r>
              <a:rPr sz="1200" b="1" spc="10">
                <a:solidFill>
                  <a:schemeClr val="accent5">
                    <a:lumMod val="50000"/>
                  </a:schemeClr>
                </a:solidFill>
                <a:latin typeface="Arial"/>
                <a:cs typeface="Arial"/>
              </a:rPr>
              <a:t> </a:t>
            </a:r>
            <a:r>
              <a:rPr sz="1200" b="1" spc="-10">
                <a:solidFill>
                  <a:schemeClr val="accent5">
                    <a:lumMod val="50000"/>
                  </a:schemeClr>
                </a:solidFill>
                <a:latin typeface="Arial"/>
                <a:cs typeface="Arial"/>
              </a:rPr>
              <a:t>Cosma </a:t>
            </a:r>
            <a:r>
              <a:rPr sz="1100" spc="-50">
                <a:solidFill>
                  <a:srgbClr val="6C757C"/>
                </a:solidFill>
                <a:latin typeface="Tahoma"/>
                <a:cs typeface="Tahoma"/>
              </a:rPr>
              <a:t>Loughborough</a:t>
            </a:r>
            <a:r>
              <a:rPr sz="1100" spc="-5">
                <a:solidFill>
                  <a:srgbClr val="6C757C"/>
                </a:solidFill>
                <a:latin typeface="Tahoma"/>
                <a:cs typeface="Tahoma"/>
              </a:rPr>
              <a:t> </a:t>
            </a:r>
            <a:r>
              <a:rPr sz="1100" spc="-30">
                <a:solidFill>
                  <a:srgbClr val="6C757C"/>
                </a:solidFill>
                <a:latin typeface="Tahoma"/>
                <a:cs typeface="Tahoma"/>
              </a:rPr>
              <a:t>University </a:t>
            </a:r>
            <a:endParaRPr lang="en-GB" sz="1100" spc="-30">
              <a:solidFill>
                <a:srgbClr val="6C757C"/>
              </a:solidFill>
              <a:latin typeface="Tahoma"/>
              <a:cs typeface="Tahoma"/>
            </a:endParaRPr>
          </a:p>
          <a:p>
            <a:pPr marL="12700" marR="5080" indent="-635" algn="ctr">
              <a:lnSpc>
                <a:spcPct val="121500"/>
              </a:lnSpc>
              <a:spcBef>
                <a:spcPts val="50"/>
              </a:spcBef>
            </a:pPr>
            <a:r>
              <a:rPr lang="en-GB" sz="1000" spc="-20">
                <a:solidFill>
                  <a:srgbClr val="6C757C"/>
                </a:solidFill>
                <a:latin typeface="Tahoma"/>
                <a:cs typeface="Tahoma"/>
              </a:rPr>
              <a:t>15 April</a:t>
            </a:r>
            <a:r>
              <a:rPr sz="1000" spc="-45">
                <a:solidFill>
                  <a:srgbClr val="6C757C"/>
                </a:solidFill>
                <a:latin typeface="Tahoma"/>
                <a:cs typeface="Tahoma"/>
              </a:rPr>
              <a:t> </a:t>
            </a:r>
            <a:r>
              <a:rPr lang="en-GB" sz="1000" spc="-20">
                <a:solidFill>
                  <a:srgbClr val="6C757C"/>
                </a:solidFill>
                <a:latin typeface="Tahoma"/>
                <a:cs typeface="Tahoma"/>
              </a:rPr>
              <a:t>2026</a:t>
            </a:r>
            <a:endParaRPr sz="1000">
              <a:latin typeface="Tahoma"/>
              <a:cs typeface="Tahoma"/>
            </a:endParaRPr>
          </a:p>
        </p:txBody>
      </p:sp>
      <p:sp>
        <p:nvSpPr>
          <p:cNvPr id="7" name="Slide Number Placeholder 6">
            <a:extLst>
              <a:ext uri="{FF2B5EF4-FFF2-40B4-BE49-F238E27FC236}">
                <a16:creationId xmlns:a16="http://schemas.microsoft.com/office/drawing/2014/main" id="{0739E363-4733-611E-3F72-B8E9189B1F8B}"/>
              </a:ext>
            </a:extLst>
          </p:cNvPr>
          <p:cNvSpPr>
            <a:spLocks noGrp="1"/>
          </p:cNvSpPr>
          <p:nvPr>
            <p:ph type="sldNum" sz="quarter" idx="7"/>
          </p:nvPr>
        </p:nvSpPr>
        <p:spPr>
          <a:xfrm>
            <a:off x="5385742" y="3070861"/>
            <a:ext cx="366395" cy="173989"/>
          </a:xfrm>
        </p:spPr>
        <p:txBody>
          <a:bodyPr/>
          <a:lstStyle/>
          <a:p>
            <a:pPr marL="39370">
              <a:lnSpc>
                <a:spcPct val="100000"/>
              </a:lnSpc>
              <a:spcBef>
                <a:spcPts val="219"/>
              </a:spcBef>
            </a:pPr>
            <a:fld id="{81D60167-4931-47E6-BA6A-407CBD079E47}" type="slidenum">
              <a:rPr lang="en-GB" smtClean="0"/>
              <a:t>1</a:t>
            </a:fld>
            <a:r>
              <a:rPr lang="en-GB" spc="20"/>
              <a:t> </a:t>
            </a:r>
            <a:r>
              <a:rPr lang="en-GB" spc="120"/>
              <a:t>/</a:t>
            </a:r>
            <a:r>
              <a:rPr lang="en-GB" spc="25"/>
              <a:t> </a:t>
            </a:r>
            <a:r>
              <a:rPr lang="en-GB" spc="-25"/>
              <a:t>41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80757" rIns="0" bIns="0" rtlCol="0">
            <a:spAutoFit/>
          </a:bodyPr>
          <a:lstStyle/>
          <a:p>
            <a:pPr marL="99060">
              <a:lnSpc>
                <a:spcPct val="100000"/>
              </a:lnSpc>
              <a:spcBef>
                <a:spcPts val="135"/>
              </a:spcBef>
            </a:pPr>
            <a:r>
              <a:t>About</a:t>
            </a:r>
            <a:r>
              <a:rPr spc="155"/>
              <a:t> </a:t>
            </a:r>
            <a:r>
              <a:rPr spc="70"/>
              <a:t>Me</a:t>
            </a:r>
          </a:p>
        </p:txBody>
      </p:sp>
      <p:sp>
        <p:nvSpPr>
          <p:cNvPr id="3" name="object 3"/>
          <p:cNvSpPr/>
          <p:nvPr/>
        </p:nvSpPr>
        <p:spPr>
          <a:xfrm>
            <a:off x="2990869" y="568961"/>
            <a:ext cx="900430" cy="0"/>
          </a:xfrm>
          <a:custGeom>
            <a:avLst/>
            <a:gdLst/>
            <a:ahLst/>
            <a:cxnLst/>
            <a:rect l="l" t="t" r="r" b="b"/>
            <a:pathLst>
              <a:path w="900430">
                <a:moveTo>
                  <a:pt x="0" y="0"/>
                </a:moveTo>
                <a:lnTo>
                  <a:pt x="900010" y="0"/>
                </a:lnTo>
              </a:path>
            </a:pathLst>
          </a:custGeom>
          <a:ln w="18978">
            <a:solidFill>
              <a:srgbClr val="005F73"/>
            </a:solidFill>
          </a:ln>
        </p:spPr>
        <p:txBody>
          <a:bodyPr wrap="square" lIns="0" tIns="0" rIns="0" bIns="0" rtlCol="0"/>
          <a:lstStyle/>
          <a:p>
            <a:endParaRPr/>
          </a:p>
        </p:txBody>
      </p:sp>
      <p:pic>
        <p:nvPicPr>
          <p:cNvPr id="4" name="object 4"/>
          <p:cNvPicPr/>
          <p:nvPr/>
        </p:nvPicPr>
        <p:blipFill>
          <a:blip r:embed="rId3" cstate="print"/>
          <a:stretch>
            <a:fillRect/>
          </a:stretch>
        </p:blipFill>
        <p:spPr>
          <a:xfrm>
            <a:off x="3652425" y="567016"/>
            <a:ext cx="1141285" cy="1067519"/>
          </a:xfrm>
          <a:prstGeom prst="rect">
            <a:avLst/>
          </a:prstGeom>
        </p:spPr>
      </p:pic>
      <p:sp>
        <p:nvSpPr>
          <p:cNvPr id="5" name="object 5"/>
          <p:cNvSpPr txBox="1"/>
          <p:nvPr/>
        </p:nvSpPr>
        <p:spPr>
          <a:xfrm>
            <a:off x="3032419" y="1698625"/>
            <a:ext cx="2595880" cy="737381"/>
          </a:xfrm>
          <a:prstGeom prst="rect">
            <a:avLst/>
          </a:prstGeom>
        </p:spPr>
        <p:txBody>
          <a:bodyPr vert="horz" wrap="square" lIns="0" tIns="11430" rIns="0" bIns="0" rtlCol="0" anchor="t">
            <a:spAutoFit/>
          </a:bodyPr>
          <a:lstStyle/>
          <a:p>
            <a:pPr marL="635" algn="ctr">
              <a:lnSpc>
                <a:spcPct val="100000"/>
              </a:lnSpc>
              <a:spcBef>
                <a:spcPts val="90"/>
              </a:spcBef>
            </a:pPr>
            <a:r>
              <a:rPr lang="it-IT" sz="1100" b="1" spc="-85">
                <a:solidFill>
                  <a:srgbClr val="202429"/>
                </a:solidFill>
                <a:latin typeface="+mj-lt"/>
                <a:ea typeface="Calibri"/>
                <a:cs typeface="Calibri"/>
              </a:rPr>
              <a:t>Georgina</a:t>
            </a:r>
            <a:r>
              <a:rPr lang="it-IT" sz="1100" b="1" spc="-20">
                <a:solidFill>
                  <a:srgbClr val="202429"/>
                </a:solidFill>
                <a:latin typeface="+mj-lt"/>
                <a:ea typeface="Calibri"/>
                <a:cs typeface="Calibri"/>
              </a:rPr>
              <a:t> </a:t>
            </a:r>
            <a:r>
              <a:rPr lang="it-IT" sz="1100" b="1" spc="-10">
                <a:solidFill>
                  <a:srgbClr val="202429"/>
                </a:solidFill>
                <a:latin typeface="+mj-lt"/>
                <a:ea typeface="Calibri"/>
                <a:cs typeface="Calibri"/>
              </a:rPr>
              <a:t>Cosma</a:t>
            </a:r>
            <a:endParaRPr lang="it-IT" sz="1100">
              <a:latin typeface="+mj-lt"/>
              <a:ea typeface="Calibri"/>
              <a:cs typeface="Calibri"/>
            </a:endParaRPr>
          </a:p>
          <a:p>
            <a:pPr algn="ctr">
              <a:lnSpc>
                <a:spcPct val="100000"/>
              </a:lnSpc>
              <a:spcBef>
                <a:spcPts val="40"/>
              </a:spcBef>
            </a:pPr>
            <a:r>
              <a:rPr lang="it-IT" sz="1100" b="1" spc="-60">
                <a:solidFill>
                  <a:srgbClr val="7030A0"/>
                </a:solidFill>
                <a:latin typeface="+mj-lt"/>
                <a:ea typeface="Calibri"/>
                <a:cs typeface="Calibri"/>
              </a:rPr>
              <a:t>Professor</a:t>
            </a:r>
            <a:r>
              <a:rPr lang="it-IT" sz="1100" b="1" spc="-35">
                <a:solidFill>
                  <a:srgbClr val="7030A0"/>
                </a:solidFill>
                <a:latin typeface="+mj-lt"/>
                <a:ea typeface="Calibri"/>
                <a:cs typeface="Calibri"/>
              </a:rPr>
              <a:t> </a:t>
            </a:r>
            <a:r>
              <a:rPr lang="it-IT" sz="1100" b="1">
                <a:solidFill>
                  <a:srgbClr val="7030A0"/>
                </a:solidFill>
                <a:latin typeface="+mj-lt"/>
                <a:ea typeface="Calibri"/>
                <a:cs typeface="Calibri"/>
              </a:rPr>
              <a:t>of</a:t>
            </a:r>
            <a:r>
              <a:rPr lang="it-IT" sz="1100" b="1" spc="-60">
                <a:solidFill>
                  <a:srgbClr val="7030A0"/>
                </a:solidFill>
                <a:latin typeface="+mj-lt"/>
                <a:ea typeface="Calibri"/>
                <a:cs typeface="Calibri"/>
              </a:rPr>
              <a:t> </a:t>
            </a:r>
            <a:r>
              <a:rPr lang="it-IT" sz="1100" b="1">
                <a:solidFill>
                  <a:srgbClr val="7030A0"/>
                </a:solidFill>
                <a:latin typeface="+mj-lt"/>
                <a:ea typeface="Calibri"/>
                <a:cs typeface="Calibri"/>
              </a:rPr>
              <a:t>AI</a:t>
            </a:r>
            <a:r>
              <a:rPr lang="it-IT" sz="1100" b="1" spc="-45">
                <a:solidFill>
                  <a:srgbClr val="7030A0"/>
                </a:solidFill>
                <a:latin typeface="+mj-lt"/>
                <a:ea typeface="Calibri"/>
                <a:cs typeface="Calibri"/>
              </a:rPr>
              <a:t> </a:t>
            </a:r>
            <a:r>
              <a:rPr lang="it-IT" sz="1100" b="1" spc="70">
                <a:solidFill>
                  <a:srgbClr val="7030A0"/>
                </a:solidFill>
                <a:latin typeface="+mj-lt"/>
                <a:ea typeface="Calibri"/>
                <a:cs typeface="Calibri"/>
              </a:rPr>
              <a:t>&amp;</a:t>
            </a:r>
            <a:r>
              <a:rPr lang="it-IT" sz="1100" b="1" spc="-40">
                <a:solidFill>
                  <a:srgbClr val="7030A0"/>
                </a:solidFill>
                <a:latin typeface="+mj-lt"/>
                <a:ea typeface="Calibri"/>
                <a:cs typeface="Calibri"/>
              </a:rPr>
              <a:t> </a:t>
            </a:r>
            <a:r>
              <a:rPr lang="it-IT" sz="1100" b="1" spc="-10">
                <a:solidFill>
                  <a:srgbClr val="7030A0"/>
                </a:solidFill>
                <a:latin typeface="+mj-lt"/>
                <a:ea typeface="Calibri"/>
                <a:cs typeface="Calibri"/>
              </a:rPr>
              <a:t>Data</a:t>
            </a:r>
            <a:r>
              <a:rPr lang="it-IT" sz="1100" b="1" spc="-50">
                <a:solidFill>
                  <a:srgbClr val="7030A0"/>
                </a:solidFill>
                <a:latin typeface="+mj-lt"/>
                <a:ea typeface="Calibri"/>
                <a:cs typeface="Calibri"/>
              </a:rPr>
              <a:t> </a:t>
            </a:r>
            <a:r>
              <a:rPr lang="it-IT" sz="1100" b="1" spc="-10">
                <a:solidFill>
                  <a:srgbClr val="7030A0"/>
                </a:solidFill>
                <a:latin typeface="+mj-lt"/>
                <a:ea typeface="Calibri"/>
                <a:cs typeface="Calibri"/>
              </a:rPr>
              <a:t>Science</a:t>
            </a:r>
            <a:endParaRPr lang="it-IT" sz="1100" b="1">
              <a:solidFill>
                <a:srgbClr val="7030A0"/>
              </a:solidFill>
              <a:latin typeface="+mj-lt"/>
              <a:ea typeface="Calibri"/>
              <a:cs typeface="Calibri"/>
            </a:endParaRPr>
          </a:p>
          <a:p>
            <a:pPr algn="ctr">
              <a:lnSpc>
                <a:spcPct val="100000"/>
              </a:lnSpc>
              <a:spcBef>
                <a:spcPts val="680"/>
              </a:spcBef>
            </a:pPr>
            <a:r>
              <a:rPr lang="it-IT" sz="800">
                <a:latin typeface="+mj-lt"/>
                <a:hlinkClick r:id="rId4"/>
              </a:rPr>
              <a:t>g.cosma@lboro.ac.uk</a:t>
            </a:r>
            <a:endParaRPr lang="it-IT" sz="800">
              <a:latin typeface="+mj-lt"/>
            </a:endParaRPr>
          </a:p>
          <a:p>
            <a:pPr algn="ctr">
              <a:lnSpc>
                <a:spcPct val="100000"/>
              </a:lnSpc>
              <a:spcBef>
                <a:spcPts val="375"/>
              </a:spcBef>
            </a:pPr>
            <a:r>
              <a:rPr lang="it-IT" sz="800">
                <a:latin typeface="+mj-lt"/>
                <a:hlinkClick r:id="rId5"/>
              </a:rPr>
              <a:t>https://cosmos-ai.com/</a:t>
            </a:r>
            <a:endParaRPr lang="it-IT" sz="800">
              <a:latin typeface="+mj-lt"/>
            </a:endParaRPr>
          </a:p>
        </p:txBody>
      </p:sp>
      <p:sp>
        <p:nvSpPr>
          <p:cNvPr id="6" name="object 6"/>
          <p:cNvSpPr/>
          <p:nvPr/>
        </p:nvSpPr>
        <p:spPr>
          <a:xfrm>
            <a:off x="3132010" y="912342"/>
            <a:ext cx="0" cy="1800225"/>
          </a:xfrm>
          <a:custGeom>
            <a:avLst/>
            <a:gdLst/>
            <a:ahLst/>
            <a:cxnLst/>
            <a:rect l="l" t="t" r="r" b="b"/>
            <a:pathLst>
              <a:path h="1800225">
                <a:moveTo>
                  <a:pt x="0" y="1799996"/>
                </a:moveTo>
                <a:lnTo>
                  <a:pt x="0" y="0"/>
                </a:lnTo>
              </a:path>
            </a:pathLst>
          </a:custGeom>
          <a:ln w="6325">
            <a:solidFill>
              <a:srgbClr val="CED3DA"/>
            </a:solidFill>
          </a:ln>
        </p:spPr>
        <p:txBody>
          <a:bodyPr wrap="square" lIns="0" tIns="0" rIns="0" bIns="0" rtlCol="0"/>
          <a:lstStyle/>
          <a:p>
            <a:endParaRPr/>
          </a:p>
        </p:txBody>
      </p:sp>
      <p:sp>
        <p:nvSpPr>
          <p:cNvPr id="8" name="object 8"/>
          <p:cNvSpPr/>
          <p:nvPr/>
        </p:nvSpPr>
        <p:spPr>
          <a:xfrm>
            <a:off x="0" y="3060028"/>
            <a:ext cx="5760085" cy="0"/>
          </a:xfrm>
          <a:custGeom>
            <a:avLst/>
            <a:gdLst/>
            <a:ahLst/>
            <a:cxnLst/>
            <a:rect l="l" t="t" r="r" b="b"/>
            <a:pathLst>
              <a:path w="5760085">
                <a:moveTo>
                  <a:pt x="0" y="0"/>
                </a:moveTo>
                <a:lnTo>
                  <a:pt x="5760073" y="0"/>
                </a:lnTo>
              </a:path>
            </a:pathLst>
          </a:custGeom>
          <a:ln w="6326">
            <a:solidFill>
              <a:srgbClr val="CED3DA"/>
            </a:solidFill>
          </a:ln>
        </p:spPr>
        <p:txBody>
          <a:bodyPr wrap="square" lIns="0" tIns="0" rIns="0" bIns="0" rtlCol="0"/>
          <a:lstStyle/>
          <a:p>
            <a:endParaRPr/>
          </a:p>
        </p:txBody>
      </p:sp>
      <p:sp>
        <p:nvSpPr>
          <p:cNvPr id="11" name="Slide Number Placeholder 10">
            <a:extLst>
              <a:ext uri="{FF2B5EF4-FFF2-40B4-BE49-F238E27FC236}">
                <a16:creationId xmlns:a16="http://schemas.microsoft.com/office/drawing/2014/main" id="{58710A4D-5CD3-8D1F-0B12-4F640CC7BB06}"/>
              </a:ext>
            </a:extLst>
          </p:cNvPr>
          <p:cNvSpPr>
            <a:spLocks noGrp="1"/>
          </p:cNvSpPr>
          <p:nvPr>
            <p:ph type="sldNum" sz="quarter" idx="7"/>
          </p:nvPr>
        </p:nvSpPr>
        <p:spPr>
          <a:xfrm>
            <a:off x="5399405" y="3060028"/>
            <a:ext cx="366395" cy="173989"/>
          </a:xfrm>
        </p:spPr>
        <p:txBody>
          <a:bodyPr/>
          <a:lstStyle/>
          <a:p>
            <a:pPr marL="39370">
              <a:lnSpc>
                <a:spcPct val="100000"/>
              </a:lnSpc>
              <a:spcBef>
                <a:spcPts val="219"/>
              </a:spcBef>
            </a:pPr>
            <a:fld id="{81D60167-4931-47E6-BA6A-407CBD079E47}" type="slidenum">
              <a:rPr lang="en-GB" smtClean="0"/>
              <a:t>2</a:t>
            </a:fld>
            <a:r>
              <a:rPr lang="en-GB" spc="20"/>
              <a:t> </a:t>
            </a:r>
            <a:r>
              <a:rPr lang="en-GB" spc="120"/>
              <a:t>/</a:t>
            </a:r>
            <a:r>
              <a:rPr lang="en-GB" spc="25"/>
              <a:t> </a:t>
            </a:r>
            <a:r>
              <a:rPr lang="en-GB" spc="-25"/>
              <a:t>41</a:t>
            </a:r>
          </a:p>
        </p:txBody>
      </p:sp>
      <p:pic>
        <p:nvPicPr>
          <p:cNvPr id="9" name="Picture 8" descr="A person wearing glasses and a denim shirt&#10;&#10;AI-generated content may be incorrect.">
            <a:extLst>
              <a:ext uri="{FF2B5EF4-FFF2-40B4-BE49-F238E27FC236}">
                <a16:creationId xmlns:a16="http://schemas.microsoft.com/office/drawing/2014/main" id="{84DB3C45-9467-F218-A09B-5FE92B9D0293}"/>
              </a:ext>
            </a:extLst>
          </p:cNvPr>
          <p:cNvPicPr>
            <a:picLocks noChangeAspect="1"/>
          </p:cNvPicPr>
          <p:nvPr/>
        </p:nvPicPr>
        <p:blipFill>
          <a:blip r:embed="rId6"/>
          <a:srcRect l="-2994" t="4046" r="2395" b="-4046"/>
          <a:stretch>
            <a:fillRect/>
          </a:stretch>
        </p:blipFill>
        <p:spPr>
          <a:xfrm>
            <a:off x="1095724" y="456677"/>
            <a:ext cx="1145386" cy="1174645"/>
          </a:xfrm>
          <a:prstGeom prst="ellipse">
            <a:avLst/>
          </a:prstGeom>
          <a:ln w="63500" cap="rnd">
            <a:no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10" name="object 5">
            <a:extLst>
              <a:ext uri="{FF2B5EF4-FFF2-40B4-BE49-F238E27FC236}">
                <a16:creationId xmlns:a16="http://schemas.microsoft.com/office/drawing/2014/main" id="{EAF501FC-EBEF-B0A7-A056-F4EF59E9E126}"/>
              </a:ext>
            </a:extLst>
          </p:cNvPr>
          <p:cNvSpPr txBox="1"/>
          <p:nvPr/>
        </p:nvSpPr>
        <p:spPr>
          <a:xfrm>
            <a:off x="534782" y="1631322"/>
            <a:ext cx="2267269" cy="901529"/>
          </a:xfrm>
          <a:prstGeom prst="rect">
            <a:avLst/>
          </a:prstGeom>
          <a:noFill/>
          <a:ln>
            <a:noFill/>
          </a:ln>
        </p:spPr>
        <p:txBody>
          <a:bodyPr vert="horz" wrap="square" lIns="0" tIns="11430" rIns="0" bIns="0" rtlCol="0" anchor="t">
            <a:spAutoFit/>
          </a:bodyPr>
          <a:lstStyle/>
          <a:p>
            <a:pPr marL="635" algn="ctr">
              <a:spcBef>
                <a:spcPts val="90"/>
              </a:spcBef>
            </a:pPr>
            <a:r>
              <a:rPr lang="en-GB" sz="1100" b="1">
                <a:latin typeface="+mn-lt"/>
              </a:rPr>
              <a:t>Patrick Waterson</a:t>
            </a:r>
          </a:p>
          <a:p>
            <a:pPr marL="635" algn="ctr">
              <a:spcBef>
                <a:spcPts val="90"/>
              </a:spcBef>
            </a:pPr>
            <a:r>
              <a:rPr lang="en-US" sz="1100" b="1">
                <a:solidFill>
                  <a:schemeClr val="tx2">
                    <a:lumMod val="75000"/>
                  </a:schemeClr>
                </a:solidFill>
                <a:latin typeface="+mn-lt"/>
              </a:rPr>
              <a:t>Professor of Human Factors and Complex Systems</a:t>
            </a:r>
            <a:endParaRPr lang="en-GB" sz="1100" b="1">
              <a:solidFill>
                <a:schemeClr val="accent5">
                  <a:lumMod val="50000"/>
                </a:schemeClr>
              </a:solidFill>
              <a:latin typeface="+mn-lt"/>
            </a:endParaRPr>
          </a:p>
          <a:p>
            <a:pPr algn="ctr">
              <a:spcBef>
                <a:spcPts val="40"/>
              </a:spcBef>
            </a:pPr>
            <a:r>
              <a:rPr lang="en-US" sz="800">
                <a:latin typeface="+mn-lt"/>
                <a:hlinkClick r:id="rId7"/>
              </a:rPr>
              <a:t>P.Waterson@lboro.ac.uk</a:t>
            </a:r>
            <a:r>
              <a:rPr lang="en-US" sz="800">
                <a:latin typeface="+mn-lt"/>
              </a:rPr>
              <a:t> </a:t>
            </a:r>
            <a:endParaRPr sz="800">
              <a:latin typeface="+mn-lt"/>
            </a:endParaRPr>
          </a:p>
          <a:p>
            <a:pPr algn="ctr">
              <a:spcBef>
                <a:spcPts val="40"/>
              </a:spcBef>
            </a:pPr>
            <a:r>
              <a:rPr lang="en-US" sz="800">
                <a:latin typeface="+mn-lt"/>
                <a:hlinkClick r:id="rId8"/>
              </a:rPr>
              <a:t>https://www.lboro.ac.uk/schools/design-creative-arts/people/patrick-waterson/</a:t>
            </a:r>
            <a:r>
              <a:rPr lang="en-US" sz="800">
                <a:latin typeface="+mn-lt"/>
              </a:rPr>
              <a:t> </a:t>
            </a:r>
            <a:endParaRPr lang="en-GB" sz="800">
              <a:latin typeface="+mn-l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13967" y="681230"/>
            <a:ext cx="1184709" cy="1531709"/>
          </a:xfrm>
          <a:custGeom>
            <a:avLst/>
            <a:gdLst/>
            <a:ahLst/>
            <a:cxnLst/>
            <a:rect l="l" t="t" r="r" b="b"/>
            <a:pathLst>
              <a:path w="3757666" h="4858283">
                <a:moveTo>
                  <a:pt x="0" y="0"/>
                </a:moveTo>
                <a:lnTo>
                  <a:pt x="3757665" y="0"/>
                </a:lnTo>
                <a:lnTo>
                  <a:pt x="3757665" y="4858283"/>
                </a:lnTo>
                <a:lnTo>
                  <a:pt x="0" y="4858283"/>
                </a:lnTo>
                <a:lnTo>
                  <a:pt x="0" y="0"/>
                </a:lnTo>
                <a:close/>
              </a:path>
            </a:pathLst>
          </a:custGeom>
          <a:blipFill>
            <a:blip r:embed="rId3"/>
            <a:stretch>
              <a:fillRect l="-48196" r="-46865" b="-706"/>
            </a:stretch>
          </a:blipFill>
        </p:spPr>
        <p:txBody>
          <a:bodyPr/>
          <a:lstStyle/>
          <a:p>
            <a:endParaRPr lang="en-GB"/>
          </a:p>
        </p:txBody>
      </p:sp>
      <p:sp>
        <p:nvSpPr>
          <p:cNvPr id="3" name="Freeform 3"/>
          <p:cNvSpPr/>
          <p:nvPr/>
        </p:nvSpPr>
        <p:spPr>
          <a:xfrm>
            <a:off x="1555864" y="681230"/>
            <a:ext cx="2260319" cy="2100597"/>
          </a:xfrm>
          <a:custGeom>
            <a:avLst/>
            <a:gdLst/>
            <a:ahLst/>
            <a:cxnLst/>
            <a:rect l="l" t="t" r="r" b="b"/>
            <a:pathLst>
              <a:path w="5422940" h="4473925">
                <a:moveTo>
                  <a:pt x="0" y="0"/>
                </a:moveTo>
                <a:lnTo>
                  <a:pt x="5422939" y="0"/>
                </a:lnTo>
                <a:lnTo>
                  <a:pt x="5422939" y="4473925"/>
                </a:lnTo>
                <a:lnTo>
                  <a:pt x="0" y="4473925"/>
                </a:lnTo>
                <a:lnTo>
                  <a:pt x="0" y="0"/>
                </a:lnTo>
                <a:close/>
              </a:path>
            </a:pathLst>
          </a:custGeom>
          <a:blipFill>
            <a:blip r:embed="rId4"/>
            <a:stretch>
              <a:fillRect/>
            </a:stretch>
          </a:blipFill>
        </p:spPr>
        <p:txBody>
          <a:bodyPr/>
          <a:lstStyle/>
          <a:p>
            <a:endParaRPr lang="en-GB"/>
          </a:p>
        </p:txBody>
      </p:sp>
      <p:sp>
        <p:nvSpPr>
          <p:cNvPr id="4" name="Freeform 4"/>
          <p:cNvSpPr/>
          <p:nvPr/>
        </p:nvSpPr>
        <p:spPr>
          <a:xfrm>
            <a:off x="3886271" y="681229"/>
            <a:ext cx="1806292" cy="2004208"/>
          </a:xfrm>
          <a:custGeom>
            <a:avLst/>
            <a:gdLst/>
            <a:ahLst/>
            <a:cxnLst/>
            <a:rect l="l" t="t" r="r" b="b"/>
            <a:pathLst>
              <a:path w="5729209" h="6356958">
                <a:moveTo>
                  <a:pt x="0" y="0"/>
                </a:moveTo>
                <a:lnTo>
                  <a:pt x="5729208" y="0"/>
                </a:lnTo>
                <a:lnTo>
                  <a:pt x="5729208" y="6356958"/>
                </a:lnTo>
                <a:lnTo>
                  <a:pt x="0" y="6356958"/>
                </a:lnTo>
                <a:lnTo>
                  <a:pt x="0" y="0"/>
                </a:lnTo>
                <a:close/>
              </a:path>
            </a:pathLst>
          </a:custGeom>
          <a:blipFill>
            <a:blip r:embed="rId5"/>
            <a:stretch>
              <a:fillRect/>
            </a:stretch>
          </a:blipFill>
        </p:spPr>
        <p:txBody>
          <a:bodyPr/>
          <a:lstStyle/>
          <a:p>
            <a:endParaRPr lang="en-GB"/>
          </a:p>
        </p:txBody>
      </p:sp>
      <p:sp>
        <p:nvSpPr>
          <p:cNvPr id="5" name="Freeform 5"/>
          <p:cNvSpPr/>
          <p:nvPr/>
        </p:nvSpPr>
        <p:spPr>
          <a:xfrm>
            <a:off x="1298675" y="1417915"/>
            <a:ext cx="382848" cy="115811"/>
          </a:xfrm>
          <a:custGeom>
            <a:avLst/>
            <a:gdLst/>
            <a:ahLst/>
            <a:cxnLst/>
            <a:rect l="l" t="t" r="r" b="b"/>
            <a:pathLst>
              <a:path w="1214319" h="367331">
                <a:moveTo>
                  <a:pt x="0" y="0"/>
                </a:moveTo>
                <a:lnTo>
                  <a:pt x="1214319" y="0"/>
                </a:lnTo>
                <a:lnTo>
                  <a:pt x="1214319" y="367331"/>
                </a:lnTo>
                <a:lnTo>
                  <a:pt x="0" y="367331"/>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GB"/>
          </a:p>
        </p:txBody>
      </p:sp>
      <p:sp>
        <p:nvSpPr>
          <p:cNvPr id="6" name="Freeform 6"/>
          <p:cNvSpPr/>
          <p:nvPr/>
        </p:nvSpPr>
        <p:spPr>
          <a:xfrm>
            <a:off x="3474414" y="1417915"/>
            <a:ext cx="382848" cy="115811"/>
          </a:xfrm>
          <a:custGeom>
            <a:avLst/>
            <a:gdLst/>
            <a:ahLst/>
            <a:cxnLst/>
            <a:rect l="l" t="t" r="r" b="b"/>
            <a:pathLst>
              <a:path w="1214319" h="367331">
                <a:moveTo>
                  <a:pt x="0" y="0"/>
                </a:moveTo>
                <a:lnTo>
                  <a:pt x="1214319" y="0"/>
                </a:lnTo>
                <a:lnTo>
                  <a:pt x="1214319" y="367331"/>
                </a:lnTo>
                <a:lnTo>
                  <a:pt x="0" y="367331"/>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GB"/>
          </a:p>
        </p:txBody>
      </p:sp>
      <p:sp>
        <p:nvSpPr>
          <p:cNvPr id="7" name="Freeform 7"/>
          <p:cNvSpPr/>
          <p:nvPr/>
        </p:nvSpPr>
        <p:spPr>
          <a:xfrm>
            <a:off x="104876" y="2287154"/>
            <a:ext cx="422558" cy="472792"/>
          </a:xfrm>
          <a:custGeom>
            <a:avLst/>
            <a:gdLst/>
            <a:ahLst/>
            <a:cxnLst/>
            <a:rect l="l" t="t" r="r" b="b"/>
            <a:pathLst>
              <a:path w="1340272" h="1499605">
                <a:moveTo>
                  <a:pt x="0" y="0"/>
                </a:moveTo>
                <a:lnTo>
                  <a:pt x="1340271" y="0"/>
                </a:lnTo>
                <a:lnTo>
                  <a:pt x="1340271" y="1499605"/>
                </a:lnTo>
                <a:lnTo>
                  <a:pt x="0" y="1499605"/>
                </a:lnTo>
                <a:lnTo>
                  <a:pt x="0" y="0"/>
                </a:lnTo>
                <a:close/>
              </a:path>
            </a:pathLst>
          </a:custGeom>
          <a:blipFill>
            <a:blip r:embed="rId7"/>
            <a:stretch>
              <a:fillRect/>
            </a:stretch>
          </a:blipFill>
        </p:spPr>
        <p:txBody>
          <a:bodyPr/>
          <a:lstStyle/>
          <a:p>
            <a:endParaRPr lang="en-GB"/>
          </a:p>
        </p:txBody>
      </p:sp>
      <p:sp>
        <p:nvSpPr>
          <p:cNvPr id="8" name="Freeform 8"/>
          <p:cNvSpPr/>
          <p:nvPr/>
        </p:nvSpPr>
        <p:spPr>
          <a:xfrm>
            <a:off x="628344" y="2247238"/>
            <a:ext cx="670331" cy="534589"/>
          </a:xfrm>
          <a:custGeom>
            <a:avLst/>
            <a:gdLst/>
            <a:ahLst/>
            <a:cxnLst/>
            <a:rect l="l" t="t" r="r" b="b"/>
            <a:pathLst>
              <a:path w="2126159" h="1695612">
                <a:moveTo>
                  <a:pt x="0" y="0"/>
                </a:moveTo>
                <a:lnTo>
                  <a:pt x="2126159" y="0"/>
                </a:lnTo>
                <a:lnTo>
                  <a:pt x="2126159" y="1695612"/>
                </a:lnTo>
                <a:lnTo>
                  <a:pt x="0" y="1695612"/>
                </a:lnTo>
                <a:lnTo>
                  <a:pt x="0" y="0"/>
                </a:lnTo>
                <a:close/>
              </a:path>
            </a:pathLst>
          </a:custGeom>
          <a:blipFill>
            <a:blip>
              <a:extLst>
                <a:ext uri="{96DAC541-7B7A-43D3-8B79-37D633B846F1}">
                  <asvg:svgBlip xmlns:asvg="http://schemas.microsoft.com/office/drawing/2016/SVG/main" r:embed="rId8"/>
                </a:ext>
              </a:extLst>
            </a:blip>
            <a:stretch>
              <a:fillRect/>
            </a:stretch>
          </a:blipFill>
        </p:spPr>
        <p:txBody>
          <a:bodyPr/>
          <a:lstStyle/>
          <a:p>
            <a:endParaRPr lang="en-GB"/>
          </a:p>
        </p:txBody>
      </p:sp>
      <p:grpSp>
        <p:nvGrpSpPr>
          <p:cNvPr id="9" name="Group 9"/>
          <p:cNvGrpSpPr/>
          <p:nvPr/>
        </p:nvGrpSpPr>
        <p:grpSpPr>
          <a:xfrm>
            <a:off x="84512" y="59983"/>
            <a:ext cx="5681289" cy="466948"/>
            <a:chOff x="-37608" y="-157163"/>
            <a:chExt cx="24228957" cy="2826394"/>
          </a:xfrm>
        </p:grpSpPr>
        <p:sp>
          <p:nvSpPr>
            <p:cNvPr id="10" name="TextBox 10"/>
            <p:cNvSpPr txBox="1"/>
            <p:nvPr/>
          </p:nvSpPr>
          <p:spPr>
            <a:xfrm>
              <a:off x="-37608" y="2105693"/>
              <a:ext cx="24190191" cy="563538"/>
            </a:xfrm>
            <a:prstGeom prst="rect">
              <a:avLst/>
            </a:prstGeom>
          </p:spPr>
          <p:txBody>
            <a:bodyPr wrap="square" lIns="0" tIns="0" rIns="0" bIns="0" rtlCol="0" anchor="t">
              <a:spAutoFit/>
            </a:bodyPr>
            <a:lstStyle/>
            <a:p>
              <a:pPr algn="l">
                <a:lnSpc>
                  <a:spcPts val="749"/>
                </a:lnSpc>
              </a:pPr>
              <a:r>
                <a:rPr lang="en-US" sz="883">
                  <a:latin typeface="Arial"/>
                  <a:ea typeface="Droid Serif Bold Italics"/>
                  <a:cs typeface="Arial"/>
                  <a:sym typeface="Droid Serif Bold Italics"/>
                </a:rPr>
                <a:t>A faster and more efficient way is needed for extracting insights from maternity incident investigation reports. </a:t>
              </a:r>
              <a:endParaRPr lang="en-US" sz="883">
                <a:latin typeface="Arial"/>
                <a:ea typeface="Droid Serif Bold Italics"/>
                <a:cs typeface="Arial"/>
              </a:endParaRPr>
            </a:p>
          </p:txBody>
        </p:sp>
        <p:sp>
          <p:nvSpPr>
            <p:cNvPr id="11" name="TextBox 11"/>
            <p:cNvSpPr txBox="1"/>
            <p:nvPr/>
          </p:nvSpPr>
          <p:spPr>
            <a:xfrm>
              <a:off x="-2" y="-157163"/>
              <a:ext cx="24191351" cy="1328898"/>
            </a:xfrm>
            <a:prstGeom prst="rect">
              <a:avLst/>
            </a:prstGeom>
          </p:spPr>
          <p:txBody>
            <a:bodyPr wrap="square" lIns="0" tIns="0" rIns="0" bIns="0" rtlCol="0" anchor="t">
              <a:spAutoFit/>
            </a:bodyPr>
            <a:lstStyle/>
            <a:p>
              <a:pPr algn="l">
                <a:lnSpc>
                  <a:spcPts val="1876"/>
                </a:lnSpc>
              </a:pPr>
              <a:r>
                <a:rPr lang="en-US" sz="1261" b="1" spc="2">
                  <a:solidFill>
                    <a:schemeClr val="tx1"/>
                  </a:solidFill>
                  <a:latin typeface="Droid Serif Bold Italics"/>
                  <a:ea typeface="Droid Serif Bold Italics"/>
                  <a:cs typeface="Droid Serif Bold Italics"/>
                  <a:sym typeface="Droid Serif Bold Italics"/>
                </a:rPr>
                <a:t>Extracting Insights from Maternity Incident Investigation Reports</a:t>
              </a:r>
            </a:p>
          </p:txBody>
        </p:sp>
      </p:grpSp>
      <p:sp>
        <p:nvSpPr>
          <p:cNvPr id="12" name="object 15">
            <a:extLst>
              <a:ext uri="{FF2B5EF4-FFF2-40B4-BE49-F238E27FC236}">
                <a16:creationId xmlns:a16="http://schemas.microsoft.com/office/drawing/2014/main" id="{F5CE07DD-7538-C54C-5954-F2A3D39D8FC8}"/>
              </a:ext>
            </a:extLst>
          </p:cNvPr>
          <p:cNvSpPr/>
          <p:nvPr/>
        </p:nvSpPr>
        <p:spPr>
          <a:xfrm>
            <a:off x="2857" y="3057315"/>
            <a:ext cx="5760085" cy="0"/>
          </a:xfrm>
          <a:custGeom>
            <a:avLst/>
            <a:gdLst/>
            <a:ahLst/>
            <a:cxnLst/>
            <a:rect l="l" t="t" r="r" b="b"/>
            <a:pathLst>
              <a:path w="5760085">
                <a:moveTo>
                  <a:pt x="0" y="0"/>
                </a:moveTo>
                <a:lnTo>
                  <a:pt x="5760073" y="0"/>
                </a:lnTo>
              </a:path>
            </a:pathLst>
          </a:custGeom>
          <a:ln w="6326">
            <a:solidFill>
              <a:srgbClr val="CED3DA"/>
            </a:solidFill>
          </a:ln>
        </p:spPr>
        <p:txBody>
          <a:bodyPr wrap="square" lIns="0" tIns="0" rIns="0" bIns="0" rtlCol="0"/>
          <a:lstStyle/>
          <a:p>
            <a:endParaRPr/>
          </a:p>
        </p:txBody>
      </p:sp>
      <p:sp>
        <p:nvSpPr>
          <p:cNvPr id="15" name="Slide Number Placeholder 14">
            <a:extLst>
              <a:ext uri="{FF2B5EF4-FFF2-40B4-BE49-F238E27FC236}">
                <a16:creationId xmlns:a16="http://schemas.microsoft.com/office/drawing/2014/main" id="{D039CC82-BA51-7DC5-28B1-4ACFB89F943C}"/>
              </a:ext>
            </a:extLst>
          </p:cNvPr>
          <p:cNvSpPr>
            <a:spLocks noGrp="1"/>
          </p:cNvSpPr>
          <p:nvPr>
            <p:ph type="sldNum" sz="quarter" idx="7"/>
          </p:nvPr>
        </p:nvSpPr>
        <p:spPr>
          <a:xfrm>
            <a:off x="5410741" y="3080176"/>
            <a:ext cx="366395" cy="173989"/>
          </a:xfrm>
        </p:spPr>
        <p:txBody>
          <a:bodyPr/>
          <a:lstStyle/>
          <a:p>
            <a:pPr marL="39370">
              <a:lnSpc>
                <a:spcPct val="100000"/>
              </a:lnSpc>
              <a:spcBef>
                <a:spcPts val="219"/>
              </a:spcBef>
            </a:pPr>
            <a:fld id="{81D60167-4931-47E6-BA6A-407CBD079E47}" type="slidenum">
              <a:rPr lang="en-GB" smtClean="0"/>
              <a:t>3</a:t>
            </a:fld>
            <a:r>
              <a:rPr lang="en-GB" spc="20"/>
              <a:t> </a:t>
            </a:r>
            <a:r>
              <a:rPr lang="en-GB" spc="120"/>
              <a:t>/</a:t>
            </a:r>
            <a:r>
              <a:rPr lang="en-GB" spc="25"/>
              <a:t> </a:t>
            </a:r>
            <a:r>
              <a:rPr lang="en-GB" spc="-25"/>
              <a:t>41</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216012" rIns="0" bIns="0" rtlCol="0">
            <a:spAutoFit/>
          </a:bodyPr>
          <a:lstStyle/>
          <a:p>
            <a:pPr marL="99060">
              <a:lnSpc>
                <a:spcPct val="100000"/>
              </a:lnSpc>
              <a:spcBef>
                <a:spcPts val="135"/>
              </a:spcBef>
            </a:pPr>
            <a:r>
              <a:rPr spc="50"/>
              <a:t>What</a:t>
            </a:r>
            <a:r>
              <a:rPr spc="110"/>
              <a:t> </a:t>
            </a:r>
            <a:r>
              <a:t>We’ll</a:t>
            </a:r>
            <a:r>
              <a:rPr spc="110"/>
              <a:t> </a:t>
            </a:r>
            <a:r>
              <a:rPr spc="-30"/>
              <a:t>Explore</a:t>
            </a:r>
            <a:r>
              <a:rPr spc="110"/>
              <a:t> </a:t>
            </a:r>
            <a:r>
              <a:rPr spc="-20"/>
              <a:t>Today</a:t>
            </a:r>
          </a:p>
        </p:txBody>
      </p:sp>
      <p:sp>
        <p:nvSpPr>
          <p:cNvPr id="3" name="object 3"/>
          <p:cNvSpPr/>
          <p:nvPr/>
        </p:nvSpPr>
        <p:spPr>
          <a:xfrm>
            <a:off x="359994" y="584072"/>
            <a:ext cx="900430" cy="0"/>
          </a:xfrm>
          <a:custGeom>
            <a:avLst/>
            <a:gdLst/>
            <a:ahLst/>
            <a:cxnLst/>
            <a:rect l="l" t="t" r="r" b="b"/>
            <a:pathLst>
              <a:path w="900430">
                <a:moveTo>
                  <a:pt x="0" y="0"/>
                </a:moveTo>
                <a:lnTo>
                  <a:pt x="900010" y="0"/>
                </a:lnTo>
              </a:path>
            </a:pathLst>
          </a:custGeom>
          <a:ln w="18978">
            <a:solidFill>
              <a:srgbClr val="005F73"/>
            </a:solidFill>
          </a:ln>
        </p:spPr>
        <p:txBody>
          <a:bodyPr wrap="square" lIns="0" tIns="0" rIns="0" bIns="0" rtlCol="0"/>
          <a:lstStyle/>
          <a:p>
            <a:endParaRPr/>
          </a:p>
        </p:txBody>
      </p:sp>
      <p:grpSp>
        <p:nvGrpSpPr>
          <p:cNvPr id="4" name="object 4"/>
          <p:cNvGrpSpPr/>
          <p:nvPr/>
        </p:nvGrpSpPr>
        <p:grpSpPr>
          <a:xfrm>
            <a:off x="578167" y="649515"/>
            <a:ext cx="4609465" cy="473075"/>
            <a:chOff x="575305" y="795355"/>
            <a:chExt cx="4609465" cy="473075"/>
          </a:xfrm>
        </p:grpSpPr>
        <p:sp>
          <p:nvSpPr>
            <p:cNvPr id="5" name="object 5"/>
            <p:cNvSpPr/>
            <p:nvPr/>
          </p:nvSpPr>
          <p:spPr>
            <a:xfrm>
              <a:off x="577835" y="797886"/>
              <a:ext cx="4604385" cy="468630"/>
            </a:xfrm>
            <a:custGeom>
              <a:avLst/>
              <a:gdLst/>
              <a:ahLst/>
              <a:cxnLst/>
              <a:rect l="l" t="t" r="r" b="b"/>
              <a:pathLst>
                <a:path w="4604385" h="468630">
                  <a:moveTo>
                    <a:pt x="4528420" y="0"/>
                  </a:moveTo>
                  <a:lnTo>
                    <a:pt x="75916" y="0"/>
                  </a:lnTo>
                  <a:lnTo>
                    <a:pt x="46366" y="5965"/>
                  </a:lnTo>
                  <a:lnTo>
                    <a:pt x="22235" y="22235"/>
                  </a:lnTo>
                  <a:lnTo>
                    <a:pt x="5965" y="46365"/>
                  </a:lnTo>
                  <a:lnTo>
                    <a:pt x="0" y="75916"/>
                  </a:lnTo>
                  <a:lnTo>
                    <a:pt x="0" y="392090"/>
                  </a:lnTo>
                  <a:lnTo>
                    <a:pt x="5965" y="421640"/>
                  </a:lnTo>
                  <a:lnTo>
                    <a:pt x="22235" y="445771"/>
                  </a:lnTo>
                  <a:lnTo>
                    <a:pt x="46366" y="462040"/>
                  </a:lnTo>
                  <a:lnTo>
                    <a:pt x="75916" y="468006"/>
                  </a:lnTo>
                  <a:lnTo>
                    <a:pt x="4528420" y="468006"/>
                  </a:lnTo>
                  <a:lnTo>
                    <a:pt x="4557971" y="462040"/>
                  </a:lnTo>
                  <a:lnTo>
                    <a:pt x="4582102" y="445771"/>
                  </a:lnTo>
                  <a:lnTo>
                    <a:pt x="4598371" y="421640"/>
                  </a:lnTo>
                  <a:lnTo>
                    <a:pt x="4604337" y="392090"/>
                  </a:lnTo>
                  <a:lnTo>
                    <a:pt x="4604337" y="75916"/>
                  </a:lnTo>
                  <a:lnTo>
                    <a:pt x="4598371" y="46365"/>
                  </a:lnTo>
                  <a:lnTo>
                    <a:pt x="4582102" y="22235"/>
                  </a:lnTo>
                  <a:lnTo>
                    <a:pt x="4557971" y="5965"/>
                  </a:lnTo>
                  <a:lnTo>
                    <a:pt x="4528420" y="0"/>
                  </a:lnTo>
                  <a:close/>
                </a:path>
              </a:pathLst>
            </a:custGeom>
            <a:solidFill>
              <a:srgbClr val="E7F3F8"/>
            </a:solidFill>
          </p:spPr>
          <p:txBody>
            <a:bodyPr wrap="square" lIns="0" tIns="0" rIns="0" bIns="0" rtlCol="0"/>
            <a:lstStyle/>
            <a:p>
              <a:endParaRPr/>
            </a:p>
          </p:txBody>
        </p:sp>
        <p:sp>
          <p:nvSpPr>
            <p:cNvPr id="6" name="object 6"/>
            <p:cNvSpPr/>
            <p:nvPr/>
          </p:nvSpPr>
          <p:spPr>
            <a:xfrm>
              <a:off x="577835" y="797886"/>
              <a:ext cx="4604385" cy="468630"/>
            </a:xfrm>
            <a:custGeom>
              <a:avLst/>
              <a:gdLst/>
              <a:ahLst/>
              <a:cxnLst/>
              <a:rect l="l" t="t" r="r" b="b"/>
              <a:pathLst>
                <a:path w="4604385" h="468630">
                  <a:moveTo>
                    <a:pt x="4528420" y="0"/>
                  </a:moveTo>
                  <a:lnTo>
                    <a:pt x="75916" y="0"/>
                  </a:lnTo>
                  <a:lnTo>
                    <a:pt x="46366" y="5965"/>
                  </a:lnTo>
                  <a:lnTo>
                    <a:pt x="22235" y="22235"/>
                  </a:lnTo>
                  <a:lnTo>
                    <a:pt x="5965" y="46365"/>
                  </a:lnTo>
                  <a:lnTo>
                    <a:pt x="0" y="75916"/>
                  </a:lnTo>
                  <a:lnTo>
                    <a:pt x="0" y="392090"/>
                  </a:lnTo>
                  <a:lnTo>
                    <a:pt x="5965" y="421640"/>
                  </a:lnTo>
                  <a:lnTo>
                    <a:pt x="22235" y="445771"/>
                  </a:lnTo>
                  <a:lnTo>
                    <a:pt x="46366" y="462040"/>
                  </a:lnTo>
                  <a:lnTo>
                    <a:pt x="75916" y="468006"/>
                  </a:lnTo>
                  <a:lnTo>
                    <a:pt x="4528420" y="468006"/>
                  </a:lnTo>
                  <a:lnTo>
                    <a:pt x="4557971" y="462040"/>
                  </a:lnTo>
                  <a:lnTo>
                    <a:pt x="4582102" y="445771"/>
                  </a:lnTo>
                  <a:lnTo>
                    <a:pt x="4598371" y="421640"/>
                  </a:lnTo>
                  <a:lnTo>
                    <a:pt x="4604337" y="392090"/>
                  </a:lnTo>
                  <a:lnTo>
                    <a:pt x="4604337" y="75916"/>
                  </a:lnTo>
                  <a:lnTo>
                    <a:pt x="4598371" y="46365"/>
                  </a:lnTo>
                  <a:lnTo>
                    <a:pt x="4582102" y="22235"/>
                  </a:lnTo>
                  <a:lnTo>
                    <a:pt x="4557971" y="5965"/>
                  </a:lnTo>
                  <a:lnTo>
                    <a:pt x="4528420" y="0"/>
                  </a:lnTo>
                  <a:close/>
                </a:path>
              </a:pathLst>
            </a:custGeom>
            <a:ln w="5060">
              <a:solidFill>
                <a:srgbClr val="005F72"/>
              </a:solidFill>
            </a:ln>
          </p:spPr>
          <p:txBody>
            <a:bodyPr wrap="square" lIns="0" tIns="0" rIns="0" bIns="0" rtlCol="0"/>
            <a:lstStyle/>
            <a:p>
              <a:endParaRPr/>
            </a:p>
          </p:txBody>
        </p:sp>
      </p:grpSp>
      <p:grpSp>
        <p:nvGrpSpPr>
          <p:cNvPr id="7" name="object 7"/>
          <p:cNvGrpSpPr/>
          <p:nvPr/>
        </p:nvGrpSpPr>
        <p:grpSpPr>
          <a:xfrm>
            <a:off x="580697" y="1225524"/>
            <a:ext cx="4553934" cy="578540"/>
            <a:chOff x="628349" y="1371364"/>
            <a:chExt cx="4503420" cy="473075"/>
          </a:xfrm>
        </p:grpSpPr>
        <p:sp>
          <p:nvSpPr>
            <p:cNvPr id="8" name="object 8"/>
            <p:cNvSpPr/>
            <p:nvPr/>
          </p:nvSpPr>
          <p:spPr>
            <a:xfrm>
              <a:off x="630880" y="1373895"/>
              <a:ext cx="4498340" cy="468630"/>
            </a:xfrm>
            <a:custGeom>
              <a:avLst/>
              <a:gdLst/>
              <a:ahLst/>
              <a:cxnLst/>
              <a:rect l="l" t="t" r="r" b="b"/>
              <a:pathLst>
                <a:path w="4498340" h="468630">
                  <a:moveTo>
                    <a:pt x="4422332" y="0"/>
                  </a:moveTo>
                  <a:lnTo>
                    <a:pt x="75916" y="0"/>
                  </a:lnTo>
                  <a:lnTo>
                    <a:pt x="46365" y="5965"/>
                  </a:lnTo>
                  <a:lnTo>
                    <a:pt x="22235" y="22235"/>
                  </a:lnTo>
                  <a:lnTo>
                    <a:pt x="5965" y="46365"/>
                  </a:lnTo>
                  <a:lnTo>
                    <a:pt x="0" y="75916"/>
                  </a:lnTo>
                  <a:lnTo>
                    <a:pt x="0" y="392090"/>
                  </a:lnTo>
                  <a:lnTo>
                    <a:pt x="5965" y="421640"/>
                  </a:lnTo>
                  <a:lnTo>
                    <a:pt x="22235" y="445771"/>
                  </a:lnTo>
                  <a:lnTo>
                    <a:pt x="46365" y="462040"/>
                  </a:lnTo>
                  <a:lnTo>
                    <a:pt x="75916" y="468006"/>
                  </a:lnTo>
                  <a:lnTo>
                    <a:pt x="4422332" y="468006"/>
                  </a:lnTo>
                  <a:lnTo>
                    <a:pt x="4451882" y="462040"/>
                  </a:lnTo>
                  <a:lnTo>
                    <a:pt x="4476013" y="445771"/>
                  </a:lnTo>
                  <a:lnTo>
                    <a:pt x="4492282" y="421640"/>
                  </a:lnTo>
                  <a:lnTo>
                    <a:pt x="4498248" y="392090"/>
                  </a:lnTo>
                  <a:lnTo>
                    <a:pt x="4498248" y="75916"/>
                  </a:lnTo>
                  <a:lnTo>
                    <a:pt x="4492282" y="46365"/>
                  </a:lnTo>
                  <a:lnTo>
                    <a:pt x="4476013" y="22235"/>
                  </a:lnTo>
                  <a:lnTo>
                    <a:pt x="4451882" y="5965"/>
                  </a:lnTo>
                  <a:lnTo>
                    <a:pt x="4422332" y="0"/>
                  </a:lnTo>
                  <a:close/>
                </a:path>
              </a:pathLst>
            </a:custGeom>
            <a:solidFill>
              <a:srgbClr val="FFF2EB"/>
            </a:solidFill>
          </p:spPr>
          <p:txBody>
            <a:bodyPr wrap="square" lIns="0" tIns="0" rIns="0" bIns="0" rtlCol="0"/>
            <a:lstStyle/>
            <a:p>
              <a:endParaRPr/>
            </a:p>
          </p:txBody>
        </p:sp>
        <p:sp>
          <p:nvSpPr>
            <p:cNvPr id="9" name="object 9"/>
            <p:cNvSpPr/>
            <p:nvPr/>
          </p:nvSpPr>
          <p:spPr>
            <a:xfrm>
              <a:off x="630880" y="1373895"/>
              <a:ext cx="4498340" cy="468630"/>
            </a:xfrm>
            <a:custGeom>
              <a:avLst/>
              <a:gdLst/>
              <a:ahLst/>
              <a:cxnLst/>
              <a:rect l="l" t="t" r="r" b="b"/>
              <a:pathLst>
                <a:path w="4498340" h="468630">
                  <a:moveTo>
                    <a:pt x="4422332" y="0"/>
                  </a:moveTo>
                  <a:lnTo>
                    <a:pt x="75916" y="0"/>
                  </a:lnTo>
                  <a:lnTo>
                    <a:pt x="46365" y="5965"/>
                  </a:lnTo>
                  <a:lnTo>
                    <a:pt x="22235" y="22235"/>
                  </a:lnTo>
                  <a:lnTo>
                    <a:pt x="5965" y="46365"/>
                  </a:lnTo>
                  <a:lnTo>
                    <a:pt x="0" y="75916"/>
                  </a:lnTo>
                  <a:lnTo>
                    <a:pt x="0" y="392090"/>
                  </a:lnTo>
                  <a:lnTo>
                    <a:pt x="5965" y="421640"/>
                  </a:lnTo>
                  <a:lnTo>
                    <a:pt x="22235" y="445771"/>
                  </a:lnTo>
                  <a:lnTo>
                    <a:pt x="46365" y="462040"/>
                  </a:lnTo>
                  <a:lnTo>
                    <a:pt x="75916" y="468006"/>
                  </a:lnTo>
                  <a:lnTo>
                    <a:pt x="4422332" y="468006"/>
                  </a:lnTo>
                  <a:lnTo>
                    <a:pt x="4451882" y="462040"/>
                  </a:lnTo>
                  <a:lnTo>
                    <a:pt x="4476013" y="445771"/>
                  </a:lnTo>
                  <a:lnTo>
                    <a:pt x="4492282" y="421640"/>
                  </a:lnTo>
                  <a:lnTo>
                    <a:pt x="4498248" y="392090"/>
                  </a:lnTo>
                  <a:lnTo>
                    <a:pt x="4498248" y="75916"/>
                  </a:lnTo>
                  <a:lnTo>
                    <a:pt x="4492282" y="46365"/>
                  </a:lnTo>
                  <a:lnTo>
                    <a:pt x="4476013" y="22235"/>
                  </a:lnTo>
                  <a:lnTo>
                    <a:pt x="4451882" y="5965"/>
                  </a:lnTo>
                  <a:lnTo>
                    <a:pt x="4422332" y="0"/>
                  </a:lnTo>
                  <a:close/>
                </a:path>
              </a:pathLst>
            </a:custGeom>
            <a:ln w="5060">
              <a:solidFill>
                <a:srgbClr val="D75F2C"/>
              </a:solidFill>
            </a:ln>
          </p:spPr>
          <p:txBody>
            <a:bodyPr wrap="square" lIns="0" tIns="0" rIns="0" bIns="0" rtlCol="0"/>
            <a:lstStyle/>
            <a:p>
              <a:endParaRPr/>
            </a:p>
          </p:txBody>
        </p:sp>
      </p:grpSp>
      <p:grpSp>
        <p:nvGrpSpPr>
          <p:cNvPr id="10" name="object 10"/>
          <p:cNvGrpSpPr/>
          <p:nvPr/>
        </p:nvGrpSpPr>
        <p:grpSpPr>
          <a:xfrm>
            <a:off x="580697" y="1862319"/>
            <a:ext cx="4567247" cy="473075"/>
            <a:chOff x="612375" y="1947374"/>
            <a:chExt cx="4535805" cy="473075"/>
          </a:xfrm>
        </p:grpSpPr>
        <p:sp>
          <p:nvSpPr>
            <p:cNvPr id="11" name="object 11"/>
            <p:cNvSpPr/>
            <p:nvPr/>
          </p:nvSpPr>
          <p:spPr>
            <a:xfrm>
              <a:off x="614906" y="1949904"/>
              <a:ext cx="4530725" cy="468630"/>
            </a:xfrm>
            <a:custGeom>
              <a:avLst/>
              <a:gdLst/>
              <a:ahLst/>
              <a:cxnLst/>
              <a:rect l="l" t="t" r="r" b="b"/>
              <a:pathLst>
                <a:path w="4530725" h="468630">
                  <a:moveTo>
                    <a:pt x="4454279" y="0"/>
                  </a:moveTo>
                  <a:lnTo>
                    <a:pt x="75916" y="0"/>
                  </a:lnTo>
                  <a:lnTo>
                    <a:pt x="46365" y="5965"/>
                  </a:lnTo>
                  <a:lnTo>
                    <a:pt x="22235" y="22235"/>
                  </a:lnTo>
                  <a:lnTo>
                    <a:pt x="5965" y="46365"/>
                  </a:lnTo>
                  <a:lnTo>
                    <a:pt x="0" y="75916"/>
                  </a:lnTo>
                  <a:lnTo>
                    <a:pt x="0" y="392090"/>
                  </a:lnTo>
                  <a:lnTo>
                    <a:pt x="5965" y="421640"/>
                  </a:lnTo>
                  <a:lnTo>
                    <a:pt x="22235" y="445771"/>
                  </a:lnTo>
                  <a:lnTo>
                    <a:pt x="46365" y="462040"/>
                  </a:lnTo>
                  <a:lnTo>
                    <a:pt x="75916" y="468006"/>
                  </a:lnTo>
                  <a:lnTo>
                    <a:pt x="4454279" y="468006"/>
                  </a:lnTo>
                  <a:lnTo>
                    <a:pt x="4483829" y="462040"/>
                  </a:lnTo>
                  <a:lnTo>
                    <a:pt x="4507960" y="445771"/>
                  </a:lnTo>
                  <a:lnTo>
                    <a:pt x="4524230" y="421640"/>
                  </a:lnTo>
                  <a:lnTo>
                    <a:pt x="4530195" y="392090"/>
                  </a:lnTo>
                  <a:lnTo>
                    <a:pt x="4530195" y="75916"/>
                  </a:lnTo>
                  <a:lnTo>
                    <a:pt x="4524230" y="46365"/>
                  </a:lnTo>
                  <a:lnTo>
                    <a:pt x="4507960" y="22235"/>
                  </a:lnTo>
                  <a:lnTo>
                    <a:pt x="4483829" y="5965"/>
                  </a:lnTo>
                  <a:lnTo>
                    <a:pt x="4454279" y="0"/>
                  </a:lnTo>
                  <a:close/>
                </a:path>
              </a:pathLst>
            </a:custGeom>
            <a:solidFill>
              <a:srgbClr val="E7F3F8"/>
            </a:solidFill>
          </p:spPr>
          <p:txBody>
            <a:bodyPr wrap="square" lIns="0" tIns="0" rIns="0" bIns="0" rtlCol="0"/>
            <a:lstStyle/>
            <a:p>
              <a:endParaRPr/>
            </a:p>
          </p:txBody>
        </p:sp>
        <p:sp>
          <p:nvSpPr>
            <p:cNvPr id="12" name="object 12"/>
            <p:cNvSpPr/>
            <p:nvPr/>
          </p:nvSpPr>
          <p:spPr>
            <a:xfrm>
              <a:off x="614906" y="1949904"/>
              <a:ext cx="4530725" cy="468630"/>
            </a:xfrm>
            <a:custGeom>
              <a:avLst/>
              <a:gdLst/>
              <a:ahLst/>
              <a:cxnLst/>
              <a:rect l="l" t="t" r="r" b="b"/>
              <a:pathLst>
                <a:path w="4530725" h="468630">
                  <a:moveTo>
                    <a:pt x="4454279" y="0"/>
                  </a:moveTo>
                  <a:lnTo>
                    <a:pt x="75916" y="0"/>
                  </a:lnTo>
                  <a:lnTo>
                    <a:pt x="46365" y="5965"/>
                  </a:lnTo>
                  <a:lnTo>
                    <a:pt x="22235" y="22235"/>
                  </a:lnTo>
                  <a:lnTo>
                    <a:pt x="5965" y="46365"/>
                  </a:lnTo>
                  <a:lnTo>
                    <a:pt x="0" y="75916"/>
                  </a:lnTo>
                  <a:lnTo>
                    <a:pt x="0" y="392090"/>
                  </a:lnTo>
                  <a:lnTo>
                    <a:pt x="5965" y="421640"/>
                  </a:lnTo>
                  <a:lnTo>
                    <a:pt x="22235" y="445771"/>
                  </a:lnTo>
                  <a:lnTo>
                    <a:pt x="46365" y="462040"/>
                  </a:lnTo>
                  <a:lnTo>
                    <a:pt x="75916" y="468006"/>
                  </a:lnTo>
                  <a:lnTo>
                    <a:pt x="4454279" y="468006"/>
                  </a:lnTo>
                  <a:lnTo>
                    <a:pt x="4483829" y="462040"/>
                  </a:lnTo>
                  <a:lnTo>
                    <a:pt x="4507960" y="445771"/>
                  </a:lnTo>
                  <a:lnTo>
                    <a:pt x="4524230" y="421640"/>
                  </a:lnTo>
                  <a:lnTo>
                    <a:pt x="4530195" y="392090"/>
                  </a:lnTo>
                  <a:lnTo>
                    <a:pt x="4530195" y="75916"/>
                  </a:lnTo>
                  <a:lnTo>
                    <a:pt x="4524230" y="46365"/>
                  </a:lnTo>
                  <a:lnTo>
                    <a:pt x="4507960" y="22235"/>
                  </a:lnTo>
                  <a:lnTo>
                    <a:pt x="4483829" y="5965"/>
                  </a:lnTo>
                  <a:lnTo>
                    <a:pt x="4454279" y="0"/>
                  </a:lnTo>
                  <a:close/>
                </a:path>
              </a:pathLst>
            </a:custGeom>
            <a:ln w="5060">
              <a:solidFill>
                <a:srgbClr val="005F72"/>
              </a:solidFill>
            </a:ln>
          </p:spPr>
          <p:txBody>
            <a:bodyPr wrap="square" lIns="0" tIns="0" rIns="0" bIns="0" rtlCol="0"/>
            <a:lstStyle/>
            <a:p>
              <a:endParaRPr/>
            </a:p>
          </p:txBody>
        </p:sp>
      </p:grpSp>
      <p:sp>
        <p:nvSpPr>
          <p:cNvPr id="13" name="object 13"/>
          <p:cNvSpPr txBox="1"/>
          <p:nvPr/>
        </p:nvSpPr>
        <p:spPr>
          <a:xfrm>
            <a:off x="654204" y="686773"/>
            <a:ext cx="4406900" cy="1611980"/>
          </a:xfrm>
          <a:prstGeom prst="rect">
            <a:avLst/>
          </a:prstGeom>
        </p:spPr>
        <p:txBody>
          <a:bodyPr vert="horz" wrap="square" lIns="0" tIns="11430" rIns="0" bIns="0" rtlCol="0">
            <a:spAutoFit/>
          </a:bodyPr>
          <a:lstStyle/>
          <a:p>
            <a:pPr marL="196215" indent="-183515">
              <a:lnSpc>
                <a:spcPct val="100000"/>
              </a:lnSpc>
              <a:spcBef>
                <a:spcPts val="90"/>
              </a:spcBef>
              <a:buAutoNum type="arabicPeriod"/>
              <a:tabLst>
                <a:tab pos="196215" algn="l"/>
              </a:tabLst>
            </a:pPr>
            <a:r>
              <a:rPr sz="1100" b="1">
                <a:solidFill>
                  <a:srgbClr val="202528"/>
                </a:solidFill>
                <a:latin typeface="Arial"/>
                <a:cs typeface="Arial"/>
              </a:rPr>
              <a:t>The</a:t>
            </a:r>
            <a:r>
              <a:rPr sz="1100" b="1" spc="-15">
                <a:solidFill>
                  <a:srgbClr val="202528"/>
                </a:solidFill>
                <a:latin typeface="Arial"/>
                <a:cs typeface="Arial"/>
              </a:rPr>
              <a:t> </a:t>
            </a:r>
            <a:r>
              <a:rPr sz="1100" b="1" spc="-45">
                <a:solidFill>
                  <a:srgbClr val="202528"/>
                </a:solidFill>
                <a:latin typeface="Arial"/>
                <a:cs typeface="Arial"/>
              </a:rPr>
              <a:t>Challenge:</a:t>
            </a:r>
            <a:r>
              <a:rPr sz="1100" b="1" spc="110">
                <a:solidFill>
                  <a:srgbClr val="202528"/>
                </a:solidFill>
                <a:latin typeface="Arial"/>
                <a:cs typeface="Arial"/>
              </a:rPr>
              <a:t> </a:t>
            </a:r>
            <a:r>
              <a:rPr lang="en-GB" sz="1100" spc="110">
                <a:solidFill>
                  <a:srgbClr val="202528"/>
                </a:solidFill>
                <a:latin typeface="Arial"/>
                <a:cs typeface="Arial"/>
              </a:rPr>
              <a:t>h</a:t>
            </a:r>
            <a:r>
              <a:rPr lang="en-GB" sz="1100"/>
              <a:t>ow can AI help extract, organise, and analyse important findings from incident investigation reports?</a:t>
            </a:r>
            <a:endParaRPr sz="1100">
              <a:latin typeface="Tahoma"/>
              <a:cs typeface="Tahoma"/>
            </a:endParaRPr>
          </a:p>
          <a:p>
            <a:pPr>
              <a:lnSpc>
                <a:spcPct val="100000"/>
              </a:lnSpc>
              <a:spcBef>
                <a:spcPts val="560"/>
              </a:spcBef>
              <a:buClr>
                <a:srgbClr val="202528"/>
              </a:buClr>
              <a:buFont typeface="Arial"/>
              <a:buAutoNum type="arabicPeriod"/>
            </a:pPr>
            <a:endParaRPr lang="en-GB" sz="1100">
              <a:latin typeface="Tahoma"/>
              <a:cs typeface="Tahoma"/>
            </a:endParaRPr>
          </a:p>
          <a:p>
            <a:pPr marL="248920" indent="-183515">
              <a:lnSpc>
                <a:spcPct val="100000"/>
              </a:lnSpc>
              <a:buAutoNum type="arabicPeriod"/>
              <a:tabLst>
                <a:tab pos="248920" algn="l"/>
              </a:tabLst>
            </a:pPr>
            <a:r>
              <a:rPr sz="1100" b="1">
                <a:solidFill>
                  <a:srgbClr val="202528"/>
                </a:solidFill>
                <a:latin typeface="Arial"/>
                <a:cs typeface="Arial"/>
              </a:rPr>
              <a:t>The</a:t>
            </a:r>
            <a:r>
              <a:rPr sz="1100" b="1" spc="25">
                <a:solidFill>
                  <a:srgbClr val="202528"/>
                </a:solidFill>
                <a:latin typeface="Arial"/>
                <a:cs typeface="Arial"/>
              </a:rPr>
              <a:t> </a:t>
            </a:r>
            <a:r>
              <a:rPr sz="1100" b="1" spc="-10">
                <a:solidFill>
                  <a:srgbClr val="202528"/>
                </a:solidFill>
                <a:latin typeface="Arial"/>
                <a:cs typeface="Arial"/>
              </a:rPr>
              <a:t>Methods:</a:t>
            </a:r>
            <a:r>
              <a:rPr sz="1100" b="1" spc="100">
                <a:solidFill>
                  <a:srgbClr val="202528"/>
                </a:solidFill>
                <a:latin typeface="Arial"/>
                <a:cs typeface="Arial"/>
              </a:rPr>
              <a:t> </a:t>
            </a:r>
            <a:r>
              <a:rPr lang="en-GB" sz="1100"/>
              <a:t>what AI techniques did we use? How did we develop and test them? Can AI find patterns reliably and fairly across all patient groups?</a:t>
            </a:r>
            <a:endParaRPr sz="1100">
              <a:latin typeface="Tahoma"/>
              <a:cs typeface="Tahoma"/>
            </a:endParaRPr>
          </a:p>
          <a:p>
            <a:pPr marL="233045" indent="-183515">
              <a:buFontTx/>
              <a:buAutoNum type="arabicPeriod"/>
              <a:tabLst>
                <a:tab pos="233045" algn="l"/>
              </a:tabLst>
            </a:pPr>
            <a:endParaRPr lang="en-GB" sz="1100" b="1">
              <a:solidFill>
                <a:srgbClr val="202528"/>
              </a:solidFill>
              <a:latin typeface="Arial"/>
              <a:cs typeface="Arial"/>
            </a:endParaRPr>
          </a:p>
          <a:p>
            <a:pPr marL="233045" indent="-183515">
              <a:buFontTx/>
              <a:buAutoNum type="arabicPeriod"/>
              <a:tabLst>
                <a:tab pos="233045" algn="l"/>
              </a:tabLst>
            </a:pPr>
            <a:r>
              <a:rPr sz="1100" b="1">
                <a:solidFill>
                  <a:srgbClr val="202528"/>
                </a:solidFill>
                <a:latin typeface="Arial"/>
                <a:cs typeface="Arial"/>
              </a:rPr>
              <a:t>The</a:t>
            </a:r>
            <a:r>
              <a:rPr sz="1100" b="1" spc="50">
                <a:solidFill>
                  <a:srgbClr val="202528"/>
                </a:solidFill>
                <a:latin typeface="Arial"/>
                <a:cs typeface="Arial"/>
              </a:rPr>
              <a:t> </a:t>
            </a:r>
            <a:r>
              <a:rPr sz="1100" b="1" spc="-35">
                <a:solidFill>
                  <a:srgbClr val="202528"/>
                </a:solidFill>
                <a:latin typeface="Arial"/>
                <a:cs typeface="Arial"/>
              </a:rPr>
              <a:t>Ethics:</a:t>
            </a:r>
            <a:r>
              <a:rPr sz="1100" b="1" spc="125">
                <a:solidFill>
                  <a:srgbClr val="202528"/>
                </a:solidFill>
                <a:latin typeface="Arial"/>
                <a:cs typeface="Arial"/>
              </a:rPr>
              <a:t> </a:t>
            </a:r>
            <a:r>
              <a:rPr lang="en-GB" sz="1100" kern="1200">
                <a:solidFill>
                  <a:schemeClr val="tx1"/>
                </a:solidFill>
              </a:rPr>
              <a:t>how did we ensure AI systems remain accountable? How did we keep humans in the loop and in control?</a:t>
            </a:r>
          </a:p>
        </p:txBody>
      </p:sp>
      <p:sp>
        <p:nvSpPr>
          <p:cNvPr id="14" name="object 14"/>
          <p:cNvSpPr txBox="1"/>
          <p:nvPr/>
        </p:nvSpPr>
        <p:spPr>
          <a:xfrm>
            <a:off x="1282700" y="2689191"/>
            <a:ext cx="3218169" cy="196849"/>
          </a:xfrm>
          <a:prstGeom prst="rect">
            <a:avLst/>
          </a:prstGeom>
        </p:spPr>
        <p:txBody>
          <a:bodyPr vert="horz" wrap="square" lIns="0" tIns="12065" rIns="0" bIns="0" rtlCol="0">
            <a:spAutoFit/>
          </a:bodyPr>
          <a:lstStyle/>
          <a:p>
            <a:pPr marL="12700">
              <a:lnSpc>
                <a:spcPct val="100000"/>
              </a:lnSpc>
              <a:spcBef>
                <a:spcPts val="95"/>
              </a:spcBef>
            </a:pPr>
            <a:r>
              <a:rPr sz="1200" spc="-40">
                <a:solidFill>
                  <a:srgbClr val="6C757C"/>
                </a:solidFill>
                <a:latin typeface="Tahoma"/>
                <a:cs typeface="Tahoma"/>
              </a:rPr>
              <a:t>Using</a:t>
            </a:r>
            <a:r>
              <a:rPr sz="1200" spc="-20">
                <a:solidFill>
                  <a:srgbClr val="6C757C"/>
                </a:solidFill>
                <a:latin typeface="Tahoma"/>
                <a:cs typeface="Tahoma"/>
              </a:rPr>
              <a:t> </a:t>
            </a:r>
            <a:r>
              <a:rPr sz="1200" spc="50">
                <a:solidFill>
                  <a:srgbClr val="6C757C"/>
                </a:solidFill>
                <a:latin typeface="Tahoma"/>
                <a:cs typeface="Tahoma"/>
              </a:rPr>
              <a:t>UK</a:t>
            </a:r>
            <a:r>
              <a:rPr sz="1200" spc="-10">
                <a:solidFill>
                  <a:srgbClr val="6C757C"/>
                </a:solidFill>
                <a:latin typeface="Tahoma"/>
                <a:cs typeface="Tahoma"/>
              </a:rPr>
              <a:t> </a:t>
            </a:r>
            <a:r>
              <a:rPr sz="1200" spc="-50">
                <a:solidFill>
                  <a:srgbClr val="6C757C"/>
                </a:solidFill>
                <a:latin typeface="Tahoma"/>
                <a:cs typeface="Tahoma"/>
              </a:rPr>
              <a:t>maternity</a:t>
            </a:r>
            <a:r>
              <a:rPr sz="1200" spc="-15">
                <a:solidFill>
                  <a:srgbClr val="6C757C"/>
                </a:solidFill>
                <a:latin typeface="Tahoma"/>
                <a:cs typeface="Tahoma"/>
              </a:rPr>
              <a:t> </a:t>
            </a:r>
            <a:r>
              <a:rPr sz="1200" spc="-70">
                <a:solidFill>
                  <a:srgbClr val="6C757C"/>
                </a:solidFill>
                <a:latin typeface="Tahoma"/>
                <a:cs typeface="Tahoma"/>
              </a:rPr>
              <a:t>safety</a:t>
            </a:r>
            <a:r>
              <a:rPr sz="1200" spc="-15">
                <a:solidFill>
                  <a:srgbClr val="6C757C"/>
                </a:solidFill>
                <a:latin typeface="Tahoma"/>
                <a:cs typeface="Tahoma"/>
              </a:rPr>
              <a:t> </a:t>
            </a:r>
            <a:r>
              <a:rPr sz="1200" spc="-55">
                <a:solidFill>
                  <a:srgbClr val="6C757C"/>
                </a:solidFill>
                <a:latin typeface="Tahoma"/>
                <a:cs typeface="Tahoma"/>
              </a:rPr>
              <a:t>as</a:t>
            </a:r>
            <a:r>
              <a:rPr sz="1200" spc="-10">
                <a:solidFill>
                  <a:srgbClr val="6C757C"/>
                </a:solidFill>
                <a:latin typeface="Tahoma"/>
                <a:cs typeface="Tahoma"/>
              </a:rPr>
              <a:t> </a:t>
            </a:r>
            <a:r>
              <a:rPr sz="1200" spc="-60">
                <a:solidFill>
                  <a:srgbClr val="6C757C"/>
                </a:solidFill>
                <a:latin typeface="Tahoma"/>
                <a:cs typeface="Tahoma"/>
              </a:rPr>
              <a:t>our</a:t>
            </a:r>
            <a:r>
              <a:rPr sz="1200" spc="-20">
                <a:solidFill>
                  <a:srgbClr val="6C757C"/>
                </a:solidFill>
                <a:latin typeface="Tahoma"/>
                <a:cs typeface="Tahoma"/>
              </a:rPr>
              <a:t> </a:t>
            </a:r>
            <a:r>
              <a:rPr sz="1200" spc="-70">
                <a:solidFill>
                  <a:srgbClr val="6C757C"/>
                </a:solidFill>
                <a:latin typeface="Tahoma"/>
                <a:cs typeface="Tahoma"/>
              </a:rPr>
              <a:t>case</a:t>
            </a:r>
            <a:r>
              <a:rPr sz="1200" spc="-10">
                <a:solidFill>
                  <a:srgbClr val="6C757C"/>
                </a:solidFill>
                <a:latin typeface="Tahoma"/>
                <a:cs typeface="Tahoma"/>
              </a:rPr>
              <a:t> study</a:t>
            </a:r>
            <a:endParaRPr sz="1200">
              <a:latin typeface="Tahoma"/>
              <a:cs typeface="Tahoma"/>
            </a:endParaRPr>
          </a:p>
        </p:txBody>
      </p:sp>
      <p:sp>
        <p:nvSpPr>
          <p:cNvPr id="15" name="object 15"/>
          <p:cNvSpPr/>
          <p:nvPr/>
        </p:nvSpPr>
        <p:spPr>
          <a:xfrm>
            <a:off x="0" y="3060028"/>
            <a:ext cx="5760085" cy="0"/>
          </a:xfrm>
          <a:custGeom>
            <a:avLst/>
            <a:gdLst/>
            <a:ahLst/>
            <a:cxnLst/>
            <a:rect l="l" t="t" r="r" b="b"/>
            <a:pathLst>
              <a:path w="5760085">
                <a:moveTo>
                  <a:pt x="0" y="0"/>
                </a:moveTo>
                <a:lnTo>
                  <a:pt x="5760073" y="0"/>
                </a:lnTo>
              </a:path>
            </a:pathLst>
          </a:custGeom>
          <a:ln w="6326">
            <a:solidFill>
              <a:srgbClr val="CED3DA"/>
            </a:solidFill>
          </a:ln>
        </p:spPr>
        <p:txBody>
          <a:bodyPr wrap="square" lIns="0" tIns="0" rIns="0" bIns="0" rtlCol="0"/>
          <a:lstStyle/>
          <a:p>
            <a:endParaRPr/>
          </a:p>
        </p:txBody>
      </p:sp>
      <p:sp>
        <p:nvSpPr>
          <p:cNvPr id="18" name="Slide Number Placeholder 17">
            <a:extLst>
              <a:ext uri="{FF2B5EF4-FFF2-40B4-BE49-F238E27FC236}">
                <a16:creationId xmlns:a16="http://schemas.microsoft.com/office/drawing/2014/main" id="{5836381E-505A-8004-EE8A-9016B8F113FE}"/>
              </a:ext>
            </a:extLst>
          </p:cNvPr>
          <p:cNvSpPr>
            <a:spLocks noGrp="1"/>
          </p:cNvSpPr>
          <p:nvPr>
            <p:ph type="sldNum" sz="quarter" idx="7"/>
          </p:nvPr>
        </p:nvSpPr>
        <p:spPr>
          <a:xfrm>
            <a:off x="5393690" y="3070861"/>
            <a:ext cx="366395" cy="173989"/>
          </a:xfrm>
        </p:spPr>
        <p:txBody>
          <a:bodyPr/>
          <a:lstStyle/>
          <a:p>
            <a:pPr marL="39370">
              <a:lnSpc>
                <a:spcPct val="100000"/>
              </a:lnSpc>
              <a:spcBef>
                <a:spcPts val="219"/>
              </a:spcBef>
            </a:pPr>
            <a:fld id="{81D60167-4931-47E6-BA6A-407CBD079E47}" type="slidenum">
              <a:rPr lang="en-GB" smtClean="0"/>
              <a:t>4</a:t>
            </a:fld>
            <a:r>
              <a:rPr lang="en-GB" spc="20"/>
              <a:t> </a:t>
            </a:r>
            <a:r>
              <a:rPr lang="en-GB" spc="120"/>
              <a:t>/</a:t>
            </a:r>
            <a:r>
              <a:rPr lang="en-GB" spc="25"/>
              <a:t> </a:t>
            </a:r>
            <a:r>
              <a:rPr lang="en-GB" spc="-25"/>
              <a:t>41</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081239" y="345842"/>
            <a:ext cx="3574415" cy="1691639"/>
          </a:xfrm>
          <a:prstGeom prst="rect">
            <a:avLst/>
          </a:prstGeom>
        </p:spPr>
        <p:txBody>
          <a:bodyPr vert="horz" wrap="square" lIns="0" tIns="79375" rIns="0" bIns="0" rtlCol="0">
            <a:spAutoFit/>
          </a:bodyPr>
          <a:lstStyle/>
          <a:p>
            <a:pPr marL="12700" marR="5080" algn="ctr">
              <a:lnSpc>
                <a:spcPts val="2330"/>
              </a:lnSpc>
              <a:spcBef>
                <a:spcPts val="625"/>
              </a:spcBef>
            </a:pPr>
            <a:r>
              <a:rPr sz="2400" i="1" spc="-25">
                <a:solidFill>
                  <a:srgbClr val="202429"/>
                </a:solidFill>
                <a:latin typeface="Calibri"/>
                <a:cs typeface="Calibri"/>
              </a:rPr>
              <a:t>How</a:t>
            </a:r>
            <a:r>
              <a:rPr sz="2400" i="1" spc="20">
                <a:solidFill>
                  <a:srgbClr val="202429"/>
                </a:solidFill>
                <a:latin typeface="Calibri"/>
                <a:cs typeface="Calibri"/>
              </a:rPr>
              <a:t> </a:t>
            </a:r>
            <a:r>
              <a:rPr sz="2400" i="1">
                <a:solidFill>
                  <a:srgbClr val="202429"/>
                </a:solidFill>
                <a:latin typeface="Calibri"/>
                <a:cs typeface="Calibri"/>
              </a:rPr>
              <a:t>can</a:t>
            </a:r>
            <a:r>
              <a:rPr sz="2400" i="1" spc="25">
                <a:solidFill>
                  <a:srgbClr val="202429"/>
                </a:solidFill>
                <a:latin typeface="Calibri"/>
                <a:cs typeface="Calibri"/>
              </a:rPr>
              <a:t> </a:t>
            </a:r>
            <a:r>
              <a:rPr sz="2400" i="1" spc="-85">
                <a:solidFill>
                  <a:srgbClr val="202429"/>
                </a:solidFill>
                <a:latin typeface="Calibri"/>
                <a:cs typeface="Calibri"/>
              </a:rPr>
              <a:t>we</a:t>
            </a:r>
            <a:r>
              <a:rPr sz="2400" i="1" spc="30">
                <a:solidFill>
                  <a:srgbClr val="202429"/>
                </a:solidFill>
                <a:latin typeface="Calibri"/>
                <a:cs typeface="Calibri"/>
              </a:rPr>
              <a:t> </a:t>
            </a:r>
            <a:r>
              <a:rPr sz="2400" i="1" spc="-30">
                <a:solidFill>
                  <a:srgbClr val="202429"/>
                </a:solidFill>
                <a:latin typeface="Calibri"/>
                <a:cs typeface="Calibri"/>
              </a:rPr>
              <a:t>use</a:t>
            </a:r>
            <a:r>
              <a:rPr sz="2400" i="1" spc="25">
                <a:solidFill>
                  <a:srgbClr val="202429"/>
                </a:solidFill>
                <a:latin typeface="Calibri"/>
                <a:cs typeface="Calibri"/>
              </a:rPr>
              <a:t> </a:t>
            </a:r>
            <a:r>
              <a:rPr sz="2400" i="1" spc="55">
                <a:solidFill>
                  <a:srgbClr val="202429"/>
                </a:solidFill>
                <a:latin typeface="Calibri"/>
                <a:cs typeface="Calibri"/>
              </a:rPr>
              <a:t>AI</a:t>
            </a:r>
            <a:r>
              <a:rPr sz="2400" i="1" spc="25">
                <a:solidFill>
                  <a:srgbClr val="202429"/>
                </a:solidFill>
                <a:latin typeface="Calibri"/>
                <a:cs typeface="Calibri"/>
              </a:rPr>
              <a:t> </a:t>
            </a:r>
            <a:r>
              <a:rPr sz="2400" i="1">
                <a:solidFill>
                  <a:srgbClr val="202429"/>
                </a:solidFill>
                <a:latin typeface="Calibri"/>
                <a:cs typeface="Calibri"/>
              </a:rPr>
              <a:t>to</a:t>
            </a:r>
            <a:r>
              <a:rPr sz="2400" i="1" spc="25">
                <a:solidFill>
                  <a:srgbClr val="202429"/>
                </a:solidFill>
                <a:latin typeface="Calibri"/>
                <a:cs typeface="Calibri"/>
              </a:rPr>
              <a:t> </a:t>
            </a:r>
            <a:r>
              <a:rPr sz="2400" i="1" spc="-40">
                <a:solidFill>
                  <a:srgbClr val="202429"/>
                </a:solidFill>
                <a:latin typeface="Calibri"/>
                <a:cs typeface="Calibri"/>
              </a:rPr>
              <a:t>extract </a:t>
            </a:r>
            <a:r>
              <a:rPr sz="2400" i="1" spc="-65">
                <a:solidFill>
                  <a:srgbClr val="202429"/>
                </a:solidFill>
                <a:latin typeface="Calibri"/>
                <a:cs typeface="Calibri"/>
              </a:rPr>
              <a:t>actionable</a:t>
            </a:r>
            <a:r>
              <a:rPr sz="2400" i="1" spc="15">
                <a:solidFill>
                  <a:srgbClr val="202429"/>
                </a:solidFill>
                <a:latin typeface="Calibri"/>
                <a:cs typeface="Calibri"/>
              </a:rPr>
              <a:t> </a:t>
            </a:r>
            <a:r>
              <a:rPr sz="2400" i="1" spc="-60">
                <a:solidFill>
                  <a:srgbClr val="202429"/>
                </a:solidFill>
                <a:latin typeface="Calibri"/>
                <a:cs typeface="Calibri"/>
              </a:rPr>
              <a:t>safety</a:t>
            </a:r>
            <a:r>
              <a:rPr sz="2400" i="1" spc="15">
                <a:solidFill>
                  <a:srgbClr val="202429"/>
                </a:solidFill>
                <a:latin typeface="Calibri"/>
                <a:cs typeface="Calibri"/>
              </a:rPr>
              <a:t> </a:t>
            </a:r>
            <a:r>
              <a:rPr sz="2400" i="1" spc="-10">
                <a:solidFill>
                  <a:srgbClr val="202429"/>
                </a:solidFill>
                <a:latin typeface="Calibri"/>
                <a:cs typeface="Calibri"/>
              </a:rPr>
              <a:t>intelligence</a:t>
            </a:r>
            <a:endParaRPr sz="2400">
              <a:latin typeface="Calibri"/>
              <a:cs typeface="Calibri"/>
            </a:endParaRPr>
          </a:p>
          <a:p>
            <a:pPr marL="577850" marR="569595" indent="-41275" algn="ctr">
              <a:lnSpc>
                <a:spcPts val="2330"/>
              </a:lnSpc>
              <a:spcBef>
                <a:spcPts val="465"/>
              </a:spcBef>
            </a:pPr>
            <a:r>
              <a:rPr sz="2400" i="1" spc="-35">
                <a:solidFill>
                  <a:srgbClr val="202429"/>
                </a:solidFill>
                <a:latin typeface="Calibri"/>
                <a:cs typeface="Calibri"/>
              </a:rPr>
              <a:t>from</a:t>
            </a:r>
            <a:r>
              <a:rPr sz="2400" i="1" spc="-20">
                <a:solidFill>
                  <a:srgbClr val="202429"/>
                </a:solidFill>
                <a:latin typeface="Calibri"/>
                <a:cs typeface="Calibri"/>
              </a:rPr>
              <a:t> </a:t>
            </a:r>
            <a:r>
              <a:rPr sz="2400" i="1" spc="-65">
                <a:solidFill>
                  <a:srgbClr val="202429"/>
                </a:solidFill>
                <a:latin typeface="Calibri"/>
                <a:cs typeface="Calibri"/>
              </a:rPr>
              <a:t>hundreds</a:t>
            </a:r>
            <a:r>
              <a:rPr sz="2400" i="1" spc="-15">
                <a:solidFill>
                  <a:srgbClr val="202429"/>
                </a:solidFill>
                <a:latin typeface="Calibri"/>
                <a:cs typeface="Calibri"/>
              </a:rPr>
              <a:t> </a:t>
            </a:r>
            <a:r>
              <a:rPr sz="2400" i="1" spc="-25">
                <a:solidFill>
                  <a:srgbClr val="202429"/>
                </a:solidFill>
                <a:latin typeface="Calibri"/>
                <a:cs typeface="Calibri"/>
              </a:rPr>
              <a:t>of </a:t>
            </a:r>
            <a:r>
              <a:rPr sz="2400" i="1" spc="-55">
                <a:solidFill>
                  <a:srgbClr val="202429"/>
                </a:solidFill>
                <a:latin typeface="Calibri"/>
                <a:cs typeface="Calibri"/>
              </a:rPr>
              <a:t>unstructured</a:t>
            </a:r>
            <a:r>
              <a:rPr sz="2400" i="1" spc="55">
                <a:solidFill>
                  <a:srgbClr val="202429"/>
                </a:solidFill>
                <a:latin typeface="Calibri"/>
                <a:cs typeface="Calibri"/>
              </a:rPr>
              <a:t> </a:t>
            </a:r>
            <a:r>
              <a:rPr sz="2400" i="1" spc="-75">
                <a:solidFill>
                  <a:srgbClr val="202429"/>
                </a:solidFill>
                <a:latin typeface="Calibri"/>
                <a:cs typeface="Calibri"/>
              </a:rPr>
              <a:t>reports</a:t>
            </a:r>
            <a:endParaRPr sz="2400">
              <a:latin typeface="Calibri"/>
              <a:cs typeface="Calibri"/>
            </a:endParaRPr>
          </a:p>
          <a:p>
            <a:pPr algn="ctr">
              <a:lnSpc>
                <a:spcPts val="2810"/>
              </a:lnSpc>
            </a:pPr>
            <a:r>
              <a:rPr sz="2400" i="1" spc="65">
                <a:solidFill>
                  <a:srgbClr val="202429"/>
                </a:solidFill>
                <a:latin typeface="Calibri"/>
                <a:cs typeface="Calibri"/>
              </a:rPr>
              <a:t>— </a:t>
            </a:r>
            <a:r>
              <a:rPr sz="2400" i="1" spc="-60">
                <a:solidFill>
                  <a:srgbClr val="202429"/>
                </a:solidFill>
                <a:latin typeface="Calibri"/>
                <a:cs typeface="Calibri"/>
              </a:rPr>
              <a:t>responsibly</a:t>
            </a:r>
            <a:r>
              <a:rPr sz="2400" i="1" spc="65">
                <a:solidFill>
                  <a:srgbClr val="202429"/>
                </a:solidFill>
                <a:latin typeface="Calibri"/>
                <a:cs typeface="Calibri"/>
              </a:rPr>
              <a:t> </a:t>
            </a:r>
            <a:r>
              <a:rPr sz="2400" i="1" spc="-35">
                <a:solidFill>
                  <a:srgbClr val="202429"/>
                </a:solidFill>
                <a:latin typeface="Calibri"/>
                <a:cs typeface="Calibri"/>
              </a:rPr>
              <a:t>and</a:t>
            </a:r>
            <a:r>
              <a:rPr sz="2400" i="1" spc="65">
                <a:solidFill>
                  <a:srgbClr val="202429"/>
                </a:solidFill>
                <a:latin typeface="Calibri"/>
                <a:cs typeface="Calibri"/>
              </a:rPr>
              <a:t> </a:t>
            </a:r>
            <a:r>
              <a:rPr sz="2400" i="1" spc="-10">
                <a:solidFill>
                  <a:srgbClr val="202429"/>
                </a:solidFill>
                <a:latin typeface="Calibri"/>
                <a:cs typeface="Calibri"/>
              </a:rPr>
              <a:t>fairly?</a:t>
            </a:r>
            <a:endParaRPr sz="2400">
              <a:latin typeface="Calibri"/>
              <a:cs typeface="Calibri"/>
            </a:endParaRPr>
          </a:p>
        </p:txBody>
      </p:sp>
      <p:sp>
        <p:nvSpPr>
          <p:cNvPr id="3" name="object 3"/>
          <p:cNvSpPr/>
          <p:nvPr/>
        </p:nvSpPr>
        <p:spPr>
          <a:xfrm>
            <a:off x="2430005" y="2375979"/>
            <a:ext cx="900430" cy="0"/>
          </a:xfrm>
          <a:custGeom>
            <a:avLst/>
            <a:gdLst/>
            <a:ahLst/>
            <a:cxnLst/>
            <a:rect l="l" t="t" r="r" b="b"/>
            <a:pathLst>
              <a:path w="900429">
                <a:moveTo>
                  <a:pt x="0" y="0"/>
                </a:moveTo>
                <a:lnTo>
                  <a:pt x="899998" y="0"/>
                </a:lnTo>
              </a:path>
            </a:pathLst>
          </a:custGeom>
          <a:ln w="18978">
            <a:solidFill>
              <a:srgbClr val="005F73"/>
            </a:solidFill>
          </a:ln>
        </p:spPr>
        <p:txBody>
          <a:bodyPr wrap="square" lIns="0" tIns="0" rIns="0" bIns="0" rtlCol="0"/>
          <a:lstStyle/>
          <a:p>
            <a:endParaRPr/>
          </a:p>
        </p:txBody>
      </p:sp>
      <p:sp>
        <p:nvSpPr>
          <p:cNvPr id="4" name="object 4"/>
          <p:cNvSpPr/>
          <p:nvPr/>
        </p:nvSpPr>
        <p:spPr>
          <a:xfrm>
            <a:off x="0" y="3060028"/>
            <a:ext cx="5760085" cy="0"/>
          </a:xfrm>
          <a:custGeom>
            <a:avLst/>
            <a:gdLst/>
            <a:ahLst/>
            <a:cxnLst/>
            <a:rect l="l" t="t" r="r" b="b"/>
            <a:pathLst>
              <a:path w="5760085">
                <a:moveTo>
                  <a:pt x="0" y="0"/>
                </a:moveTo>
                <a:lnTo>
                  <a:pt x="5760073" y="0"/>
                </a:lnTo>
              </a:path>
            </a:pathLst>
          </a:custGeom>
          <a:ln w="6326">
            <a:solidFill>
              <a:srgbClr val="CED3DA"/>
            </a:solidFill>
          </a:ln>
        </p:spPr>
        <p:txBody>
          <a:bodyPr wrap="square" lIns="0" tIns="0" rIns="0" bIns="0" rtlCol="0"/>
          <a:lstStyle/>
          <a:p>
            <a:endParaRPr/>
          </a:p>
        </p:txBody>
      </p:sp>
      <p:sp>
        <p:nvSpPr>
          <p:cNvPr id="7" name="Slide Number Placeholder 6">
            <a:extLst>
              <a:ext uri="{FF2B5EF4-FFF2-40B4-BE49-F238E27FC236}">
                <a16:creationId xmlns:a16="http://schemas.microsoft.com/office/drawing/2014/main" id="{3D953E9D-0688-6E4D-8B31-399FEC225D1D}"/>
              </a:ext>
            </a:extLst>
          </p:cNvPr>
          <p:cNvSpPr>
            <a:spLocks noGrp="1"/>
          </p:cNvSpPr>
          <p:nvPr>
            <p:ph type="sldNum" sz="quarter" idx="7"/>
          </p:nvPr>
        </p:nvSpPr>
        <p:spPr>
          <a:xfrm>
            <a:off x="5393690" y="3060028"/>
            <a:ext cx="366395" cy="173989"/>
          </a:xfrm>
        </p:spPr>
        <p:txBody>
          <a:bodyPr/>
          <a:lstStyle/>
          <a:p>
            <a:pPr marL="39370">
              <a:lnSpc>
                <a:spcPct val="100000"/>
              </a:lnSpc>
              <a:spcBef>
                <a:spcPts val="219"/>
              </a:spcBef>
            </a:pPr>
            <a:fld id="{81D60167-4931-47E6-BA6A-407CBD079E47}" type="slidenum">
              <a:rPr lang="en-GB" smtClean="0"/>
              <a:t>5</a:t>
            </a:fld>
            <a:r>
              <a:rPr lang="en-GB" spc="20"/>
              <a:t> </a:t>
            </a:r>
            <a:r>
              <a:rPr lang="en-GB" spc="120"/>
              <a:t>/</a:t>
            </a:r>
            <a:r>
              <a:rPr lang="en-GB" spc="25"/>
              <a:t> </a:t>
            </a:r>
            <a:r>
              <a:rPr lang="en-GB" spc="-25"/>
              <a:t>41</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A8EB98-8C11-67B2-2BD2-6F66D703A265}"/>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ADF8DDCA-EBEC-190A-CD66-22966305899D}"/>
              </a:ext>
            </a:extLst>
          </p:cNvPr>
          <p:cNvSpPr txBox="1"/>
          <p:nvPr/>
        </p:nvSpPr>
        <p:spPr>
          <a:xfrm>
            <a:off x="2239657" y="1131437"/>
            <a:ext cx="2433320" cy="502061"/>
          </a:xfrm>
          <a:prstGeom prst="rect">
            <a:avLst/>
          </a:prstGeom>
        </p:spPr>
        <p:txBody>
          <a:bodyPr vert="horz" wrap="square" lIns="0" tIns="17145" rIns="0" bIns="0" rtlCol="0">
            <a:spAutoFit/>
          </a:bodyPr>
          <a:lstStyle/>
          <a:p>
            <a:pPr marL="12700">
              <a:lnSpc>
                <a:spcPct val="100000"/>
              </a:lnSpc>
              <a:spcBef>
                <a:spcPts val="135"/>
              </a:spcBef>
            </a:pPr>
            <a:r>
              <a:rPr sz="3150" b="1">
                <a:solidFill>
                  <a:srgbClr val="202429"/>
                </a:solidFill>
                <a:latin typeface="Arial"/>
                <a:cs typeface="Arial"/>
              </a:rPr>
              <a:t>The</a:t>
            </a:r>
            <a:r>
              <a:rPr sz="3150" b="1" spc="400">
                <a:solidFill>
                  <a:srgbClr val="202429"/>
                </a:solidFill>
                <a:latin typeface="Arial"/>
                <a:cs typeface="Arial"/>
              </a:rPr>
              <a:t> </a:t>
            </a:r>
            <a:r>
              <a:rPr lang="en-GB" sz="3150" b="1" spc="-130">
                <a:solidFill>
                  <a:srgbClr val="202429"/>
                </a:solidFill>
                <a:latin typeface="Arial"/>
                <a:cs typeface="Arial"/>
              </a:rPr>
              <a:t>Methods </a:t>
            </a:r>
            <a:endParaRPr sz="3150">
              <a:latin typeface="Arial"/>
              <a:cs typeface="Arial"/>
            </a:endParaRPr>
          </a:p>
        </p:txBody>
      </p:sp>
      <p:sp>
        <p:nvSpPr>
          <p:cNvPr id="4" name="object 4">
            <a:extLst>
              <a:ext uri="{FF2B5EF4-FFF2-40B4-BE49-F238E27FC236}">
                <a16:creationId xmlns:a16="http://schemas.microsoft.com/office/drawing/2014/main" id="{B7096BB4-F82A-0B62-03BD-4B851666AA6F}"/>
              </a:ext>
            </a:extLst>
          </p:cNvPr>
          <p:cNvSpPr/>
          <p:nvPr/>
        </p:nvSpPr>
        <p:spPr>
          <a:xfrm>
            <a:off x="2252357" y="1794738"/>
            <a:ext cx="900430" cy="0"/>
          </a:xfrm>
          <a:custGeom>
            <a:avLst/>
            <a:gdLst/>
            <a:ahLst/>
            <a:cxnLst/>
            <a:rect l="l" t="t" r="r" b="b"/>
            <a:pathLst>
              <a:path w="900430">
                <a:moveTo>
                  <a:pt x="0" y="0"/>
                </a:moveTo>
                <a:lnTo>
                  <a:pt x="900010" y="0"/>
                </a:lnTo>
              </a:path>
            </a:pathLst>
          </a:custGeom>
          <a:ln w="18978">
            <a:solidFill>
              <a:srgbClr val="005F73"/>
            </a:solidFill>
          </a:ln>
        </p:spPr>
        <p:txBody>
          <a:bodyPr wrap="square" lIns="0" tIns="0" rIns="0" bIns="0" rtlCol="0"/>
          <a:lstStyle/>
          <a:p>
            <a:endParaRPr/>
          </a:p>
        </p:txBody>
      </p:sp>
      <p:sp>
        <p:nvSpPr>
          <p:cNvPr id="2" name="object 2" descr="$PPTXTitle">
            <a:extLst>
              <a:ext uri="{FF2B5EF4-FFF2-40B4-BE49-F238E27FC236}">
                <a16:creationId xmlns:a16="http://schemas.microsoft.com/office/drawing/2014/main" id="{2D2883E6-90F7-19A4-36B6-9408F067D5E5}"/>
              </a:ext>
            </a:extLst>
          </p:cNvPr>
          <p:cNvSpPr txBox="1">
            <a:spLocks noGrp="1"/>
          </p:cNvSpPr>
          <p:nvPr>
            <p:ph type="title"/>
          </p:nvPr>
        </p:nvSpPr>
        <p:spPr>
          <a:xfrm>
            <a:off x="444500" y="936625"/>
            <a:ext cx="914400" cy="993221"/>
          </a:xfrm>
          <a:prstGeom prst="rect">
            <a:avLst/>
          </a:prstGeom>
        </p:spPr>
        <p:txBody>
          <a:bodyPr vert="horz" wrap="square" lIns="0" tIns="15875" rIns="0" bIns="0" rtlCol="0">
            <a:spAutoFit/>
          </a:bodyPr>
          <a:lstStyle/>
          <a:p>
            <a:pPr marL="12700">
              <a:lnSpc>
                <a:spcPct val="100000"/>
              </a:lnSpc>
              <a:spcBef>
                <a:spcPts val="125"/>
              </a:spcBef>
            </a:pPr>
            <a:r>
              <a:rPr lang="en-GB" sz="6350" spc="-150">
                <a:solidFill>
                  <a:srgbClr val="FFFFFF"/>
                </a:solidFill>
              </a:rPr>
              <a:t>01</a:t>
            </a:r>
            <a:endParaRPr lang="en-GB" sz="6350"/>
          </a:p>
        </p:txBody>
      </p:sp>
      <p:sp>
        <p:nvSpPr>
          <p:cNvPr id="7" name="TextBox 6">
            <a:extLst>
              <a:ext uri="{FF2B5EF4-FFF2-40B4-BE49-F238E27FC236}">
                <a16:creationId xmlns:a16="http://schemas.microsoft.com/office/drawing/2014/main" id="{F6659014-FBF5-E446-5D53-7A6C81B94DAF}"/>
              </a:ext>
            </a:extLst>
          </p:cNvPr>
          <p:cNvSpPr txBox="1"/>
          <p:nvPr/>
        </p:nvSpPr>
        <p:spPr>
          <a:xfrm>
            <a:off x="2207907" y="1794738"/>
            <a:ext cx="3276600" cy="246221"/>
          </a:xfrm>
          <a:prstGeom prst="rect">
            <a:avLst/>
          </a:prstGeom>
          <a:noFill/>
        </p:spPr>
        <p:txBody>
          <a:bodyPr wrap="square">
            <a:spAutoFit/>
          </a:bodyPr>
          <a:lstStyle/>
          <a:p>
            <a:pPr>
              <a:buNone/>
            </a:pPr>
            <a:r>
              <a:rPr lang="en-GB" sz="1000">
                <a:solidFill>
                  <a:schemeClr val="bg1">
                    <a:lumMod val="65000"/>
                  </a:schemeClr>
                </a:solidFill>
              </a:rPr>
              <a:t>How we built and tested the AI models</a:t>
            </a:r>
          </a:p>
        </p:txBody>
      </p:sp>
    </p:spTree>
    <p:extLst>
      <p:ext uri="{BB962C8B-B14F-4D97-AF65-F5344CB8AC3E}">
        <p14:creationId xmlns:p14="http://schemas.microsoft.com/office/powerpoint/2010/main" val="29719061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91097" rIns="0" bIns="0" rtlCol="0">
            <a:spAutoFit/>
          </a:bodyPr>
          <a:lstStyle/>
          <a:p>
            <a:pPr marL="99060">
              <a:lnSpc>
                <a:spcPct val="100000"/>
              </a:lnSpc>
              <a:spcBef>
                <a:spcPts val="390"/>
              </a:spcBef>
            </a:pPr>
            <a:r>
              <a:rPr spc="50"/>
              <a:t>What</a:t>
            </a:r>
            <a:r>
              <a:rPr spc="20"/>
              <a:t> </a:t>
            </a:r>
            <a:r>
              <a:rPr spc="-10"/>
              <a:t>is</a:t>
            </a:r>
            <a:r>
              <a:rPr spc="15"/>
              <a:t> </a:t>
            </a:r>
            <a:r>
              <a:t>Concept</a:t>
            </a:r>
            <a:r>
              <a:rPr spc="20"/>
              <a:t> </a:t>
            </a:r>
            <a:r>
              <a:rPr spc="-10"/>
              <a:t>Annotation?</a:t>
            </a:r>
          </a:p>
          <a:p>
            <a:pPr marL="99060">
              <a:lnSpc>
                <a:spcPct val="100000"/>
              </a:lnSpc>
              <a:spcBef>
                <a:spcPts val="195"/>
              </a:spcBef>
            </a:pPr>
            <a:r>
              <a:rPr sz="1100" b="0" spc="-20">
                <a:solidFill>
                  <a:srgbClr val="6C757C"/>
                </a:solidFill>
                <a:latin typeface="Tahoma"/>
                <a:cs typeface="Tahoma"/>
              </a:rPr>
              <a:t>Extracting </a:t>
            </a:r>
            <a:r>
              <a:rPr sz="1100" b="0" spc="-55">
                <a:solidFill>
                  <a:srgbClr val="6C757C"/>
                </a:solidFill>
                <a:latin typeface="Tahoma"/>
                <a:cs typeface="Tahoma"/>
              </a:rPr>
              <a:t>human</a:t>
            </a:r>
            <a:r>
              <a:rPr sz="1100" b="0" spc="-15">
                <a:solidFill>
                  <a:srgbClr val="6C757C"/>
                </a:solidFill>
                <a:latin typeface="Tahoma"/>
                <a:cs typeface="Tahoma"/>
              </a:rPr>
              <a:t> </a:t>
            </a:r>
            <a:r>
              <a:rPr sz="1100" b="0" spc="-30">
                <a:solidFill>
                  <a:srgbClr val="6C757C"/>
                </a:solidFill>
                <a:latin typeface="Tahoma"/>
                <a:cs typeface="Tahoma"/>
              </a:rPr>
              <a:t>factors</a:t>
            </a:r>
            <a:r>
              <a:rPr sz="1100" b="0" spc="-15">
                <a:solidFill>
                  <a:srgbClr val="6C757C"/>
                </a:solidFill>
                <a:latin typeface="Tahoma"/>
                <a:cs typeface="Tahoma"/>
              </a:rPr>
              <a:t> </a:t>
            </a:r>
            <a:r>
              <a:rPr sz="1100" b="0" spc="-20">
                <a:solidFill>
                  <a:srgbClr val="6C757C"/>
                </a:solidFill>
                <a:latin typeface="Tahoma"/>
                <a:cs typeface="Tahoma"/>
              </a:rPr>
              <a:t>from</a:t>
            </a:r>
            <a:r>
              <a:rPr sz="1100" b="0" spc="-10">
                <a:solidFill>
                  <a:srgbClr val="6C757C"/>
                </a:solidFill>
                <a:latin typeface="Tahoma"/>
                <a:cs typeface="Tahoma"/>
              </a:rPr>
              <a:t> </a:t>
            </a:r>
            <a:r>
              <a:rPr sz="1100" b="0" spc="-35">
                <a:solidFill>
                  <a:srgbClr val="6C757C"/>
                </a:solidFill>
                <a:latin typeface="Tahoma"/>
                <a:cs typeface="Tahoma"/>
              </a:rPr>
              <a:t>investigation</a:t>
            </a:r>
            <a:r>
              <a:rPr sz="1100" b="0" spc="-15">
                <a:solidFill>
                  <a:srgbClr val="6C757C"/>
                </a:solidFill>
                <a:latin typeface="Tahoma"/>
                <a:cs typeface="Tahoma"/>
              </a:rPr>
              <a:t> </a:t>
            </a:r>
            <a:r>
              <a:rPr sz="1100" b="0" spc="-20">
                <a:solidFill>
                  <a:srgbClr val="6C757C"/>
                </a:solidFill>
                <a:latin typeface="Tahoma"/>
                <a:cs typeface="Tahoma"/>
              </a:rPr>
              <a:t>text</a:t>
            </a:r>
            <a:endParaRPr sz="1100">
              <a:latin typeface="Tahoma"/>
              <a:cs typeface="Tahoma"/>
            </a:endParaRPr>
          </a:p>
        </p:txBody>
      </p:sp>
      <p:sp>
        <p:nvSpPr>
          <p:cNvPr id="3" name="object 3"/>
          <p:cNvSpPr/>
          <p:nvPr/>
        </p:nvSpPr>
        <p:spPr>
          <a:xfrm>
            <a:off x="359994" y="645299"/>
            <a:ext cx="900430" cy="0"/>
          </a:xfrm>
          <a:custGeom>
            <a:avLst/>
            <a:gdLst/>
            <a:ahLst/>
            <a:cxnLst/>
            <a:rect l="l" t="t" r="r" b="b"/>
            <a:pathLst>
              <a:path w="900430">
                <a:moveTo>
                  <a:pt x="0" y="0"/>
                </a:moveTo>
                <a:lnTo>
                  <a:pt x="900010" y="0"/>
                </a:lnTo>
              </a:path>
            </a:pathLst>
          </a:custGeom>
          <a:ln w="18978">
            <a:solidFill>
              <a:srgbClr val="005F73"/>
            </a:solidFill>
          </a:ln>
        </p:spPr>
        <p:txBody>
          <a:bodyPr wrap="square" lIns="0" tIns="0" rIns="0" bIns="0" rtlCol="0"/>
          <a:lstStyle/>
          <a:p>
            <a:endParaRPr/>
          </a:p>
        </p:txBody>
      </p:sp>
      <p:sp>
        <p:nvSpPr>
          <p:cNvPr id="4" name="object 4"/>
          <p:cNvSpPr txBox="1"/>
          <p:nvPr/>
        </p:nvSpPr>
        <p:spPr>
          <a:xfrm>
            <a:off x="142100" y="788522"/>
            <a:ext cx="1490980" cy="177800"/>
          </a:xfrm>
          <a:prstGeom prst="rect">
            <a:avLst/>
          </a:prstGeom>
        </p:spPr>
        <p:txBody>
          <a:bodyPr vert="horz" wrap="square" lIns="0" tIns="12065" rIns="0" bIns="0" rtlCol="0">
            <a:spAutoFit/>
          </a:bodyPr>
          <a:lstStyle/>
          <a:p>
            <a:pPr marL="12700">
              <a:lnSpc>
                <a:spcPct val="100000"/>
              </a:lnSpc>
              <a:spcBef>
                <a:spcPts val="95"/>
              </a:spcBef>
            </a:pPr>
            <a:r>
              <a:rPr sz="1000" b="1">
                <a:solidFill>
                  <a:srgbClr val="202429"/>
                </a:solidFill>
                <a:latin typeface="Arial"/>
                <a:cs typeface="Arial"/>
              </a:rPr>
              <a:t>Step</a:t>
            </a:r>
            <a:r>
              <a:rPr sz="1000" b="1" spc="10">
                <a:solidFill>
                  <a:srgbClr val="202429"/>
                </a:solidFill>
                <a:latin typeface="Arial"/>
                <a:cs typeface="Arial"/>
              </a:rPr>
              <a:t> </a:t>
            </a:r>
            <a:r>
              <a:rPr sz="1000" b="1">
                <a:solidFill>
                  <a:srgbClr val="202429"/>
                </a:solidFill>
                <a:latin typeface="Arial"/>
                <a:cs typeface="Arial"/>
              </a:rPr>
              <a:t>1</a:t>
            </a:r>
            <a:r>
              <a:rPr sz="1000" b="1" spc="20">
                <a:solidFill>
                  <a:srgbClr val="202429"/>
                </a:solidFill>
                <a:latin typeface="Arial"/>
                <a:cs typeface="Arial"/>
              </a:rPr>
              <a:t> </a:t>
            </a:r>
            <a:r>
              <a:rPr sz="1000" spc="-114">
                <a:solidFill>
                  <a:srgbClr val="6C757C"/>
                </a:solidFill>
                <a:latin typeface="Tahoma"/>
                <a:cs typeface="Tahoma"/>
              </a:rPr>
              <a:t>|</a:t>
            </a:r>
            <a:r>
              <a:rPr sz="1000" spc="15">
                <a:solidFill>
                  <a:srgbClr val="6C757C"/>
                </a:solidFill>
                <a:latin typeface="Tahoma"/>
                <a:cs typeface="Tahoma"/>
              </a:rPr>
              <a:t> </a:t>
            </a:r>
            <a:r>
              <a:rPr sz="1000" spc="-35">
                <a:solidFill>
                  <a:srgbClr val="6C757C"/>
                </a:solidFill>
                <a:latin typeface="Tahoma"/>
                <a:cs typeface="Tahoma"/>
              </a:rPr>
              <a:t>Read</a:t>
            </a:r>
            <a:r>
              <a:rPr sz="1000" spc="-15">
                <a:solidFill>
                  <a:srgbClr val="6C757C"/>
                </a:solidFill>
                <a:latin typeface="Tahoma"/>
                <a:cs typeface="Tahoma"/>
              </a:rPr>
              <a:t> </a:t>
            </a:r>
            <a:r>
              <a:rPr sz="1000" spc="-20">
                <a:solidFill>
                  <a:srgbClr val="6C757C"/>
                </a:solidFill>
                <a:latin typeface="Tahoma"/>
                <a:cs typeface="Tahoma"/>
              </a:rPr>
              <a:t>the </a:t>
            </a:r>
            <a:r>
              <a:rPr sz="1000" spc="-45">
                <a:solidFill>
                  <a:srgbClr val="6C757C"/>
                </a:solidFill>
                <a:latin typeface="Tahoma"/>
                <a:cs typeface="Tahoma"/>
              </a:rPr>
              <a:t>sentence</a:t>
            </a:r>
            <a:endParaRPr sz="1000">
              <a:latin typeface="Tahoma"/>
              <a:cs typeface="Tahoma"/>
            </a:endParaRPr>
          </a:p>
        </p:txBody>
      </p:sp>
      <p:sp>
        <p:nvSpPr>
          <p:cNvPr id="5" name="object 5"/>
          <p:cNvSpPr txBox="1"/>
          <p:nvPr/>
        </p:nvSpPr>
        <p:spPr>
          <a:xfrm>
            <a:off x="197815" y="1014915"/>
            <a:ext cx="915035" cy="419100"/>
          </a:xfrm>
          <a:prstGeom prst="rect">
            <a:avLst/>
          </a:prstGeom>
        </p:spPr>
        <p:txBody>
          <a:bodyPr vert="horz" wrap="square" lIns="0" tIns="65405" rIns="0" bIns="0" rtlCol="0">
            <a:spAutoFit/>
          </a:bodyPr>
          <a:lstStyle/>
          <a:p>
            <a:pPr>
              <a:lnSpc>
                <a:spcPct val="100000"/>
              </a:lnSpc>
              <a:spcBef>
                <a:spcPts val="515"/>
              </a:spcBef>
            </a:pPr>
            <a:r>
              <a:rPr sz="800" spc="-10">
                <a:solidFill>
                  <a:srgbClr val="6C757C"/>
                </a:solidFill>
                <a:latin typeface="Tahoma"/>
                <a:cs typeface="Tahoma"/>
              </a:rPr>
              <a:t>Investigation</a:t>
            </a:r>
            <a:r>
              <a:rPr sz="800" spc="-40">
                <a:solidFill>
                  <a:srgbClr val="6C757C"/>
                </a:solidFill>
                <a:latin typeface="Tahoma"/>
                <a:cs typeface="Tahoma"/>
              </a:rPr>
              <a:t> </a:t>
            </a:r>
            <a:r>
              <a:rPr sz="800" spc="-10">
                <a:solidFill>
                  <a:srgbClr val="6C757C"/>
                </a:solidFill>
                <a:latin typeface="Tahoma"/>
                <a:cs typeface="Tahoma"/>
              </a:rPr>
              <a:t>report:</a:t>
            </a:r>
            <a:endParaRPr sz="800">
              <a:latin typeface="Tahoma"/>
              <a:cs typeface="Tahoma"/>
            </a:endParaRPr>
          </a:p>
          <a:p>
            <a:pPr>
              <a:lnSpc>
                <a:spcPct val="100000"/>
              </a:lnSpc>
              <a:spcBef>
                <a:spcPts val="525"/>
              </a:spcBef>
            </a:pPr>
            <a:r>
              <a:rPr sz="1000" spc="-20">
                <a:solidFill>
                  <a:srgbClr val="202429"/>
                </a:solidFill>
                <a:latin typeface="Tahoma"/>
                <a:cs typeface="Tahoma"/>
              </a:rPr>
              <a:t>“The</a:t>
            </a:r>
            <a:endParaRPr sz="1000">
              <a:latin typeface="Tahoma"/>
              <a:cs typeface="Tahoma"/>
            </a:endParaRPr>
          </a:p>
        </p:txBody>
      </p:sp>
      <p:sp>
        <p:nvSpPr>
          <p:cNvPr id="6" name="object 6"/>
          <p:cNvSpPr txBox="1"/>
          <p:nvPr/>
        </p:nvSpPr>
        <p:spPr>
          <a:xfrm>
            <a:off x="785101" y="1270139"/>
            <a:ext cx="926465" cy="163830"/>
          </a:xfrm>
          <a:prstGeom prst="rect">
            <a:avLst/>
          </a:prstGeom>
          <a:solidFill>
            <a:srgbClr val="B9E5FA"/>
          </a:solidFill>
        </p:spPr>
        <p:txBody>
          <a:bodyPr vert="horz" wrap="square" lIns="0" tIns="0" rIns="0" bIns="0" rtlCol="0">
            <a:spAutoFit/>
          </a:bodyPr>
          <a:lstStyle/>
          <a:p>
            <a:pPr marL="37465">
              <a:lnSpc>
                <a:spcPts val="1190"/>
              </a:lnSpc>
            </a:pPr>
            <a:r>
              <a:rPr sz="1000" b="1" spc="-35">
                <a:solidFill>
                  <a:srgbClr val="202429"/>
                </a:solidFill>
                <a:latin typeface="Arial"/>
                <a:cs typeface="Arial"/>
              </a:rPr>
              <a:t>abnormal</a:t>
            </a:r>
            <a:r>
              <a:rPr sz="1000" b="1">
                <a:solidFill>
                  <a:srgbClr val="202429"/>
                </a:solidFill>
                <a:latin typeface="Arial"/>
                <a:cs typeface="Arial"/>
              </a:rPr>
              <a:t> </a:t>
            </a:r>
            <a:r>
              <a:rPr sz="1000" b="1" spc="-25">
                <a:solidFill>
                  <a:srgbClr val="202429"/>
                </a:solidFill>
                <a:latin typeface="Arial"/>
                <a:cs typeface="Arial"/>
              </a:rPr>
              <a:t>CTG</a:t>
            </a:r>
            <a:endParaRPr sz="1000">
              <a:latin typeface="Arial"/>
              <a:cs typeface="Arial"/>
            </a:endParaRPr>
          </a:p>
        </p:txBody>
      </p:sp>
      <p:sp>
        <p:nvSpPr>
          <p:cNvPr id="7" name="object 7"/>
          <p:cNvSpPr txBox="1"/>
          <p:nvPr/>
        </p:nvSpPr>
        <p:spPr>
          <a:xfrm>
            <a:off x="2031390" y="1256746"/>
            <a:ext cx="699770" cy="177800"/>
          </a:xfrm>
          <a:prstGeom prst="rect">
            <a:avLst/>
          </a:prstGeom>
        </p:spPr>
        <p:txBody>
          <a:bodyPr vert="horz" wrap="square" lIns="0" tIns="12065" rIns="0" bIns="0" rtlCol="0">
            <a:spAutoFit/>
          </a:bodyPr>
          <a:lstStyle/>
          <a:p>
            <a:pPr>
              <a:lnSpc>
                <a:spcPct val="100000"/>
              </a:lnSpc>
              <a:spcBef>
                <a:spcPts val="95"/>
              </a:spcBef>
              <a:tabLst>
                <a:tab pos="511809" algn="l"/>
              </a:tabLst>
            </a:pPr>
            <a:r>
              <a:rPr sz="1000" spc="-25">
                <a:solidFill>
                  <a:srgbClr val="202429"/>
                </a:solidFill>
                <a:latin typeface="Tahoma"/>
                <a:cs typeface="Tahoma"/>
              </a:rPr>
              <a:t>was</a:t>
            </a:r>
            <a:r>
              <a:rPr sz="1000">
                <a:solidFill>
                  <a:srgbClr val="202429"/>
                </a:solidFill>
                <a:latin typeface="Tahoma"/>
                <a:cs typeface="Tahoma"/>
              </a:rPr>
              <a:t>	</a:t>
            </a:r>
            <a:r>
              <a:rPr sz="1000" spc="-25">
                <a:solidFill>
                  <a:srgbClr val="202429"/>
                </a:solidFill>
                <a:latin typeface="Tahoma"/>
                <a:cs typeface="Tahoma"/>
              </a:rPr>
              <a:t>not</a:t>
            </a:r>
            <a:endParaRPr sz="1000">
              <a:latin typeface="Tahoma"/>
              <a:cs typeface="Tahoma"/>
            </a:endParaRPr>
          </a:p>
        </p:txBody>
      </p:sp>
      <p:grpSp>
        <p:nvGrpSpPr>
          <p:cNvPr id="8" name="object 8"/>
          <p:cNvGrpSpPr/>
          <p:nvPr/>
        </p:nvGrpSpPr>
        <p:grpSpPr>
          <a:xfrm>
            <a:off x="154797" y="1027452"/>
            <a:ext cx="2606040" cy="1032510"/>
            <a:chOff x="154797" y="1027452"/>
            <a:chExt cx="2606040" cy="1032510"/>
          </a:xfrm>
        </p:grpSpPr>
        <p:sp>
          <p:nvSpPr>
            <p:cNvPr id="9" name="object 9"/>
            <p:cNvSpPr/>
            <p:nvPr/>
          </p:nvSpPr>
          <p:spPr>
            <a:xfrm>
              <a:off x="197815" y="1614296"/>
              <a:ext cx="1932305" cy="163830"/>
            </a:xfrm>
            <a:custGeom>
              <a:avLst/>
              <a:gdLst/>
              <a:ahLst/>
              <a:cxnLst/>
              <a:rect l="l" t="t" r="r" b="b"/>
              <a:pathLst>
                <a:path w="1932305" h="163830">
                  <a:moveTo>
                    <a:pt x="1932177" y="0"/>
                  </a:moveTo>
                  <a:lnTo>
                    <a:pt x="0" y="0"/>
                  </a:lnTo>
                  <a:lnTo>
                    <a:pt x="0" y="163779"/>
                  </a:lnTo>
                  <a:lnTo>
                    <a:pt x="1932177" y="163779"/>
                  </a:lnTo>
                  <a:lnTo>
                    <a:pt x="1932177" y="0"/>
                  </a:lnTo>
                  <a:close/>
                </a:path>
              </a:pathLst>
            </a:custGeom>
            <a:solidFill>
              <a:srgbClr val="FFD8B2"/>
            </a:solidFill>
          </p:spPr>
          <p:txBody>
            <a:bodyPr wrap="square" lIns="0" tIns="0" rIns="0" bIns="0" rtlCol="0"/>
            <a:lstStyle/>
            <a:p>
              <a:endParaRPr/>
            </a:p>
          </p:txBody>
        </p:sp>
        <p:sp>
          <p:nvSpPr>
            <p:cNvPr id="10" name="object 10"/>
            <p:cNvSpPr/>
            <p:nvPr/>
          </p:nvSpPr>
          <p:spPr>
            <a:xfrm>
              <a:off x="691959" y="1786369"/>
              <a:ext cx="896619" cy="188595"/>
            </a:xfrm>
            <a:custGeom>
              <a:avLst/>
              <a:gdLst/>
              <a:ahLst/>
              <a:cxnLst/>
              <a:rect l="l" t="t" r="r" b="b"/>
              <a:pathLst>
                <a:path w="896619" h="188594">
                  <a:moveTo>
                    <a:pt x="896569" y="0"/>
                  </a:moveTo>
                  <a:lnTo>
                    <a:pt x="0" y="0"/>
                  </a:lnTo>
                  <a:lnTo>
                    <a:pt x="0" y="188379"/>
                  </a:lnTo>
                  <a:lnTo>
                    <a:pt x="896569" y="188379"/>
                  </a:lnTo>
                  <a:lnTo>
                    <a:pt x="896569" y="0"/>
                  </a:lnTo>
                  <a:close/>
                </a:path>
              </a:pathLst>
            </a:custGeom>
            <a:solidFill>
              <a:srgbClr val="DFBFDF"/>
            </a:solidFill>
          </p:spPr>
          <p:txBody>
            <a:bodyPr wrap="square" lIns="0" tIns="0" rIns="0" bIns="0" rtlCol="0"/>
            <a:lstStyle/>
            <a:p>
              <a:endParaRPr/>
            </a:p>
          </p:txBody>
        </p:sp>
        <p:sp>
          <p:nvSpPr>
            <p:cNvPr id="11" name="object 11"/>
            <p:cNvSpPr/>
            <p:nvPr/>
          </p:nvSpPr>
          <p:spPr>
            <a:xfrm>
              <a:off x="154800" y="1029982"/>
              <a:ext cx="2606040" cy="1027430"/>
            </a:xfrm>
            <a:custGeom>
              <a:avLst/>
              <a:gdLst/>
              <a:ahLst/>
              <a:cxnLst/>
              <a:rect l="l" t="t" r="r" b="b"/>
              <a:pathLst>
                <a:path w="2606040" h="1027430">
                  <a:moveTo>
                    <a:pt x="0" y="0"/>
                  </a:moveTo>
                  <a:lnTo>
                    <a:pt x="2606027" y="0"/>
                  </a:lnTo>
                </a:path>
                <a:path w="2606040" h="1027430">
                  <a:moveTo>
                    <a:pt x="2527" y="1026820"/>
                  </a:moveTo>
                  <a:lnTo>
                    <a:pt x="2527" y="0"/>
                  </a:lnTo>
                </a:path>
                <a:path w="2606040" h="1027430">
                  <a:moveTo>
                    <a:pt x="2603500" y="1026820"/>
                  </a:moveTo>
                  <a:lnTo>
                    <a:pt x="2603500" y="0"/>
                  </a:lnTo>
                </a:path>
                <a:path w="2606040" h="1027430">
                  <a:moveTo>
                    <a:pt x="0" y="1026820"/>
                  </a:moveTo>
                  <a:lnTo>
                    <a:pt x="2606027" y="1026820"/>
                  </a:lnTo>
                </a:path>
              </a:pathLst>
            </a:custGeom>
            <a:ln w="5060">
              <a:solidFill>
                <a:srgbClr val="CED3DA"/>
              </a:solidFill>
            </a:ln>
          </p:spPr>
          <p:txBody>
            <a:bodyPr wrap="square" lIns="0" tIns="0" rIns="0" bIns="0" rtlCol="0"/>
            <a:lstStyle/>
            <a:p>
              <a:endParaRPr/>
            </a:p>
          </p:txBody>
        </p:sp>
      </p:grpSp>
      <p:sp>
        <p:nvSpPr>
          <p:cNvPr id="12" name="object 12"/>
          <p:cNvSpPr txBox="1"/>
          <p:nvPr/>
        </p:nvSpPr>
        <p:spPr>
          <a:xfrm>
            <a:off x="142100" y="1408576"/>
            <a:ext cx="2588895" cy="878205"/>
          </a:xfrm>
          <a:prstGeom prst="rect">
            <a:avLst/>
          </a:prstGeom>
        </p:spPr>
        <p:txBody>
          <a:bodyPr vert="horz" wrap="square" lIns="0" tIns="12700" rIns="0" bIns="0" rtlCol="0">
            <a:spAutoFit/>
          </a:bodyPr>
          <a:lstStyle/>
          <a:p>
            <a:pPr marL="55244" marR="5080" algn="just">
              <a:lnSpc>
                <a:spcPct val="112900"/>
              </a:lnSpc>
              <a:spcBef>
                <a:spcPts val="100"/>
              </a:spcBef>
              <a:tabLst>
                <a:tab pos="2441575" algn="l"/>
              </a:tabLst>
            </a:pPr>
            <a:r>
              <a:rPr sz="1000">
                <a:solidFill>
                  <a:srgbClr val="202429"/>
                </a:solidFill>
                <a:latin typeface="Tahoma"/>
                <a:cs typeface="Tahoma"/>
              </a:rPr>
              <a:t>recognised</a:t>
            </a:r>
            <a:r>
              <a:rPr sz="1000" spc="315">
                <a:solidFill>
                  <a:srgbClr val="202429"/>
                </a:solidFill>
                <a:latin typeface="Tahoma"/>
                <a:cs typeface="Tahoma"/>
              </a:rPr>
              <a:t>   </a:t>
            </a:r>
            <a:r>
              <a:rPr sz="1000">
                <a:solidFill>
                  <a:srgbClr val="202429"/>
                </a:solidFill>
                <a:latin typeface="Tahoma"/>
                <a:cs typeface="Tahoma"/>
              </a:rPr>
              <a:t>and</a:t>
            </a:r>
            <a:r>
              <a:rPr sz="1000" spc="320">
                <a:solidFill>
                  <a:srgbClr val="202429"/>
                </a:solidFill>
                <a:latin typeface="Tahoma"/>
                <a:cs typeface="Tahoma"/>
              </a:rPr>
              <a:t>   </a:t>
            </a:r>
            <a:r>
              <a:rPr sz="1000">
                <a:solidFill>
                  <a:srgbClr val="202429"/>
                </a:solidFill>
                <a:latin typeface="Tahoma"/>
                <a:cs typeface="Tahoma"/>
              </a:rPr>
              <a:t>did</a:t>
            </a:r>
            <a:r>
              <a:rPr sz="1000" spc="315">
                <a:solidFill>
                  <a:srgbClr val="202429"/>
                </a:solidFill>
                <a:latin typeface="Tahoma"/>
                <a:cs typeface="Tahoma"/>
              </a:rPr>
              <a:t>   </a:t>
            </a:r>
            <a:r>
              <a:rPr sz="1000">
                <a:solidFill>
                  <a:srgbClr val="202429"/>
                </a:solidFill>
                <a:latin typeface="Tahoma"/>
                <a:cs typeface="Tahoma"/>
              </a:rPr>
              <a:t>not</a:t>
            </a:r>
            <a:r>
              <a:rPr sz="1000" spc="320">
                <a:solidFill>
                  <a:srgbClr val="202429"/>
                </a:solidFill>
                <a:latin typeface="Tahoma"/>
                <a:cs typeface="Tahoma"/>
              </a:rPr>
              <a:t>   </a:t>
            </a:r>
            <a:r>
              <a:rPr sz="1000" spc="-20">
                <a:solidFill>
                  <a:srgbClr val="202429"/>
                </a:solidFill>
                <a:latin typeface="Tahoma"/>
                <a:cs typeface="Tahoma"/>
              </a:rPr>
              <a:t>prompt </a:t>
            </a:r>
            <a:r>
              <a:rPr sz="1000" b="1" spc="-35">
                <a:solidFill>
                  <a:srgbClr val="202429"/>
                </a:solidFill>
                <a:latin typeface="Arial"/>
                <a:cs typeface="Arial"/>
              </a:rPr>
              <a:t>escalation</a:t>
            </a:r>
            <a:r>
              <a:rPr sz="1000" b="1" spc="40">
                <a:solidFill>
                  <a:srgbClr val="202429"/>
                </a:solidFill>
                <a:latin typeface="Arial"/>
                <a:cs typeface="Arial"/>
              </a:rPr>
              <a:t> </a:t>
            </a:r>
            <a:r>
              <a:rPr sz="1000" b="1">
                <a:solidFill>
                  <a:srgbClr val="202429"/>
                </a:solidFill>
                <a:latin typeface="Arial"/>
                <a:cs typeface="Arial"/>
              </a:rPr>
              <a:t>to</a:t>
            </a:r>
            <a:r>
              <a:rPr sz="1000" b="1" spc="45">
                <a:solidFill>
                  <a:srgbClr val="202429"/>
                </a:solidFill>
                <a:latin typeface="Arial"/>
                <a:cs typeface="Arial"/>
              </a:rPr>
              <a:t> </a:t>
            </a:r>
            <a:r>
              <a:rPr sz="1000" b="1">
                <a:solidFill>
                  <a:srgbClr val="202429"/>
                </a:solidFill>
                <a:latin typeface="Arial"/>
                <a:cs typeface="Arial"/>
              </a:rPr>
              <a:t>the</a:t>
            </a:r>
            <a:r>
              <a:rPr sz="1000" b="1" spc="45">
                <a:solidFill>
                  <a:srgbClr val="202429"/>
                </a:solidFill>
                <a:latin typeface="Arial"/>
                <a:cs typeface="Arial"/>
              </a:rPr>
              <a:t> </a:t>
            </a:r>
            <a:r>
              <a:rPr sz="1000" b="1" spc="-30">
                <a:solidFill>
                  <a:srgbClr val="202429"/>
                </a:solidFill>
                <a:latin typeface="Arial"/>
                <a:cs typeface="Arial"/>
              </a:rPr>
              <a:t>obstetric</a:t>
            </a:r>
            <a:r>
              <a:rPr sz="1000" b="1" spc="45">
                <a:solidFill>
                  <a:srgbClr val="202429"/>
                </a:solidFill>
                <a:latin typeface="Arial"/>
                <a:cs typeface="Arial"/>
              </a:rPr>
              <a:t> </a:t>
            </a:r>
            <a:r>
              <a:rPr sz="1000" b="1">
                <a:solidFill>
                  <a:srgbClr val="202429"/>
                </a:solidFill>
                <a:latin typeface="Arial"/>
                <a:cs typeface="Arial"/>
              </a:rPr>
              <a:t>team</a:t>
            </a:r>
            <a:r>
              <a:rPr sz="1000" b="1" spc="-15">
                <a:solidFill>
                  <a:srgbClr val="202429"/>
                </a:solidFill>
                <a:latin typeface="Arial"/>
                <a:cs typeface="Arial"/>
              </a:rPr>
              <a:t> </a:t>
            </a:r>
            <a:r>
              <a:rPr sz="1000" spc="-50">
                <a:solidFill>
                  <a:srgbClr val="202429"/>
                </a:solidFill>
                <a:latin typeface="Tahoma"/>
                <a:cs typeface="Tahoma"/>
              </a:rPr>
              <a:t>,</a:t>
            </a:r>
            <a:r>
              <a:rPr sz="1000">
                <a:solidFill>
                  <a:srgbClr val="202429"/>
                </a:solidFill>
                <a:latin typeface="Tahoma"/>
                <a:cs typeface="Tahoma"/>
              </a:rPr>
              <a:t>	</a:t>
            </a:r>
            <a:r>
              <a:rPr sz="1000" spc="-25">
                <a:solidFill>
                  <a:srgbClr val="202429"/>
                </a:solidFill>
                <a:latin typeface="Tahoma"/>
                <a:cs typeface="Tahoma"/>
              </a:rPr>
              <a:t>in </a:t>
            </a:r>
            <a:r>
              <a:rPr sz="1000" spc="-10">
                <a:solidFill>
                  <a:srgbClr val="202429"/>
                </a:solidFill>
                <a:latin typeface="Tahoma"/>
                <a:cs typeface="Tahoma"/>
              </a:rPr>
              <a:t>line</a:t>
            </a:r>
            <a:r>
              <a:rPr sz="1000" spc="-50">
                <a:solidFill>
                  <a:srgbClr val="202429"/>
                </a:solidFill>
                <a:latin typeface="Tahoma"/>
                <a:cs typeface="Tahoma"/>
              </a:rPr>
              <a:t> </a:t>
            </a:r>
            <a:r>
              <a:rPr sz="1000">
                <a:solidFill>
                  <a:srgbClr val="202429"/>
                </a:solidFill>
                <a:latin typeface="Tahoma"/>
                <a:cs typeface="Tahoma"/>
              </a:rPr>
              <a:t>with</a:t>
            </a:r>
            <a:r>
              <a:rPr sz="1000" spc="210">
                <a:solidFill>
                  <a:srgbClr val="202429"/>
                </a:solidFill>
                <a:latin typeface="Tahoma"/>
                <a:cs typeface="Tahoma"/>
              </a:rPr>
              <a:t> </a:t>
            </a:r>
            <a:r>
              <a:rPr sz="1000" b="1" spc="-20">
                <a:solidFill>
                  <a:srgbClr val="202429"/>
                </a:solidFill>
                <a:latin typeface="Arial"/>
                <a:cs typeface="Arial"/>
              </a:rPr>
              <a:t>local</a:t>
            </a:r>
            <a:r>
              <a:rPr sz="1000" b="1" spc="20">
                <a:solidFill>
                  <a:srgbClr val="202429"/>
                </a:solidFill>
                <a:latin typeface="Arial"/>
                <a:cs typeface="Arial"/>
              </a:rPr>
              <a:t> </a:t>
            </a:r>
            <a:r>
              <a:rPr sz="1000" b="1" spc="-45">
                <a:solidFill>
                  <a:srgbClr val="202429"/>
                </a:solidFill>
                <a:latin typeface="Arial"/>
                <a:cs typeface="Arial"/>
              </a:rPr>
              <a:t>guidance</a:t>
            </a:r>
            <a:r>
              <a:rPr sz="1000" b="1" spc="-20">
                <a:solidFill>
                  <a:srgbClr val="202429"/>
                </a:solidFill>
                <a:latin typeface="Arial"/>
                <a:cs typeface="Arial"/>
              </a:rPr>
              <a:t> </a:t>
            </a:r>
            <a:r>
              <a:rPr sz="1000" spc="-25">
                <a:solidFill>
                  <a:srgbClr val="202429"/>
                </a:solidFill>
                <a:latin typeface="Tahoma"/>
                <a:cs typeface="Tahoma"/>
              </a:rPr>
              <a:t>.”</a:t>
            </a:r>
            <a:endParaRPr sz="1000">
              <a:latin typeface="Tahoma"/>
              <a:cs typeface="Tahoma"/>
            </a:endParaRPr>
          </a:p>
          <a:p>
            <a:pPr>
              <a:lnSpc>
                <a:spcPct val="100000"/>
              </a:lnSpc>
              <a:spcBef>
                <a:spcPts val="240"/>
              </a:spcBef>
            </a:pPr>
            <a:endParaRPr sz="1000">
              <a:latin typeface="Tahoma"/>
              <a:cs typeface="Tahoma"/>
            </a:endParaRPr>
          </a:p>
          <a:p>
            <a:pPr marL="12700" algn="just">
              <a:lnSpc>
                <a:spcPct val="100000"/>
              </a:lnSpc>
            </a:pPr>
            <a:r>
              <a:rPr sz="1000" b="1">
                <a:solidFill>
                  <a:srgbClr val="202429"/>
                </a:solidFill>
                <a:latin typeface="Arial"/>
                <a:cs typeface="Arial"/>
              </a:rPr>
              <a:t>Step</a:t>
            </a:r>
            <a:r>
              <a:rPr sz="1000" b="1" spc="15">
                <a:solidFill>
                  <a:srgbClr val="202429"/>
                </a:solidFill>
                <a:latin typeface="Arial"/>
                <a:cs typeface="Arial"/>
              </a:rPr>
              <a:t> </a:t>
            </a:r>
            <a:r>
              <a:rPr sz="1000" b="1">
                <a:solidFill>
                  <a:srgbClr val="202429"/>
                </a:solidFill>
                <a:latin typeface="Arial"/>
                <a:cs typeface="Arial"/>
              </a:rPr>
              <a:t>2</a:t>
            </a:r>
            <a:r>
              <a:rPr sz="1000" b="1" spc="20">
                <a:solidFill>
                  <a:srgbClr val="202429"/>
                </a:solidFill>
                <a:latin typeface="Arial"/>
                <a:cs typeface="Arial"/>
              </a:rPr>
              <a:t> </a:t>
            </a:r>
            <a:r>
              <a:rPr sz="1000" spc="-114">
                <a:solidFill>
                  <a:srgbClr val="6C757C"/>
                </a:solidFill>
                <a:latin typeface="Tahoma"/>
                <a:cs typeface="Tahoma"/>
              </a:rPr>
              <a:t>|</a:t>
            </a:r>
            <a:r>
              <a:rPr sz="1000" spc="15">
                <a:solidFill>
                  <a:srgbClr val="6C757C"/>
                </a:solidFill>
                <a:latin typeface="Tahoma"/>
                <a:cs typeface="Tahoma"/>
              </a:rPr>
              <a:t> </a:t>
            </a:r>
            <a:r>
              <a:rPr sz="1000" spc="-25">
                <a:solidFill>
                  <a:srgbClr val="6C757C"/>
                </a:solidFill>
                <a:latin typeface="Tahoma"/>
                <a:cs typeface="Tahoma"/>
              </a:rPr>
              <a:t>Assign</a:t>
            </a:r>
            <a:r>
              <a:rPr sz="1000" spc="-15">
                <a:solidFill>
                  <a:srgbClr val="6C757C"/>
                </a:solidFill>
                <a:latin typeface="Tahoma"/>
                <a:cs typeface="Tahoma"/>
              </a:rPr>
              <a:t> </a:t>
            </a:r>
            <a:r>
              <a:rPr sz="1000" spc="-30">
                <a:solidFill>
                  <a:srgbClr val="6C757C"/>
                </a:solidFill>
                <a:latin typeface="Tahoma"/>
                <a:cs typeface="Tahoma"/>
              </a:rPr>
              <a:t>concept</a:t>
            </a:r>
            <a:r>
              <a:rPr sz="1000" spc="-20">
                <a:solidFill>
                  <a:srgbClr val="6C757C"/>
                </a:solidFill>
                <a:latin typeface="Tahoma"/>
                <a:cs typeface="Tahoma"/>
              </a:rPr>
              <a:t> </a:t>
            </a:r>
            <a:r>
              <a:rPr sz="1000" spc="-10">
                <a:solidFill>
                  <a:srgbClr val="6C757C"/>
                </a:solidFill>
                <a:latin typeface="Tahoma"/>
                <a:cs typeface="Tahoma"/>
              </a:rPr>
              <a:t>labels</a:t>
            </a:r>
            <a:endParaRPr sz="1000">
              <a:latin typeface="Tahoma"/>
              <a:cs typeface="Tahoma"/>
            </a:endParaRPr>
          </a:p>
        </p:txBody>
      </p:sp>
      <p:graphicFrame>
        <p:nvGraphicFramePr>
          <p:cNvPr id="13" name="object 13"/>
          <p:cNvGraphicFramePr>
            <a:graphicFrameLocks noGrp="1"/>
          </p:cNvGraphicFramePr>
          <p:nvPr/>
        </p:nvGraphicFramePr>
        <p:xfrm>
          <a:off x="154797" y="2348633"/>
          <a:ext cx="2414269" cy="200660"/>
        </p:xfrm>
        <a:graphic>
          <a:graphicData uri="http://schemas.openxmlformats.org/drawingml/2006/table">
            <a:tbl>
              <a:tblPr firstRow="1" bandRow="1">
                <a:tableStyleId>{2D5ABB26-0587-4C30-8999-92F81FD0307C}</a:tableStyleId>
              </a:tblPr>
              <a:tblGrid>
                <a:gridCol w="707390">
                  <a:extLst>
                    <a:ext uri="{9D8B030D-6E8A-4147-A177-3AD203B41FA5}">
                      <a16:colId xmlns:a16="http://schemas.microsoft.com/office/drawing/2014/main" val="20000"/>
                    </a:ext>
                  </a:extLst>
                </a:gridCol>
                <a:gridCol w="939799">
                  <a:extLst>
                    <a:ext uri="{9D8B030D-6E8A-4147-A177-3AD203B41FA5}">
                      <a16:colId xmlns:a16="http://schemas.microsoft.com/office/drawing/2014/main" val="20001"/>
                    </a:ext>
                  </a:extLst>
                </a:gridCol>
                <a:gridCol w="767080">
                  <a:extLst>
                    <a:ext uri="{9D8B030D-6E8A-4147-A177-3AD203B41FA5}">
                      <a16:colId xmlns:a16="http://schemas.microsoft.com/office/drawing/2014/main" val="20002"/>
                    </a:ext>
                  </a:extLst>
                </a:gridCol>
              </a:tblGrid>
              <a:tr h="200660">
                <a:tc>
                  <a:txBody>
                    <a:bodyPr/>
                    <a:lstStyle/>
                    <a:p>
                      <a:pPr marL="40005">
                        <a:lnSpc>
                          <a:spcPct val="100000"/>
                        </a:lnSpc>
                        <a:spcBef>
                          <a:spcPts val="180"/>
                        </a:spcBef>
                      </a:pPr>
                      <a:r>
                        <a:rPr sz="800" spc="-10">
                          <a:solidFill>
                            <a:srgbClr val="202429"/>
                          </a:solidFill>
                          <a:latin typeface="Tahoma"/>
                          <a:cs typeface="Tahoma"/>
                        </a:rPr>
                        <a:t>Interpretation</a:t>
                      </a:r>
                      <a:endParaRPr sz="800">
                        <a:latin typeface="Tahoma"/>
                        <a:cs typeface="Tahoma"/>
                      </a:endParaRPr>
                    </a:p>
                  </a:txBody>
                  <a:tcPr marL="0" marR="0" marT="22860" marB="0">
                    <a:lnL w="6350">
                      <a:solidFill>
                        <a:srgbClr val="44C8F4"/>
                      </a:solidFill>
                      <a:prstDash val="solid"/>
                    </a:lnL>
                    <a:lnR w="6350">
                      <a:solidFill>
                        <a:srgbClr val="FFB266"/>
                      </a:solidFill>
                      <a:prstDash val="solid"/>
                    </a:lnR>
                    <a:lnT w="6350">
                      <a:solidFill>
                        <a:srgbClr val="44C8F4"/>
                      </a:solidFill>
                      <a:prstDash val="solid"/>
                    </a:lnT>
                    <a:lnB w="6350">
                      <a:solidFill>
                        <a:srgbClr val="44C8F4"/>
                      </a:solidFill>
                      <a:prstDash val="solid"/>
                    </a:lnB>
                    <a:solidFill>
                      <a:srgbClr val="D4EFFC"/>
                    </a:solidFill>
                  </a:tcPr>
                </a:tc>
                <a:tc>
                  <a:txBody>
                    <a:bodyPr/>
                    <a:lstStyle/>
                    <a:p>
                      <a:pPr marL="56515">
                        <a:lnSpc>
                          <a:spcPct val="100000"/>
                        </a:lnSpc>
                        <a:spcBef>
                          <a:spcPts val="180"/>
                        </a:spcBef>
                      </a:pPr>
                      <a:r>
                        <a:rPr sz="800" spc="-10">
                          <a:solidFill>
                            <a:srgbClr val="202429"/>
                          </a:solidFill>
                          <a:latin typeface="Tahoma"/>
                          <a:cs typeface="Tahoma"/>
                        </a:rPr>
                        <a:t>Escalation/referral</a:t>
                      </a:r>
                      <a:endParaRPr sz="800">
                        <a:latin typeface="Tahoma"/>
                        <a:cs typeface="Tahoma"/>
                      </a:endParaRPr>
                    </a:p>
                  </a:txBody>
                  <a:tcPr marL="0" marR="0" marT="22860" marB="0">
                    <a:lnL w="6350">
                      <a:solidFill>
                        <a:srgbClr val="FFB266"/>
                      </a:solidFill>
                      <a:prstDash val="solid"/>
                    </a:lnL>
                    <a:lnR w="6350">
                      <a:solidFill>
                        <a:srgbClr val="B266B2"/>
                      </a:solidFill>
                      <a:prstDash val="solid"/>
                    </a:lnR>
                    <a:lnT w="6350">
                      <a:solidFill>
                        <a:srgbClr val="FFB266"/>
                      </a:solidFill>
                      <a:prstDash val="solid"/>
                    </a:lnT>
                    <a:lnB w="6350">
                      <a:solidFill>
                        <a:srgbClr val="FFB266"/>
                      </a:solidFill>
                      <a:prstDash val="solid"/>
                    </a:lnB>
                    <a:solidFill>
                      <a:srgbClr val="FFE5CC"/>
                    </a:solidFill>
                  </a:tcPr>
                </a:tc>
                <a:tc>
                  <a:txBody>
                    <a:bodyPr/>
                    <a:lstStyle/>
                    <a:p>
                      <a:pPr marL="56515">
                        <a:lnSpc>
                          <a:spcPct val="100000"/>
                        </a:lnSpc>
                        <a:spcBef>
                          <a:spcPts val="180"/>
                        </a:spcBef>
                      </a:pPr>
                      <a:r>
                        <a:rPr sz="800">
                          <a:solidFill>
                            <a:srgbClr val="202429"/>
                          </a:solidFill>
                          <a:latin typeface="Tahoma"/>
                          <a:cs typeface="Tahoma"/>
                        </a:rPr>
                        <a:t>Local</a:t>
                      </a:r>
                      <a:r>
                        <a:rPr sz="800" spc="80">
                          <a:solidFill>
                            <a:srgbClr val="202429"/>
                          </a:solidFill>
                          <a:latin typeface="Tahoma"/>
                          <a:cs typeface="Tahoma"/>
                        </a:rPr>
                        <a:t> </a:t>
                      </a:r>
                      <a:r>
                        <a:rPr sz="800" spc="-10">
                          <a:solidFill>
                            <a:srgbClr val="202429"/>
                          </a:solidFill>
                          <a:latin typeface="Tahoma"/>
                          <a:cs typeface="Tahoma"/>
                        </a:rPr>
                        <a:t>guidance</a:t>
                      </a:r>
                      <a:endParaRPr sz="800">
                        <a:latin typeface="Tahoma"/>
                        <a:cs typeface="Tahoma"/>
                      </a:endParaRPr>
                    </a:p>
                  </a:txBody>
                  <a:tcPr marL="0" marR="0" marT="22860" marB="0">
                    <a:lnL w="6350">
                      <a:solidFill>
                        <a:srgbClr val="B266B2"/>
                      </a:solidFill>
                      <a:prstDash val="solid"/>
                    </a:lnL>
                    <a:lnR w="6350">
                      <a:solidFill>
                        <a:srgbClr val="B266B2"/>
                      </a:solidFill>
                      <a:prstDash val="solid"/>
                    </a:lnR>
                    <a:lnT w="6350">
                      <a:solidFill>
                        <a:srgbClr val="B266B2"/>
                      </a:solidFill>
                      <a:prstDash val="solid"/>
                    </a:lnT>
                    <a:lnB w="6350">
                      <a:solidFill>
                        <a:srgbClr val="B266B2"/>
                      </a:solidFill>
                      <a:prstDash val="solid"/>
                    </a:lnB>
                    <a:solidFill>
                      <a:srgbClr val="E5CCE5"/>
                    </a:solidFill>
                  </a:tcPr>
                </a:tc>
                <a:extLst>
                  <a:ext uri="{0D108BD9-81ED-4DB2-BD59-A6C34878D82A}">
                    <a16:rowId xmlns:a16="http://schemas.microsoft.com/office/drawing/2014/main" val="10000"/>
                  </a:ext>
                </a:extLst>
              </a:tr>
            </a:tbl>
          </a:graphicData>
        </a:graphic>
      </p:graphicFrame>
      <p:sp>
        <p:nvSpPr>
          <p:cNvPr id="14" name="object 14"/>
          <p:cNvSpPr txBox="1"/>
          <p:nvPr/>
        </p:nvSpPr>
        <p:spPr>
          <a:xfrm>
            <a:off x="215176" y="2637763"/>
            <a:ext cx="2399665" cy="349885"/>
          </a:xfrm>
          <a:prstGeom prst="rect">
            <a:avLst/>
          </a:prstGeom>
        </p:spPr>
        <p:txBody>
          <a:bodyPr vert="horz" wrap="square" lIns="0" tIns="32384" rIns="0" bIns="0" rtlCol="0">
            <a:spAutoFit/>
          </a:bodyPr>
          <a:lstStyle/>
          <a:p>
            <a:pPr marL="12700" marR="5080" algn="ctr">
              <a:lnSpc>
                <a:spcPts val="800"/>
              </a:lnSpc>
              <a:spcBef>
                <a:spcPts val="254"/>
              </a:spcBef>
            </a:pPr>
            <a:r>
              <a:rPr sz="800" i="1">
                <a:solidFill>
                  <a:srgbClr val="202429"/>
                </a:solidFill>
                <a:latin typeface="Arial"/>
                <a:cs typeface="Arial"/>
              </a:rPr>
              <a:t>A</a:t>
            </a:r>
            <a:r>
              <a:rPr sz="800" i="1" spc="-10">
                <a:solidFill>
                  <a:srgbClr val="202429"/>
                </a:solidFill>
                <a:latin typeface="Arial"/>
                <a:cs typeface="Arial"/>
              </a:rPr>
              <a:t> single</a:t>
            </a:r>
            <a:r>
              <a:rPr sz="800" i="1" spc="-5">
                <a:solidFill>
                  <a:srgbClr val="202429"/>
                </a:solidFill>
                <a:latin typeface="Arial"/>
                <a:cs typeface="Arial"/>
              </a:rPr>
              <a:t> </a:t>
            </a:r>
            <a:r>
              <a:rPr sz="800" i="1" spc="-30">
                <a:solidFill>
                  <a:srgbClr val="202429"/>
                </a:solidFill>
                <a:latin typeface="Arial"/>
                <a:cs typeface="Arial"/>
              </a:rPr>
              <a:t>sentence</a:t>
            </a:r>
            <a:r>
              <a:rPr sz="800" i="1" spc="-5">
                <a:solidFill>
                  <a:srgbClr val="202429"/>
                </a:solidFill>
                <a:latin typeface="Arial"/>
                <a:cs typeface="Arial"/>
              </a:rPr>
              <a:t> </a:t>
            </a:r>
            <a:r>
              <a:rPr sz="800" i="1" spc="-10">
                <a:solidFill>
                  <a:srgbClr val="202429"/>
                </a:solidFill>
                <a:latin typeface="Arial"/>
                <a:cs typeface="Arial"/>
              </a:rPr>
              <a:t>can</a:t>
            </a:r>
            <a:r>
              <a:rPr sz="800" i="1" spc="-5">
                <a:solidFill>
                  <a:srgbClr val="202429"/>
                </a:solidFill>
                <a:latin typeface="Arial"/>
                <a:cs typeface="Arial"/>
              </a:rPr>
              <a:t> </a:t>
            </a:r>
            <a:r>
              <a:rPr sz="800" i="1" spc="-10">
                <a:solidFill>
                  <a:srgbClr val="202429"/>
                </a:solidFill>
                <a:latin typeface="Arial"/>
                <a:cs typeface="Arial"/>
              </a:rPr>
              <a:t>reveal </a:t>
            </a:r>
            <a:r>
              <a:rPr sz="800" b="1" i="1" spc="-10">
                <a:solidFill>
                  <a:srgbClr val="202429"/>
                </a:solidFill>
                <a:latin typeface="Arial"/>
                <a:cs typeface="Arial"/>
              </a:rPr>
              <a:t>multiple </a:t>
            </a:r>
            <a:r>
              <a:rPr sz="800" i="1">
                <a:solidFill>
                  <a:srgbClr val="202429"/>
                </a:solidFill>
                <a:latin typeface="Arial"/>
                <a:cs typeface="Arial"/>
              </a:rPr>
              <a:t>human</a:t>
            </a:r>
            <a:r>
              <a:rPr sz="800" i="1" spc="-10">
                <a:solidFill>
                  <a:srgbClr val="202429"/>
                </a:solidFill>
                <a:latin typeface="Arial"/>
                <a:cs typeface="Arial"/>
              </a:rPr>
              <a:t> factors. Systematic</a:t>
            </a:r>
            <a:r>
              <a:rPr sz="800" i="1" spc="15">
                <a:solidFill>
                  <a:srgbClr val="202429"/>
                </a:solidFill>
                <a:latin typeface="Arial"/>
                <a:cs typeface="Arial"/>
              </a:rPr>
              <a:t> </a:t>
            </a:r>
            <a:r>
              <a:rPr sz="800" i="1">
                <a:solidFill>
                  <a:srgbClr val="202429"/>
                </a:solidFill>
                <a:latin typeface="Arial"/>
                <a:cs typeface="Arial"/>
              </a:rPr>
              <a:t>annotation</a:t>
            </a:r>
            <a:r>
              <a:rPr sz="800" i="1" spc="10">
                <a:solidFill>
                  <a:srgbClr val="202429"/>
                </a:solidFill>
                <a:latin typeface="Arial"/>
                <a:cs typeface="Arial"/>
              </a:rPr>
              <a:t> </a:t>
            </a:r>
            <a:r>
              <a:rPr sz="800" i="1">
                <a:solidFill>
                  <a:srgbClr val="202429"/>
                </a:solidFill>
                <a:latin typeface="Arial"/>
                <a:cs typeface="Arial"/>
              </a:rPr>
              <a:t>lets</a:t>
            </a:r>
            <a:r>
              <a:rPr sz="800" i="1" spc="15">
                <a:solidFill>
                  <a:srgbClr val="202429"/>
                </a:solidFill>
                <a:latin typeface="Arial"/>
                <a:cs typeface="Arial"/>
              </a:rPr>
              <a:t> </a:t>
            </a:r>
            <a:r>
              <a:rPr sz="800" i="1">
                <a:solidFill>
                  <a:srgbClr val="202429"/>
                </a:solidFill>
                <a:latin typeface="Arial"/>
                <a:cs typeface="Arial"/>
              </a:rPr>
              <a:t>us</a:t>
            </a:r>
            <a:r>
              <a:rPr sz="800" i="1" spc="15">
                <a:solidFill>
                  <a:srgbClr val="202429"/>
                </a:solidFill>
                <a:latin typeface="Arial"/>
                <a:cs typeface="Arial"/>
              </a:rPr>
              <a:t> </a:t>
            </a:r>
            <a:r>
              <a:rPr sz="800" i="1">
                <a:solidFill>
                  <a:srgbClr val="202429"/>
                </a:solidFill>
                <a:latin typeface="Arial"/>
                <a:cs typeface="Arial"/>
              </a:rPr>
              <a:t>spot</a:t>
            </a:r>
            <a:r>
              <a:rPr sz="800" i="1" spc="10">
                <a:solidFill>
                  <a:srgbClr val="202429"/>
                </a:solidFill>
                <a:latin typeface="Arial"/>
                <a:cs typeface="Arial"/>
              </a:rPr>
              <a:t> </a:t>
            </a:r>
            <a:r>
              <a:rPr sz="800" i="1">
                <a:solidFill>
                  <a:srgbClr val="202429"/>
                </a:solidFill>
                <a:latin typeface="Arial"/>
                <a:cs typeface="Arial"/>
              </a:rPr>
              <a:t>patterns</a:t>
            </a:r>
            <a:r>
              <a:rPr sz="800" i="1" spc="20">
                <a:solidFill>
                  <a:srgbClr val="202429"/>
                </a:solidFill>
                <a:latin typeface="Arial"/>
                <a:cs typeface="Arial"/>
              </a:rPr>
              <a:t> </a:t>
            </a:r>
            <a:r>
              <a:rPr sz="800" i="1" spc="-10">
                <a:solidFill>
                  <a:srgbClr val="202429"/>
                </a:solidFill>
                <a:latin typeface="Arial"/>
                <a:cs typeface="Arial"/>
              </a:rPr>
              <a:t>across </a:t>
            </a:r>
            <a:r>
              <a:rPr sz="800" i="1" spc="-20">
                <a:solidFill>
                  <a:srgbClr val="202429"/>
                </a:solidFill>
                <a:latin typeface="Arial"/>
                <a:cs typeface="Arial"/>
              </a:rPr>
              <a:t>hundreds</a:t>
            </a:r>
            <a:r>
              <a:rPr sz="800" i="1" spc="35">
                <a:solidFill>
                  <a:srgbClr val="202429"/>
                </a:solidFill>
                <a:latin typeface="Arial"/>
                <a:cs typeface="Arial"/>
              </a:rPr>
              <a:t> </a:t>
            </a:r>
            <a:r>
              <a:rPr sz="800" i="1">
                <a:solidFill>
                  <a:srgbClr val="202429"/>
                </a:solidFill>
                <a:latin typeface="Arial"/>
                <a:cs typeface="Arial"/>
              </a:rPr>
              <a:t>of</a:t>
            </a:r>
            <a:r>
              <a:rPr sz="800" i="1" spc="40">
                <a:solidFill>
                  <a:srgbClr val="202429"/>
                </a:solidFill>
                <a:latin typeface="Arial"/>
                <a:cs typeface="Arial"/>
              </a:rPr>
              <a:t> </a:t>
            </a:r>
            <a:r>
              <a:rPr sz="800" i="1" spc="-10">
                <a:solidFill>
                  <a:srgbClr val="202429"/>
                </a:solidFill>
                <a:latin typeface="Arial"/>
                <a:cs typeface="Arial"/>
              </a:rPr>
              <a:t>reports.</a:t>
            </a:r>
            <a:endParaRPr sz="800">
              <a:latin typeface="Arial"/>
              <a:cs typeface="Arial"/>
            </a:endParaRPr>
          </a:p>
        </p:txBody>
      </p:sp>
      <p:sp>
        <p:nvSpPr>
          <p:cNvPr id="15" name="object 15"/>
          <p:cNvSpPr/>
          <p:nvPr/>
        </p:nvSpPr>
        <p:spPr>
          <a:xfrm>
            <a:off x="2880004" y="1010018"/>
            <a:ext cx="0" cy="1980564"/>
          </a:xfrm>
          <a:custGeom>
            <a:avLst/>
            <a:gdLst/>
            <a:ahLst/>
            <a:cxnLst/>
            <a:rect l="l" t="t" r="r" b="b"/>
            <a:pathLst>
              <a:path h="1980564">
                <a:moveTo>
                  <a:pt x="0" y="1979993"/>
                </a:moveTo>
                <a:lnTo>
                  <a:pt x="0" y="0"/>
                </a:lnTo>
              </a:path>
            </a:pathLst>
          </a:custGeom>
          <a:ln w="6325">
            <a:solidFill>
              <a:srgbClr val="CED3DA"/>
            </a:solidFill>
          </a:ln>
        </p:spPr>
        <p:txBody>
          <a:bodyPr wrap="square" lIns="0" tIns="0" rIns="0" bIns="0" rtlCol="0"/>
          <a:lstStyle/>
          <a:p>
            <a:endParaRPr/>
          </a:p>
        </p:txBody>
      </p:sp>
      <p:sp>
        <p:nvSpPr>
          <p:cNvPr id="16" name="object 16"/>
          <p:cNvSpPr txBox="1"/>
          <p:nvPr/>
        </p:nvSpPr>
        <p:spPr>
          <a:xfrm>
            <a:off x="3072510" y="788522"/>
            <a:ext cx="1798955" cy="177800"/>
          </a:xfrm>
          <a:prstGeom prst="rect">
            <a:avLst/>
          </a:prstGeom>
        </p:spPr>
        <p:txBody>
          <a:bodyPr vert="horz" wrap="square" lIns="0" tIns="12065" rIns="0" bIns="0" rtlCol="0">
            <a:spAutoFit/>
          </a:bodyPr>
          <a:lstStyle/>
          <a:p>
            <a:pPr marL="12700">
              <a:lnSpc>
                <a:spcPct val="100000"/>
              </a:lnSpc>
              <a:spcBef>
                <a:spcPts val="95"/>
              </a:spcBef>
            </a:pPr>
            <a:r>
              <a:rPr sz="1000" b="1">
                <a:solidFill>
                  <a:srgbClr val="202429"/>
                </a:solidFill>
                <a:latin typeface="Arial"/>
                <a:cs typeface="Arial"/>
              </a:rPr>
              <a:t>SEIPS</a:t>
            </a:r>
            <a:r>
              <a:rPr sz="1000" b="1" spc="25">
                <a:solidFill>
                  <a:srgbClr val="202429"/>
                </a:solidFill>
                <a:latin typeface="Arial"/>
                <a:cs typeface="Arial"/>
              </a:rPr>
              <a:t> </a:t>
            </a:r>
            <a:r>
              <a:rPr sz="1000" b="1" spc="-35">
                <a:solidFill>
                  <a:srgbClr val="202429"/>
                </a:solidFill>
                <a:latin typeface="Arial"/>
                <a:cs typeface="Arial"/>
              </a:rPr>
              <a:t>Taxonomy</a:t>
            </a:r>
            <a:r>
              <a:rPr sz="1000" b="1" spc="-5">
                <a:solidFill>
                  <a:srgbClr val="202429"/>
                </a:solidFill>
                <a:latin typeface="Arial"/>
                <a:cs typeface="Arial"/>
              </a:rPr>
              <a:t> </a:t>
            </a:r>
            <a:r>
              <a:rPr sz="1000">
                <a:solidFill>
                  <a:srgbClr val="6C757C"/>
                </a:solidFill>
                <a:latin typeface="Tahoma"/>
                <a:cs typeface="Tahoma"/>
              </a:rPr>
              <a:t>(6</a:t>
            </a:r>
            <a:r>
              <a:rPr sz="1000" spc="-35">
                <a:solidFill>
                  <a:srgbClr val="6C757C"/>
                </a:solidFill>
                <a:latin typeface="Tahoma"/>
                <a:cs typeface="Tahoma"/>
              </a:rPr>
              <a:t> categories)</a:t>
            </a:r>
            <a:endParaRPr sz="1000">
              <a:latin typeface="Tahoma"/>
              <a:cs typeface="Tahoma"/>
            </a:endParaRPr>
          </a:p>
        </p:txBody>
      </p:sp>
      <p:sp>
        <p:nvSpPr>
          <p:cNvPr id="17" name="object 17"/>
          <p:cNvSpPr txBox="1"/>
          <p:nvPr/>
        </p:nvSpPr>
        <p:spPr>
          <a:xfrm>
            <a:off x="3085210" y="1041311"/>
            <a:ext cx="2236470" cy="300355"/>
          </a:xfrm>
          <a:prstGeom prst="rect">
            <a:avLst/>
          </a:prstGeom>
          <a:solidFill>
            <a:srgbClr val="F2F2F2"/>
          </a:solidFill>
        </p:spPr>
        <p:txBody>
          <a:bodyPr vert="horz" wrap="square" lIns="0" tIns="25400" rIns="0" bIns="0" rtlCol="0">
            <a:spAutoFit/>
          </a:bodyPr>
          <a:lstStyle/>
          <a:p>
            <a:pPr marL="37465" marR="30480">
              <a:lnSpc>
                <a:spcPts val="950"/>
              </a:lnSpc>
              <a:spcBef>
                <a:spcPts val="200"/>
              </a:spcBef>
            </a:pPr>
            <a:r>
              <a:rPr sz="800" b="1" spc="-10">
                <a:solidFill>
                  <a:srgbClr val="202429"/>
                </a:solidFill>
                <a:latin typeface="Arial"/>
                <a:cs typeface="Arial"/>
              </a:rPr>
              <a:t>External</a:t>
            </a:r>
            <a:r>
              <a:rPr sz="800" b="1" spc="145">
                <a:solidFill>
                  <a:srgbClr val="202429"/>
                </a:solidFill>
                <a:latin typeface="Arial"/>
                <a:cs typeface="Arial"/>
              </a:rPr>
              <a:t> </a:t>
            </a:r>
            <a:r>
              <a:rPr sz="800" b="1" spc="-20">
                <a:solidFill>
                  <a:srgbClr val="202429"/>
                </a:solidFill>
                <a:latin typeface="Arial"/>
                <a:cs typeface="Arial"/>
              </a:rPr>
              <a:t>Environment</a:t>
            </a:r>
            <a:r>
              <a:rPr sz="800" b="1" spc="130">
                <a:solidFill>
                  <a:srgbClr val="202429"/>
                </a:solidFill>
                <a:latin typeface="Arial"/>
                <a:cs typeface="Arial"/>
              </a:rPr>
              <a:t> </a:t>
            </a:r>
            <a:r>
              <a:rPr sz="800">
                <a:solidFill>
                  <a:srgbClr val="202429"/>
                </a:solidFill>
                <a:latin typeface="Tahoma"/>
                <a:cs typeface="Tahoma"/>
              </a:rPr>
              <a:t>–</a:t>
            </a:r>
            <a:r>
              <a:rPr sz="800" spc="100">
                <a:solidFill>
                  <a:srgbClr val="202429"/>
                </a:solidFill>
                <a:latin typeface="Tahoma"/>
                <a:cs typeface="Tahoma"/>
              </a:rPr>
              <a:t> </a:t>
            </a:r>
            <a:r>
              <a:rPr sz="800">
                <a:solidFill>
                  <a:srgbClr val="202429"/>
                </a:solidFill>
                <a:latin typeface="Tahoma"/>
                <a:cs typeface="Tahoma"/>
              </a:rPr>
              <a:t>Policy,</a:t>
            </a:r>
            <a:r>
              <a:rPr sz="800" spc="130">
                <a:solidFill>
                  <a:srgbClr val="202429"/>
                </a:solidFill>
                <a:latin typeface="Tahoma"/>
                <a:cs typeface="Tahoma"/>
              </a:rPr>
              <a:t> </a:t>
            </a:r>
            <a:r>
              <a:rPr sz="800">
                <a:solidFill>
                  <a:srgbClr val="202429"/>
                </a:solidFill>
                <a:latin typeface="Tahoma"/>
                <a:cs typeface="Tahoma"/>
              </a:rPr>
              <a:t>Societal,</a:t>
            </a:r>
            <a:r>
              <a:rPr sz="800" spc="130">
                <a:solidFill>
                  <a:srgbClr val="202429"/>
                </a:solidFill>
                <a:latin typeface="Tahoma"/>
                <a:cs typeface="Tahoma"/>
              </a:rPr>
              <a:t> </a:t>
            </a:r>
            <a:r>
              <a:rPr sz="800" spc="-20">
                <a:solidFill>
                  <a:srgbClr val="202429"/>
                </a:solidFill>
                <a:latin typeface="Tahoma"/>
                <a:cs typeface="Tahoma"/>
              </a:rPr>
              <a:t>Eco-</a:t>
            </a:r>
            <a:r>
              <a:rPr sz="800">
                <a:solidFill>
                  <a:srgbClr val="202429"/>
                </a:solidFill>
                <a:latin typeface="Tahoma"/>
                <a:cs typeface="Tahoma"/>
              </a:rPr>
              <a:t>nomic,</a:t>
            </a:r>
            <a:r>
              <a:rPr sz="800" spc="110">
                <a:solidFill>
                  <a:srgbClr val="202429"/>
                </a:solidFill>
                <a:latin typeface="Tahoma"/>
                <a:cs typeface="Tahoma"/>
              </a:rPr>
              <a:t> </a:t>
            </a:r>
            <a:r>
              <a:rPr sz="800">
                <a:solidFill>
                  <a:srgbClr val="202429"/>
                </a:solidFill>
                <a:latin typeface="Tahoma"/>
                <a:cs typeface="Tahoma"/>
              </a:rPr>
              <a:t>COVID,</a:t>
            </a:r>
            <a:r>
              <a:rPr sz="800" spc="110">
                <a:solidFill>
                  <a:srgbClr val="202429"/>
                </a:solidFill>
                <a:latin typeface="Tahoma"/>
                <a:cs typeface="Tahoma"/>
              </a:rPr>
              <a:t> </a:t>
            </a:r>
            <a:r>
              <a:rPr sz="800" spc="-10">
                <a:solidFill>
                  <a:srgbClr val="202429"/>
                </a:solidFill>
                <a:latin typeface="Tahoma"/>
                <a:cs typeface="Tahoma"/>
              </a:rPr>
              <a:t>Geographical</a:t>
            </a:r>
            <a:endParaRPr sz="800">
              <a:latin typeface="Tahoma"/>
              <a:cs typeface="Tahoma"/>
            </a:endParaRPr>
          </a:p>
        </p:txBody>
      </p:sp>
      <p:sp>
        <p:nvSpPr>
          <p:cNvPr id="18" name="object 18"/>
          <p:cNvSpPr txBox="1"/>
          <p:nvPr/>
        </p:nvSpPr>
        <p:spPr>
          <a:xfrm>
            <a:off x="3085210" y="1380781"/>
            <a:ext cx="2236470" cy="300355"/>
          </a:xfrm>
          <a:prstGeom prst="rect">
            <a:avLst/>
          </a:prstGeom>
          <a:solidFill>
            <a:srgbClr val="F2F2F2"/>
          </a:solidFill>
        </p:spPr>
        <p:txBody>
          <a:bodyPr vert="horz" wrap="square" lIns="0" tIns="25400" rIns="0" bIns="0" rtlCol="0">
            <a:spAutoFit/>
          </a:bodyPr>
          <a:lstStyle/>
          <a:p>
            <a:pPr marL="37465" marR="29845">
              <a:lnSpc>
                <a:spcPts val="950"/>
              </a:lnSpc>
              <a:spcBef>
                <a:spcPts val="200"/>
              </a:spcBef>
            </a:pPr>
            <a:r>
              <a:rPr sz="800" b="1" spc="-10">
                <a:solidFill>
                  <a:srgbClr val="202429"/>
                </a:solidFill>
                <a:latin typeface="Arial"/>
                <a:cs typeface="Arial"/>
              </a:rPr>
              <a:t>Internal</a:t>
            </a:r>
            <a:r>
              <a:rPr sz="800" b="1" spc="60">
                <a:solidFill>
                  <a:srgbClr val="202429"/>
                </a:solidFill>
                <a:latin typeface="Arial"/>
                <a:cs typeface="Arial"/>
              </a:rPr>
              <a:t> </a:t>
            </a:r>
            <a:r>
              <a:rPr sz="800" b="1" spc="-25">
                <a:solidFill>
                  <a:srgbClr val="202429"/>
                </a:solidFill>
                <a:latin typeface="Arial"/>
                <a:cs typeface="Arial"/>
              </a:rPr>
              <a:t>Environment</a:t>
            </a:r>
            <a:r>
              <a:rPr sz="800" b="1" spc="55">
                <a:solidFill>
                  <a:srgbClr val="202429"/>
                </a:solidFill>
                <a:latin typeface="Arial"/>
                <a:cs typeface="Arial"/>
              </a:rPr>
              <a:t> </a:t>
            </a:r>
            <a:r>
              <a:rPr sz="800">
                <a:solidFill>
                  <a:srgbClr val="202429"/>
                </a:solidFill>
                <a:latin typeface="Tahoma"/>
                <a:cs typeface="Tahoma"/>
              </a:rPr>
              <a:t>–</a:t>
            </a:r>
            <a:r>
              <a:rPr sz="800" spc="20">
                <a:solidFill>
                  <a:srgbClr val="202429"/>
                </a:solidFill>
                <a:latin typeface="Tahoma"/>
                <a:cs typeface="Tahoma"/>
              </a:rPr>
              <a:t> </a:t>
            </a:r>
            <a:r>
              <a:rPr sz="800">
                <a:solidFill>
                  <a:srgbClr val="202429"/>
                </a:solidFill>
                <a:latin typeface="Tahoma"/>
                <a:cs typeface="Tahoma"/>
              </a:rPr>
              <a:t>Physical</a:t>
            </a:r>
            <a:r>
              <a:rPr sz="800" spc="25">
                <a:solidFill>
                  <a:srgbClr val="202429"/>
                </a:solidFill>
                <a:latin typeface="Tahoma"/>
                <a:cs typeface="Tahoma"/>
              </a:rPr>
              <a:t> </a:t>
            </a:r>
            <a:r>
              <a:rPr sz="800">
                <a:solidFill>
                  <a:srgbClr val="202429"/>
                </a:solidFill>
                <a:latin typeface="Tahoma"/>
                <a:cs typeface="Tahoma"/>
              </a:rPr>
              <a:t>layout,</a:t>
            </a:r>
            <a:r>
              <a:rPr sz="800" spc="30">
                <a:solidFill>
                  <a:srgbClr val="202429"/>
                </a:solidFill>
                <a:latin typeface="Tahoma"/>
                <a:cs typeface="Tahoma"/>
              </a:rPr>
              <a:t> </a:t>
            </a:r>
            <a:r>
              <a:rPr sz="800" spc="-10">
                <a:solidFill>
                  <a:srgbClr val="202429"/>
                </a:solidFill>
                <a:latin typeface="Tahoma"/>
                <a:cs typeface="Tahoma"/>
              </a:rPr>
              <a:t>Acuity, </a:t>
            </a:r>
            <a:r>
              <a:rPr sz="800">
                <a:solidFill>
                  <a:srgbClr val="202429"/>
                </a:solidFill>
                <a:latin typeface="Tahoma"/>
                <a:cs typeface="Tahoma"/>
              </a:rPr>
              <a:t>Availability,</a:t>
            </a:r>
            <a:r>
              <a:rPr sz="800" spc="30">
                <a:solidFill>
                  <a:srgbClr val="202429"/>
                </a:solidFill>
                <a:latin typeface="Tahoma"/>
                <a:cs typeface="Tahoma"/>
              </a:rPr>
              <a:t> </a:t>
            </a:r>
            <a:r>
              <a:rPr sz="800">
                <a:solidFill>
                  <a:srgbClr val="202429"/>
                </a:solidFill>
                <a:latin typeface="Tahoma"/>
                <a:cs typeface="Tahoma"/>
              </a:rPr>
              <a:t>Time</a:t>
            </a:r>
            <a:r>
              <a:rPr sz="800" spc="35">
                <a:solidFill>
                  <a:srgbClr val="202429"/>
                </a:solidFill>
                <a:latin typeface="Tahoma"/>
                <a:cs typeface="Tahoma"/>
              </a:rPr>
              <a:t> </a:t>
            </a:r>
            <a:r>
              <a:rPr sz="800">
                <a:solidFill>
                  <a:srgbClr val="202429"/>
                </a:solidFill>
                <a:latin typeface="Tahoma"/>
                <a:cs typeface="Tahoma"/>
              </a:rPr>
              <a:t>of</a:t>
            </a:r>
            <a:r>
              <a:rPr sz="800" spc="35">
                <a:solidFill>
                  <a:srgbClr val="202429"/>
                </a:solidFill>
                <a:latin typeface="Tahoma"/>
                <a:cs typeface="Tahoma"/>
              </a:rPr>
              <a:t> </a:t>
            </a:r>
            <a:r>
              <a:rPr sz="800" spc="-25">
                <a:solidFill>
                  <a:srgbClr val="202429"/>
                </a:solidFill>
                <a:latin typeface="Tahoma"/>
                <a:cs typeface="Tahoma"/>
              </a:rPr>
              <a:t>day</a:t>
            </a:r>
            <a:endParaRPr sz="800">
              <a:latin typeface="Tahoma"/>
              <a:cs typeface="Tahoma"/>
            </a:endParaRPr>
          </a:p>
        </p:txBody>
      </p:sp>
      <p:sp>
        <p:nvSpPr>
          <p:cNvPr id="19" name="object 19"/>
          <p:cNvSpPr txBox="1"/>
          <p:nvPr/>
        </p:nvSpPr>
        <p:spPr>
          <a:xfrm>
            <a:off x="3085210" y="1720252"/>
            <a:ext cx="2236470" cy="306070"/>
          </a:xfrm>
          <a:prstGeom prst="rect">
            <a:avLst/>
          </a:prstGeom>
          <a:solidFill>
            <a:srgbClr val="FFEBD8"/>
          </a:solidFill>
        </p:spPr>
        <p:txBody>
          <a:bodyPr vert="horz" wrap="square" lIns="0" tIns="25400" rIns="0" bIns="0" rtlCol="0">
            <a:spAutoFit/>
          </a:bodyPr>
          <a:lstStyle/>
          <a:p>
            <a:pPr marL="37465" marR="29845">
              <a:lnSpc>
                <a:spcPts val="950"/>
              </a:lnSpc>
              <a:spcBef>
                <a:spcPts val="200"/>
              </a:spcBef>
            </a:pPr>
            <a:r>
              <a:rPr sz="800" b="1" spc="-25">
                <a:solidFill>
                  <a:srgbClr val="B25900"/>
                </a:solidFill>
                <a:latin typeface="Arial"/>
                <a:cs typeface="Arial"/>
              </a:rPr>
              <a:t>Organisation</a:t>
            </a:r>
            <a:r>
              <a:rPr sz="800" b="1" spc="125">
                <a:solidFill>
                  <a:srgbClr val="B25900"/>
                </a:solidFill>
                <a:latin typeface="Arial"/>
                <a:cs typeface="Arial"/>
              </a:rPr>
              <a:t> </a:t>
            </a:r>
            <a:r>
              <a:rPr sz="800">
                <a:solidFill>
                  <a:srgbClr val="202429"/>
                </a:solidFill>
                <a:latin typeface="Tahoma"/>
                <a:cs typeface="Tahoma"/>
              </a:rPr>
              <a:t>–</a:t>
            </a:r>
            <a:r>
              <a:rPr sz="800" spc="100">
                <a:solidFill>
                  <a:srgbClr val="202429"/>
                </a:solidFill>
                <a:latin typeface="Tahoma"/>
                <a:cs typeface="Tahoma"/>
              </a:rPr>
              <a:t> </a:t>
            </a:r>
            <a:r>
              <a:rPr sz="800">
                <a:solidFill>
                  <a:srgbClr val="202429"/>
                </a:solidFill>
                <a:latin typeface="Tahoma"/>
                <a:cs typeface="Tahoma"/>
              </a:rPr>
              <a:t>Teamworking,</a:t>
            </a:r>
            <a:r>
              <a:rPr sz="800" spc="125">
                <a:solidFill>
                  <a:srgbClr val="202429"/>
                </a:solidFill>
                <a:latin typeface="Tahoma"/>
                <a:cs typeface="Tahoma"/>
              </a:rPr>
              <a:t> </a:t>
            </a:r>
            <a:r>
              <a:rPr sz="800" spc="-10">
                <a:solidFill>
                  <a:srgbClr val="202429"/>
                </a:solidFill>
                <a:latin typeface="Tahoma"/>
                <a:cs typeface="Tahoma"/>
              </a:rPr>
              <a:t>Communication, </a:t>
            </a:r>
            <a:r>
              <a:rPr sz="800">
                <a:solidFill>
                  <a:srgbClr val="202429"/>
                </a:solidFill>
                <a:latin typeface="Tahoma"/>
                <a:cs typeface="Tahoma"/>
              </a:rPr>
              <a:t>Escalation/referral,</a:t>
            </a:r>
            <a:r>
              <a:rPr sz="800" spc="20">
                <a:solidFill>
                  <a:srgbClr val="202429"/>
                </a:solidFill>
                <a:latin typeface="Tahoma"/>
                <a:cs typeface="Tahoma"/>
              </a:rPr>
              <a:t> </a:t>
            </a:r>
            <a:r>
              <a:rPr sz="800" spc="-10">
                <a:solidFill>
                  <a:srgbClr val="202429"/>
                </a:solidFill>
                <a:latin typeface="Tahoma"/>
                <a:cs typeface="Tahoma"/>
              </a:rPr>
              <a:t>Guidance</a:t>
            </a:r>
            <a:endParaRPr sz="800">
              <a:latin typeface="Tahoma"/>
              <a:cs typeface="Tahoma"/>
            </a:endParaRPr>
          </a:p>
        </p:txBody>
      </p:sp>
      <p:sp>
        <p:nvSpPr>
          <p:cNvPr id="20" name="object 20"/>
          <p:cNvSpPr txBox="1"/>
          <p:nvPr/>
        </p:nvSpPr>
        <p:spPr>
          <a:xfrm>
            <a:off x="3085210" y="2065350"/>
            <a:ext cx="2236470" cy="300355"/>
          </a:xfrm>
          <a:prstGeom prst="rect">
            <a:avLst/>
          </a:prstGeom>
          <a:solidFill>
            <a:srgbClr val="F2F2F2"/>
          </a:solidFill>
        </p:spPr>
        <p:txBody>
          <a:bodyPr vert="horz" wrap="square" lIns="0" tIns="25400" rIns="0" bIns="0" rtlCol="0">
            <a:spAutoFit/>
          </a:bodyPr>
          <a:lstStyle/>
          <a:p>
            <a:pPr marL="37465" marR="29845">
              <a:lnSpc>
                <a:spcPts val="950"/>
              </a:lnSpc>
              <a:spcBef>
                <a:spcPts val="200"/>
              </a:spcBef>
            </a:pPr>
            <a:r>
              <a:rPr sz="800" b="1">
                <a:solidFill>
                  <a:srgbClr val="202429"/>
                </a:solidFill>
                <a:latin typeface="Arial"/>
                <a:cs typeface="Arial"/>
              </a:rPr>
              <a:t>Job/Task</a:t>
            </a:r>
            <a:r>
              <a:rPr sz="800" b="1" spc="110">
                <a:solidFill>
                  <a:srgbClr val="202429"/>
                </a:solidFill>
                <a:latin typeface="Arial"/>
                <a:cs typeface="Arial"/>
              </a:rPr>
              <a:t> </a:t>
            </a:r>
            <a:r>
              <a:rPr sz="800">
                <a:solidFill>
                  <a:srgbClr val="202429"/>
                </a:solidFill>
                <a:latin typeface="Tahoma"/>
                <a:cs typeface="Tahoma"/>
              </a:rPr>
              <a:t>–</a:t>
            </a:r>
            <a:r>
              <a:rPr sz="800" spc="80">
                <a:solidFill>
                  <a:srgbClr val="202429"/>
                </a:solidFill>
                <a:latin typeface="Tahoma"/>
                <a:cs typeface="Tahoma"/>
              </a:rPr>
              <a:t> </a:t>
            </a:r>
            <a:r>
              <a:rPr sz="800" spc="-10">
                <a:solidFill>
                  <a:srgbClr val="202429"/>
                </a:solidFill>
                <a:latin typeface="Tahoma"/>
                <a:cs typeface="Tahoma"/>
              </a:rPr>
              <a:t>Assessment,</a:t>
            </a:r>
            <a:r>
              <a:rPr sz="800" spc="105">
                <a:solidFill>
                  <a:srgbClr val="202429"/>
                </a:solidFill>
                <a:latin typeface="Tahoma"/>
                <a:cs typeface="Tahoma"/>
              </a:rPr>
              <a:t> </a:t>
            </a:r>
            <a:r>
              <a:rPr sz="800">
                <a:solidFill>
                  <a:srgbClr val="202429"/>
                </a:solidFill>
                <a:latin typeface="Tahoma"/>
                <a:cs typeface="Tahoma"/>
              </a:rPr>
              <a:t>Care</a:t>
            </a:r>
            <a:r>
              <a:rPr sz="800" spc="80">
                <a:solidFill>
                  <a:srgbClr val="202429"/>
                </a:solidFill>
                <a:latin typeface="Tahoma"/>
                <a:cs typeface="Tahoma"/>
              </a:rPr>
              <a:t> </a:t>
            </a:r>
            <a:r>
              <a:rPr sz="800">
                <a:solidFill>
                  <a:srgbClr val="202429"/>
                </a:solidFill>
                <a:latin typeface="Tahoma"/>
                <a:cs typeface="Tahoma"/>
              </a:rPr>
              <a:t>planning,</a:t>
            </a:r>
            <a:r>
              <a:rPr sz="800" spc="105">
                <a:solidFill>
                  <a:srgbClr val="202429"/>
                </a:solidFill>
                <a:latin typeface="Tahoma"/>
                <a:cs typeface="Tahoma"/>
              </a:rPr>
              <a:t> </a:t>
            </a:r>
            <a:r>
              <a:rPr sz="800" spc="-10">
                <a:solidFill>
                  <a:srgbClr val="202429"/>
                </a:solidFill>
                <a:latin typeface="Tahoma"/>
                <a:cs typeface="Tahoma"/>
              </a:rPr>
              <a:t>Moni-</a:t>
            </a:r>
            <a:r>
              <a:rPr sz="800">
                <a:solidFill>
                  <a:srgbClr val="202429"/>
                </a:solidFill>
                <a:latin typeface="Tahoma"/>
                <a:cs typeface="Tahoma"/>
              </a:rPr>
              <a:t>toring,</a:t>
            </a:r>
            <a:r>
              <a:rPr sz="800" spc="35">
                <a:solidFill>
                  <a:srgbClr val="202429"/>
                </a:solidFill>
                <a:latin typeface="Tahoma"/>
                <a:cs typeface="Tahoma"/>
              </a:rPr>
              <a:t> </a:t>
            </a:r>
            <a:r>
              <a:rPr sz="800">
                <a:solidFill>
                  <a:srgbClr val="202429"/>
                </a:solidFill>
                <a:latin typeface="Tahoma"/>
                <a:cs typeface="Tahoma"/>
              </a:rPr>
              <a:t>Risk</a:t>
            </a:r>
            <a:r>
              <a:rPr sz="800" spc="40">
                <a:solidFill>
                  <a:srgbClr val="202429"/>
                </a:solidFill>
                <a:latin typeface="Tahoma"/>
                <a:cs typeface="Tahoma"/>
              </a:rPr>
              <a:t> </a:t>
            </a:r>
            <a:r>
              <a:rPr sz="800" spc="-10">
                <a:solidFill>
                  <a:srgbClr val="202429"/>
                </a:solidFill>
                <a:latin typeface="Tahoma"/>
                <a:cs typeface="Tahoma"/>
              </a:rPr>
              <a:t>assessment</a:t>
            </a:r>
            <a:endParaRPr sz="800">
              <a:latin typeface="Tahoma"/>
              <a:cs typeface="Tahoma"/>
            </a:endParaRPr>
          </a:p>
        </p:txBody>
      </p:sp>
      <p:sp>
        <p:nvSpPr>
          <p:cNvPr id="21" name="object 21"/>
          <p:cNvSpPr txBox="1"/>
          <p:nvPr/>
        </p:nvSpPr>
        <p:spPr>
          <a:xfrm>
            <a:off x="3085210" y="2404821"/>
            <a:ext cx="2236470" cy="306070"/>
          </a:xfrm>
          <a:prstGeom prst="rect">
            <a:avLst/>
          </a:prstGeom>
          <a:solidFill>
            <a:srgbClr val="D4EFFC"/>
          </a:solidFill>
        </p:spPr>
        <p:txBody>
          <a:bodyPr vert="horz" wrap="square" lIns="0" tIns="25400" rIns="0" bIns="0" rtlCol="0">
            <a:spAutoFit/>
          </a:bodyPr>
          <a:lstStyle/>
          <a:p>
            <a:pPr marL="37465" marR="30480">
              <a:lnSpc>
                <a:spcPts val="950"/>
              </a:lnSpc>
              <a:spcBef>
                <a:spcPts val="200"/>
              </a:spcBef>
            </a:pPr>
            <a:r>
              <a:rPr sz="800" b="1" spc="-45">
                <a:solidFill>
                  <a:srgbClr val="3E7C94"/>
                </a:solidFill>
                <a:latin typeface="Arial"/>
                <a:cs typeface="Arial"/>
              </a:rPr>
              <a:t>Technologies</a:t>
            </a:r>
            <a:r>
              <a:rPr sz="800" b="1" spc="165">
                <a:solidFill>
                  <a:srgbClr val="3E7C94"/>
                </a:solidFill>
                <a:latin typeface="Arial"/>
                <a:cs typeface="Arial"/>
              </a:rPr>
              <a:t> </a:t>
            </a:r>
            <a:r>
              <a:rPr sz="800" b="1" spc="85">
                <a:solidFill>
                  <a:srgbClr val="3E7C94"/>
                </a:solidFill>
                <a:latin typeface="Arial"/>
                <a:cs typeface="Arial"/>
              </a:rPr>
              <a:t>&amp;</a:t>
            </a:r>
            <a:r>
              <a:rPr sz="800" b="1" spc="165">
                <a:solidFill>
                  <a:srgbClr val="3E7C94"/>
                </a:solidFill>
                <a:latin typeface="Arial"/>
                <a:cs typeface="Arial"/>
              </a:rPr>
              <a:t> </a:t>
            </a:r>
            <a:r>
              <a:rPr sz="800" b="1" spc="-20">
                <a:solidFill>
                  <a:srgbClr val="3E7C94"/>
                </a:solidFill>
                <a:latin typeface="Arial"/>
                <a:cs typeface="Arial"/>
              </a:rPr>
              <a:t>Tools</a:t>
            </a:r>
            <a:r>
              <a:rPr sz="800" b="1" spc="155">
                <a:solidFill>
                  <a:srgbClr val="3E7C94"/>
                </a:solidFill>
                <a:latin typeface="Arial"/>
                <a:cs typeface="Arial"/>
              </a:rPr>
              <a:t> </a:t>
            </a:r>
            <a:r>
              <a:rPr sz="800">
                <a:solidFill>
                  <a:srgbClr val="202429"/>
                </a:solidFill>
                <a:latin typeface="Tahoma"/>
                <a:cs typeface="Tahoma"/>
              </a:rPr>
              <a:t>–</a:t>
            </a:r>
            <a:r>
              <a:rPr sz="800" spc="125">
                <a:solidFill>
                  <a:srgbClr val="202429"/>
                </a:solidFill>
                <a:latin typeface="Tahoma"/>
                <a:cs typeface="Tahoma"/>
              </a:rPr>
              <a:t> </a:t>
            </a:r>
            <a:r>
              <a:rPr sz="800" spc="-20">
                <a:solidFill>
                  <a:srgbClr val="202429"/>
                </a:solidFill>
                <a:latin typeface="Tahoma"/>
                <a:cs typeface="Tahoma"/>
              </a:rPr>
              <a:t>Issues,</a:t>
            </a:r>
            <a:r>
              <a:rPr sz="800" spc="160">
                <a:solidFill>
                  <a:srgbClr val="202429"/>
                </a:solidFill>
                <a:latin typeface="Tahoma"/>
                <a:cs typeface="Tahoma"/>
              </a:rPr>
              <a:t> </a:t>
            </a:r>
            <a:r>
              <a:rPr sz="800" spc="-10">
                <a:solidFill>
                  <a:srgbClr val="202429"/>
                </a:solidFill>
                <a:latin typeface="Tahoma"/>
                <a:cs typeface="Tahoma"/>
              </a:rPr>
              <a:t>Interpretation (CTG)</a:t>
            </a:r>
            <a:endParaRPr sz="800">
              <a:latin typeface="Tahoma"/>
              <a:cs typeface="Tahoma"/>
            </a:endParaRPr>
          </a:p>
        </p:txBody>
      </p:sp>
      <p:sp>
        <p:nvSpPr>
          <p:cNvPr id="22" name="object 22"/>
          <p:cNvSpPr txBox="1"/>
          <p:nvPr/>
        </p:nvSpPr>
        <p:spPr>
          <a:xfrm>
            <a:off x="3085210" y="2749930"/>
            <a:ext cx="2236470" cy="280670"/>
          </a:xfrm>
          <a:prstGeom prst="rect">
            <a:avLst/>
          </a:prstGeom>
          <a:solidFill>
            <a:srgbClr val="F2F2F2"/>
          </a:solidFill>
        </p:spPr>
        <p:txBody>
          <a:bodyPr vert="horz" wrap="square" lIns="0" tIns="25400" rIns="0" bIns="0" rtlCol="0">
            <a:spAutoFit/>
          </a:bodyPr>
          <a:lstStyle/>
          <a:p>
            <a:pPr marL="37465" marR="30480">
              <a:lnSpc>
                <a:spcPts val="950"/>
              </a:lnSpc>
              <a:spcBef>
                <a:spcPts val="200"/>
              </a:spcBef>
            </a:pPr>
            <a:r>
              <a:rPr sz="800" b="1" spc="-30">
                <a:solidFill>
                  <a:srgbClr val="202429"/>
                </a:solidFill>
                <a:latin typeface="Arial"/>
                <a:cs typeface="Arial"/>
              </a:rPr>
              <a:t>Person</a:t>
            </a:r>
            <a:r>
              <a:rPr sz="800" b="1" spc="160">
                <a:solidFill>
                  <a:srgbClr val="202429"/>
                </a:solidFill>
                <a:latin typeface="Arial"/>
                <a:cs typeface="Arial"/>
              </a:rPr>
              <a:t> </a:t>
            </a:r>
            <a:r>
              <a:rPr sz="800">
                <a:solidFill>
                  <a:srgbClr val="202429"/>
                </a:solidFill>
                <a:latin typeface="Tahoma"/>
                <a:cs typeface="Tahoma"/>
              </a:rPr>
              <a:t>–</a:t>
            </a:r>
            <a:r>
              <a:rPr sz="800" spc="130">
                <a:solidFill>
                  <a:srgbClr val="202429"/>
                </a:solidFill>
                <a:latin typeface="Tahoma"/>
                <a:cs typeface="Tahoma"/>
              </a:rPr>
              <a:t> </a:t>
            </a:r>
            <a:r>
              <a:rPr sz="800">
                <a:solidFill>
                  <a:srgbClr val="202429"/>
                </a:solidFill>
                <a:latin typeface="Tahoma"/>
                <a:cs typeface="Tahoma"/>
              </a:rPr>
              <a:t>Physical,</a:t>
            </a:r>
            <a:r>
              <a:rPr sz="800" spc="165">
                <a:solidFill>
                  <a:srgbClr val="202429"/>
                </a:solidFill>
                <a:latin typeface="Tahoma"/>
                <a:cs typeface="Tahoma"/>
              </a:rPr>
              <a:t> </a:t>
            </a:r>
            <a:r>
              <a:rPr sz="800">
                <a:solidFill>
                  <a:srgbClr val="202429"/>
                </a:solidFill>
                <a:latin typeface="Tahoma"/>
                <a:cs typeface="Tahoma"/>
              </a:rPr>
              <a:t>Psychological,</a:t>
            </a:r>
            <a:r>
              <a:rPr sz="800" spc="160">
                <a:solidFill>
                  <a:srgbClr val="202429"/>
                </a:solidFill>
                <a:latin typeface="Tahoma"/>
                <a:cs typeface="Tahoma"/>
              </a:rPr>
              <a:t> </a:t>
            </a:r>
            <a:r>
              <a:rPr sz="800" spc="-10">
                <a:solidFill>
                  <a:srgbClr val="202429"/>
                </a:solidFill>
                <a:latin typeface="Tahoma"/>
                <a:cs typeface="Tahoma"/>
              </a:rPr>
              <a:t>Slips/lapses, </a:t>
            </a:r>
            <a:r>
              <a:rPr sz="800">
                <a:solidFill>
                  <a:srgbClr val="202429"/>
                </a:solidFill>
                <a:latin typeface="Tahoma"/>
                <a:cs typeface="Tahoma"/>
              </a:rPr>
              <a:t>Decision</a:t>
            </a:r>
            <a:r>
              <a:rPr sz="800" spc="-35">
                <a:solidFill>
                  <a:srgbClr val="202429"/>
                </a:solidFill>
                <a:latin typeface="Tahoma"/>
                <a:cs typeface="Tahoma"/>
              </a:rPr>
              <a:t> </a:t>
            </a:r>
            <a:r>
              <a:rPr sz="800" spc="-10">
                <a:solidFill>
                  <a:srgbClr val="202429"/>
                </a:solidFill>
                <a:latin typeface="Tahoma"/>
                <a:cs typeface="Tahoma"/>
              </a:rPr>
              <a:t>errors</a:t>
            </a:r>
            <a:endParaRPr sz="800">
              <a:latin typeface="Tahoma"/>
              <a:cs typeface="Tahoma"/>
            </a:endParaRPr>
          </a:p>
        </p:txBody>
      </p:sp>
      <p:sp>
        <p:nvSpPr>
          <p:cNvPr id="23" name="object 23"/>
          <p:cNvSpPr/>
          <p:nvPr/>
        </p:nvSpPr>
        <p:spPr>
          <a:xfrm>
            <a:off x="0" y="3060028"/>
            <a:ext cx="5760085" cy="0"/>
          </a:xfrm>
          <a:custGeom>
            <a:avLst/>
            <a:gdLst/>
            <a:ahLst/>
            <a:cxnLst/>
            <a:rect l="l" t="t" r="r" b="b"/>
            <a:pathLst>
              <a:path w="5760085">
                <a:moveTo>
                  <a:pt x="0" y="0"/>
                </a:moveTo>
                <a:lnTo>
                  <a:pt x="5760073" y="0"/>
                </a:lnTo>
              </a:path>
            </a:pathLst>
          </a:custGeom>
          <a:ln w="6326">
            <a:solidFill>
              <a:srgbClr val="CED3DA"/>
            </a:solidFill>
          </a:ln>
        </p:spPr>
        <p:txBody>
          <a:bodyPr wrap="square" lIns="0" tIns="0" rIns="0" bIns="0" rtlCol="0"/>
          <a:lstStyle/>
          <a:p>
            <a:endParaRPr/>
          </a:p>
        </p:txBody>
      </p:sp>
      <p:sp>
        <p:nvSpPr>
          <p:cNvPr id="26" name="Slide Number Placeholder 25">
            <a:extLst>
              <a:ext uri="{FF2B5EF4-FFF2-40B4-BE49-F238E27FC236}">
                <a16:creationId xmlns:a16="http://schemas.microsoft.com/office/drawing/2014/main" id="{171C6E24-5C36-493E-1C49-7199E1D9F937}"/>
              </a:ext>
            </a:extLst>
          </p:cNvPr>
          <p:cNvSpPr>
            <a:spLocks noGrp="1"/>
          </p:cNvSpPr>
          <p:nvPr>
            <p:ph type="sldNum" sz="quarter" idx="7"/>
          </p:nvPr>
        </p:nvSpPr>
        <p:spPr>
          <a:xfrm>
            <a:off x="5399405" y="3070861"/>
            <a:ext cx="366395" cy="173989"/>
          </a:xfrm>
        </p:spPr>
        <p:txBody>
          <a:bodyPr/>
          <a:lstStyle/>
          <a:p>
            <a:pPr marL="39370">
              <a:lnSpc>
                <a:spcPct val="100000"/>
              </a:lnSpc>
              <a:spcBef>
                <a:spcPts val="219"/>
              </a:spcBef>
            </a:pPr>
            <a:fld id="{81D60167-4931-47E6-BA6A-407CBD079E47}" type="slidenum">
              <a:rPr lang="en-GB" smtClean="0"/>
              <a:t>7</a:t>
            </a:fld>
            <a:r>
              <a:rPr lang="en-GB" spc="20"/>
              <a:t> </a:t>
            </a:r>
            <a:r>
              <a:rPr lang="en-GB" spc="120"/>
              <a:t>/</a:t>
            </a:r>
            <a:r>
              <a:rPr lang="en-GB" spc="25"/>
              <a:t> </a:t>
            </a:r>
            <a:r>
              <a:rPr lang="en-GB" spc="-25"/>
              <a:t>41</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347294" y="13867"/>
            <a:ext cx="3044825" cy="467995"/>
          </a:xfrm>
          <a:prstGeom prst="rect">
            <a:avLst/>
          </a:prstGeom>
        </p:spPr>
        <p:txBody>
          <a:bodyPr vert="horz" wrap="square" lIns="0" tIns="49530" rIns="0" bIns="0" rtlCol="0">
            <a:spAutoFit/>
          </a:bodyPr>
          <a:lstStyle/>
          <a:p>
            <a:pPr marL="12700">
              <a:lnSpc>
                <a:spcPct val="100000"/>
              </a:lnSpc>
              <a:spcBef>
                <a:spcPts val="390"/>
              </a:spcBef>
            </a:pPr>
            <a:r>
              <a:rPr spc="65"/>
              <a:t>I-</a:t>
            </a:r>
            <a:r>
              <a:t>SIRch:</a:t>
            </a:r>
            <a:r>
              <a:rPr spc="140"/>
              <a:t> </a:t>
            </a:r>
            <a:r>
              <a:rPr spc="-25"/>
              <a:t>Framework</a:t>
            </a:r>
            <a:r>
              <a:rPr spc="10"/>
              <a:t> </a:t>
            </a:r>
            <a:r>
              <a:rPr spc="-10"/>
              <a:t>Overview</a:t>
            </a:r>
          </a:p>
          <a:p>
            <a:pPr marL="12700">
              <a:lnSpc>
                <a:spcPct val="100000"/>
              </a:lnSpc>
              <a:spcBef>
                <a:spcPts val="195"/>
              </a:spcBef>
            </a:pPr>
            <a:r>
              <a:rPr sz="1100" b="0" spc="-50">
                <a:solidFill>
                  <a:srgbClr val="6C757C"/>
                </a:solidFill>
                <a:latin typeface="Tahoma"/>
                <a:cs typeface="Tahoma"/>
              </a:rPr>
              <a:t>End-</a:t>
            </a:r>
            <a:r>
              <a:rPr sz="1100" b="0" spc="-45">
                <a:solidFill>
                  <a:srgbClr val="6C757C"/>
                </a:solidFill>
                <a:latin typeface="Tahoma"/>
                <a:cs typeface="Tahoma"/>
              </a:rPr>
              <a:t>to-</a:t>
            </a:r>
            <a:r>
              <a:rPr sz="1100" b="0" spc="-20">
                <a:solidFill>
                  <a:srgbClr val="6C757C"/>
                </a:solidFill>
                <a:latin typeface="Tahoma"/>
                <a:cs typeface="Tahoma"/>
              </a:rPr>
              <a:t>end</a:t>
            </a:r>
            <a:r>
              <a:rPr sz="1100" b="0" spc="-30">
                <a:solidFill>
                  <a:srgbClr val="6C757C"/>
                </a:solidFill>
                <a:latin typeface="Tahoma"/>
                <a:cs typeface="Tahoma"/>
              </a:rPr>
              <a:t> pipeline</a:t>
            </a:r>
            <a:r>
              <a:rPr sz="1100" b="0" spc="-25">
                <a:solidFill>
                  <a:srgbClr val="6C757C"/>
                </a:solidFill>
                <a:latin typeface="Tahoma"/>
                <a:cs typeface="Tahoma"/>
              </a:rPr>
              <a:t> </a:t>
            </a:r>
            <a:r>
              <a:rPr sz="1100" b="0" spc="-20">
                <a:solidFill>
                  <a:srgbClr val="6C757C"/>
                </a:solidFill>
                <a:latin typeface="Tahoma"/>
                <a:cs typeface="Tahoma"/>
              </a:rPr>
              <a:t>for</a:t>
            </a:r>
            <a:r>
              <a:rPr sz="1100" b="0" spc="-30">
                <a:solidFill>
                  <a:srgbClr val="6C757C"/>
                </a:solidFill>
                <a:latin typeface="Tahoma"/>
                <a:cs typeface="Tahoma"/>
              </a:rPr>
              <a:t> </a:t>
            </a:r>
            <a:r>
              <a:rPr sz="1100" b="0" spc="-40">
                <a:solidFill>
                  <a:srgbClr val="6C757C"/>
                </a:solidFill>
                <a:latin typeface="Tahoma"/>
                <a:cs typeface="Tahoma"/>
              </a:rPr>
              <a:t>safety</a:t>
            </a:r>
            <a:r>
              <a:rPr sz="1100" b="0" spc="-30">
                <a:solidFill>
                  <a:srgbClr val="6C757C"/>
                </a:solidFill>
                <a:latin typeface="Tahoma"/>
                <a:cs typeface="Tahoma"/>
              </a:rPr>
              <a:t> </a:t>
            </a:r>
            <a:r>
              <a:rPr sz="1100" b="0" spc="-35">
                <a:solidFill>
                  <a:srgbClr val="6C757C"/>
                </a:solidFill>
                <a:latin typeface="Tahoma"/>
                <a:cs typeface="Tahoma"/>
              </a:rPr>
              <a:t>intelligence</a:t>
            </a:r>
            <a:r>
              <a:rPr sz="1100" b="0" spc="-25">
                <a:solidFill>
                  <a:srgbClr val="6C757C"/>
                </a:solidFill>
                <a:latin typeface="Tahoma"/>
                <a:cs typeface="Tahoma"/>
              </a:rPr>
              <a:t> </a:t>
            </a:r>
            <a:r>
              <a:rPr sz="1100" b="0" spc="-10">
                <a:solidFill>
                  <a:srgbClr val="6C757C"/>
                </a:solidFill>
                <a:latin typeface="Tahoma"/>
                <a:cs typeface="Tahoma"/>
              </a:rPr>
              <a:t>extraction</a:t>
            </a:r>
            <a:endParaRPr sz="1100">
              <a:latin typeface="Tahoma"/>
              <a:cs typeface="Tahoma"/>
            </a:endParaRPr>
          </a:p>
        </p:txBody>
      </p:sp>
      <p:grpSp>
        <p:nvGrpSpPr>
          <p:cNvPr id="3" name="object 3"/>
          <p:cNvGrpSpPr/>
          <p:nvPr/>
        </p:nvGrpSpPr>
        <p:grpSpPr>
          <a:xfrm>
            <a:off x="205206" y="566881"/>
            <a:ext cx="3528060" cy="1728470"/>
            <a:chOff x="205206" y="566881"/>
            <a:chExt cx="3528060" cy="1728470"/>
          </a:xfrm>
        </p:grpSpPr>
        <p:sp>
          <p:nvSpPr>
            <p:cNvPr id="4" name="object 4"/>
            <p:cNvSpPr/>
            <p:nvPr/>
          </p:nvSpPr>
          <p:spPr>
            <a:xfrm>
              <a:off x="359994" y="631443"/>
              <a:ext cx="900430" cy="0"/>
            </a:xfrm>
            <a:custGeom>
              <a:avLst/>
              <a:gdLst/>
              <a:ahLst/>
              <a:cxnLst/>
              <a:rect l="l" t="t" r="r" b="b"/>
              <a:pathLst>
                <a:path w="900430">
                  <a:moveTo>
                    <a:pt x="0" y="0"/>
                  </a:moveTo>
                  <a:lnTo>
                    <a:pt x="900010" y="0"/>
                  </a:lnTo>
                </a:path>
              </a:pathLst>
            </a:custGeom>
            <a:ln w="18978">
              <a:solidFill>
                <a:srgbClr val="005F73"/>
              </a:solidFill>
            </a:ln>
          </p:spPr>
          <p:txBody>
            <a:bodyPr wrap="square" lIns="0" tIns="0" rIns="0" bIns="0" rtlCol="0"/>
            <a:lstStyle/>
            <a:p>
              <a:endParaRPr/>
            </a:p>
          </p:txBody>
        </p:sp>
        <p:pic>
          <p:nvPicPr>
            <p:cNvPr id="5" name="object 5"/>
            <p:cNvPicPr/>
            <p:nvPr/>
          </p:nvPicPr>
          <p:blipFill>
            <a:blip r:embed="rId3" cstate="print"/>
            <a:stretch>
              <a:fillRect/>
            </a:stretch>
          </p:blipFill>
          <p:spPr>
            <a:xfrm>
              <a:off x="205206" y="566881"/>
              <a:ext cx="3527992" cy="1728288"/>
            </a:xfrm>
            <a:prstGeom prst="rect">
              <a:avLst/>
            </a:prstGeom>
          </p:spPr>
        </p:pic>
      </p:grpSp>
      <p:sp>
        <p:nvSpPr>
          <p:cNvPr id="6" name="object 6"/>
          <p:cNvSpPr txBox="1"/>
          <p:nvPr/>
        </p:nvSpPr>
        <p:spPr>
          <a:xfrm>
            <a:off x="-1689" y="2332005"/>
            <a:ext cx="968375" cy="509270"/>
          </a:xfrm>
          <a:prstGeom prst="rect">
            <a:avLst/>
          </a:prstGeom>
        </p:spPr>
        <p:txBody>
          <a:bodyPr vert="horz" wrap="square" lIns="0" tIns="12700" rIns="0" bIns="0" rtlCol="0">
            <a:spAutoFit/>
          </a:bodyPr>
          <a:lstStyle/>
          <a:p>
            <a:pPr marL="147955" marR="139700" indent="-635" algn="ctr">
              <a:lnSpc>
                <a:spcPct val="112900"/>
              </a:lnSpc>
              <a:spcBef>
                <a:spcPts val="100"/>
              </a:spcBef>
            </a:pPr>
            <a:r>
              <a:rPr sz="1000" b="1" spc="-20">
                <a:solidFill>
                  <a:srgbClr val="D65F2C"/>
                </a:solidFill>
                <a:latin typeface="Arial"/>
                <a:cs typeface="Arial"/>
              </a:rPr>
              <a:t>Data </a:t>
            </a:r>
            <a:r>
              <a:rPr sz="1000" b="1" spc="-35">
                <a:solidFill>
                  <a:srgbClr val="D65F2C"/>
                </a:solidFill>
                <a:latin typeface="Arial"/>
                <a:cs typeface="Arial"/>
              </a:rPr>
              <a:t>Preparation</a:t>
            </a:r>
            <a:endParaRPr sz="1000">
              <a:latin typeface="Arial"/>
              <a:cs typeface="Arial"/>
            </a:endParaRPr>
          </a:p>
          <a:p>
            <a:pPr algn="ctr">
              <a:lnSpc>
                <a:spcPct val="100000"/>
              </a:lnSpc>
              <a:spcBef>
                <a:spcPts val="135"/>
              </a:spcBef>
            </a:pPr>
            <a:r>
              <a:rPr sz="800">
                <a:solidFill>
                  <a:srgbClr val="202429"/>
                </a:solidFill>
                <a:latin typeface="Tahoma"/>
                <a:cs typeface="Tahoma"/>
              </a:rPr>
              <a:t>Extract</a:t>
            </a:r>
            <a:r>
              <a:rPr sz="800" spc="35">
                <a:solidFill>
                  <a:srgbClr val="202429"/>
                </a:solidFill>
                <a:latin typeface="Tahoma"/>
                <a:cs typeface="Tahoma"/>
              </a:rPr>
              <a:t> </a:t>
            </a:r>
            <a:r>
              <a:rPr sz="800" spc="70">
                <a:solidFill>
                  <a:srgbClr val="202429"/>
                </a:solidFill>
                <a:latin typeface="Tahoma"/>
                <a:cs typeface="Tahoma"/>
              </a:rPr>
              <a:t>+</a:t>
            </a:r>
            <a:r>
              <a:rPr sz="800" spc="40">
                <a:solidFill>
                  <a:srgbClr val="202429"/>
                </a:solidFill>
                <a:latin typeface="Tahoma"/>
                <a:cs typeface="Tahoma"/>
              </a:rPr>
              <a:t> </a:t>
            </a:r>
            <a:r>
              <a:rPr sz="800" spc="-10">
                <a:solidFill>
                  <a:srgbClr val="202429"/>
                </a:solidFill>
                <a:latin typeface="Tahoma"/>
                <a:cs typeface="Tahoma"/>
              </a:rPr>
              <a:t>select</a:t>
            </a:r>
            <a:r>
              <a:rPr sz="800" spc="35">
                <a:solidFill>
                  <a:srgbClr val="202429"/>
                </a:solidFill>
                <a:latin typeface="Tahoma"/>
                <a:cs typeface="Tahoma"/>
              </a:rPr>
              <a:t> </a:t>
            </a:r>
            <a:r>
              <a:rPr sz="800" spc="-20">
                <a:solidFill>
                  <a:srgbClr val="202429"/>
                </a:solidFill>
                <a:latin typeface="Tahoma"/>
                <a:cs typeface="Tahoma"/>
              </a:rPr>
              <a:t>text</a:t>
            </a:r>
            <a:endParaRPr sz="800">
              <a:latin typeface="Tahoma"/>
              <a:cs typeface="Tahoma"/>
            </a:endParaRPr>
          </a:p>
        </p:txBody>
      </p:sp>
      <p:sp>
        <p:nvSpPr>
          <p:cNvPr id="7" name="object 7"/>
          <p:cNvSpPr txBox="1"/>
          <p:nvPr/>
        </p:nvSpPr>
        <p:spPr>
          <a:xfrm>
            <a:off x="1158697" y="2354400"/>
            <a:ext cx="64135" cy="191770"/>
          </a:xfrm>
          <a:prstGeom prst="rect">
            <a:avLst/>
          </a:prstGeom>
        </p:spPr>
        <p:txBody>
          <a:bodyPr vert="horz" wrap="square" lIns="0" tIns="11430" rIns="0" bIns="0" rtlCol="0">
            <a:spAutoFit/>
          </a:bodyPr>
          <a:lstStyle/>
          <a:p>
            <a:pPr marL="12700">
              <a:lnSpc>
                <a:spcPct val="100000"/>
              </a:lnSpc>
              <a:spcBef>
                <a:spcPts val="90"/>
              </a:spcBef>
            </a:pPr>
            <a:r>
              <a:rPr sz="1100" spc="-70">
                <a:solidFill>
                  <a:srgbClr val="CED3DA"/>
                </a:solidFill>
                <a:latin typeface="Tahoma"/>
                <a:cs typeface="Tahoma"/>
              </a:rPr>
              <a:t>|</a:t>
            </a:r>
            <a:endParaRPr sz="1100">
              <a:latin typeface="Tahoma"/>
              <a:cs typeface="Tahoma"/>
            </a:endParaRPr>
          </a:p>
        </p:txBody>
      </p:sp>
      <p:sp>
        <p:nvSpPr>
          <p:cNvPr id="8" name="object 8"/>
          <p:cNvSpPr txBox="1"/>
          <p:nvPr/>
        </p:nvSpPr>
        <p:spPr>
          <a:xfrm>
            <a:off x="1476400" y="2332005"/>
            <a:ext cx="985519" cy="681355"/>
          </a:xfrm>
          <a:prstGeom prst="rect">
            <a:avLst/>
          </a:prstGeom>
        </p:spPr>
        <p:txBody>
          <a:bodyPr vert="horz" wrap="square" lIns="0" tIns="12700" rIns="0" bIns="0" rtlCol="0">
            <a:spAutoFit/>
          </a:bodyPr>
          <a:lstStyle/>
          <a:p>
            <a:pPr marL="180975" marR="173990" algn="ctr">
              <a:lnSpc>
                <a:spcPct val="112900"/>
              </a:lnSpc>
              <a:spcBef>
                <a:spcPts val="100"/>
              </a:spcBef>
            </a:pPr>
            <a:r>
              <a:rPr sz="1000" b="1" spc="-20">
                <a:solidFill>
                  <a:srgbClr val="005F73"/>
                </a:solidFill>
                <a:latin typeface="Arial"/>
                <a:cs typeface="Arial"/>
              </a:rPr>
              <a:t>Training</a:t>
            </a:r>
            <a:r>
              <a:rPr sz="1000" b="1">
                <a:solidFill>
                  <a:srgbClr val="005F73"/>
                </a:solidFill>
                <a:latin typeface="Arial"/>
                <a:cs typeface="Arial"/>
              </a:rPr>
              <a:t> </a:t>
            </a:r>
            <a:r>
              <a:rPr sz="1000" b="1" spc="50">
                <a:solidFill>
                  <a:srgbClr val="005F73"/>
                </a:solidFill>
                <a:latin typeface="Arial"/>
                <a:cs typeface="Arial"/>
              </a:rPr>
              <a:t>&amp; </a:t>
            </a:r>
            <a:r>
              <a:rPr sz="1000" b="1" spc="-10">
                <a:solidFill>
                  <a:srgbClr val="005F73"/>
                </a:solidFill>
                <a:latin typeface="Arial"/>
                <a:cs typeface="Arial"/>
              </a:rPr>
              <a:t>Learning</a:t>
            </a:r>
            <a:endParaRPr sz="1000">
              <a:latin typeface="Arial"/>
              <a:cs typeface="Arial"/>
            </a:endParaRPr>
          </a:p>
          <a:p>
            <a:pPr algn="ctr">
              <a:lnSpc>
                <a:spcPct val="100000"/>
              </a:lnSpc>
              <a:spcBef>
                <a:spcPts val="135"/>
              </a:spcBef>
            </a:pPr>
            <a:r>
              <a:rPr sz="800">
                <a:solidFill>
                  <a:srgbClr val="202429"/>
                </a:solidFill>
                <a:latin typeface="Tahoma"/>
                <a:cs typeface="Tahoma"/>
              </a:rPr>
              <a:t>Human</a:t>
            </a:r>
            <a:r>
              <a:rPr sz="800" spc="-25">
                <a:solidFill>
                  <a:srgbClr val="202429"/>
                </a:solidFill>
                <a:latin typeface="Tahoma"/>
                <a:cs typeface="Tahoma"/>
              </a:rPr>
              <a:t> </a:t>
            </a:r>
            <a:r>
              <a:rPr sz="800">
                <a:solidFill>
                  <a:srgbClr val="202429"/>
                </a:solidFill>
                <a:latin typeface="Tahoma"/>
                <a:cs typeface="Tahoma"/>
              </a:rPr>
              <a:t>annotation</a:t>
            </a:r>
            <a:r>
              <a:rPr sz="800" spc="-20">
                <a:solidFill>
                  <a:srgbClr val="202429"/>
                </a:solidFill>
                <a:latin typeface="Tahoma"/>
                <a:cs typeface="Tahoma"/>
              </a:rPr>
              <a:t> </a:t>
            </a:r>
            <a:r>
              <a:rPr sz="800" spc="20">
                <a:solidFill>
                  <a:srgbClr val="202429"/>
                </a:solidFill>
                <a:latin typeface="Tahoma"/>
                <a:cs typeface="Tahoma"/>
              </a:rPr>
              <a:t>+</a:t>
            </a:r>
            <a:endParaRPr sz="800">
              <a:latin typeface="Tahoma"/>
              <a:cs typeface="Tahoma"/>
            </a:endParaRPr>
          </a:p>
          <a:p>
            <a:pPr marL="635" algn="ctr">
              <a:lnSpc>
                <a:spcPct val="100000"/>
              </a:lnSpc>
              <a:spcBef>
                <a:spcPts val="395"/>
              </a:spcBef>
            </a:pPr>
            <a:r>
              <a:rPr sz="800" spc="90">
                <a:solidFill>
                  <a:srgbClr val="202429"/>
                </a:solidFill>
                <a:latin typeface="Tahoma"/>
                <a:cs typeface="Tahoma"/>
              </a:rPr>
              <a:t>ML</a:t>
            </a:r>
            <a:r>
              <a:rPr sz="800" spc="30">
                <a:solidFill>
                  <a:srgbClr val="202429"/>
                </a:solidFill>
                <a:latin typeface="Tahoma"/>
                <a:cs typeface="Tahoma"/>
              </a:rPr>
              <a:t> </a:t>
            </a:r>
            <a:r>
              <a:rPr sz="800" spc="-10">
                <a:solidFill>
                  <a:srgbClr val="202429"/>
                </a:solidFill>
                <a:latin typeface="Tahoma"/>
                <a:cs typeface="Tahoma"/>
              </a:rPr>
              <a:t>model</a:t>
            </a:r>
            <a:endParaRPr sz="800">
              <a:latin typeface="Tahoma"/>
              <a:cs typeface="Tahoma"/>
            </a:endParaRPr>
          </a:p>
        </p:txBody>
      </p:sp>
      <p:sp>
        <p:nvSpPr>
          <p:cNvPr id="9" name="object 9"/>
          <p:cNvSpPr txBox="1"/>
          <p:nvPr/>
        </p:nvSpPr>
        <p:spPr>
          <a:xfrm>
            <a:off x="2715818" y="2354400"/>
            <a:ext cx="64135" cy="191770"/>
          </a:xfrm>
          <a:prstGeom prst="rect">
            <a:avLst/>
          </a:prstGeom>
        </p:spPr>
        <p:txBody>
          <a:bodyPr vert="horz" wrap="square" lIns="0" tIns="11430" rIns="0" bIns="0" rtlCol="0">
            <a:spAutoFit/>
          </a:bodyPr>
          <a:lstStyle/>
          <a:p>
            <a:pPr marL="12700">
              <a:lnSpc>
                <a:spcPct val="100000"/>
              </a:lnSpc>
              <a:spcBef>
                <a:spcPts val="90"/>
              </a:spcBef>
            </a:pPr>
            <a:r>
              <a:rPr sz="1100" spc="-70">
                <a:solidFill>
                  <a:srgbClr val="CED3DA"/>
                </a:solidFill>
                <a:latin typeface="Tahoma"/>
                <a:cs typeface="Tahoma"/>
              </a:rPr>
              <a:t>|</a:t>
            </a:r>
            <a:endParaRPr sz="1100">
              <a:latin typeface="Tahoma"/>
              <a:cs typeface="Tahoma"/>
            </a:endParaRPr>
          </a:p>
        </p:txBody>
      </p:sp>
      <p:sp>
        <p:nvSpPr>
          <p:cNvPr id="10" name="object 10"/>
          <p:cNvSpPr txBox="1"/>
          <p:nvPr/>
        </p:nvSpPr>
        <p:spPr>
          <a:xfrm>
            <a:off x="2954134" y="2329937"/>
            <a:ext cx="1003300" cy="511175"/>
          </a:xfrm>
          <a:prstGeom prst="rect">
            <a:avLst/>
          </a:prstGeom>
        </p:spPr>
        <p:txBody>
          <a:bodyPr vert="horz" wrap="square" lIns="0" tIns="34290" rIns="0" bIns="0" rtlCol="0">
            <a:spAutoFit/>
          </a:bodyPr>
          <a:lstStyle/>
          <a:p>
            <a:pPr algn="ctr">
              <a:lnSpc>
                <a:spcPct val="100000"/>
              </a:lnSpc>
              <a:spcBef>
                <a:spcPts val="270"/>
              </a:spcBef>
            </a:pPr>
            <a:r>
              <a:rPr sz="1000" b="1" spc="-10">
                <a:solidFill>
                  <a:srgbClr val="0092B8"/>
                </a:solidFill>
                <a:latin typeface="Arial"/>
                <a:cs typeface="Arial"/>
              </a:rPr>
              <a:t>Monitoring</a:t>
            </a:r>
            <a:endParaRPr sz="1000">
              <a:latin typeface="Arial"/>
              <a:cs typeface="Arial"/>
            </a:endParaRPr>
          </a:p>
          <a:p>
            <a:pPr algn="ctr">
              <a:lnSpc>
                <a:spcPct val="100000"/>
              </a:lnSpc>
              <a:spcBef>
                <a:spcPts val="135"/>
              </a:spcBef>
            </a:pPr>
            <a:r>
              <a:rPr sz="800">
                <a:solidFill>
                  <a:srgbClr val="202429"/>
                </a:solidFill>
                <a:latin typeface="Tahoma"/>
                <a:cs typeface="Tahoma"/>
              </a:rPr>
              <a:t>Bias</a:t>
            </a:r>
            <a:r>
              <a:rPr sz="800" spc="30">
                <a:solidFill>
                  <a:srgbClr val="202429"/>
                </a:solidFill>
                <a:latin typeface="Tahoma"/>
                <a:cs typeface="Tahoma"/>
              </a:rPr>
              <a:t> </a:t>
            </a:r>
            <a:r>
              <a:rPr sz="800" spc="-10">
                <a:solidFill>
                  <a:srgbClr val="202429"/>
                </a:solidFill>
                <a:latin typeface="Tahoma"/>
                <a:cs typeface="Tahoma"/>
              </a:rPr>
              <a:t>checks</a:t>
            </a:r>
            <a:r>
              <a:rPr sz="800" spc="35">
                <a:solidFill>
                  <a:srgbClr val="202429"/>
                </a:solidFill>
                <a:latin typeface="Tahoma"/>
                <a:cs typeface="Tahoma"/>
              </a:rPr>
              <a:t> </a:t>
            </a:r>
            <a:r>
              <a:rPr sz="800" spc="70">
                <a:solidFill>
                  <a:srgbClr val="202429"/>
                </a:solidFill>
                <a:latin typeface="Tahoma"/>
                <a:cs typeface="Tahoma"/>
              </a:rPr>
              <a:t>+</a:t>
            </a:r>
            <a:r>
              <a:rPr sz="800" spc="30">
                <a:solidFill>
                  <a:srgbClr val="202429"/>
                </a:solidFill>
                <a:latin typeface="Tahoma"/>
                <a:cs typeface="Tahoma"/>
              </a:rPr>
              <a:t> </a:t>
            </a:r>
            <a:r>
              <a:rPr sz="800" spc="-20">
                <a:solidFill>
                  <a:srgbClr val="202429"/>
                </a:solidFill>
                <a:latin typeface="Tahoma"/>
                <a:cs typeface="Tahoma"/>
              </a:rPr>
              <a:t>human</a:t>
            </a:r>
            <a:endParaRPr sz="800">
              <a:latin typeface="Tahoma"/>
              <a:cs typeface="Tahoma"/>
            </a:endParaRPr>
          </a:p>
          <a:p>
            <a:pPr algn="ctr">
              <a:lnSpc>
                <a:spcPct val="100000"/>
              </a:lnSpc>
              <a:spcBef>
                <a:spcPts val="395"/>
              </a:spcBef>
            </a:pPr>
            <a:r>
              <a:rPr sz="800" spc="-10">
                <a:solidFill>
                  <a:srgbClr val="202429"/>
                </a:solidFill>
                <a:latin typeface="Tahoma"/>
                <a:cs typeface="Tahoma"/>
              </a:rPr>
              <a:t>veriﬁcation</a:t>
            </a:r>
            <a:endParaRPr sz="800">
              <a:latin typeface="Tahoma"/>
              <a:cs typeface="Tahoma"/>
            </a:endParaRPr>
          </a:p>
        </p:txBody>
      </p:sp>
      <p:sp>
        <p:nvSpPr>
          <p:cNvPr id="11" name="object 11"/>
          <p:cNvSpPr/>
          <p:nvPr/>
        </p:nvSpPr>
        <p:spPr>
          <a:xfrm>
            <a:off x="3988803" y="566889"/>
            <a:ext cx="0" cy="1800225"/>
          </a:xfrm>
          <a:custGeom>
            <a:avLst/>
            <a:gdLst/>
            <a:ahLst/>
            <a:cxnLst/>
            <a:rect l="l" t="t" r="r" b="b"/>
            <a:pathLst>
              <a:path h="1800225">
                <a:moveTo>
                  <a:pt x="0" y="1799996"/>
                </a:moveTo>
                <a:lnTo>
                  <a:pt x="0" y="0"/>
                </a:lnTo>
              </a:path>
            </a:pathLst>
          </a:custGeom>
          <a:ln w="6325">
            <a:solidFill>
              <a:srgbClr val="CED3DA"/>
            </a:solidFill>
          </a:ln>
        </p:spPr>
        <p:txBody>
          <a:bodyPr wrap="square" lIns="0" tIns="0" rIns="0" bIns="0" rtlCol="0"/>
          <a:lstStyle/>
          <a:p>
            <a:endParaRPr/>
          </a:p>
        </p:txBody>
      </p:sp>
      <p:sp>
        <p:nvSpPr>
          <p:cNvPr id="12" name="object 12"/>
          <p:cNvSpPr txBox="1"/>
          <p:nvPr/>
        </p:nvSpPr>
        <p:spPr>
          <a:xfrm>
            <a:off x="4231716" y="639800"/>
            <a:ext cx="993140" cy="946150"/>
          </a:xfrm>
          <a:prstGeom prst="rect">
            <a:avLst/>
          </a:prstGeom>
        </p:spPr>
        <p:txBody>
          <a:bodyPr vert="horz" wrap="square" lIns="0" tIns="80010" rIns="0" bIns="0" rtlCol="0">
            <a:spAutoFit/>
          </a:bodyPr>
          <a:lstStyle/>
          <a:p>
            <a:pPr marL="12700">
              <a:lnSpc>
                <a:spcPct val="100000"/>
              </a:lnSpc>
              <a:spcBef>
                <a:spcPts val="630"/>
              </a:spcBef>
            </a:pPr>
            <a:r>
              <a:rPr sz="800" b="1">
                <a:solidFill>
                  <a:srgbClr val="202429"/>
                </a:solidFill>
                <a:latin typeface="Arial"/>
                <a:cs typeface="Arial"/>
              </a:rPr>
              <a:t>Why</a:t>
            </a:r>
            <a:r>
              <a:rPr sz="800" b="1" spc="35">
                <a:solidFill>
                  <a:srgbClr val="202429"/>
                </a:solidFill>
                <a:latin typeface="Arial"/>
                <a:cs typeface="Arial"/>
              </a:rPr>
              <a:t> </a:t>
            </a:r>
            <a:r>
              <a:rPr sz="800" b="1">
                <a:solidFill>
                  <a:srgbClr val="202429"/>
                </a:solidFill>
                <a:latin typeface="Arial"/>
                <a:cs typeface="Arial"/>
              </a:rPr>
              <a:t>not</a:t>
            </a:r>
            <a:r>
              <a:rPr sz="800" b="1" spc="40">
                <a:solidFill>
                  <a:srgbClr val="202429"/>
                </a:solidFill>
                <a:latin typeface="Arial"/>
                <a:cs typeface="Arial"/>
              </a:rPr>
              <a:t> </a:t>
            </a:r>
            <a:r>
              <a:rPr sz="800" b="1" spc="-40">
                <a:solidFill>
                  <a:srgbClr val="202429"/>
                </a:solidFill>
                <a:latin typeface="Arial"/>
                <a:cs typeface="Arial"/>
              </a:rPr>
              <a:t>generic</a:t>
            </a:r>
            <a:r>
              <a:rPr sz="800" b="1" spc="35">
                <a:solidFill>
                  <a:srgbClr val="202429"/>
                </a:solidFill>
                <a:latin typeface="Arial"/>
                <a:cs typeface="Arial"/>
              </a:rPr>
              <a:t> </a:t>
            </a:r>
            <a:r>
              <a:rPr sz="800" b="1" spc="-25">
                <a:solidFill>
                  <a:srgbClr val="202429"/>
                </a:solidFill>
                <a:latin typeface="Arial"/>
                <a:cs typeface="Arial"/>
              </a:rPr>
              <a:t>AI?</a:t>
            </a:r>
            <a:endParaRPr sz="800">
              <a:latin typeface="Arial"/>
              <a:cs typeface="Arial"/>
            </a:endParaRPr>
          </a:p>
          <a:p>
            <a:pPr marL="133350" indent="-120650">
              <a:lnSpc>
                <a:spcPct val="100000"/>
              </a:lnSpc>
              <a:spcBef>
                <a:spcPts val="535"/>
              </a:spcBef>
              <a:buClr>
                <a:srgbClr val="005F73"/>
              </a:buClr>
              <a:buFont typeface="Adobe Text Pro"/>
              <a:buChar char="✓"/>
              <a:tabLst>
                <a:tab pos="133350" algn="l"/>
              </a:tabLst>
            </a:pPr>
            <a:r>
              <a:rPr sz="800" spc="-10">
                <a:solidFill>
                  <a:srgbClr val="202429"/>
                </a:solidFill>
                <a:latin typeface="Tahoma"/>
                <a:cs typeface="Tahoma"/>
              </a:rPr>
              <a:t>Domain-speciﬁc</a:t>
            </a:r>
            <a:endParaRPr sz="800">
              <a:latin typeface="Tahoma"/>
              <a:cs typeface="Tahoma"/>
            </a:endParaRPr>
          </a:p>
          <a:p>
            <a:pPr marL="133350" indent="-120650">
              <a:lnSpc>
                <a:spcPct val="100000"/>
              </a:lnSpc>
              <a:spcBef>
                <a:spcPts val="325"/>
              </a:spcBef>
              <a:buClr>
                <a:srgbClr val="005F73"/>
              </a:buClr>
              <a:buFont typeface="Adobe Text Pro"/>
              <a:buChar char="✓"/>
              <a:tabLst>
                <a:tab pos="133350" algn="l"/>
              </a:tabLst>
            </a:pPr>
            <a:r>
              <a:rPr sz="800">
                <a:solidFill>
                  <a:srgbClr val="202429"/>
                </a:solidFill>
                <a:latin typeface="Tahoma"/>
                <a:cs typeface="Tahoma"/>
              </a:rPr>
              <a:t>Runs</a:t>
            </a:r>
            <a:r>
              <a:rPr sz="800" spc="-15">
                <a:solidFill>
                  <a:srgbClr val="202429"/>
                </a:solidFill>
                <a:latin typeface="Tahoma"/>
                <a:cs typeface="Tahoma"/>
              </a:rPr>
              <a:t> </a:t>
            </a:r>
            <a:r>
              <a:rPr sz="800" spc="-10">
                <a:solidFill>
                  <a:srgbClr val="202429"/>
                </a:solidFill>
                <a:latin typeface="Tahoma"/>
                <a:cs typeface="Tahoma"/>
              </a:rPr>
              <a:t>oﬄine</a:t>
            </a:r>
            <a:endParaRPr sz="800">
              <a:latin typeface="Tahoma"/>
              <a:cs typeface="Tahoma"/>
            </a:endParaRPr>
          </a:p>
          <a:p>
            <a:pPr marL="133350" indent="-120650">
              <a:lnSpc>
                <a:spcPct val="100000"/>
              </a:lnSpc>
              <a:spcBef>
                <a:spcPts val="325"/>
              </a:spcBef>
              <a:buClr>
                <a:srgbClr val="005F73"/>
              </a:buClr>
              <a:buFont typeface="Adobe Text Pro"/>
              <a:buChar char="✓"/>
              <a:tabLst>
                <a:tab pos="133350" algn="l"/>
              </a:tabLst>
            </a:pPr>
            <a:r>
              <a:rPr sz="800">
                <a:solidFill>
                  <a:srgbClr val="202429"/>
                </a:solidFill>
                <a:latin typeface="Tahoma"/>
                <a:cs typeface="Tahoma"/>
              </a:rPr>
              <a:t>Fully</a:t>
            </a:r>
            <a:r>
              <a:rPr sz="800" spc="60">
                <a:solidFill>
                  <a:srgbClr val="202429"/>
                </a:solidFill>
                <a:latin typeface="Tahoma"/>
                <a:cs typeface="Tahoma"/>
              </a:rPr>
              <a:t> </a:t>
            </a:r>
            <a:r>
              <a:rPr sz="800" spc="-10">
                <a:solidFill>
                  <a:srgbClr val="202429"/>
                </a:solidFill>
                <a:latin typeface="Tahoma"/>
                <a:cs typeface="Tahoma"/>
              </a:rPr>
              <a:t>traceable</a:t>
            </a:r>
            <a:endParaRPr sz="800">
              <a:latin typeface="Tahoma"/>
              <a:cs typeface="Tahoma"/>
            </a:endParaRPr>
          </a:p>
          <a:p>
            <a:pPr marL="133350" indent="-120650">
              <a:lnSpc>
                <a:spcPct val="100000"/>
              </a:lnSpc>
              <a:spcBef>
                <a:spcPts val="730"/>
              </a:spcBef>
              <a:buClr>
                <a:srgbClr val="005F73"/>
              </a:buClr>
              <a:buFont typeface="Adobe Text Pro"/>
              <a:buChar char="✓"/>
              <a:tabLst>
                <a:tab pos="133350" algn="l"/>
              </a:tabLst>
            </a:pPr>
            <a:r>
              <a:rPr sz="800" spc="-10">
                <a:solidFill>
                  <a:srgbClr val="202429"/>
                </a:solidFill>
                <a:latin typeface="Tahoma"/>
                <a:cs typeface="Tahoma"/>
              </a:rPr>
              <a:t>Human-in-the-</a:t>
            </a:r>
            <a:r>
              <a:rPr sz="800" spc="-20">
                <a:solidFill>
                  <a:srgbClr val="202429"/>
                </a:solidFill>
                <a:latin typeface="Tahoma"/>
                <a:cs typeface="Tahoma"/>
              </a:rPr>
              <a:t>loop</a:t>
            </a:r>
            <a:endParaRPr sz="800">
              <a:latin typeface="Tahoma"/>
              <a:cs typeface="Tahoma"/>
            </a:endParaRPr>
          </a:p>
        </p:txBody>
      </p:sp>
      <p:sp>
        <p:nvSpPr>
          <p:cNvPr id="13" name="object 13"/>
          <p:cNvSpPr/>
          <p:nvPr/>
        </p:nvSpPr>
        <p:spPr>
          <a:xfrm>
            <a:off x="0" y="3060028"/>
            <a:ext cx="5760085" cy="0"/>
          </a:xfrm>
          <a:custGeom>
            <a:avLst/>
            <a:gdLst/>
            <a:ahLst/>
            <a:cxnLst/>
            <a:rect l="l" t="t" r="r" b="b"/>
            <a:pathLst>
              <a:path w="5760085">
                <a:moveTo>
                  <a:pt x="0" y="0"/>
                </a:moveTo>
                <a:lnTo>
                  <a:pt x="5760073" y="0"/>
                </a:lnTo>
              </a:path>
            </a:pathLst>
          </a:custGeom>
          <a:ln w="6326">
            <a:solidFill>
              <a:srgbClr val="CED3DA"/>
            </a:solidFill>
          </a:ln>
        </p:spPr>
        <p:txBody>
          <a:bodyPr wrap="square" lIns="0" tIns="0" rIns="0" bIns="0" rtlCol="0"/>
          <a:lstStyle/>
          <a:p>
            <a:endParaRPr/>
          </a:p>
        </p:txBody>
      </p:sp>
      <p:sp>
        <p:nvSpPr>
          <p:cNvPr id="16" name="Slide Number Placeholder 15">
            <a:extLst>
              <a:ext uri="{FF2B5EF4-FFF2-40B4-BE49-F238E27FC236}">
                <a16:creationId xmlns:a16="http://schemas.microsoft.com/office/drawing/2014/main" id="{D086BEB3-826D-B1AA-F593-2F1D78E7C42C}"/>
              </a:ext>
            </a:extLst>
          </p:cNvPr>
          <p:cNvSpPr>
            <a:spLocks noGrp="1"/>
          </p:cNvSpPr>
          <p:nvPr>
            <p:ph type="sldNum" sz="quarter" idx="7"/>
          </p:nvPr>
        </p:nvSpPr>
        <p:spPr>
          <a:xfrm>
            <a:off x="5321301" y="3060028"/>
            <a:ext cx="444500" cy="173989"/>
          </a:xfrm>
        </p:spPr>
        <p:txBody>
          <a:bodyPr/>
          <a:lstStyle/>
          <a:p>
            <a:pPr marL="39370">
              <a:lnSpc>
                <a:spcPct val="100000"/>
              </a:lnSpc>
              <a:spcBef>
                <a:spcPts val="219"/>
              </a:spcBef>
            </a:pPr>
            <a:fld id="{81D60167-4931-47E6-BA6A-407CBD079E47}" type="slidenum">
              <a:rPr lang="en-GB" smtClean="0"/>
              <a:t>8</a:t>
            </a:fld>
            <a:r>
              <a:rPr lang="en-GB" spc="20"/>
              <a:t> </a:t>
            </a:r>
            <a:r>
              <a:rPr lang="en-GB" spc="120"/>
              <a:t>/</a:t>
            </a:r>
            <a:r>
              <a:rPr lang="en-GB" spc="25"/>
              <a:t> </a:t>
            </a:r>
            <a:r>
              <a:rPr lang="en-GB" spc="-25"/>
              <a:t>41</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49530" rIns="0" bIns="0" rtlCol="0">
            <a:spAutoFit/>
          </a:bodyPr>
          <a:lstStyle/>
          <a:p>
            <a:pPr marL="99060">
              <a:lnSpc>
                <a:spcPct val="100000"/>
              </a:lnSpc>
              <a:spcBef>
                <a:spcPts val="390"/>
              </a:spcBef>
            </a:pPr>
            <a:r>
              <a:t>The</a:t>
            </a:r>
            <a:r>
              <a:rPr spc="90"/>
              <a:t> </a:t>
            </a:r>
            <a:r>
              <a:t>SIRch</a:t>
            </a:r>
            <a:r>
              <a:rPr spc="90"/>
              <a:t> </a:t>
            </a:r>
            <a:r>
              <a:rPr spc="-20"/>
              <a:t>Taxonomy:</a:t>
            </a:r>
            <a:r>
              <a:rPr spc="250"/>
              <a:t> </a:t>
            </a:r>
            <a:r>
              <a:t>SEIPS</a:t>
            </a:r>
            <a:r>
              <a:rPr spc="90"/>
              <a:t> </a:t>
            </a:r>
            <a:r>
              <a:rPr spc="-10"/>
              <a:t>Framework</a:t>
            </a:r>
          </a:p>
          <a:p>
            <a:pPr marL="99060">
              <a:lnSpc>
                <a:spcPct val="100000"/>
              </a:lnSpc>
              <a:spcBef>
                <a:spcPts val="195"/>
              </a:spcBef>
            </a:pPr>
            <a:r>
              <a:rPr sz="1100" b="0" spc="-25">
                <a:solidFill>
                  <a:srgbClr val="6C757C"/>
                </a:solidFill>
                <a:latin typeface="Tahoma"/>
                <a:cs typeface="Tahoma"/>
              </a:rPr>
              <a:t>Human</a:t>
            </a:r>
            <a:r>
              <a:rPr sz="1100" b="0" spc="-20">
                <a:solidFill>
                  <a:srgbClr val="6C757C"/>
                </a:solidFill>
                <a:latin typeface="Tahoma"/>
                <a:cs typeface="Tahoma"/>
              </a:rPr>
              <a:t> </a:t>
            </a:r>
            <a:r>
              <a:rPr sz="1100" b="0" spc="-30">
                <a:solidFill>
                  <a:srgbClr val="6C757C"/>
                </a:solidFill>
                <a:latin typeface="Tahoma"/>
                <a:cs typeface="Tahoma"/>
              </a:rPr>
              <a:t>factors</a:t>
            </a:r>
            <a:r>
              <a:rPr sz="1100" b="0" spc="-20">
                <a:solidFill>
                  <a:srgbClr val="6C757C"/>
                </a:solidFill>
                <a:latin typeface="Tahoma"/>
                <a:cs typeface="Tahoma"/>
              </a:rPr>
              <a:t> </a:t>
            </a:r>
            <a:r>
              <a:rPr sz="1100" b="0" spc="-60">
                <a:solidFill>
                  <a:srgbClr val="6C757C"/>
                </a:solidFill>
                <a:latin typeface="Tahoma"/>
                <a:cs typeface="Tahoma"/>
              </a:rPr>
              <a:t>framework</a:t>
            </a:r>
            <a:r>
              <a:rPr sz="1100" b="0" spc="-20">
                <a:solidFill>
                  <a:srgbClr val="6C757C"/>
                </a:solidFill>
                <a:latin typeface="Tahoma"/>
                <a:cs typeface="Tahoma"/>
              </a:rPr>
              <a:t> for </a:t>
            </a:r>
            <a:r>
              <a:rPr sz="1100" b="0" spc="-30">
                <a:solidFill>
                  <a:srgbClr val="6C757C"/>
                </a:solidFill>
                <a:latin typeface="Tahoma"/>
                <a:cs typeface="Tahoma"/>
              </a:rPr>
              <a:t>maternity</a:t>
            </a:r>
            <a:r>
              <a:rPr sz="1100" b="0" spc="-20">
                <a:solidFill>
                  <a:srgbClr val="6C757C"/>
                </a:solidFill>
                <a:latin typeface="Tahoma"/>
                <a:cs typeface="Tahoma"/>
              </a:rPr>
              <a:t> </a:t>
            </a:r>
            <a:r>
              <a:rPr sz="1100" b="0" spc="-40">
                <a:solidFill>
                  <a:srgbClr val="6C757C"/>
                </a:solidFill>
                <a:latin typeface="Tahoma"/>
                <a:cs typeface="Tahoma"/>
              </a:rPr>
              <a:t>safety</a:t>
            </a:r>
            <a:r>
              <a:rPr sz="1100" b="0" spc="-20">
                <a:solidFill>
                  <a:srgbClr val="6C757C"/>
                </a:solidFill>
                <a:latin typeface="Tahoma"/>
                <a:cs typeface="Tahoma"/>
              </a:rPr>
              <a:t> </a:t>
            </a:r>
            <a:r>
              <a:rPr sz="1100" b="0" spc="-30">
                <a:solidFill>
                  <a:srgbClr val="6C757C"/>
                </a:solidFill>
                <a:latin typeface="Tahoma"/>
                <a:cs typeface="Tahoma"/>
              </a:rPr>
              <a:t>investigations</a:t>
            </a:r>
            <a:endParaRPr sz="1100">
              <a:latin typeface="Tahoma"/>
              <a:cs typeface="Tahoma"/>
            </a:endParaRPr>
          </a:p>
        </p:txBody>
      </p:sp>
      <p:sp>
        <p:nvSpPr>
          <p:cNvPr id="3" name="object 3"/>
          <p:cNvSpPr/>
          <p:nvPr/>
        </p:nvSpPr>
        <p:spPr>
          <a:xfrm>
            <a:off x="359994" y="617600"/>
            <a:ext cx="900430" cy="0"/>
          </a:xfrm>
          <a:custGeom>
            <a:avLst/>
            <a:gdLst/>
            <a:ahLst/>
            <a:cxnLst/>
            <a:rect l="l" t="t" r="r" b="b"/>
            <a:pathLst>
              <a:path w="900430">
                <a:moveTo>
                  <a:pt x="0" y="0"/>
                </a:moveTo>
                <a:lnTo>
                  <a:pt x="900010" y="0"/>
                </a:lnTo>
              </a:path>
            </a:pathLst>
          </a:custGeom>
          <a:ln w="18978">
            <a:solidFill>
              <a:srgbClr val="005F73"/>
            </a:solidFill>
          </a:ln>
        </p:spPr>
        <p:txBody>
          <a:bodyPr wrap="square" lIns="0" tIns="0" rIns="0" bIns="0" rtlCol="0"/>
          <a:lstStyle/>
          <a:p>
            <a:endParaRPr/>
          </a:p>
        </p:txBody>
      </p:sp>
      <p:sp>
        <p:nvSpPr>
          <p:cNvPr id="4" name="object 4"/>
          <p:cNvSpPr txBox="1">
            <a:spLocks noGrp="1"/>
          </p:cNvSpPr>
          <p:nvPr>
            <p:ph sz="half" idx="2"/>
          </p:nvPr>
        </p:nvSpPr>
        <p:spPr>
          <a:prstGeom prst="rect">
            <a:avLst/>
          </a:prstGeom>
        </p:spPr>
        <p:txBody>
          <a:bodyPr vert="horz" wrap="square" lIns="0" tIns="59690" rIns="0" bIns="0" rtlCol="0">
            <a:spAutoFit/>
          </a:bodyPr>
          <a:lstStyle/>
          <a:p>
            <a:pPr marL="180975" indent="-168275">
              <a:lnSpc>
                <a:spcPct val="100000"/>
              </a:lnSpc>
              <a:spcBef>
                <a:spcPts val="470"/>
              </a:spcBef>
              <a:buAutoNum type="arabicPeriod"/>
              <a:tabLst>
                <a:tab pos="180975" algn="l"/>
              </a:tabLst>
            </a:pPr>
            <a:r>
              <a:rPr spc="-20"/>
              <a:t>External</a:t>
            </a:r>
            <a:r>
              <a:rPr spc="25"/>
              <a:t> </a:t>
            </a:r>
            <a:r>
              <a:rPr spc="-30"/>
              <a:t>Environment</a:t>
            </a:r>
            <a:r>
              <a:rPr spc="5"/>
              <a:t> </a:t>
            </a:r>
            <a:r>
              <a:rPr sz="800" b="0" spc="-25">
                <a:solidFill>
                  <a:srgbClr val="202429"/>
                </a:solidFill>
                <a:latin typeface="Tahoma"/>
                <a:cs typeface="Tahoma"/>
              </a:rPr>
              <a:t>(5)</a:t>
            </a:r>
            <a:endParaRPr sz="800">
              <a:latin typeface="Tahoma"/>
              <a:cs typeface="Tahoma"/>
            </a:endParaRPr>
          </a:p>
          <a:p>
            <a:pPr marL="12700">
              <a:lnSpc>
                <a:spcPct val="100000"/>
              </a:lnSpc>
              <a:spcBef>
                <a:spcPts val="295"/>
              </a:spcBef>
            </a:pPr>
            <a:r>
              <a:rPr sz="800" b="0">
                <a:solidFill>
                  <a:srgbClr val="202429"/>
                </a:solidFill>
                <a:latin typeface="Tahoma"/>
                <a:cs typeface="Tahoma"/>
              </a:rPr>
              <a:t>Policy,</a:t>
            </a:r>
            <a:r>
              <a:rPr sz="800" b="0" spc="75">
                <a:solidFill>
                  <a:srgbClr val="202429"/>
                </a:solidFill>
                <a:latin typeface="Tahoma"/>
                <a:cs typeface="Tahoma"/>
              </a:rPr>
              <a:t> </a:t>
            </a:r>
            <a:r>
              <a:rPr sz="800" b="0">
                <a:solidFill>
                  <a:srgbClr val="202429"/>
                </a:solidFill>
                <a:latin typeface="Tahoma"/>
                <a:cs typeface="Tahoma"/>
              </a:rPr>
              <a:t>Societal,</a:t>
            </a:r>
            <a:r>
              <a:rPr sz="800" b="0" spc="75">
                <a:solidFill>
                  <a:srgbClr val="202429"/>
                </a:solidFill>
                <a:latin typeface="Tahoma"/>
                <a:cs typeface="Tahoma"/>
              </a:rPr>
              <a:t> </a:t>
            </a:r>
            <a:r>
              <a:rPr sz="800" b="0">
                <a:solidFill>
                  <a:srgbClr val="202429"/>
                </a:solidFill>
                <a:latin typeface="Tahoma"/>
                <a:cs typeface="Tahoma"/>
              </a:rPr>
              <a:t>Economic,</a:t>
            </a:r>
            <a:r>
              <a:rPr sz="800" b="0" spc="75">
                <a:solidFill>
                  <a:srgbClr val="202429"/>
                </a:solidFill>
                <a:latin typeface="Tahoma"/>
                <a:cs typeface="Tahoma"/>
              </a:rPr>
              <a:t> </a:t>
            </a:r>
            <a:r>
              <a:rPr sz="800" b="0">
                <a:solidFill>
                  <a:srgbClr val="202429"/>
                </a:solidFill>
                <a:latin typeface="Tahoma"/>
                <a:cs typeface="Tahoma"/>
              </a:rPr>
              <a:t>COVID,</a:t>
            </a:r>
            <a:r>
              <a:rPr sz="800" b="0" spc="75">
                <a:solidFill>
                  <a:srgbClr val="202429"/>
                </a:solidFill>
                <a:latin typeface="Tahoma"/>
                <a:cs typeface="Tahoma"/>
              </a:rPr>
              <a:t> </a:t>
            </a:r>
            <a:r>
              <a:rPr sz="800" b="0" spc="-10">
                <a:solidFill>
                  <a:srgbClr val="202429"/>
                </a:solidFill>
                <a:latin typeface="Tahoma"/>
                <a:cs typeface="Tahoma"/>
              </a:rPr>
              <a:t>Geographical</a:t>
            </a:r>
            <a:endParaRPr sz="800">
              <a:latin typeface="Tahoma"/>
              <a:cs typeface="Tahoma"/>
            </a:endParaRPr>
          </a:p>
          <a:p>
            <a:pPr marL="180975" indent="-168275">
              <a:lnSpc>
                <a:spcPct val="100000"/>
              </a:lnSpc>
              <a:spcBef>
                <a:spcPts val="284"/>
              </a:spcBef>
              <a:buAutoNum type="arabicPeriod" startAt="2"/>
              <a:tabLst>
                <a:tab pos="180975" algn="l"/>
              </a:tabLst>
            </a:pPr>
            <a:r>
              <a:rPr spc="-10"/>
              <a:t>Internal</a:t>
            </a:r>
            <a:r>
              <a:rPr spc="30"/>
              <a:t> </a:t>
            </a:r>
            <a:r>
              <a:rPr spc="-30"/>
              <a:t>Environment</a:t>
            </a:r>
            <a:r>
              <a:rPr spc="10"/>
              <a:t> </a:t>
            </a:r>
            <a:r>
              <a:rPr sz="800" b="0" spc="-25">
                <a:solidFill>
                  <a:srgbClr val="202429"/>
                </a:solidFill>
                <a:latin typeface="Tahoma"/>
                <a:cs typeface="Tahoma"/>
              </a:rPr>
              <a:t>(4)</a:t>
            </a:r>
            <a:endParaRPr sz="800">
              <a:latin typeface="Tahoma"/>
              <a:cs typeface="Tahoma"/>
            </a:endParaRPr>
          </a:p>
          <a:p>
            <a:pPr marL="12700">
              <a:lnSpc>
                <a:spcPct val="100000"/>
              </a:lnSpc>
              <a:spcBef>
                <a:spcPts val="295"/>
              </a:spcBef>
            </a:pPr>
            <a:r>
              <a:rPr sz="800" b="0">
                <a:solidFill>
                  <a:srgbClr val="202429"/>
                </a:solidFill>
                <a:latin typeface="Tahoma"/>
                <a:cs typeface="Tahoma"/>
              </a:rPr>
              <a:t>Physical</a:t>
            </a:r>
            <a:r>
              <a:rPr sz="800" b="0" spc="20">
                <a:solidFill>
                  <a:srgbClr val="202429"/>
                </a:solidFill>
                <a:latin typeface="Tahoma"/>
                <a:cs typeface="Tahoma"/>
              </a:rPr>
              <a:t> </a:t>
            </a:r>
            <a:r>
              <a:rPr sz="800" b="0">
                <a:solidFill>
                  <a:srgbClr val="202429"/>
                </a:solidFill>
                <a:latin typeface="Tahoma"/>
                <a:cs typeface="Tahoma"/>
              </a:rPr>
              <a:t>layout,</a:t>
            </a:r>
            <a:r>
              <a:rPr sz="800" b="0" spc="25">
                <a:solidFill>
                  <a:srgbClr val="202429"/>
                </a:solidFill>
                <a:latin typeface="Tahoma"/>
                <a:cs typeface="Tahoma"/>
              </a:rPr>
              <a:t> </a:t>
            </a:r>
            <a:r>
              <a:rPr sz="800" b="0">
                <a:solidFill>
                  <a:srgbClr val="202429"/>
                </a:solidFill>
                <a:latin typeface="Tahoma"/>
                <a:cs typeface="Tahoma"/>
              </a:rPr>
              <a:t>Acuity,</a:t>
            </a:r>
            <a:r>
              <a:rPr sz="800" b="0" spc="20">
                <a:solidFill>
                  <a:srgbClr val="202429"/>
                </a:solidFill>
                <a:latin typeface="Tahoma"/>
                <a:cs typeface="Tahoma"/>
              </a:rPr>
              <a:t> </a:t>
            </a:r>
            <a:r>
              <a:rPr sz="800" b="0">
                <a:solidFill>
                  <a:srgbClr val="202429"/>
                </a:solidFill>
                <a:latin typeface="Tahoma"/>
                <a:cs typeface="Tahoma"/>
              </a:rPr>
              <a:t>Availability,</a:t>
            </a:r>
            <a:r>
              <a:rPr sz="800" b="0" spc="25">
                <a:solidFill>
                  <a:srgbClr val="202429"/>
                </a:solidFill>
                <a:latin typeface="Tahoma"/>
                <a:cs typeface="Tahoma"/>
              </a:rPr>
              <a:t> </a:t>
            </a:r>
            <a:r>
              <a:rPr sz="800" b="0">
                <a:solidFill>
                  <a:srgbClr val="202429"/>
                </a:solidFill>
                <a:latin typeface="Tahoma"/>
                <a:cs typeface="Tahoma"/>
              </a:rPr>
              <a:t>Time</a:t>
            </a:r>
            <a:r>
              <a:rPr sz="800" b="0" spc="20">
                <a:solidFill>
                  <a:srgbClr val="202429"/>
                </a:solidFill>
                <a:latin typeface="Tahoma"/>
                <a:cs typeface="Tahoma"/>
              </a:rPr>
              <a:t> </a:t>
            </a:r>
            <a:r>
              <a:rPr sz="800" b="0">
                <a:solidFill>
                  <a:srgbClr val="202429"/>
                </a:solidFill>
                <a:latin typeface="Tahoma"/>
                <a:cs typeface="Tahoma"/>
              </a:rPr>
              <a:t>of</a:t>
            </a:r>
            <a:r>
              <a:rPr sz="800" b="0" spc="25">
                <a:solidFill>
                  <a:srgbClr val="202429"/>
                </a:solidFill>
                <a:latin typeface="Tahoma"/>
                <a:cs typeface="Tahoma"/>
              </a:rPr>
              <a:t> </a:t>
            </a:r>
            <a:r>
              <a:rPr sz="800" b="0" spc="-25">
                <a:solidFill>
                  <a:srgbClr val="202429"/>
                </a:solidFill>
                <a:latin typeface="Tahoma"/>
                <a:cs typeface="Tahoma"/>
              </a:rPr>
              <a:t>day</a:t>
            </a:r>
            <a:endParaRPr sz="800">
              <a:latin typeface="Tahoma"/>
              <a:cs typeface="Tahoma"/>
            </a:endParaRPr>
          </a:p>
          <a:p>
            <a:pPr marL="180975" indent="-168275">
              <a:lnSpc>
                <a:spcPct val="100000"/>
              </a:lnSpc>
              <a:spcBef>
                <a:spcPts val="284"/>
              </a:spcBef>
              <a:buAutoNum type="arabicPeriod" startAt="3"/>
              <a:tabLst>
                <a:tab pos="180975" algn="l"/>
              </a:tabLst>
            </a:pPr>
            <a:r>
              <a:rPr spc="-35"/>
              <a:t>Organisation</a:t>
            </a:r>
            <a:r>
              <a:rPr spc="35"/>
              <a:t> </a:t>
            </a:r>
            <a:r>
              <a:rPr sz="800" b="0" spc="-25">
                <a:solidFill>
                  <a:srgbClr val="202429"/>
                </a:solidFill>
                <a:latin typeface="Tahoma"/>
                <a:cs typeface="Tahoma"/>
              </a:rPr>
              <a:t>(8)</a:t>
            </a:r>
            <a:endParaRPr sz="800">
              <a:latin typeface="Tahoma"/>
              <a:cs typeface="Tahoma"/>
            </a:endParaRPr>
          </a:p>
          <a:p>
            <a:pPr marL="12700" marR="504190">
              <a:lnSpc>
                <a:spcPct val="124500"/>
              </a:lnSpc>
              <a:spcBef>
                <a:spcPts val="60"/>
              </a:spcBef>
            </a:pPr>
            <a:r>
              <a:rPr sz="800" b="0">
                <a:solidFill>
                  <a:srgbClr val="202429"/>
                </a:solidFill>
                <a:latin typeface="Tahoma"/>
                <a:cs typeface="Tahoma"/>
              </a:rPr>
              <a:t>Team</a:t>
            </a:r>
            <a:r>
              <a:rPr sz="800" b="0" spc="-10">
                <a:solidFill>
                  <a:srgbClr val="202429"/>
                </a:solidFill>
                <a:latin typeface="Tahoma"/>
                <a:cs typeface="Tahoma"/>
              </a:rPr>
              <a:t> </a:t>
            </a:r>
            <a:r>
              <a:rPr sz="800" b="0">
                <a:solidFill>
                  <a:srgbClr val="202429"/>
                </a:solidFill>
                <a:latin typeface="Tahoma"/>
                <a:cs typeface="Tahoma"/>
              </a:rPr>
              <a:t>culture,</a:t>
            </a:r>
            <a:r>
              <a:rPr sz="800" b="0" spc="-10">
                <a:solidFill>
                  <a:srgbClr val="202429"/>
                </a:solidFill>
                <a:latin typeface="Tahoma"/>
                <a:cs typeface="Tahoma"/>
              </a:rPr>
              <a:t> Incentive,</a:t>
            </a:r>
            <a:r>
              <a:rPr sz="800" b="0" spc="-5">
                <a:solidFill>
                  <a:srgbClr val="202429"/>
                </a:solidFill>
                <a:latin typeface="Tahoma"/>
                <a:cs typeface="Tahoma"/>
              </a:rPr>
              <a:t> </a:t>
            </a:r>
            <a:r>
              <a:rPr sz="800" b="0" spc="-10">
                <a:solidFill>
                  <a:srgbClr val="202429"/>
                </a:solidFill>
                <a:latin typeface="Tahoma"/>
                <a:cs typeface="Tahoma"/>
              </a:rPr>
              <a:t>Teamworking, </a:t>
            </a:r>
            <a:r>
              <a:rPr sz="800" b="0">
                <a:solidFill>
                  <a:srgbClr val="202429"/>
                </a:solidFill>
                <a:latin typeface="Tahoma"/>
                <a:cs typeface="Tahoma"/>
              </a:rPr>
              <a:t>Communication,</a:t>
            </a:r>
            <a:r>
              <a:rPr sz="800" b="0" spc="30">
                <a:solidFill>
                  <a:srgbClr val="202429"/>
                </a:solidFill>
                <a:latin typeface="Tahoma"/>
                <a:cs typeface="Tahoma"/>
              </a:rPr>
              <a:t> </a:t>
            </a:r>
            <a:r>
              <a:rPr sz="800" b="0" spc="-10">
                <a:solidFill>
                  <a:srgbClr val="202429"/>
                </a:solidFill>
                <a:latin typeface="Tahoma"/>
                <a:cs typeface="Tahoma"/>
              </a:rPr>
              <a:t>Documentation,</a:t>
            </a:r>
            <a:endParaRPr sz="800">
              <a:latin typeface="Tahoma"/>
              <a:cs typeface="Tahoma"/>
            </a:endParaRPr>
          </a:p>
          <a:p>
            <a:pPr marL="12700" marR="260985">
              <a:lnSpc>
                <a:spcPct val="124500"/>
              </a:lnSpc>
            </a:pPr>
            <a:r>
              <a:rPr sz="800" b="0">
                <a:solidFill>
                  <a:srgbClr val="202429"/>
                </a:solidFill>
                <a:latin typeface="Tahoma"/>
                <a:cs typeface="Tahoma"/>
              </a:rPr>
              <a:t>Escalation/referral,</a:t>
            </a:r>
            <a:r>
              <a:rPr sz="800" b="0" spc="110">
                <a:solidFill>
                  <a:srgbClr val="202429"/>
                </a:solidFill>
                <a:latin typeface="Tahoma"/>
                <a:cs typeface="Tahoma"/>
              </a:rPr>
              <a:t> </a:t>
            </a:r>
            <a:r>
              <a:rPr sz="800" b="0">
                <a:solidFill>
                  <a:srgbClr val="202429"/>
                </a:solidFill>
                <a:latin typeface="Tahoma"/>
                <a:cs typeface="Tahoma"/>
              </a:rPr>
              <a:t>National/local</a:t>
            </a:r>
            <a:r>
              <a:rPr sz="800" b="0" spc="110">
                <a:solidFill>
                  <a:srgbClr val="202429"/>
                </a:solidFill>
                <a:latin typeface="Tahoma"/>
                <a:cs typeface="Tahoma"/>
              </a:rPr>
              <a:t> </a:t>
            </a:r>
            <a:r>
              <a:rPr sz="800" b="0" spc="-10">
                <a:solidFill>
                  <a:srgbClr val="202429"/>
                </a:solidFill>
                <a:latin typeface="Tahoma"/>
                <a:cs typeface="Tahoma"/>
              </a:rPr>
              <a:t>guidance, Language</a:t>
            </a:r>
            <a:r>
              <a:rPr sz="800" b="0" spc="5">
                <a:solidFill>
                  <a:srgbClr val="202429"/>
                </a:solidFill>
                <a:latin typeface="Tahoma"/>
                <a:cs typeface="Tahoma"/>
              </a:rPr>
              <a:t> </a:t>
            </a:r>
            <a:r>
              <a:rPr sz="800" b="0" spc="-10">
                <a:solidFill>
                  <a:srgbClr val="202429"/>
                </a:solidFill>
                <a:latin typeface="Tahoma"/>
                <a:cs typeface="Tahoma"/>
              </a:rPr>
              <a:t>barrier</a:t>
            </a:r>
            <a:endParaRPr sz="800">
              <a:latin typeface="Tahoma"/>
              <a:cs typeface="Tahoma"/>
            </a:endParaRPr>
          </a:p>
          <a:p>
            <a:pPr marL="180975" indent="-168275">
              <a:lnSpc>
                <a:spcPct val="100000"/>
              </a:lnSpc>
              <a:spcBef>
                <a:spcPts val="284"/>
              </a:spcBef>
              <a:buAutoNum type="arabicPeriod" startAt="4"/>
              <a:tabLst>
                <a:tab pos="180975" algn="l"/>
              </a:tabLst>
            </a:pPr>
            <a:r>
              <a:t>Job/Task</a:t>
            </a:r>
            <a:r>
              <a:rPr spc="-20"/>
              <a:t> </a:t>
            </a:r>
            <a:r>
              <a:rPr sz="800" b="0" spc="-25">
                <a:solidFill>
                  <a:srgbClr val="202429"/>
                </a:solidFill>
                <a:latin typeface="Tahoma"/>
                <a:cs typeface="Tahoma"/>
              </a:rPr>
              <a:t>(7)</a:t>
            </a:r>
            <a:endParaRPr sz="800">
              <a:latin typeface="Tahoma"/>
              <a:cs typeface="Tahoma"/>
            </a:endParaRPr>
          </a:p>
          <a:p>
            <a:pPr marL="12700">
              <a:lnSpc>
                <a:spcPct val="100000"/>
              </a:lnSpc>
              <a:spcBef>
                <a:spcPts val="450"/>
              </a:spcBef>
            </a:pPr>
            <a:r>
              <a:rPr sz="800" b="0" spc="-10">
                <a:solidFill>
                  <a:srgbClr val="202429"/>
                </a:solidFill>
                <a:latin typeface="Tahoma"/>
                <a:cs typeface="Tahoma"/>
              </a:rPr>
              <a:t>Assessment,</a:t>
            </a:r>
            <a:r>
              <a:rPr sz="800" b="0" spc="-25">
                <a:solidFill>
                  <a:srgbClr val="202429"/>
                </a:solidFill>
                <a:latin typeface="Tahoma"/>
                <a:cs typeface="Tahoma"/>
              </a:rPr>
              <a:t> </a:t>
            </a:r>
            <a:r>
              <a:rPr sz="800" b="0">
                <a:solidFill>
                  <a:srgbClr val="202429"/>
                </a:solidFill>
                <a:latin typeface="Tahoma"/>
                <a:cs typeface="Tahoma"/>
              </a:rPr>
              <a:t>Care</a:t>
            </a:r>
            <a:r>
              <a:rPr sz="800" b="0" spc="-25">
                <a:solidFill>
                  <a:srgbClr val="202429"/>
                </a:solidFill>
                <a:latin typeface="Tahoma"/>
                <a:cs typeface="Tahoma"/>
              </a:rPr>
              <a:t> </a:t>
            </a:r>
            <a:r>
              <a:rPr sz="800" b="0">
                <a:solidFill>
                  <a:srgbClr val="202429"/>
                </a:solidFill>
                <a:latin typeface="Tahoma"/>
                <a:cs typeface="Tahoma"/>
              </a:rPr>
              <a:t>planning,</a:t>
            </a:r>
            <a:r>
              <a:rPr sz="800" b="0" spc="-25">
                <a:solidFill>
                  <a:srgbClr val="202429"/>
                </a:solidFill>
                <a:latin typeface="Tahoma"/>
                <a:cs typeface="Tahoma"/>
              </a:rPr>
              <a:t> </a:t>
            </a:r>
            <a:r>
              <a:rPr sz="800" b="0" spc="-10">
                <a:solidFill>
                  <a:srgbClr val="202429"/>
                </a:solidFill>
                <a:latin typeface="Tahoma"/>
                <a:cs typeface="Tahoma"/>
              </a:rPr>
              <a:t>Dispensing,</a:t>
            </a:r>
            <a:endParaRPr sz="800">
              <a:latin typeface="Tahoma"/>
              <a:cs typeface="Tahoma"/>
            </a:endParaRPr>
          </a:p>
          <a:p>
            <a:pPr marL="12700" marR="5080">
              <a:lnSpc>
                <a:spcPct val="141100"/>
              </a:lnSpc>
              <a:spcBef>
                <a:spcPts val="5"/>
              </a:spcBef>
            </a:pPr>
            <a:r>
              <a:rPr sz="800" b="0">
                <a:solidFill>
                  <a:srgbClr val="202429"/>
                </a:solidFill>
                <a:latin typeface="Tahoma"/>
                <a:cs typeface="Tahoma"/>
              </a:rPr>
              <a:t>Monitoring,</a:t>
            </a:r>
            <a:r>
              <a:rPr sz="800" b="0" spc="65">
                <a:solidFill>
                  <a:srgbClr val="202429"/>
                </a:solidFill>
                <a:latin typeface="Tahoma"/>
                <a:cs typeface="Tahoma"/>
              </a:rPr>
              <a:t> </a:t>
            </a:r>
            <a:r>
              <a:rPr sz="800" b="0">
                <a:solidFill>
                  <a:srgbClr val="202429"/>
                </a:solidFill>
                <a:latin typeface="Tahoma"/>
                <a:cs typeface="Tahoma"/>
              </a:rPr>
              <a:t>Risk</a:t>
            </a:r>
            <a:r>
              <a:rPr sz="800" b="0" spc="65">
                <a:solidFill>
                  <a:srgbClr val="202429"/>
                </a:solidFill>
                <a:latin typeface="Tahoma"/>
                <a:cs typeface="Tahoma"/>
              </a:rPr>
              <a:t> </a:t>
            </a:r>
            <a:r>
              <a:rPr sz="800" b="0" spc="-25">
                <a:solidFill>
                  <a:srgbClr val="202429"/>
                </a:solidFill>
                <a:latin typeface="Tahoma"/>
                <a:cs typeface="Tahoma"/>
              </a:rPr>
              <a:t>assessment,</a:t>
            </a:r>
            <a:r>
              <a:rPr sz="800" b="0" spc="65">
                <a:solidFill>
                  <a:srgbClr val="202429"/>
                </a:solidFill>
                <a:latin typeface="Tahoma"/>
                <a:cs typeface="Tahoma"/>
              </a:rPr>
              <a:t> </a:t>
            </a:r>
            <a:r>
              <a:rPr sz="800" b="0">
                <a:solidFill>
                  <a:srgbClr val="202429"/>
                </a:solidFill>
                <a:latin typeface="Tahoma"/>
                <a:cs typeface="Tahoma"/>
              </a:rPr>
              <a:t>Situation</a:t>
            </a:r>
            <a:r>
              <a:rPr sz="800" b="0" spc="65">
                <a:solidFill>
                  <a:srgbClr val="202429"/>
                </a:solidFill>
                <a:latin typeface="Tahoma"/>
                <a:cs typeface="Tahoma"/>
              </a:rPr>
              <a:t> </a:t>
            </a:r>
            <a:r>
              <a:rPr sz="800" b="0" spc="-30">
                <a:solidFill>
                  <a:srgbClr val="202429"/>
                </a:solidFill>
                <a:latin typeface="Tahoma"/>
                <a:cs typeface="Tahoma"/>
              </a:rPr>
              <a:t>awareness, </a:t>
            </a:r>
            <a:r>
              <a:rPr sz="800" b="0">
                <a:solidFill>
                  <a:srgbClr val="202429"/>
                </a:solidFill>
                <a:latin typeface="Tahoma"/>
                <a:cs typeface="Tahoma"/>
              </a:rPr>
              <a:t>Obstetric</a:t>
            </a:r>
            <a:r>
              <a:rPr sz="800" b="0" spc="90">
                <a:solidFill>
                  <a:srgbClr val="202429"/>
                </a:solidFill>
                <a:latin typeface="Tahoma"/>
                <a:cs typeface="Tahoma"/>
              </a:rPr>
              <a:t> </a:t>
            </a:r>
            <a:r>
              <a:rPr sz="800" b="0" spc="-10">
                <a:solidFill>
                  <a:srgbClr val="202429"/>
                </a:solidFill>
                <a:latin typeface="Tahoma"/>
                <a:cs typeface="Tahoma"/>
              </a:rPr>
              <a:t>review</a:t>
            </a:r>
            <a:endParaRPr sz="800">
              <a:latin typeface="Tahoma"/>
              <a:cs typeface="Tahoma"/>
            </a:endParaRPr>
          </a:p>
        </p:txBody>
      </p:sp>
      <p:sp>
        <p:nvSpPr>
          <p:cNvPr id="5" name="object 5"/>
          <p:cNvSpPr/>
          <p:nvPr/>
        </p:nvSpPr>
        <p:spPr>
          <a:xfrm>
            <a:off x="2880004" y="954595"/>
            <a:ext cx="0" cy="1872614"/>
          </a:xfrm>
          <a:custGeom>
            <a:avLst/>
            <a:gdLst/>
            <a:ahLst/>
            <a:cxnLst/>
            <a:rect l="l" t="t" r="r" b="b"/>
            <a:pathLst>
              <a:path h="1872614">
                <a:moveTo>
                  <a:pt x="0" y="1872005"/>
                </a:moveTo>
                <a:lnTo>
                  <a:pt x="0" y="0"/>
                </a:lnTo>
              </a:path>
            </a:pathLst>
          </a:custGeom>
          <a:ln w="6325">
            <a:solidFill>
              <a:srgbClr val="CED3DA"/>
            </a:solidFill>
          </a:ln>
        </p:spPr>
        <p:txBody>
          <a:bodyPr wrap="square" lIns="0" tIns="0" rIns="0" bIns="0" rtlCol="0"/>
          <a:lstStyle/>
          <a:p>
            <a:endParaRPr/>
          </a:p>
        </p:txBody>
      </p:sp>
      <p:sp>
        <p:nvSpPr>
          <p:cNvPr id="6" name="object 6"/>
          <p:cNvSpPr txBox="1">
            <a:spLocks noGrp="1"/>
          </p:cNvSpPr>
          <p:nvPr>
            <p:ph sz="half" idx="3"/>
          </p:nvPr>
        </p:nvSpPr>
        <p:spPr>
          <a:prstGeom prst="rect">
            <a:avLst/>
          </a:prstGeom>
        </p:spPr>
        <p:txBody>
          <a:bodyPr vert="horz" wrap="square" lIns="0" tIns="22225" rIns="0" bIns="0" rtlCol="0">
            <a:spAutoFit/>
          </a:bodyPr>
          <a:lstStyle/>
          <a:p>
            <a:pPr marL="12700" marR="571500" indent="168275">
              <a:lnSpc>
                <a:spcPct val="124600"/>
              </a:lnSpc>
              <a:spcBef>
                <a:spcPts val="175"/>
              </a:spcBef>
              <a:buAutoNum type="arabicPeriod" startAt="5"/>
              <a:tabLst>
                <a:tab pos="180975" algn="l"/>
              </a:tabLst>
            </a:pPr>
            <a:r>
              <a:rPr sz="1000" b="1" spc="-50">
                <a:solidFill>
                  <a:srgbClr val="005F73"/>
                </a:solidFill>
                <a:latin typeface="Arial"/>
                <a:cs typeface="Arial"/>
              </a:rPr>
              <a:t>Technologies</a:t>
            </a:r>
            <a:r>
              <a:rPr sz="1000" b="1" spc="35">
                <a:solidFill>
                  <a:srgbClr val="005F73"/>
                </a:solidFill>
                <a:latin typeface="Arial"/>
                <a:cs typeface="Arial"/>
              </a:rPr>
              <a:t> </a:t>
            </a:r>
            <a:r>
              <a:rPr sz="1000" b="1" spc="100">
                <a:solidFill>
                  <a:srgbClr val="005F73"/>
                </a:solidFill>
                <a:latin typeface="Arial"/>
                <a:cs typeface="Arial"/>
              </a:rPr>
              <a:t>&amp;</a:t>
            </a:r>
            <a:r>
              <a:rPr sz="1000" b="1" spc="40">
                <a:solidFill>
                  <a:srgbClr val="005F73"/>
                </a:solidFill>
                <a:latin typeface="Arial"/>
                <a:cs typeface="Arial"/>
              </a:rPr>
              <a:t> </a:t>
            </a:r>
            <a:r>
              <a:rPr sz="1000" b="1" spc="-35">
                <a:solidFill>
                  <a:srgbClr val="005F73"/>
                </a:solidFill>
                <a:latin typeface="Arial"/>
                <a:cs typeface="Arial"/>
              </a:rPr>
              <a:t>Tools</a:t>
            </a:r>
            <a:r>
              <a:rPr sz="1000" b="1" spc="15">
                <a:solidFill>
                  <a:srgbClr val="005F73"/>
                </a:solidFill>
                <a:latin typeface="Arial"/>
                <a:cs typeface="Arial"/>
              </a:rPr>
              <a:t> </a:t>
            </a:r>
            <a:r>
              <a:rPr spc="-25"/>
              <a:t>(2) </a:t>
            </a:r>
            <a:r>
              <a:rPr spc="-30"/>
              <a:t>Issues,</a:t>
            </a:r>
            <a:r>
              <a:rPr spc="-20"/>
              <a:t> </a:t>
            </a:r>
            <a:r>
              <a:rPr spc="-10"/>
              <a:t>Interpretation</a:t>
            </a:r>
            <a:r>
              <a:rPr spc="-15"/>
              <a:t> </a:t>
            </a:r>
            <a:r>
              <a:t>(e.g.</a:t>
            </a:r>
            <a:r>
              <a:rPr spc="-15"/>
              <a:t> </a:t>
            </a:r>
            <a:r>
              <a:rPr spc="30"/>
              <a:t>CTG)</a:t>
            </a:r>
            <a:endParaRPr sz="1000">
              <a:latin typeface="Arial"/>
              <a:cs typeface="Arial"/>
            </a:endParaRPr>
          </a:p>
          <a:p>
            <a:pPr marL="180975" indent="-168275">
              <a:lnSpc>
                <a:spcPct val="100000"/>
              </a:lnSpc>
              <a:spcBef>
                <a:spcPts val="284"/>
              </a:spcBef>
              <a:buAutoNum type="arabicPeriod" startAt="5"/>
              <a:tabLst>
                <a:tab pos="180975" algn="l"/>
              </a:tabLst>
            </a:pPr>
            <a:r>
              <a:rPr sz="1000" b="1" spc="-40">
                <a:solidFill>
                  <a:srgbClr val="005F73"/>
                </a:solidFill>
                <a:latin typeface="Arial"/>
                <a:cs typeface="Arial"/>
              </a:rPr>
              <a:t>Person</a:t>
            </a:r>
            <a:r>
              <a:rPr sz="1000" b="1" spc="45">
                <a:solidFill>
                  <a:srgbClr val="005F73"/>
                </a:solidFill>
                <a:latin typeface="Arial"/>
                <a:cs typeface="Arial"/>
              </a:rPr>
              <a:t> </a:t>
            </a:r>
            <a:r>
              <a:rPr sz="1000" b="1" spc="90">
                <a:solidFill>
                  <a:srgbClr val="005F73"/>
                </a:solidFill>
                <a:latin typeface="Arial"/>
                <a:cs typeface="Arial"/>
              </a:rPr>
              <a:t>—</a:t>
            </a:r>
            <a:r>
              <a:rPr sz="1000" b="1" spc="50">
                <a:solidFill>
                  <a:srgbClr val="005F73"/>
                </a:solidFill>
                <a:latin typeface="Arial"/>
                <a:cs typeface="Arial"/>
              </a:rPr>
              <a:t> </a:t>
            </a:r>
            <a:r>
              <a:rPr sz="1000" b="1">
                <a:solidFill>
                  <a:srgbClr val="005F73"/>
                </a:solidFill>
                <a:latin typeface="Arial"/>
                <a:cs typeface="Arial"/>
              </a:rPr>
              <a:t>Patient</a:t>
            </a:r>
            <a:r>
              <a:rPr sz="1000" b="1" spc="15">
                <a:solidFill>
                  <a:srgbClr val="005F73"/>
                </a:solidFill>
                <a:latin typeface="Arial"/>
                <a:cs typeface="Arial"/>
              </a:rPr>
              <a:t> </a:t>
            </a:r>
            <a:r>
              <a:rPr spc="-25"/>
              <a:t>(9)</a:t>
            </a:r>
            <a:endParaRPr sz="1000">
              <a:latin typeface="Arial"/>
              <a:cs typeface="Arial"/>
            </a:endParaRPr>
          </a:p>
          <a:p>
            <a:pPr marL="12700">
              <a:lnSpc>
                <a:spcPct val="100000"/>
              </a:lnSpc>
              <a:spcBef>
                <a:spcPts val="295"/>
              </a:spcBef>
            </a:pPr>
            <a:r>
              <a:t>Physical,</a:t>
            </a:r>
            <a:r>
              <a:rPr spc="30"/>
              <a:t> </a:t>
            </a:r>
            <a:r>
              <a:t>Psychological,</a:t>
            </a:r>
            <a:r>
              <a:rPr spc="35"/>
              <a:t> </a:t>
            </a:r>
            <a:r>
              <a:rPr spc="-10"/>
              <a:t>Language,</a:t>
            </a:r>
            <a:r>
              <a:rPr spc="35"/>
              <a:t> </a:t>
            </a:r>
            <a:r>
              <a:rPr spc="-10"/>
              <a:t>Disability,</a:t>
            </a:r>
          </a:p>
          <a:p>
            <a:pPr marL="12700" marR="5080">
              <a:lnSpc>
                <a:spcPct val="124500"/>
              </a:lnSpc>
            </a:pPr>
            <a:r>
              <a:t>Training,</a:t>
            </a:r>
            <a:r>
              <a:rPr spc="25"/>
              <a:t> </a:t>
            </a:r>
            <a:r>
              <a:t>Attendance,</a:t>
            </a:r>
            <a:r>
              <a:rPr spc="25"/>
              <a:t> </a:t>
            </a:r>
            <a:r>
              <a:t>Slip/lapse,</a:t>
            </a:r>
            <a:r>
              <a:rPr spc="25"/>
              <a:t> </a:t>
            </a:r>
            <a:r>
              <a:t>Decision</a:t>
            </a:r>
            <a:r>
              <a:rPr spc="25"/>
              <a:t> </a:t>
            </a:r>
            <a:r>
              <a:rPr spc="-10"/>
              <a:t>error, </a:t>
            </a:r>
            <a:r>
              <a:t>Rule</a:t>
            </a:r>
            <a:r>
              <a:rPr spc="-5"/>
              <a:t> </a:t>
            </a:r>
            <a:r>
              <a:rPr spc="-10"/>
              <a:t>breaking</a:t>
            </a:r>
          </a:p>
          <a:p>
            <a:pPr marL="180975" indent="-168275">
              <a:lnSpc>
                <a:spcPct val="100000"/>
              </a:lnSpc>
              <a:spcBef>
                <a:spcPts val="284"/>
              </a:spcBef>
              <a:buAutoNum type="arabicPeriod" startAt="7"/>
              <a:tabLst>
                <a:tab pos="180975" algn="l"/>
              </a:tabLst>
            </a:pPr>
            <a:r>
              <a:rPr sz="1000" b="1" spc="-40">
                <a:solidFill>
                  <a:srgbClr val="005F73"/>
                </a:solidFill>
                <a:latin typeface="Arial"/>
                <a:cs typeface="Arial"/>
              </a:rPr>
              <a:t>Person</a:t>
            </a:r>
            <a:r>
              <a:rPr sz="1000" b="1" spc="45">
                <a:solidFill>
                  <a:srgbClr val="005F73"/>
                </a:solidFill>
                <a:latin typeface="Arial"/>
                <a:cs typeface="Arial"/>
              </a:rPr>
              <a:t> </a:t>
            </a:r>
            <a:r>
              <a:rPr sz="1000" b="1" spc="90">
                <a:solidFill>
                  <a:srgbClr val="005F73"/>
                </a:solidFill>
                <a:latin typeface="Arial"/>
                <a:cs typeface="Arial"/>
              </a:rPr>
              <a:t>—</a:t>
            </a:r>
            <a:r>
              <a:rPr sz="1000" b="1" spc="45">
                <a:solidFill>
                  <a:srgbClr val="005F73"/>
                </a:solidFill>
                <a:latin typeface="Arial"/>
                <a:cs typeface="Arial"/>
              </a:rPr>
              <a:t> </a:t>
            </a:r>
            <a:r>
              <a:rPr sz="1000" b="1">
                <a:solidFill>
                  <a:srgbClr val="005F73"/>
                </a:solidFill>
                <a:latin typeface="Arial"/>
                <a:cs typeface="Arial"/>
              </a:rPr>
              <a:t>Staﬀ</a:t>
            </a:r>
            <a:r>
              <a:rPr sz="1000" b="1" spc="85">
                <a:solidFill>
                  <a:srgbClr val="005F73"/>
                </a:solidFill>
                <a:latin typeface="Arial"/>
                <a:cs typeface="Arial"/>
              </a:rPr>
              <a:t> </a:t>
            </a:r>
            <a:r>
              <a:rPr spc="-25"/>
              <a:t>(9)</a:t>
            </a:r>
            <a:endParaRPr sz="1000">
              <a:latin typeface="Arial"/>
              <a:cs typeface="Arial"/>
            </a:endParaRPr>
          </a:p>
          <a:p>
            <a:pPr marL="12700">
              <a:lnSpc>
                <a:spcPct val="100000"/>
              </a:lnSpc>
              <a:spcBef>
                <a:spcPts val="450"/>
              </a:spcBef>
            </a:pPr>
            <a:r>
              <a:t>Physical,</a:t>
            </a:r>
            <a:r>
              <a:rPr spc="30"/>
              <a:t> </a:t>
            </a:r>
            <a:r>
              <a:t>Psychological,</a:t>
            </a:r>
            <a:r>
              <a:rPr spc="35"/>
              <a:t> </a:t>
            </a:r>
            <a:r>
              <a:rPr spc="-10"/>
              <a:t>Language,</a:t>
            </a:r>
            <a:r>
              <a:rPr spc="35"/>
              <a:t> </a:t>
            </a:r>
            <a:r>
              <a:rPr spc="-10"/>
              <a:t>Disability,</a:t>
            </a:r>
          </a:p>
          <a:p>
            <a:pPr marL="12700" marR="5080">
              <a:lnSpc>
                <a:spcPct val="141100"/>
              </a:lnSpc>
              <a:spcBef>
                <a:spcPts val="5"/>
              </a:spcBef>
            </a:pPr>
            <a:r>
              <a:t>Training,</a:t>
            </a:r>
            <a:r>
              <a:rPr spc="25"/>
              <a:t> </a:t>
            </a:r>
            <a:r>
              <a:t>Attendance,</a:t>
            </a:r>
            <a:r>
              <a:rPr spc="25"/>
              <a:t> </a:t>
            </a:r>
            <a:r>
              <a:t>Slip/lapse,</a:t>
            </a:r>
            <a:r>
              <a:rPr spc="25"/>
              <a:t> </a:t>
            </a:r>
            <a:r>
              <a:t>Decision</a:t>
            </a:r>
            <a:r>
              <a:rPr spc="25"/>
              <a:t> </a:t>
            </a:r>
            <a:r>
              <a:rPr spc="-10"/>
              <a:t>error, </a:t>
            </a:r>
            <a:r>
              <a:t>Rule</a:t>
            </a:r>
            <a:r>
              <a:rPr spc="-5"/>
              <a:t> </a:t>
            </a:r>
            <a:r>
              <a:rPr spc="-10"/>
              <a:t>breaking</a:t>
            </a:r>
          </a:p>
        </p:txBody>
      </p:sp>
      <p:sp>
        <p:nvSpPr>
          <p:cNvPr id="7" name="object 7"/>
          <p:cNvSpPr txBox="1"/>
          <p:nvPr/>
        </p:nvSpPr>
        <p:spPr>
          <a:xfrm>
            <a:off x="3188512" y="2499575"/>
            <a:ext cx="2241550" cy="407670"/>
          </a:xfrm>
          <a:prstGeom prst="rect">
            <a:avLst/>
          </a:prstGeom>
          <a:solidFill>
            <a:srgbClr val="F8F8F9"/>
          </a:solidFill>
          <a:ln w="5060">
            <a:solidFill>
              <a:srgbClr val="CED3DA"/>
            </a:solidFill>
          </a:ln>
        </p:spPr>
        <p:txBody>
          <a:bodyPr vert="horz" wrap="square" lIns="0" tIns="42545" rIns="0" bIns="0" rtlCol="0">
            <a:spAutoFit/>
          </a:bodyPr>
          <a:lstStyle/>
          <a:p>
            <a:pPr marL="40005">
              <a:lnSpc>
                <a:spcPct val="100000"/>
              </a:lnSpc>
              <a:spcBef>
                <a:spcPts val="335"/>
              </a:spcBef>
            </a:pPr>
            <a:r>
              <a:rPr sz="1000" b="1">
                <a:solidFill>
                  <a:srgbClr val="202429"/>
                </a:solidFill>
                <a:latin typeface="Arial"/>
                <a:cs typeface="Arial"/>
              </a:rPr>
              <a:t>44</a:t>
            </a:r>
            <a:r>
              <a:rPr sz="1000" b="1" spc="35">
                <a:solidFill>
                  <a:srgbClr val="202429"/>
                </a:solidFill>
                <a:latin typeface="Arial"/>
                <a:cs typeface="Arial"/>
              </a:rPr>
              <a:t> </a:t>
            </a:r>
            <a:r>
              <a:rPr sz="1000" b="1" spc="-30">
                <a:solidFill>
                  <a:srgbClr val="202429"/>
                </a:solidFill>
                <a:latin typeface="Arial"/>
                <a:cs typeface="Arial"/>
              </a:rPr>
              <a:t>factors</a:t>
            </a:r>
            <a:r>
              <a:rPr sz="1000" b="1" spc="10">
                <a:solidFill>
                  <a:srgbClr val="202429"/>
                </a:solidFill>
                <a:latin typeface="Arial"/>
                <a:cs typeface="Arial"/>
              </a:rPr>
              <a:t> </a:t>
            </a:r>
            <a:r>
              <a:rPr sz="1000">
                <a:solidFill>
                  <a:srgbClr val="202429"/>
                </a:solidFill>
                <a:latin typeface="Tahoma"/>
                <a:cs typeface="Tahoma"/>
              </a:rPr>
              <a:t>in</a:t>
            </a:r>
            <a:r>
              <a:rPr sz="1000" spc="-30">
                <a:solidFill>
                  <a:srgbClr val="202429"/>
                </a:solidFill>
                <a:latin typeface="Tahoma"/>
                <a:cs typeface="Tahoma"/>
              </a:rPr>
              <a:t> </a:t>
            </a:r>
            <a:r>
              <a:rPr sz="1000">
                <a:solidFill>
                  <a:srgbClr val="202429"/>
                </a:solidFill>
                <a:latin typeface="Tahoma"/>
                <a:cs typeface="Tahoma"/>
              </a:rPr>
              <a:t>full</a:t>
            </a:r>
            <a:r>
              <a:rPr sz="1000" spc="-30">
                <a:solidFill>
                  <a:srgbClr val="202429"/>
                </a:solidFill>
                <a:latin typeface="Tahoma"/>
                <a:cs typeface="Tahoma"/>
              </a:rPr>
              <a:t> </a:t>
            </a:r>
            <a:r>
              <a:rPr sz="1000" spc="-10">
                <a:solidFill>
                  <a:srgbClr val="202429"/>
                </a:solidFill>
                <a:latin typeface="Tahoma"/>
                <a:cs typeface="Tahoma"/>
              </a:rPr>
              <a:t>taxonomy.</a:t>
            </a:r>
            <a:endParaRPr sz="1000">
              <a:latin typeface="Tahoma"/>
              <a:cs typeface="Tahoma"/>
            </a:endParaRPr>
          </a:p>
          <a:p>
            <a:pPr marL="40005">
              <a:lnSpc>
                <a:spcPct val="100000"/>
              </a:lnSpc>
              <a:spcBef>
                <a:spcPts val="155"/>
              </a:spcBef>
            </a:pPr>
            <a:r>
              <a:rPr sz="1000" b="1">
                <a:solidFill>
                  <a:srgbClr val="202429"/>
                </a:solidFill>
                <a:latin typeface="Arial"/>
                <a:cs typeface="Arial"/>
              </a:rPr>
              <a:t>27</a:t>
            </a:r>
            <a:r>
              <a:rPr sz="1000" b="1" spc="-20">
                <a:solidFill>
                  <a:srgbClr val="202429"/>
                </a:solidFill>
                <a:latin typeface="Arial"/>
                <a:cs typeface="Arial"/>
              </a:rPr>
              <a:t> </a:t>
            </a:r>
            <a:r>
              <a:rPr sz="1000" spc="-60">
                <a:solidFill>
                  <a:srgbClr val="202429"/>
                </a:solidFill>
                <a:latin typeface="Tahoma"/>
                <a:cs typeface="Tahoma"/>
              </a:rPr>
              <a:t>appeared</a:t>
            </a:r>
            <a:r>
              <a:rPr sz="1000" spc="-50">
                <a:solidFill>
                  <a:srgbClr val="202429"/>
                </a:solidFill>
                <a:latin typeface="Tahoma"/>
                <a:cs typeface="Tahoma"/>
              </a:rPr>
              <a:t> </a:t>
            </a:r>
            <a:r>
              <a:rPr sz="1000" spc="-25">
                <a:solidFill>
                  <a:srgbClr val="202429"/>
                </a:solidFill>
                <a:latin typeface="Tahoma"/>
                <a:cs typeface="Tahoma"/>
              </a:rPr>
              <a:t>in</a:t>
            </a:r>
            <a:r>
              <a:rPr sz="1000" spc="-50">
                <a:solidFill>
                  <a:srgbClr val="202429"/>
                </a:solidFill>
                <a:latin typeface="Tahoma"/>
                <a:cs typeface="Tahoma"/>
              </a:rPr>
              <a:t> </a:t>
            </a:r>
            <a:r>
              <a:rPr sz="1000" spc="-45">
                <a:solidFill>
                  <a:srgbClr val="202429"/>
                </a:solidFill>
                <a:latin typeface="Tahoma"/>
                <a:cs typeface="Tahoma"/>
              </a:rPr>
              <a:t>our</a:t>
            </a:r>
            <a:r>
              <a:rPr sz="1000" spc="-50">
                <a:solidFill>
                  <a:srgbClr val="202429"/>
                </a:solidFill>
                <a:latin typeface="Tahoma"/>
                <a:cs typeface="Tahoma"/>
              </a:rPr>
              <a:t> </a:t>
            </a:r>
            <a:r>
              <a:rPr sz="1000" spc="-60">
                <a:solidFill>
                  <a:srgbClr val="202429"/>
                </a:solidFill>
                <a:latin typeface="Tahoma"/>
                <a:cs typeface="Tahoma"/>
              </a:rPr>
              <a:t>188</a:t>
            </a:r>
            <a:r>
              <a:rPr sz="1000" spc="-50">
                <a:solidFill>
                  <a:srgbClr val="202429"/>
                </a:solidFill>
                <a:latin typeface="Tahoma"/>
                <a:cs typeface="Tahoma"/>
              </a:rPr>
              <a:t> </a:t>
            </a:r>
            <a:r>
              <a:rPr sz="1000" spc="-40">
                <a:solidFill>
                  <a:srgbClr val="202429"/>
                </a:solidFill>
                <a:latin typeface="Tahoma"/>
                <a:cs typeface="Tahoma"/>
              </a:rPr>
              <a:t>maternity</a:t>
            </a:r>
            <a:r>
              <a:rPr sz="1000" spc="-50">
                <a:solidFill>
                  <a:srgbClr val="202429"/>
                </a:solidFill>
                <a:latin typeface="Tahoma"/>
                <a:cs typeface="Tahoma"/>
              </a:rPr>
              <a:t> </a:t>
            </a:r>
            <a:r>
              <a:rPr sz="1000" spc="-10">
                <a:solidFill>
                  <a:srgbClr val="202429"/>
                </a:solidFill>
                <a:latin typeface="Tahoma"/>
                <a:cs typeface="Tahoma"/>
              </a:rPr>
              <a:t>reports.</a:t>
            </a:r>
            <a:endParaRPr sz="1000">
              <a:latin typeface="Tahoma"/>
              <a:cs typeface="Tahoma"/>
            </a:endParaRPr>
          </a:p>
        </p:txBody>
      </p:sp>
      <p:sp>
        <p:nvSpPr>
          <p:cNvPr id="8" name="object 8"/>
          <p:cNvSpPr/>
          <p:nvPr/>
        </p:nvSpPr>
        <p:spPr>
          <a:xfrm>
            <a:off x="0" y="3060028"/>
            <a:ext cx="5760085" cy="0"/>
          </a:xfrm>
          <a:custGeom>
            <a:avLst/>
            <a:gdLst/>
            <a:ahLst/>
            <a:cxnLst/>
            <a:rect l="l" t="t" r="r" b="b"/>
            <a:pathLst>
              <a:path w="5760085">
                <a:moveTo>
                  <a:pt x="0" y="0"/>
                </a:moveTo>
                <a:lnTo>
                  <a:pt x="5760073" y="0"/>
                </a:lnTo>
              </a:path>
            </a:pathLst>
          </a:custGeom>
          <a:ln w="6326">
            <a:solidFill>
              <a:srgbClr val="CED3DA"/>
            </a:solidFill>
          </a:ln>
        </p:spPr>
        <p:txBody>
          <a:bodyPr wrap="square" lIns="0" tIns="0" rIns="0" bIns="0" rtlCol="0"/>
          <a:lstStyle/>
          <a:p>
            <a:endParaRPr/>
          </a:p>
        </p:txBody>
      </p:sp>
      <p:sp>
        <p:nvSpPr>
          <p:cNvPr id="11" name="Slide Number Placeholder 10">
            <a:extLst>
              <a:ext uri="{FF2B5EF4-FFF2-40B4-BE49-F238E27FC236}">
                <a16:creationId xmlns:a16="http://schemas.microsoft.com/office/drawing/2014/main" id="{266CC2C7-A9F5-6006-9763-8DCE99F41C96}"/>
              </a:ext>
            </a:extLst>
          </p:cNvPr>
          <p:cNvSpPr>
            <a:spLocks noGrp="1"/>
          </p:cNvSpPr>
          <p:nvPr>
            <p:ph type="sldNum" sz="quarter" idx="7"/>
          </p:nvPr>
        </p:nvSpPr>
        <p:spPr>
          <a:xfrm>
            <a:off x="5295861" y="3070861"/>
            <a:ext cx="464224" cy="173989"/>
          </a:xfrm>
        </p:spPr>
        <p:txBody>
          <a:bodyPr/>
          <a:lstStyle/>
          <a:p>
            <a:pPr marL="39370">
              <a:lnSpc>
                <a:spcPct val="100000"/>
              </a:lnSpc>
              <a:spcBef>
                <a:spcPts val="219"/>
              </a:spcBef>
            </a:pPr>
            <a:fld id="{81D60167-4931-47E6-BA6A-407CBD079E47}" type="slidenum">
              <a:rPr lang="en-GB" smtClean="0"/>
              <a:t>9</a:t>
            </a:fld>
            <a:r>
              <a:rPr lang="en-GB" spc="20"/>
              <a:t> </a:t>
            </a:r>
            <a:r>
              <a:rPr lang="en-GB" spc="120"/>
              <a:t>/</a:t>
            </a:r>
            <a:r>
              <a:rPr lang="en-GB" spc="25"/>
              <a:t> </a:t>
            </a:r>
            <a:r>
              <a:rPr lang="en-GB" spc="-25"/>
              <a:t>41</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30505" rIns="0" bIns="0" rtlCol="0">
            <a:spAutoFit/>
          </a:bodyPr>
          <a:lstStyle/>
          <a:p>
            <a:pPr marL="99060">
              <a:lnSpc>
                <a:spcPct val="100000"/>
              </a:lnSpc>
              <a:spcBef>
                <a:spcPts val="390"/>
              </a:spcBef>
            </a:pPr>
            <a:r>
              <a:rPr spc="65"/>
              <a:t>I-</a:t>
            </a:r>
            <a:r>
              <a:t>SIRch:</a:t>
            </a:r>
            <a:r>
              <a:rPr spc="204"/>
              <a:t> </a:t>
            </a:r>
            <a:r>
              <a:rPr spc="-10"/>
              <a:t>Training</a:t>
            </a:r>
            <a:r>
              <a:rPr spc="55"/>
              <a:t> </a:t>
            </a:r>
            <a:r>
              <a:t>the</a:t>
            </a:r>
            <a:r>
              <a:rPr spc="60"/>
              <a:t> </a:t>
            </a:r>
            <a:r>
              <a:rPr spc="-10"/>
              <a:t>Model</a:t>
            </a:r>
          </a:p>
          <a:p>
            <a:pPr marL="99060">
              <a:lnSpc>
                <a:spcPct val="100000"/>
              </a:lnSpc>
              <a:spcBef>
                <a:spcPts val="195"/>
              </a:spcBef>
            </a:pPr>
            <a:r>
              <a:rPr sz="1100" b="0" spc="-10">
                <a:solidFill>
                  <a:srgbClr val="6C757C"/>
                </a:solidFill>
                <a:latin typeface="Tahoma"/>
                <a:cs typeface="Tahoma"/>
              </a:rPr>
              <a:t>Expert</a:t>
            </a:r>
            <a:r>
              <a:rPr sz="1100" b="0" spc="-30">
                <a:solidFill>
                  <a:srgbClr val="6C757C"/>
                </a:solidFill>
                <a:latin typeface="Tahoma"/>
                <a:cs typeface="Tahoma"/>
              </a:rPr>
              <a:t> </a:t>
            </a:r>
            <a:r>
              <a:rPr sz="1100" b="0" spc="-35">
                <a:solidFill>
                  <a:srgbClr val="6C757C"/>
                </a:solidFill>
                <a:latin typeface="Tahoma"/>
                <a:cs typeface="Tahoma"/>
              </a:rPr>
              <a:t>annotation</a:t>
            </a:r>
            <a:r>
              <a:rPr sz="1100" b="0" spc="-30">
                <a:solidFill>
                  <a:srgbClr val="6C757C"/>
                </a:solidFill>
                <a:latin typeface="Tahoma"/>
                <a:cs typeface="Tahoma"/>
              </a:rPr>
              <a:t> </a:t>
            </a:r>
            <a:r>
              <a:rPr sz="1100" b="0">
                <a:solidFill>
                  <a:srgbClr val="6C757C"/>
                </a:solidFill>
                <a:latin typeface="Tahoma"/>
                <a:cs typeface="Tahoma"/>
              </a:rPr>
              <a:t>with</a:t>
            </a:r>
            <a:r>
              <a:rPr sz="1100" b="0" spc="-35">
                <a:solidFill>
                  <a:srgbClr val="6C757C"/>
                </a:solidFill>
                <a:latin typeface="Tahoma"/>
                <a:cs typeface="Tahoma"/>
              </a:rPr>
              <a:t> </a:t>
            </a:r>
            <a:r>
              <a:rPr sz="1100" b="0" spc="-55">
                <a:solidFill>
                  <a:srgbClr val="6C757C"/>
                </a:solidFill>
                <a:latin typeface="Tahoma"/>
                <a:cs typeface="Tahoma"/>
              </a:rPr>
              <a:t>human-</a:t>
            </a:r>
            <a:r>
              <a:rPr sz="1100" b="0" spc="-40">
                <a:solidFill>
                  <a:srgbClr val="6C757C"/>
                </a:solidFill>
                <a:latin typeface="Tahoma"/>
                <a:cs typeface="Tahoma"/>
              </a:rPr>
              <a:t>in-</a:t>
            </a:r>
            <a:r>
              <a:rPr sz="1100" b="0" spc="-45">
                <a:solidFill>
                  <a:srgbClr val="6C757C"/>
                </a:solidFill>
                <a:latin typeface="Tahoma"/>
                <a:cs typeface="Tahoma"/>
              </a:rPr>
              <a:t>the-</a:t>
            </a:r>
            <a:r>
              <a:rPr sz="1100" b="0" spc="-20">
                <a:solidFill>
                  <a:srgbClr val="6C757C"/>
                </a:solidFill>
                <a:latin typeface="Tahoma"/>
                <a:cs typeface="Tahoma"/>
              </a:rPr>
              <a:t>loop</a:t>
            </a:r>
            <a:r>
              <a:rPr sz="1100" b="0" spc="-30">
                <a:solidFill>
                  <a:srgbClr val="6C757C"/>
                </a:solidFill>
                <a:latin typeface="Tahoma"/>
                <a:cs typeface="Tahoma"/>
              </a:rPr>
              <a:t> </a:t>
            </a:r>
            <a:r>
              <a:rPr sz="1100" b="0" spc="-10">
                <a:solidFill>
                  <a:srgbClr val="6C757C"/>
                </a:solidFill>
                <a:latin typeface="Tahoma"/>
                <a:cs typeface="Tahoma"/>
              </a:rPr>
              <a:t>validation</a:t>
            </a:r>
            <a:endParaRPr sz="1100">
              <a:latin typeface="Tahoma"/>
              <a:cs typeface="Tahoma"/>
            </a:endParaRPr>
          </a:p>
        </p:txBody>
      </p:sp>
      <p:sp>
        <p:nvSpPr>
          <p:cNvPr id="3" name="object 3"/>
          <p:cNvSpPr/>
          <p:nvPr/>
        </p:nvSpPr>
        <p:spPr>
          <a:xfrm>
            <a:off x="359994" y="684720"/>
            <a:ext cx="900430" cy="0"/>
          </a:xfrm>
          <a:custGeom>
            <a:avLst/>
            <a:gdLst/>
            <a:ahLst/>
            <a:cxnLst/>
            <a:rect l="l" t="t" r="r" b="b"/>
            <a:pathLst>
              <a:path w="900430">
                <a:moveTo>
                  <a:pt x="0" y="0"/>
                </a:moveTo>
                <a:lnTo>
                  <a:pt x="900010" y="0"/>
                </a:lnTo>
              </a:path>
            </a:pathLst>
          </a:custGeom>
          <a:ln w="18978">
            <a:solidFill>
              <a:srgbClr val="005F73"/>
            </a:solidFill>
          </a:ln>
        </p:spPr>
        <p:txBody>
          <a:bodyPr wrap="square" lIns="0" tIns="0" rIns="0" bIns="0" rtlCol="0"/>
          <a:lstStyle/>
          <a:p>
            <a:endParaRPr/>
          </a:p>
        </p:txBody>
      </p:sp>
      <p:sp>
        <p:nvSpPr>
          <p:cNvPr id="4" name="object 4"/>
          <p:cNvSpPr txBox="1"/>
          <p:nvPr/>
        </p:nvSpPr>
        <p:spPr>
          <a:xfrm>
            <a:off x="217690" y="760891"/>
            <a:ext cx="2417445" cy="1063625"/>
          </a:xfrm>
          <a:prstGeom prst="rect">
            <a:avLst/>
          </a:prstGeom>
        </p:spPr>
        <p:txBody>
          <a:bodyPr vert="horz" wrap="square" lIns="0" tIns="69215" rIns="0" bIns="0" rtlCol="0">
            <a:spAutoFit/>
          </a:bodyPr>
          <a:lstStyle/>
          <a:p>
            <a:pPr marL="12700">
              <a:lnSpc>
                <a:spcPct val="100000"/>
              </a:lnSpc>
              <a:spcBef>
                <a:spcPts val="545"/>
              </a:spcBef>
            </a:pPr>
            <a:r>
              <a:rPr sz="1100" b="1" spc="-10">
                <a:solidFill>
                  <a:srgbClr val="202429"/>
                </a:solidFill>
                <a:latin typeface="Arial"/>
                <a:cs typeface="Arial"/>
              </a:rPr>
              <a:t>Human</a:t>
            </a:r>
            <a:r>
              <a:rPr sz="1100" b="1" spc="20">
                <a:solidFill>
                  <a:srgbClr val="202429"/>
                </a:solidFill>
                <a:latin typeface="Arial"/>
                <a:cs typeface="Arial"/>
              </a:rPr>
              <a:t> </a:t>
            </a:r>
            <a:r>
              <a:rPr sz="1100" b="1" spc="-30">
                <a:solidFill>
                  <a:srgbClr val="202429"/>
                </a:solidFill>
                <a:latin typeface="Arial"/>
                <a:cs typeface="Arial"/>
              </a:rPr>
              <a:t>annotation</a:t>
            </a:r>
            <a:r>
              <a:rPr sz="1100" b="1" spc="20">
                <a:solidFill>
                  <a:srgbClr val="202429"/>
                </a:solidFill>
                <a:latin typeface="Arial"/>
                <a:cs typeface="Arial"/>
              </a:rPr>
              <a:t> </a:t>
            </a:r>
            <a:r>
              <a:rPr sz="1100" b="1" spc="-10">
                <a:solidFill>
                  <a:srgbClr val="202429"/>
                </a:solidFill>
                <a:latin typeface="Arial"/>
                <a:cs typeface="Arial"/>
              </a:rPr>
              <a:t>process:</a:t>
            </a:r>
            <a:endParaRPr sz="1100">
              <a:latin typeface="Arial"/>
              <a:cs typeface="Arial"/>
            </a:endParaRPr>
          </a:p>
          <a:p>
            <a:pPr marL="175260" indent="-162560">
              <a:lnSpc>
                <a:spcPct val="100000"/>
              </a:lnSpc>
              <a:spcBef>
                <a:spcPts val="414"/>
              </a:spcBef>
              <a:buClr>
                <a:srgbClr val="005F73"/>
              </a:buClr>
              <a:buFont typeface="Arial"/>
              <a:buAutoNum type="arabicPeriod"/>
              <a:tabLst>
                <a:tab pos="175260" algn="l"/>
              </a:tabLst>
            </a:pPr>
            <a:r>
              <a:rPr sz="1000" spc="-20">
                <a:solidFill>
                  <a:srgbClr val="202429"/>
                </a:solidFill>
                <a:latin typeface="Tahoma"/>
                <a:cs typeface="Tahoma"/>
              </a:rPr>
              <a:t>Three</a:t>
            </a:r>
            <a:r>
              <a:rPr sz="1000" spc="-30">
                <a:solidFill>
                  <a:srgbClr val="202429"/>
                </a:solidFill>
                <a:latin typeface="Tahoma"/>
                <a:cs typeface="Tahoma"/>
              </a:rPr>
              <a:t> </a:t>
            </a:r>
            <a:r>
              <a:rPr sz="1000" spc="-35">
                <a:solidFill>
                  <a:srgbClr val="202429"/>
                </a:solidFill>
                <a:latin typeface="Tahoma"/>
                <a:cs typeface="Tahoma"/>
              </a:rPr>
              <a:t>domain</a:t>
            </a:r>
            <a:r>
              <a:rPr sz="1000" spc="-25">
                <a:solidFill>
                  <a:srgbClr val="202429"/>
                </a:solidFill>
                <a:latin typeface="Tahoma"/>
                <a:cs typeface="Tahoma"/>
              </a:rPr>
              <a:t> </a:t>
            </a:r>
            <a:r>
              <a:rPr sz="1000" spc="-40">
                <a:solidFill>
                  <a:srgbClr val="202429"/>
                </a:solidFill>
                <a:latin typeface="Tahoma"/>
                <a:cs typeface="Tahoma"/>
              </a:rPr>
              <a:t>experts</a:t>
            </a:r>
            <a:r>
              <a:rPr sz="1000" spc="-25">
                <a:solidFill>
                  <a:srgbClr val="202429"/>
                </a:solidFill>
                <a:latin typeface="Tahoma"/>
                <a:cs typeface="Tahoma"/>
              </a:rPr>
              <a:t> </a:t>
            </a:r>
            <a:r>
              <a:rPr sz="1000" spc="-35">
                <a:solidFill>
                  <a:srgbClr val="202429"/>
                </a:solidFill>
                <a:latin typeface="Tahoma"/>
                <a:cs typeface="Tahoma"/>
              </a:rPr>
              <a:t>annotated</a:t>
            </a:r>
            <a:r>
              <a:rPr sz="1000" spc="-20">
                <a:solidFill>
                  <a:srgbClr val="202429"/>
                </a:solidFill>
                <a:latin typeface="Tahoma"/>
                <a:cs typeface="Tahoma"/>
              </a:rPr>
              <a:t> </a:t>
            </a:r>
            <a:r>
              <a:rPr sz="1000" spc="-10">
                <a:solidFill>
                  <a:srgbClr val="202429"/>
                </a:solidFill>
                <a:latin typeface="Tahoma"/>
                <a:cs typeface="Tahoma"/>
              </a:rPr>
              <a:t>reports</a:t>
            </a:r>
            <a:endParaRPr sz="1000">
              <a:latin typeface="Tahoma"/>
              <a:cs typeface="Tahoma"/>
            </a:endParaRPr>
          </a:p>
          <a:p>
            <a:pPr marL="175260" indent="-162560">
              <a:lnSpc>
                <a:spcPct val="100000"/>
              </a:lnSpc>
              <a:spcBef>
                <a:spcPts val="345"/>
              </a:spcBef>
              <a:buClr>
                <a:srgbClr val="005F73"/>
              </a:buClr>
              <a:buFont typeface="Arial"/>
              <a:buAutoNum type="arabicPeriod"/>
              <a:tabLst>
                <a:tab pos="175260" algn="l"/>
              </a:tabLst>
            </a:pPr>
            <a:r>
              <a:rPr sz="1000" spc="-25">
                <a:solidFill>
                  <a:srgbClr val="202429"/>
                </a:solidFill>
                <a:latin typeface="Tahoma"/>
                <a:cs typeface="Tahoma"/>
              </a:rPr>
              <a:t>Used</a:t>
            </a:r>
            <a:r>
              <a:rPr sz="1000" spc="-35">
                <a:solidFill>
                  <a:srgbClr val="202429"/>
                </a:solidFill>
                <a:latin typeface="Tahoma"/>
                <a:cs typeface="Tahoma"/>
              </a:rPr>
              <a:t> </a:t>
            </a:r>
            <a:r>
              <a:rPr sz="1000" spc="-30">
                <a:solidFill>
                  <a:srgbClr val="202429"/>
                </a:solidFill>
                <a:latin typeface="Tahoma"/>
                <a:cs typeface="Tahoma"/>
              </a:rPr>
              <a:t>SIRch </a:t>
            </a:r>
            <a:r>
              <a:rPr sz="1000" spc="-35">
                <a:solidFill>
                  <a:srgbClr val="202429"/>
                </a:solidFill>
                <a:latin typeface="Tahoma"/>
                <a:cs typeface="Tahoma"/>
              </a:rPr>
              <a:t>taxonomy</a:t>
            </a:r>
            <a:endParaRPr sz="1000">
              <a:latin typeface="Tahoma"/>
              <a:cs typeface="Tahoma"/>
            </a:endParaRPr>
          </a:p>
          <a:p>
            <a:pPr marL="175260" indent="-162560">
              <a:lnSpc>
                <a:spcPct val="100000"/>
              </a:lnSpc>
              <a:spcBef>
                <a:spcPts val="340"/>
              </a:spcBef>
              <a:buClr>
                <a:srgbClr val="005F73"/>
              </a:buClr>
              <a:buAutoNum type="arabicPeriod"/>
              <a:tabLst>
                <a:tab pos="175260" algn="l"/>
              </a:tabLst>
            </a:pPr>
            <a:r>
              <a:rPr sz="1000" b="1" spc="-10">
                <a:solidFill>
                  <a:srgbClr val="202429"/>
                </a:solidFill>
                <a:latin typeface="Arial"/>
                <a:cs typeface="Arial"/>
              </a:rPr>
              <a:t>Ethnicity</a:t>
            </a:r>
            <a:r>
              <a:rPr sz="1000" b="1" spc="-5">
                <a:solidFill>
                  <a:srgbClr val="202429"/>
                </a:solidFill>
                <a:latin typeface="Arial"/>
                <a:cs typeface="Arial"/>
              </a:rPr>
              <a:t> </a:t>
            </a:r>
            <a:r>
              <a:rPr sz="1000" b="1" spc="-35">
                <a:solidFill>
                  <a:srgbClr val="202429"/>
                </a:solidFill>
                <a:latin typeface="Arial"/>
                <a:cs typeface="Arial"/>
              </a:rPr>
              <a:t>blinded</a:t>
            </a:r>
            <a:r>
              <a:rPr sz="1000" b="1" spc="-20">
                <a:solidFill>
                  <a:srgbClr val="202429"/>
                </a:solidFill>
                <a:latin typeface="Arial"/>
                <a:cs typeface="Arial"/>
              </a:rPr>
              <a:t> </a:t>
            </a:r>
            <a:r>
              <a:rPr sz="1000" spc="-25">
                <a:solidFill>
                  <a:srgbClr val="202429"/>
                </a:solidFill>
                <a:latin typeface="Tahoma"/>
                <a:cs typeface="Tahoma"/>
              </a:rPr>
              <a:t>during</a:t>
            </a:r>
            <a:r>
              <a:rPr sz="1000" spc="-55">
                <a:solidFill>
                  <a:srgbClr val="202429"/>
                </a:solidFill>
                <a:latin typeface="Tahoma"/>
                <a:cs typeface="Tahoma"/>
              </a:rPr>
              <a:t> </a:t>
            </a:r>
            <a:r>
              <a:rPr sz="1000" spc="-10">
                <a:solidFill>
                  <a:srgbClr val="202429"/>
                </a:solidFill>
                <a:latin typeface="Tahoma"/>
                <a:cs typeface="Tahoma"/>
              </a:rPr>
              <a:t>annotation</a:t>
            </a:r>
            <a:endParaRPr sz="1000">
              <a:latin typeface="Tahoma"/>
              <a:cs typeface="Tahoma"/>
            </a:endParaRPr>
          </a:p>
          <a:p>
            <a:pPr marL="175260" indent="-162560">
              <a:lnSpc>
                <a:spcPct val="100000"/>
              </a:lnSpc>
              <a:spcBef>
                <a:spcPts val="505"/>
              </a:spcBef>
              <a:buClr>
                <a:srgbClr val="005F73"/>
              </a:buClr>
              <a:buFont typeface="Arial"/>
              <a:buAutoNum type="arabicPeriod"/>
              <a:tabLst>
                <a:tab pos="175260" algn="l"/>
              </a:tabLst>
            </a:pPr>
            <a:r>
              <a:rPr sz="1000" spc="-50">
                <a:solidFill>
                  <a:srgbClr val="202429"/>
                </a:solidFill>
                <a:latin typeface="Tahoma"/>
                <a:cs typeface="Tahoma"/>
              </a:rPr>
              <a:t>Inter-</a:t>
            </a:r>
            <a:r>
              <a:rPr sz="1000" spc="-30">
                <a:solidFill>
                  <a:srgbClr val="202429"/>
                </a:solidFill>
                <a:latin typeface="Tahoma"/>
                <a:cs typeface="Tahoma"/>
              </a:rPr>
              <a:t>rater</a:t>
            </a:r>
            <a:r>
              <a:rPr sz="1000" spc="-50">
                <a:solidFill>
                  <a:srgbClr val="202429"/>
                </a:solidFill>
                <a:latin typeface="Tahoma"/>
                <a:cs typeface="Tahoma"/>
              </a:rPr>
              <a:t> </a:t>
            </a:r>
            <a:r>
              <a:rPr sz="1000" spc="-10">
                <a:solidFill>
                  <a:srgbClr val="202429"/>
                </a:solidFill>
                <a:latin typeface="Tahoma"/>
                <a:cs typeface="Tahoma"/>
              </a:rPr>
              <a:t>reliability:</a:t>
            </a:r>
            <a:r>
              <a:rPr sz="1000" spc="40">
                <a:solidFill>
                  <a:srgbClr val="202429"/>
                </a:solidFill>
                <a:latin typeface="Tahoma"/>
                <a:cs typeface="Tahoma"/>
              </a:rPr>
              <a:t> </a:t>
            </a:r>
            <a:r>
              <a:rPr sz="1000" b="1" spc="-10">
                <a:solidFill>
                  <a:srgbClr val="202429"/>
                </a:solidFill>
                <a:latin typeface="Arial"/>
                <a:cs typeface="Arial"/>
              </a:rPr>
              <a:t>80.15%</a:t>
            </a:r>
            <a:endParaRPr sz="1000">
              <a:latin typeface="Arial"/>
              <a:cs typeface="Arial"/>
            </a:endParaRPr>
          </a:p>
        </p:txBody>
      </p:sp>
      <p:sp>
        <p:nvSpPr>
          <p:cNvPr id="5" name="object 5"/>
          <p:cNvSpPr/>
          <p:nvPr/>
        </p:nvSpPr>
        <p:spPr>
          <a:xfrm>
            <a:off x="235458" y="1966887"/>
            <a:ext cx="2236470" cy="415925"/>
          </a:xfrm>
          <a:custGeom>
            <a:avLst/>
            <a:gdLst/>
            <a:ahLst/>
            <a:cxnLst/>
            <a:rect l="l" t="t" r="r" b="b"/>
            <a:pathLst>
              <a:path w="2236470" h="415925">
                <a:moveTo>
                  <a:pt x="2235911" y="0"/>
                </a:moveTo>
                <a:lnTo>
                  <a:pt x="0" y="0"/>
                </a:lnTo>
                <a:lnTo>
                  <a:pt x="0" y="415874"/>
                </a:lnTo>
                <a:lnTo>
                  <a:pt x="2235911" y="415874"/>
                </a:lnTo>
                <a:lnTo>
                  <a:pt x="2235911" y="0"/>
                </a:lnTo>
                <a:close/>
              </a:path>
            </a:pathLst>
          </a:custGeom>
          <a:solidFill>
            <a:srgbClr val="E8F4F8"/>
          </a:solidFill>
        </p:spPr>
        <p:txBody>
          <a:bodyPr wrap="square" lIns="0" tIns="0" rIns="0" bIns="0" rtlCol="0"/>
          <a:lstStyle/>
          <a:p>
            <a:endParaRPr/>
          </a:p>
        </p:txBody>
      </p:sp>
      <p:sp>
        <p:nvSpPr>
          <p:cNvPr id="6" name="object 6"/>
          <p:cNvSpPr txBox="1"/>
          <p:nvPr/>
        </p:nvSpPr>
        <p:spPr>
          <a:xfrm>
            <a:off x="235458" y="1966887"/>
            <a:ext cx="2236470" cy="186690"/>
          </a:xfrm>
          <a:prstGeom prst="rect">
            <a:avLst/>
          </a:prstGeom>
          <a:solidFill>
            <a:srgbClr val="E8F4F8"/>
          </a:solidFill>
        </p:spPr>
        <p:txBody>
          <a:bodyPr vert="horz" wrap="square" lIns="0" tIns="26034" rIns="0" bIns="0" rtlCol="0">
            <a:spAutoFit/>
          </a:bodyPr>
          <a:lstStyle/>
          <a:p>
            <a:pPr marL="37465">
              <a:lnSpc>
                <a:spcPct val="100000"/>
              </a:lnSpc>
              <a:spcBef>
                <a:spcPts val="204"/>
              </a:spcBef>
            </a:pPr>
            <a:r>
              <a:rPr sz="1000">
                <a:solidFill>
                  <a:srgbClr val="202429"/>
                </a:solidFill>
                <a:latin typeface="Tahoma"/>
                <a:cs typeface="Tahoma"/>
              </a:rPr>
              <a:t>Blinding</a:t>
            </a:r>
            <a:r>
              <a:rPr sz="1000" spc="-20">
                <a:solidFill>
                  <a:srgbClr val="202429"/>
                </a:solidFill>
                <a:latin typeface="Tahoma"/>
                <a:cs typeface="Tahoma"/>
              </a:rPr>
              <a:t> ethnicity</a:t>
            </a:r>
            <a:r>
              <a:rPr sz="1000" spc="-15">
                <a:solidFill>
                  <a:srgbClr val="202429"/>
                </a:solidFill>
                <a:latin typeface="Tahoma"/>
                <a:cs typeface="Tahoma"/>
              </a:rPr>
              <a:t> </a:t>
            </a:r>
            <a:r>
              <a:rPr sz="1000" spc="-25">
                <a:solidFill>
                  <a:srgbClr val="202429"/>
                </a:solidFill>
                <a:latin typeface="Tahoma"/>
                <a:cs typeface="Tahoma"/>
              </a:rPr>
              <a:t>during</a:t>
            </a:r>
            <a:r>
              <a:rPr sz="1000" spc="-20">
                <a:solidFill>
                  <a:srgbClr val="202429"/>
                </a:solidFill>
                <a:latin typeface="Tahoma"/>
                <a:cs typeface="Tahoma"/>
              </a:rPr>
              <a:t> </a:t>
            </a:r>
            <a:r>
              <a:rPr sz="1000" spc="-30">
                <a:solidFill>
                  <a:srgbClr val="202429"/>
                </a:solidFill>
                <a:latin typeface="Tahoma"/>
                <a:cs typeface="Tahoma"/>
              </a:rPr>
              <a:t>annotation</a:t>
            </a:r>
            <a:r>
              <a:rPr sz="1000" spc="-15">
                <a:solidFill>
                  <a:srgbClr val="202429"/>
                </a:solidFill>
                <a:latin typeface="Tahoma"/>
                <a:cs typeface="Tahoma"/>
              </a:rPr>
              <a:t> </a:t>
            </a:r>
            <a:r>
              <a:rPr sz="1000" spc="-20">
                <a:solidFill>
                  <a:srgbClr val="202429"/>
                </a:solidFill>
                <a:latin typeface="Tahoma"/>
                <a:cs typeface="Tahoma"/>
              </a:rPr>
              <a:t>pre-</a:t>
            </a:r>
            <a:endParaRPr sz="1000">
              <a:latin typeface="Tahoma"/>
              <a:cs typeface="Tahoma"/>
            </a:endParaRPr>
          </a:p>
        </p:txBody>
      </p:sp>
      <p:sp>
        <p:nvSpPr>
          <p:cNvPr id="7" name="object 7"/>
          <p:cNvSpPr txBox="1"/>
          <p:nvPr/>
        </p:nvSpPr>
        <p:spPr>
          <a:xfrm>
            <a:off x="235458" y="2153003"/>
            <a:ext cx="2236470" cy="229870"/>
          </a:xfrm>
          <a:prstGeom prst="rect">
            <a:avLst/>
          </a:prstGeom>
          <a:solidFill>
            <a:srgbClr val="E8F4F8"/>
          </a:solidFill>
        </p:spPr>
        <p:txBody>
          <a:bodyPr vert="horz" wrap="square" lIns="0" tIns="12065" rIns="0" bIns="0" rtlCol="0">
            <a:spAutoFit/>
          </a:bodyPr>
          <a:lstStyle/>
          <a:p>
            <a:pPr marL="37465">
              <a:lnSpc>
                <a:spcPct val="100000"/>
              </a:lnSpc>
              <a:spcBef>
                <a:spcPts val="95"/>
              </a:spcBef>
            </a:pPr>
            <a:r>
              <a:rPr sz="1000" spc="-45">
                <a:solidFill>
                  <a:srgbClr val="202429"/>
                </a:solidFill>
                <a:latin typeface="Tahoma"/>
                <a:cs typeface="Tahoma"/>
              </a:rPr>
              <a:t>vents</a:t>
            </a:r>
            <a:r>
              <a:rPr sz="1000" spc="-10">
                <a:solidFill>
                  <a:srgbClr val="202429"/>
                </a:solidFill>
                <a:latin typeface="Tahoma"/>
                <a:cs typeface="Tahoma"/>
              </a:rPr>
              <a:t> </a:t>
            </a:r>
            <a:r>
              <a:rPr sz="1000" spc="-50">
                <a:solidFill>
                  <a:srgbClr val="202429"/>
                </a:solidFill>
                <a:latin typeface="Tahoma"/>
                <a:cs typeface="Tahoma"/>
              </a:rPr>
              <a:t>biases</a:t>
            </a:r>
            <a:r>
              <a:rPr sz="1000" spc="-10">
                <a:solidFill>
                  <a:srgbClr val="202429"/>
                </a:solidFill>
                <a:latin typeface="Tahoma"/>
                <a:cs typeface="Tahoma"/>
              </a:rPr>
              <a:t> </a:t>
            </a:r>
            <a:r>
              <a:rPr sz="1000" spc="-35">
                <a:solidFill>
                  <a:srgbClr val="202429"/>
                </a:solidFill>
                <a:latin typeface="Tahoma"/>
                <a:cs typeface="Tahoma"/>
              </a:rPr>
              <a:t>entering</a:t>
            </a:r>
            <a:r>
              <a:rPr sz="1000" spc="-5">
                <a:solidFill>
                  <a:srgbClr val="202429"/>
                </a:solidFill>
                <a:latin typeface="Tahoma"/>
                <a:cs typeface="Tahoma"/>
              </a:rPr>
              <a:t> </a:t>
            </a:r>
            <a:r>
              <a:rPr sz="1000" spc="-20">
                <a:solidFill>
                  <a:srgbClr val="202429"/>
                </a:solidFill>
                <a:latin typeface="Tahoma"/>
                <a:cs typeface="Tahoma"/>
              </a:rPr>
              <a:t>the</a:t>
            </a:r>
            <a:r>
              <a:rPr sz="1000" spc="-10">
                <a:solidFill>
                  <a:srgbClr val="202429"/>
                </a:solidFill>
                <a:latin typeface="Tahoma"/>
                <a:cs typeface="Tahoma"/>
              </a:rPr>
              <a:t> </a:t>
            </a:r>
            <a:r>
              <a:rPr sz="1000" spc="-20">
                <a:solidFill>
                  <a:srgbClr val="202429"/>
                </a:solidFill>
                <a:latin typeface="Tahoma"/>
                <a:cs typeface="Tahoma"/>
              </a:rPr>
              <a:t>training</a:t>
            </a:r>
            <a:r>
              <a:rPr sz="1000" spc="-10">
                <a:solidFill>
                  <a:srgbClr val="202429"/>
                </a:solidFill>
                <a:latin typeface="Tahoma"/>
                <a:cs typeface="Tahoma"/>
              </a:rPr>
              <a:t> data.</a:t>
            </a:r>
            <a:endParaRPr sz="1000">
              <a:latin typeface="Tahoma"/>
              <a:cs typeface="Tahoma"/>
            </a:endParaRPr>
          </a:p>
        </p:txBody>
      </p:sp>
      <p:sp>
        <p:nvSpPr>
          <p:cNvPr id="8" name="object 8"/>
          <p:cNvSpPr/>
          <p:nvPr/>
        </p:nvSpPr>
        <p:spPr>
          <a:xfrm>
            <a:off x="230390" y="1964359"/>
            <a:ext cx="2246630" cy="421005"/>
          </a:xfrm>
          <a:custGeom>
            <a:avLst/>
            <a:gdLst/>
            <a:ahLst/>
            <a:cxnLst/>
            <a:rect l="l" t="t" r="r" b="b"/>
            <a:pathLst>
              <a:path w="2246630" h="421005">
                <a:moveTo>
                  <a:pt x="0" y="0"/>
                </a:moveTo>
                <a:lnTo>
                  <a:pt x="2246033" y="0"/>
                </a:lnTo>
              </a:path>
              <a:path w="2246630" h="421005">
                <a:moveTo>
                  <a:pt x="2527" y="420941"/>
                </a:moveTo>
                <a:lnTo>
                  <a:pt x="2527" y="0"/>
                </a:lnTo>
              </a:path>
              <a:path w="2246630" h="421005">
                <a:moveTo>
                  <a:pt x="2243505" y="420941"/>
                </a:moveTo>
                <a:lnTo>
                  <a:pt x="2243505" y="0"/>
                </a:lnTo>
              </a:path>
              <a:path w="2246630" h="421005">
                <a:moveTo>
                  <a:pt x="0" y="420941"/>
                </a:moveTo>
                <a:lnTo>
                  <a:pt x="2246033" y="420941"/>
                </a:lnTo>
              </a:path>
            </a:pathLst>
          </a:custGeom>
          <a:ln w="5060">
            <a:solidFill>
              <a:srgbClr val="005F73"/>
            </a:solidFill>
          </a:ln>
        </p:spPr>
        <p:txBody>
          <a:bodyPr wrap="square" lIns="0" tIns="0" rIns="0" bIns="0" rtlCol="0"/>
          <a:lstStyle/>
          <a:p>
            <a:endParaRPr/>
          </a:p>
        </p:txBody>
      </p:sp>
      <p:sp>
        <p:nvSpPr>
          <p:cNvPr id="9" name="object 9"/>
          <p:cNvSpPr/>
          <p:nvPr/>
        </p:nvSpPr>
        <p:spPr>
          <a:xfrm>
            <a:off x="2930372" y="1049426"/>
            <a:ext cx="0" cy="1440180"/>
          </a:xfrm>
          <a:custGeom>
            <a:avLst/>
            <a:gdLst/>
            <a:ahLst/>
            <a:cxnLst/>
            <a:rect l="l" t="t" r="r" b="b"/>
            <a:pathLst>
              <a:path h="1440180">
                <a:moveTo>
                  <a:pt x="0" y="1440002"/>
                </a:moveTo>
                <a:lnTo>
                  <a:pt x="0" y="0"/>
                </a:lnTo>
              </a:path>
            </a:pathLst>
          </a:custGeom>
          <a:ln w="6325">
            <a:solidFill>
              <a:srgbClr val="CED3DA"/>
            </a:solidFill>
          </a:ln>
        </p:spPr>
        <p:txBody>
          <a:bodyPr wrap="square" lIns="0" tIns="0" rIns="0" bIns="0" rtlCol="0"/>
          <a:lstStyle/>
          <a:p>
            <a:endParaRPr/>
          </a:p>
        </p:txBody>
      </p:sp>
      <p:sp>
        <p:nvSpPr>
          <p:cNvPr id="10" name="object 10"/>
          <p:cNvSpPr txBox="1"/>
          <p:nvPr/>
        </p:nvSpPr>
        <p:spPr>
          <a:xfrm>
            <a:off x="3198469" y="818945"/>
            <a:ext cx="1376680" cy="191770"/>
          </a:xfrm>
          <a:prstGeom prst="rect">
            <a:avLst/>
          </a:prstGeom>
        </p:spPr>
        <p:txBody>
          <a:bodyPr vert="horz" wrap="square" lIns="0" tIns="11430" rIns="0" bIns="0" rtlCol="0">
            <a:spAutoFit/>
          </a:bodyPr>
          <a:lstStyle/>
          <a:p>
            <a:pPr marL="12700">
              <a:lnSpc>
                <a:spcPct val="100000"/>
              </a:lnSpc>
              <a:spcBef>
                <a:spcPts val="90"/>
              </a:spcBef>
            </a:pPr>
            <a:r>
              <a:rPr sz="1100" b="1">
                <a:solidFill>
                  <a:srgbClr val="202429"/>
                </a:solidFill>
                <a:latin typeface="Arial"/>
                <a:cs typeface="Arial"/>
              </a:rPr>
              <a:t>Dataset</a:t>
            </a:r>
            <a:r>
              <a:rPr sz="1100" b="1" spc="10">
                <a:solidFill>
                  <a:srgbClr val="202429"/>
                </a:solidFill>
                <a:latin typeface="Arial"/>
                <a:cs typeface="Arial"/>
              </a:rPr>
              <a:t> </a:t>
            </a:r>
            <a:r>
              <a:rPr sz="1100" b="1" spc="-50">
                <a:solidFill>
                  <a:srgbClr val="202429"/>
                </a:solidFill>
                <a:latin typeface="Arial"/>
                <a:cs typeface="Arial"/>
              </a:rPr>
              <a:t>composition:</a:t>
            </a:r>
            <a:endParaRPr sz="1100">
              <a:latin typeface="Arial"/>
              <a:cs typeface="Arial"/>
            </a:endParaRPr>
          </a:p>
        </p:txBody>
      </p:sp>
      <p:grpSp>
        <p:nvGrpSpPr>
          <p:cNvPr id="11" name="object 11"/>
          <p:cNvGrpSpPr/>
          <p:nvPr/>
        </p:nvGrpSpPr>
        <p:grpSpPr>
          <a:xfrm>
            <a:off x="3431845" y="1179067"/>
            <a:ext cx="1877695" cy="725170"/>
            <a:chOff x="3431845" y="1179067"/>
            <a:chExt cx="1877695" cy="725170"/>
          </a:xfrm>
        </p:grpSpPr>
        <p:sp>
          <p:nvSpPr>
            <p:cNvPr id="12" name="object 12"/>
            <p:cNvSpPr/>
            <p:nvPr/>
          </p:nvSpPr>
          <p:spPr>
            <a:xfrm>
              <a:off x="3434376" y="1181597"/>
              <a:ext cx="1872614" cy="720090"/>
            </a:xfrm>
            <a:custGeom>
              <a:avLst/>
              <a:gdLst/>
              <a:ahLst/>
              <a:cxnLst/>
              <a:rect l="l" t="t" r="r" b="b"/>
              <a:pathLst>
                <a:path w="1872614" h="720089">
                  <a:moveTo>
                    <a:pt x="1796106" y="0"/>
                  </a:moveTo>
                  <a:lnTo>
                    <a:pt x="75916" y="0"/>
                  </a:lnTo>
                  <a:lnTo>
                    <a:pt x="46366" y="5965"/>
                  </a:lnTo>
                  <a:lnTo>
                    <a:pt x="22235" y="22235"/>
                  </a:lnTo>
                  <a:lnTo>
                    <a:pt x="5965" y="46366"/>
                  </a:lnTo>
                  <a:lnTo>
                    <a:pt x="0" y="75916"/>
                  </a:lnTo>
                  <a:lnTo>
                    <a:pt x="0" y="644092"/>
                  </a:lnTo>
                  <a:lnTo>
                    <a:pt x="5965" y="673642"/>
                  </a:lnTo>
                  <a:lnTo>
                    <a:pt x="22235" y="697773"/>
                  </a:lnTo>
                  <a:lnTo>
                    <a:pt x="46366" y="714042"/>
                  </a:lnTo>
                  <a:lnTo>
                    <a:pt x="75916" y="720008"/>
                  </a:lnTo>
                  <a:lnTo>
                    <a:pt x="1796106" y="720008"/>
                  </a:lnTo>
                  <a:lnTo>
                    <a:pt x="1825656" y="714042"/>
                  </a:lnTo>
                  <a:lnTo>
                    <a:pt x="1849787" y="697773"/>
                  </a:lnTo>
                  <a:lnTo>
                    <a:pt x="1866056" y="673642"/>
                  </a:lnTo>
                  <a:lnTo>
                    <a:pt x="1872022" y="644092"/>
                  </a:lnTo>
                  <a:lnTo>
                    <a:pt x="1872022" y="75916"/>
                  </a:lnTo>
                  <a:lnTo>
                    <a:pt x="1866056" y="46366"/>
                  </a:lnTo>
                  <a:lnTo>
                    <a:pt x="1849787" y="22235"/>
                  </a:lnTo>
                  <a:lnTo>
                    <a:pt x="1825656" y="5965"/>
                  </a:lnTo>
                  <a:lnTo>
                    <a:pt x="1796106" y="0"/>
                  </a:lnTo>
                  <a:close/>
                </a:path>
              </a:pathLst>
            </a:custGeom>
            <a:solidFill>
              <a:srgbClr val="E7F3F8"/>
            </a:solidFill>
          </p:spPr>
          <p:txBody>
            <a:bodyPr wrap="square" lIns="0" tIns="0" rIns="0" bIns="0" rtlCol="0"/>
            <a:lstStyle/>
            <a:p>
              <a:endParaRPr/>
            </a:p>
          </p:txBody>
        </p:sp>
        <p:sp>
          <p:nvSpPr>
            <p:cNvPr id="13" name="object 13"/>
            <p:cNvSpPr/>
            <p:nvPr/>
          </p:nvSpPr>
          <p:spPr>
            <a:xfrm>
              <a:off x="3434376" y="1181597"/>
              <a:ext cx="1872614" cy="720090"/>
            </a:xfrm>
            <a:custGeom>
              <a:avLst/>
              <a:gdLst/>
              <a:ahLst/>
              <a:cxnLst/>
              <a:rect l="l" t="t" r="r" b="b"/>
              <a:pathLst>
                <a:path w="1872614" h="720089">
                  <a:moveTo>
                    <a:pt x="1796106" y="0"/>
                  </a:moveTo>
                  <a:lnTo>
                    <a:pt x="75916" y="0"/>
                  </a:lnTo>
                  <a:lnTo>
                    <a:pt x="46366" y="5965"/>
                  </a:lnTo>
                  <a:lnTo>
                    <a:pt x="22235" y="22235"/>
                  </a:lnTo>
                  <a:lnTo>
                    <a:pt x="5965" y="46366"/>
                  </a:lnTo>
                  <a:lnTo>
                    <a:pt x="0" y="75916"/>
                  </a:lnTo>
                  <a:lnTo>
                    <a:pt x="0" y="644092"/>
                  </a:lnTo>
                  <a:lnTo>
                    <a:pt x="5965" y="673642"/>
                  </a:lnTo>
                  <a:lnTo>
                    <a:pt x="22235" y="697773"/>
                  </a:lnTo>
                  <a:lnTo>
                    <a:pt x="46366" y="714042"/>
                  </a:lnTo>
                  <a:lnTo>
                    <a:pt x="75916" y="720008"/>
                  </a:lnTo>
                  <a:lnTo>
                    <a:pt x="1796106" y="720008"/>
                  </a:lnTo>
                  <a:lnTo>
                    <a:pt x="1825656" y="714042"/>
                  </a:lnTo>
                  <a:lnTo>
                    <a:pt x="1849787" y="697773"/>
                  </a:lnTo>
                  <a:lnTo>
                    <a:pt x="1866056" y="673642"/>
                  </a:lnTo>
                  <a:lnTo>
                    <a:pt x="1872022" y="644092"/>
                  </a:lnTo>
                  <a:lnTo>
                    <a:pt x="1872022" y="75916"/>
                  </a:lnTo>
                  <a:lnTo>
                    <a:pt x="1866056" y="46366"/>
                  </a:lnTo>
                  <a:lnTo>
                    <a:pt x="1849787" y="22235"/>
                  </a:lnTo>
                  <a:lnTo>
                    <a:pt x="1825656" y="5965"/>
                  </a:lnTo>
                  <a:lnTo>
                    <a:pt x="1796106" y="0"/>
                  </a:lnTo>
                  <a:close/>
                </a:path>
              </a:pathLst>
            </a:custGeom>
            <a:ln w="5060">
              <a:solidFill>
                <a:srgbClr val="005F72"/>
              </a:solidFill>
            </a:ln>
          </p:spPr>
          <p:txBody>
            <a:bodyPr wrap="square" lIns="0" tIns="0" rIns="0" bIns="0" rtlCol="0"/>
            <a:lstStyle/>
            <a:p>
              <a:endParaRPr/>
            </a:p>
          </p:txBody>
        </p:sp>
      </p:grpSp>
      <p:sp>
        <p:nvSpPr>
          <p:cNvPr id="14" name="object 14"/>
          <p:cNvSpPr txBox="1"/>
          <p:nvPr/>
        </p:nvSpPr>
        <p:spPr>
          <a:xfrm>
            <a:off x="4128046" y="1167196"/>
            <a:ext cx="485140" cy="360045"/>
          </a:xfrm>
          <a:prstGeom prst="rect">
            <a:avLst/>
          </a:prstGeom>
        </p:spPr>
        <p:txBody>
          <a:bodyPr vert="horz" wrap="square" lIns="0" tIns="11430" rIns="0" bIns="0" rtlCol="0">
            <a:spAutoFit/>
          </a:bodyPr>
          <a:lstStyle/>
          <a:p>
            <a:pPr marL="12700">
              <a:lnSpc>
                <a:spcPct val="100000"/>
              </a:lnSpc>
              <a:spcBef>
                <a:spcPts val="90"/>
              </a:spcBef>
            </a:pPr>
            <a:r>
              <a:rPr sz="2200" b="1" spc="-25">
                <a:solidFill>
                  <a:srgbClr val="005F73"/>
                </a:solidFill>
                <a:latin typeface="Arial"/>
                <a:cs typeface="Arial"/>
              </a:rPr>
              <a:t>188</a:t>
            </a:r>
            <a:endParaRPr sz="2200">
              <a:latin typeface="Arial"/>
              <a:cs typeface="Arial"/>
            </a:endParaRPr>
          </a:p>
        </p:txBody>
      </p:sp>
      <p:sp>
        <p:nvSpPr>
          <p:cNvPr id="15" name="object 15"/>
          <p:cNvSpPr txBox="1"/>
          <p:nvPr/>
        </p:nvSpPr>
        <p:spPr>
          <a:xfrm>
            <a:off x="3686657" y="1418290"/>
            <a:ext cx="1367155" cy="327025"/>
          </a:xfrm>
          <a:prstGeom prst="rect">
            <a:avLst/>
          </a:prstGeom>
        </p:spPr>
        <p:txBody>
          <a:bodyPr vert="horz" wrap="square" lIns="0" tIns="27940" rIns="0" bIns="0" rtlCol="0">
            <a:spAutoFit/>
          </a:bodyPr>
          <a:lstStyle/>
          <a:p>
            <a:pPr marL="12700">
              <a:lnSpc>
                <a:spcPct val="100000"/>
              </a:lnSpc>
              <a:spcBef>
                <a:spcPts val="220"/>
              </a:spcBef>
            </a:pPr>
            <a:r>
              <a:rPr sz="1000" spc="-20">
                <a:solidFill>
                  <a:srgbClr val="202528"/>
                </a:solidFill>
                <a:latin typeface="Tahoma"/>
                <a:cs typeface="Tahoma"/>
              </a:rPr>
              <a:t>Real</a:t>
            </a:r>
            <a:r>
              <a:rPr sz="1000" spc="-10">
                <a:solidFill>
                  <a:srgbClr val="202528"/>
                </a:solidFill>
                <a:latin typeface="Tahoma"/>
                <a:cs typeface="Tahoma"/>
              </a:rPr>
              <a:t> </a:t>
            </a:r>
            <a:r>
              <a:rPr sz="1000" spc="-35">
                <a:solidFill>
                  <a:srgbClr val="202528"/>
                </a:solidFill>
                <a:latin typeface="Tahoma"/>
                <a:cs typeface="Tahoma"/>
              </a:rPr>
              <a:t>investigation</a:t>
            </a:r>
            <a:r>
              <a:rPr sz="1000" spc="-5">
                <a:solidFill>
                  <a:srgbClr val="202528"/>
                </a:solidFill>
                <a:latin typeface="Tahoma"/>
                <a:cs typeface="Tahoma"/>
              </a:rPr>
              <a:t> </a:t>
            </a:r>
            <a:r>
              <a:rPr sz="1000" spc="-10">
                <a:solidFill>
                  <a:srgbClr val="202528"/>
                </a:solidFill>
                <a:latin typeface="Tahoma"/>
                <a:cs typeface="Tahoma"/>
              </a:rPr>
              <a:t>reports</a:t>
            </a:r>
            <a:endParaRPr sz="1000">
              <a:latin typeface="Tahoma"/>
              <a:cs typeface="Tahoma"/>
            </a:endParaRPr>
          </a:p>
          <a:p>
            <a:pPr marL="56515">
              <a:lnSpc>
                <a:spcPct val="100000"/>
              </a:lnSpc>
              <a:spcBef>
                <a:spcPts val="95"/>
              </a:spcBef>
            </a:pPr>
            <a:r>
              <a:rPr sz="800" spc="-25">
                <a:solidFill>
                  <a:srgbClr val="6C757C"/>
                </a:solidFill>
                <a:latin typeface="Tahoma"/>
                <a:cs typeface="Tahoma"/>
              </a:rPr>
              <a:t>2019–</a:t>
            </a:r>
            <a:r>
              <a:rPr sz="800">
                <a:solidFill>
                  <a:srgbClr val="6C757C"/>
                </a:solidFill>
                <a:latin typeface="Tahoma"/>
                <a:cs typeface="Tahoma"/>
              </a:rPr>
              <a:t>2022,</a:t>
            </a:r>
            <a:r>
              <a:rPr sz="800" spc="-25">
                <a:solidFill>
                  <a:srgbClr val="6C757C"/>
                </a:solidFill>
                <a:latin typeface="Tahoma"/>
                <a:cs typeface="Tahoma"/>
              </a:rPr>
              <a:t> </a:t>
            </a:r>
            <a:r>
              <a:rPr sz="800">
                <a:solidFill>
                  <a:srgbClr val="6C757C"/>
                </a:solidFill>
                <a:latin typeface="Tahoma"/>
                <a:cs typeface="Tahoma"/>
              </a:rPr>
              <a:t>3,122</a:t>
            </a:r>
            <a:r>
              <a:rPr sz="800" spc="-20">
                <a:solidFill>
                  <a:srgbClr val="6C757C"/>
                </a:solidFill>
                <a:latin typeface="Tahoma"/>
                <a:cs typeface="Tahoma"/>
              </a:rPr>
              <a:t> </a:t>
            </a:r>
            <a:r>
              <a:rPr sz="800" spc="-10">
                <a:solidFill>
                  <a:srgbClr val="6C757C"/>
                </a:solidFill>
                <a:latin typeface="Tahoma"/>
                <a:cs typeface="Tahoma"/>
              </a:rPr>
              <a:t>sentences</a:t>
            </a:r>
            <a:endParaRPr sz="800">
              <a:latin typeface="Tahoma"/>
              <a:cs typeface="Tahoma"/>
            </a:endParaRPr>
          </a:p>
        </p:txBody>
      </p:sp>
      <p:sp>
        <p:nvSpPr>
          <p:cNvPr id="16" name="object 16"/>
          <p:cNvSpPr txBox="1"/>
          <p:nvPr/>
        </p:nvSpPr>
        <p:spPr>
          <a:xfrm>
            <a:off x="3198469" y="2027840"/>
            <a:ext cx="2255520" cy="379730"/>
          </a:xfrm>
          <a:prstGeom prst="rect">
            <a:avLst/>
          </a:prstGeom>
        </p:spPr>
        <p:txBody>
          <a:bodyPr vert="horz" wrap="square" lIns="0" tIns="37465" rIns="0" bIns="0" rtlCol="0">
            <a:spAutoFit/>
          </a:bodyPr>
          <a:lstStyle/>
          <a:p>
            <a:pPr marL="117475" indent="-104775">
              <a:lnSpc>
                <a:spcPct val="100000"/>
              </a:lnSpc>
              <a:spcBef>
                <a:spcPts val="295"/>
              </a:spcBef>
              <a:buClr>
                <a:srgbClr val="005F73"/>
              </a:buClr>
              <a:buFont typeface="Times New Roman"/>
              <a:buChar char="•"/>
              <a:tabLst>
                <a:tab pos="117475" algn="l"/>
                <a:tab pos="738505" algn="l"/>
              </a:tabLst>
            </a:pPr>
            <a:r>
              <a:rPr sz="1000" spc="-10">
                <a:solidFill>
                  <a:srgbClr val="202429"/>
                </a:solidFill>
                <a:latin typeface="Tahoma"/>
                <a:cs typeface="Tahoma"/>
              </a:rPr>
              <a:t>Training:</a:t>
            </a:r>
            <a:r>
              <a:rPr sz="1000">
                <a:solidFill>
                  <a:srgbClr val="202429"/>
                </a:solidFill>
                <a:latin typeface="Tahoma"/>
                <a:cs typeface="Tahoma"/>
              </a:rPr>
              <a:t>	</a:t>
            </a:r>
            <a:r>
              <a:rPr sz="1000" spc="-20">
                <a:solidFill>
                  <a:srgbClr val="202429"/>
                </a:solidFill>
                <a:latin typeface="Tahoma"/>
                <a:cs typeface="Tahoma"/>
              </a:rPr>
              <a:t>91</a:t>
            </a:r>
            <a:r>
              <a:rPr sz="1000" spc="-35">
                <a:solidFill>
                  <a:srgbClr val="202429"/>
                </a:solidFill>
                <a:latin typeface="Tahoma"/>
                <a:cs typeface="Tahoma"/>
              </a:rPr>
              <a:t> reports </a:t>
            </a:r>
            <a:r>
              <a:rPr sz="1000" spc="-30">
                <a:solidFill>
                  <a:srgbClr val="202429"/>
                </a:solidFill>
                <a:latin typeface="Tahoma"/>
                <a:cs typeface="Tahoma"/>
              </a:rPr>
              <a:t>(1,162</a:t>
            </a:r>
            <a:r>
              <a:rPr sz="1000" spc="-35">
                <a:solidFill>
                  <a:srgbClr val="202429"/>
                </a:solidFill>
                <a:latin typeface="Tahoma"/>
                <a:cs typeface="Tahoma"/>
              </a:rPr>
              <a:t> </a:t>
            </a:r>
            <a:r>
              <a:rPr sz="1000" spc="-45">
                <a:solidFill>
                  <a:srgbClr val="202429"/>
                </a:solidFill>
                <a:latin typeface="Tahoma"/>
                <a:cs typeface="Tahoma"/>
              </a:rPr>
              <a:t>sentences)</a:t>
            </a:r>
            <a:endParaRPr sz="1000">
              <a:latin typeface="Tahoma"/>
              <a:cs typeface="Tahoma"/>
            </a:endParaRPr>
          </a:p>
          <a:p>
            <a:pPr marL="117475" indent="-104775">
              <a:lnSpc>
                <a:spcPct val="100000"/>
              </a:lnSpc>
              <a:spcBef>
                <a:spcPts val="195"/>
              </a:spcBef>
              <a:buClr>
                <a:srgbClr val="005F73"/>
              </a:buClr>
              <a:buFont typeface="Times New Roman"/>
              <a:buChar char="•"/>
              <a:tabLst>
                <a:tab pos="117475" algn="l"/>
                <a:tab pos="738505" algn="l"/>
              </a:tabLst>
            </a:pPr>
            <a:r>
              <a:rPr sz="1000" spc="-10">
                <a:solidFill>
                  <a:srgbClr val="202429"/>
                </a:solidFill>
                <a:latin typeface="Tahoma"/>
                <a:cs typeface="Tahoma"/>
              </a:rPr>
              <a:t>Testing:</a:t>
            </a:r>
            <a:r>
              <a:rPr sz="1000">
                <a:solidFill>
                  <a:srgbClr val="202429"/>
                </a:solidFill>
                <a:latin typeface="Tahoma"/>
                <a:cs typeface="Tahoma"/>
              </a:rPr>
              <a:t>	</a:t>
            </a:r>
            <a:r>
              <a:rPr sz="1000" spc="-20">
                <a:solidFill>
                  <a:srgbClr val="202429"/>
                </a:solidFill>
                <a:latin typeface="Tahoma"/>
                <a:cs typeface="Tahoma"/>
              </a:rPr>
              <a:t>97</a:t>
            </a:r>
            <a:r>
              <a:rPr sz="1000" spc="-35">
                <a:solidFill>
                  <a:srgbClr val="202429"/>
                </a:solidFill>
                <a:latin typeface="Tahoma"/>
                <a:cs typeface="Tahoma"/>
              </a:rPr>
              <a:t> reports </a:t>
            </a:r>
            <a:r>
              <a:rPr sz="1000" spc="-30">
                <a:solidFill>
                  <a:srgbClr val="202429"/>
                </a:solidFill>
                <a:latin typeface="Tahoma"/>
                <a:cs typeface="Tahoma"/>
              </a:rPr>
              <a:t>(1,960</a:t>
            </a:r>
            <a:r>
              <a:rPr sz="1000" spc="-35">
                <a:solidFill>
                  <a:srgbClr val="202429"/>
                </a:solidFill>
                <a:latin typeface="Tahoma"/>
                <a:cs typeface="Tahoma"/>
              </a:rPr>
              <a:t> </a:t>
            </a:r>
            <a:r>
              <a:rPr sz="1000" spc="-45">
                <a:solidFill>
                  <a:srgbClr val="202429"/>
                </a:solidFill>
                <a:latin typeface="Tahoma"/>
                <a:cs typeface="Tahoma"/>
              </a:rPr>
              <a:t>sentences)</a:t>
            </a:r>
            <a:endParaRPr sz="1000">
              <a:latin typeface="Tahoma"/>
              <a:cs typeface="Tahoma"/>
            </a:endParaRPr>
          </a:p>
        </p:txBody>
      </p:sp>
      <p:sp>
        <p:nvSpPr>
          <p:cNvPr id="17" name="object 17"/>
          <p:cNvSpPr txBox="1"/>
          <p:nvPr/>
        </p:nvSpPr>
        <p:spPr>
          <a:xfrm>
            <a:off x="466661" y="2564592"/>
            <a:ext cx="4827270" cy="177800"/>
          </a:xfrm>
          <a:prstGeom prst="rect">
            <a:avLst/>
          </a:prstGeom>
        </p:spPr>
        <p:txBody>
          <a:bodyPr vert="horz" wrap="square" lIns="0" tIns="12065" rIns="0" bIns="0" rtlCol="0">
            <a:spAutoFit/>
          </a:bodyPr>
          <a:lstStyle/>
          <a:p>
            <a:pPr marL="12700">
              <a:lnSpc>
                <a:spcPct val="100000"/>
              </a:lnSpc>
              <a:spcBef>
                <a:spcPts val="95"/>
              </a:spcBef>
            </a:pPr>
            <a:r>
              <a:rPr sz="1000" b="1">
                <a:solidFill>
                  <a:srgbClr val="202429"/>
                </a:solidFill>
                <a:latin typeface="Arial"/>
                <a:cs typeface="Arial"/>
              </a:rPr>
              <a:t>Key</a:t>
            </a:r>
            <a:r>
              <a:rPr sz="1000" b="1" spc="-10">
                <a:solidFill>
                  <a:srgbClr val="202429"/>
                </a:solidFill>
                <a:latin typeface="Arial"/>
                <a:cs typeface="Arial"/>
              </a:rPr>
              <a:t> </a:t>
            </a:r>
            <a:r>
              <a:rPr sz="1000" b="1" spc="-40">
                <a:solidFill>
                  <a:srgbClr val="202429"/>
                </a:solidFill>
                <a:latin typeface="Arial"/>
                <a:cs typeface="Arial"/>
              </a:rPr>
              <a:t>principle:</a:t>
            </a:r>
            <a:r>
              <a:rPr sz="1000" b="1" spc="90">
                <a:solidFill>
                  <a:srgbClr val="202429"/>
                </a:solidFill>
                <a:latin typeface="Arial"/>
                <a:cs typeface="Arial"/>
              </a:rPr>
              <a:t> </a:t>
            </a:r>
            <a:r>
              <a:rPr sz="1000" spc="-10">
                <a:solidFill>
                  <a:srgbClr val="202429"/>
                </a:solidFill>
                <a:latin typeface="Tahoma"/>
                <a:cs typeface="Tahoma"/>
              </a:rPr>
              <a:t>Train</a:t>
            </a:r>
            <a:r>
              <a:rPr sz="1000" spc="-40">
                <a:solidFill>
                  <a:srgbClr val="202429"/>
                </a:solidFill>
                <a:latin typeface="Tahoma"/>
                <a:cs typeface="Tahoma"/>
              </a:rPr>
              <a:t> </a:t>
            </a:r>
            <a:r>
              <a:rPr sz="1000">
                <a:solidFill>
                  <a:srgbClr val="202429"/>
                </a:solidFill>
                <a:latin typeface="Tahoma"/>
                <a:cs typeface="Tahoma"/>
              </a:rPr>
              <a:t>on</a:t>
            </a:r>
            <a:r>
              <a:rPr sz="1000" spc="-35">
                <a:solidFill>
                  <a:srgbClr val="202429"/>
                </a:solidFill>
                <a:latin typeface="Tahoma"/>
                <a:cs typeface="Tahoma"/>
              </a:rPr>
              <a:t> </a:t>
            </a:r>
            <a:r>
              <a:rPr sz="1000" spc="-25">
                <a:solidFill>
                  <a:srgbClr val="202429"/>
                </a:solidFill>
                <a:latin typeface="Tahoma"/>
                <a:cs typeface="Tahoma"/>
              </a:rPr>
              <a:t>real</a:t>
            </a:r>
            <a:r>
              <a:rPr sz="1000" spc="-40">
                <a:solidFill>
                  <a:srgbClr val="202429"/>
                </a:solidFill>
                <a:latin typeface="Tahoma"/>
                <a:cs typeface="Tahoma"/>
              </a:rPr>
              <a:t> </a:t>
            </a:r>
            <a:r>
              <a:rPr sz="1000" spc="-20">
                <a:solidFill>
                  <a:srgbClr val="202429"/>
                </a:solidFill>
                <a:latin typeface="Tahoma"/>
                <a:cs typeface="Tahoma"/>
              </a:rPr>
              <a:t>data,</a:t>
            </a:r>
            <a:r>
              <a:rPr sz="1000" spc="-30">
                <a:solidFill>
                  <a:srgbClr val="202429"/>
                </a:solidFill>
                <a:latin typeface="Tahoma"/>
                <a:cs typeface="Tahoma"/>
              </a:rPr>
              <a:t> </a:t>
            </a:r>
            <a:r>
              <a:rPr sz="1000" spc="-10">
                <a:solidFill>
                  <a:srgbClr val="202429"/>
                </a:solidFill>
                <a:latin typeface="Tahoma"/>
                <a:cs typeface="Tahoma"/>
              </a:rPr>
              <a:t>test</a:t>
            </a:r>
            <a:r>
              <a:rPr sz="1000" spc="-40">
                <a:solidFill>
                  <a:srgbClr val="202429"/>
                </a:solidFill>
                <a:latin typeface="Tahoma"/>
                <a:cs typeface="Tahoma"/>
              </a:rPr>
              <a:t> </a:t>
            </a:r>
            <a:r>
              <a:rPr sz="1000">
                <a:solidFill>
                  <a:srgbClr val="202429"/>
                </a:solidFill>
                <a:latin typeface="Tahoma"/>
                <a:cs typeface="Tahoma"/>
              </a:rPr>
              <a:t>on</a:t>
            </a:r>
            <a:r>
              <a:rPr sz="1000" spc="-40">
                <a:solidFill>
                  <a:srgbClr val="202429"/>
                </a:solidFill>
                <a:latin typeface="Tahoma"/>
                <a:cs typeface="Tahoma"/>
              </a:rPr>
              <a:t> </a:t>
            </a:r>
            <a:r>
              <a:rPr sz="1000" spc="-70">
                <a:solidFill>
                  <a:srgbClr val="202429"/>
                </a:solidFill>
                <a:latin typeface="Tahoma"/>
                <a:cs typeface="Tahoma"/>
              </a:rPr>
              <a:t>unseen</a:t>
            </a:r>
            <a:r>
              <a:rPr sz="1000" spc="-5">
                <a:solidFill>
                  <a:srgbClr val="202429"/>
                </a:solidFill>
                <a:latin typeface="Tahoma"/>
                <a:cs typeface="Tahoma"/>
              </a:rPr>
              <a:t> </a:t>
            </a:r>
            <a:r>
              <a:rPr sz="1000" spc="-20">
                <a:solidFill>
                  <a:srgbClr val="202429"/>
                </a:solidFill>
                <a:latin typeface="Tahoma"/>
                <a:cs typeface="Tahoma"/>
              </a:rPr>
              <a:t>data</a:t>
            </a:r>
            <a:r>
              <a:rPr sz="1000" spc="-40">
                <a:solidFill>
                  <a:srgbClr val="202429"/>
                </a:solidFill>
                <a:latin typeface="Tahoma"/>
                <a:cs typeface="Tahoma"/>
              </a:rPr>
              <a:t> </a:t>
            </a:r>
            <a:r>
              <a:rPr sz="1000">
                <a:solidFill>
                  <a:srgbClr val="202429"/>
                </a:solidFill>
                <a:latin typeface="Tahoma"/>
                <a:cs typeface="Tahoma"/>
              </a:rPr>
              <a:t>to</a:t>
            </a:r>
            <a:r>
              <a:rPr sz="1000" spc="-35">
                <a:solidFill>
                  <a:srgbClr val="202429"/>
                </a:solidFill>
                <a:latin typeface="Tahoma"/>
                <a:cs typeface="Tahoma"/>
              </a:rPr>
              <a:t> </a:t>
            </a:r>
            <a:r>
              <a:rPr sz="1000" spc="-20">
                <a:solidFill>
                  <a:srgbClr val="202429"/>
                </a:solidFill>
                <a:latin typeface="Tahoma"/>
                <a:cs typeface="Tahoma"/>
              </a:rPr>
              <a:t>validate</a:t>
            </a:r>
            <a:r>
              <a:rPr sz="1000" spc="-35">
                <a:solidFill>
                  <a:srgbClr val="202429"/>
                </a:solidFill>
                <a:latin typeface="Tahoma"/>
                <a:cs typeface="Tahoma"/>
              </a:rPr>
              <a:t> </a:t>
            </a:r>
            <a:r>
              <a:rPr sz="1000" spc="-45">
                <a:solidFill>
                  <a:srgbClr val="202429"/>
                </a:solidFill>
                <a:latin typeface="Tahoma"/>
                <a:cs typeface="Tahoma"/>
              </a:rPr>
              <a:t>real-</a:t>
            </a:r>
            <a:r>
              <a:rPr sz="1000" spc="-35">
                <a:solidFill>
                  <a:srgbClr val="202429"/>
                </a:solidFill>
                <a:latin typeface="Tahoma"/>
                <a:cs typeface="Tahoma"/>
              </a:rPr>
              <a:t>world </a:t>
            </a:r>
            <a:r>
              <a:rPr sz="1000" spc="-10">
                <a:solidFill>
                  <a:srgbClr val="202429"/>
                </a:solidFill>
                <a:latin typeface="Tahoma"/>
                <a:cs typeface="Tahoma"/>
              </a:rPr>
              <a:t>performance.</a:t>
            </a:r>
            <a:endParaRPr sz="1000">
              <a:latin typeface="Tahoma"/>
              <a:cs typeface="Tahoma"/>
            </a:endParaRPr>
          </a:p>
        </p:txBody>
      </p:sp>
      <p:sp>
        <p:nvSpPr>
          <p:cNvPr id="18" name="object 18"/>
          <p:cNvSpPr/>
          <p:nvPr/>
        </p:nvSpPr>
        <p:spPr>
          <a:xfrm>
            <a:off x="0" y="3060028"/>
            <a:ext cx="5760085" cy="0"/>
          </a:xfrm>
          <a:custGeom>
            <a:avLst/>
            <a:gdLst/>
            <a:ahLst/>
            <a:cxnLst/>
            <a:rect l="l" t="t" r="r" b="b"/>
            <a:pathLst>
              <a:path w="5760085">
                <a:moveTo>
                  <a:pt x="0" y="0"/>
                </a:moveTo>
                <a:lnTo>
                  <a:pt x="5760073" y="0"/>
                </a:lnTo>
              </a:path>
            </a:pathLst>
          </a:custGeom>
          <a:ln w="6326">
            <a:solidFill>
              <a:srgbClr val="CED3DA"/>
            </a:solidFill>
          </a:ln>
        </p:spPr>
        <p:txBody>
          <a:bodyPr wrap="square" lIns="0" tIns="0" rIns="0" bIns="0" rtlCol="0"/>
          <a:lstStyle/>
          <a:p>
            <a:endParaRPr/>
          </a:p>
        </p:txBody>
      </p:sp>
      <p:sp>
        <p:nvSpPr>
          <p:cNvPr id="21" name="Slide Number Placeholder 20">
            <a:extLst>
              <a:ext uri="{FF2B5EF4-FFF2-40B4-BE49-F238E27FC236}">
                <a16:creationId xmlns:a16="http://schemas.microsoft.com/office/drawing/2014/main" id="{1BFA169D-533E-7344-BCFE-53797A753876}"/>
              </a:ext>
            </a:extLst>
          </p:cNvPr>
          <p:cNvSpPr>
            <a:spLocks noGrp="1"/>
          </p:cNvSpPr>
          <p:nvPr>
            <p:ph type="sldNum" sz="quarter" idx="7"/>
          </p:nvPr>
        </p:nvSpPr>
        <p:spPr>
          <a:xfrm>
            <a:off x="5323230" y="3070861"/>
            <a:ext cx="436855" cy="173989"/>
          </a:xfrm>
        </p:spPr>
        <p:txBody>
          <a:bodyPr/>
          <a:lstStyle/>
          <a:p>
            <a:pPr marL="39370">
              <a:lnSpc>
                <a:spcPct val="100000"/>
              </a:lnSpc>
              <a:spcBef>
                <a:spcPts val="219"/>
              </a:spcBef>
            </a:pPr>
            <a:fld id="{81D60167-4931-47E6-BA6A-407CBD079E47}" type="slidenum">
              <a:rPr lang="en-GB" smtClean="0"/>
              <a:t>10</a:t>
            </a:fld>
            <a:r>
              <a:rPr lang="en-GB" spc="20"/>
              <a:t> </a:t>
            </a:r>
            <a:r>
              <a:rPr lang="en-GB" spc="120"/>
              <a:t>/</a:t>
            </a:r>
            <a:r>
              <a:rPr lang="en-GB" spc="25"/>
              <a:t> </a:t>
            </a:r>
            <a:r>
              <a:rPr lang="en-GB" spc="-25"/>
              <a:t>41</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18825" rIns="0" bIns="0" rtlCol="0">
            <a:spAutoFit/>
          </a:bodyPr>
          <a:lstStyle/>
          <a:p>
            <a:pPr marL="99060">
              <a:lnSpc>
                <a:spcPct val="100000"/>
              </a:lnSpc>
              <a:spcBef>
                <a:spcPts val="390"/>
              </a:spcBef>
            </a:pPr>
            <a:r>
              <a:t>Dataset:</a:t>
            </a:r>
            <a:r>
              <a:rPr spc="200"/>
              <a:t> </a:t>
            </a:r>
            <a:r>
              <a:rPr spc="-10"/>
              <a:t>Training</a:t>
            </a:r>
            <a:r>
              <a:rPr spc="50"/>
              <a:t> </a:t>
            </a:r>
            <a:r>
              <a:t>and</a:t>
            </a:r>
            <a:r>
              <a:rPr spc="60"/>
              <a:t> </a:t>
            </a:r>
            <a:r>
              <a:rPr spc="-10"/>
              <a:t>Testing</a:t>
            </a:r>
            <a:r>
              <a:rPr spc="55"/>
              <a:t> </a:t>
            </a:r>
            <a:r>
              <a:rPr spc="-10"/>
              <a:t>Batches</a:t>
            </a:r>
          </a:p>
          <a:p>
            <a:pPr marL="99060">
              <a:lnSpc>
                <a:spcPct val="100000"/>
              </a:lnSpc>
              <a:spcBef>
                <a:spcPts val="195"/>
              </a:spcBef>
            </a:pPr>
            <a:r>
              <a:rPr sz="1100" b="0" spc="-45">
                <a:solidFill>
                  <a:srgbClr val="6C757C"/>
                </a:solidFill>
                <a:latin typeface="Tahoma"/>
                <a:cs typeface="Tahoma"/>
              </a:rPr>
              <a:t>188</a:t>
            </a:r>
            <a:r>
              <a:rPr sz="1100" b="0" spc="-15">
                <a:solidFill>
                  <a:srgbClr val="6C757C"/>
                </a:solidFill>
                <a:latin typeface="Tahoma"/>
                <a:cs typeface="Tahoma"/>
              </a:rPr>
              <a:t> </a:t>
            </a:r>
            <a:r>
              <a:rPr sz="1100" b="0" spc="-30">
                <a:solidFill>
                  <a:srgbClr val="6C757C"/>
                </a:solidFill>
                <a:latin typeface="Tahoma"/>
                <a:cs typeface="Tahoma"/>
              </a:rPr>
              <a:t>maternity</a:t>
            </a:r>
            <a:r>
              <a:rPr sz="1100" b="0" spc="-15">
                <a:solidFill>
                  <a:srgbClr val="6C757C"/>
                </a:solidFill>
                <a:latin typeface="Tahoma"/>
                <a:cs typeface="Tahoma"/>
              </a:rPr>
              <a:t> </a:t>
            </a:r>
            <a:r>
              <a:rPr sz="1100" b="0" spc="-35">
                <a:solidFill>
                  <a:srgbClr val="6C757C"/>
                </a:solidFill>
                <a:latin typeface="Tahoma"/>
                <a:cs typeface="Tahoma"/>
              </a:rPr>
              <a:t>investigation</a:t>
            </a:r>
            <a:r>
              <a:rPr sz="1100" b="0" spc="-10">
                <a:solidFill>
                  <a:srgbClr val="6C757C"/>
                </a:solidFill>
                <a:latin typeface="Tahoma"/>
                <a:cs typeface="Tahoma"/>
              </a:rPr>
              <a:t> </a:t>
            </a:r>
            <a:r>
              <a:rPr sz="1100" b="0" spc="-40">
                <a:solidFill>
                  <a:srgbClr val="6C757C"/>
                </a:solidFill>
                <a:latin typeface="Tahoma"/>
                <a:cs typeface="Tahoma"/>
              </a:rPr>
              <a:t>reports</a:t>
            </a:r>
            <a:r>
              <a:rPr sz="1100" b="0" spc="-15">
                <a:solidFill>
                  <a:srgbClr val="6C757C"/>
                </a:solidFill>
                <a:latin typeface="Tahoma"/>
                <a:cs typeface="Tahoma"/>
              </a:rPr>
              <a:t> </a:t>
            </a:r>
            <a:r>
              <a:rPr sz="1100" b="0" spc="-60">
                <a:solidFill>
                  <a:srgbClr val="6C757C"/>
                </a:solidFill>
                <a:latin typeface="Tahoma"/>
                <a:cs typeface="Tahoma"/>
              </a:rPr>
              <a:t>(2019–</a:t>
            </a:r>
            <a:r>
              <a:rPr sz="1100" b="0" spc="-45">
                <a:solidFill>
                  <a:srgbClr val="6C757C"/>
                </a:solidFill>
                <a:latin typeface="Tahoma"/>
                <a:cs typeface="Tahoma"/>
              </a:rPr>
              <a:t>2022)</a:t>
            </a:r>
            <a:r>
              <a:rPr sz="1100" b="0" spc="-10">
                <a:solidFill>
                  <a:srgbClr val="6C757C"/>
                </a:solidFill>
                <a:latin typeface="Tahoma"/>
                <a:cs typeface="Tahoma"/>
              </a:rPr>
              <a:t> </a:t>
            </a:r>
            <a:r>
              <a:rPr sz="1100" b="0" spc="-20">
                <a:solidFill>
                  <a:srgbClr val="6C757C"/>
                </a:solidFill>
                <a:latin typeface="Tahoma"/>
                <a:cs typeface="Tahoma"/>
              </a:rPr>
              <a:t>from</a:t>
            </a:r>
            <a:r>
              <a:rPr sz="1100" b="0" spc="-10">
                <a:solidFill>
                  <a:srgbClr val="6C757C"/>
                </a:solidFill>
                <a:latin typeface="Tahoma"/>
                <a:cs typeface="Tahoma"/>
              </a:rPr>
              <a:t> </a:t>
            </a:r>
            <a:r>
              <a:rPr sz="1100" b="0" spc="-20">
                <a:solidFill>
                  <a:srgbClr val="6C757C"/>
                </a:solidFill>
                <a:latin typeface="Tahoma"/>
                <a:cs typeface="Tahoma"/>
              </a:rPr>
              <a:t>HSIB</a:t>
            </a:r>
            <a:endParaRPr sz="1100">
              <a:latin typeface="Tahoma"/>
              <a:cs typeface="Tahoma"/>
            </a:endParaRPr>
          </a:p>
        </p:txBody>
      </p:sp>
      <p:sp>
        <p:nvSpPr>
          <p:cNvPr id="3" name="object 3"/>
          <p:cNvSpPr/>
          <p:nvPr/>
        </p:nvSpPr>
        <p:spPr>
          <a:xfrm>
            <a:off x="359994" y="673011"/>
            <a:ext cx="900430" cy="0"/>
          </a:xfrm>
          <a:custGeom>
            <a:avLst/>
            <a:gdLst/>
            <a:ahLst/>
            <a:cxnLst/>
            <a:rect l="l" t="t" r="r" b="b"/>
            <a:pathLst>
              <a:path w="900430">
                <a:moveTo>
                  <a:pt x="0" y="0"/>
                </a:moveTo>
                <a:lnTo>
                  <a:pt x="900010" y="0"/>
                </a:lnTo>
              </a:path>
            </a:pathLst>
          </a:custGeom>
          <a:ln w="18978">
            <a:solidFill>
              <a:srgbClr val="005F73"/>
            </a:solidFill>
          </a:ln>
        </p:spPr>
        <p:txBody>
          <a:bodyPr wrap="square" lIns="0" tIns="0" rIns="0" bIns="0" rtlCol="0"/>
          <a:lstStyle/>
          <a:p>
            <a:endParaRPr/>
          </a:p>
        </p:txBody>
      </p:sp>
      <p:graphicFrame>
        <p:nvGraphicFramePr>
          <p:cNvPr id="4" name="object 4"/>
          <p:cNvGraphicFramePr>
            <a:graphicFrameLocks noGrp="1"/>
          </p:cNvGraphicFramePr>
          <p:nvPr/>
        </p:nvGraphicFramePr>
        <p:xfrm>
          <a:off x="746709" y="820584"/>
          <a:ext cx="4269740" cy="1018540"/>
        </p:xfrm>
        <a:graphic>
          <a:graphicData uri="http://schemas.openxmlformats.org/drawingml/2006/table">
            <a:tbl>
              <a:tblPr firstRow="1" bandRow="1">
                <a:tableStyleId>{2D5ABB26-0587-4C30-8999-92F81FD0307C}</a:tableStyleId>
              </a:tblPr>
              <a:tblGrid>
                <a:gridCol w="535305">
                  <a:extLst>
                    <a:ext uri="{9D8B030D-6E8A-4147-A177-3AD203B41FA5}">
                      <a16:colId xmlns:a16="http://schemas.microsoft.com/office/drawing/2014/main" val="20000"/>
                    </a:ext>
                  </a:extLst>
                </a:gridCol>
                <a:gridCol w="868680">
                  <a:extLst>
                    <a:ext uri="{9D8B030D-6E8A-4147-A177-3AD203B41FA5}">
                      <a16:colId xmlns:a16="http://schemas.microsoft.com/office/drawing/2014/main" val="20001"/>
                    </a:ext>
                  </a:extLst>
                </a:gridCol>
                <a:gridCol w="954405">
                  <a:extLst>
                    <a:ext uri="{9D8B030D-6E8A-4147-A177-3AD203B41FA5}">
                      <a16:colId xmlns:a16="http://schemas.microsoft.com/office/drawing/2014/main" val="20002"/>
                    </a:ext>
                  </a:extLst>
                </a:gridCol>
                <a:gridCol w="1003300">
                  <a:extLst>
                    <a:ext uri="{9D8B030D-6E8A-4147-A177-3AD203B41FA5}">
                      <a16:colId xmlns:a16="http://schemas.microsoft.com/office/drawing/2014/main" val="20003"/>
                    </a:ext>
                  </a:extLst>
                </a:gridCol>
                <a:gridCol w="908050">
                  <a:extLst>
                    <a:ext uri="{9D8B030D-6E8A-4147-A177-3AD203B41FA5}">
                      <a16:colId xmlns:a16="http://schemas.microsoft.com/office/drawing/2014/main" val="20004"/>
                    </a:ext>
                  </a:extLst>
                </a:gridCol>
              </a:tblGrid>
              <a:tr h="225425">
                <a:tc>
                  <a:txBody>
                    <a:bodyPr/>
                    <a:lstStyle/>
                    <a:p>
                      <a:pPr>
                        <a:lnSpc>
                          <a:spcPct val="100000"/>
                        </a:lnSpc>
                        <a:spcBef>
                          <a:spcPts val="195"/>
                        </a:spcBef>
                      </a:pPr>
                      <a:r>
                        <a:rPr sz="1000" b="1" spc="-10">
                          <a:solidFill>
                            <a:srgbClr val="202429"/>
                          </a:solidFill>
                          <a:latin typeface="Arial"/>
                          <a:cs typeface="Arial"/>
                        </a:rPr>
                        <a:t>Batch</a:t>
                      </a:r>
                      <a:endParaRPr sz="1000">
                        <a:latin typeface="Arial"/>
                        <a:cs typeface="Arial"/>
                      </a:endParaRPr>
                    </a:p>
                  </a:txBody>
                  <a:tcPr marL="0" marR="0" marT="24765" marB="0">
                    <a:lnT w="12700">
                      <a:solidFill>
                        <a:srgbClr val="202429"/>
                      </a:solidFill>
                      <a:prstDash val="solid"/>
                    </a:lnT>
                    <a:lnB w="9525">
                      <a:solidFill>
                        <a:srgbClr val="202429"/>
                      </a:solidFill>
                      <a:prstDash val="solid"/>
                    </a:lnB>
                  </a:tcPr>
                </a:tc>
                <a:tc>
                  <a:txBody>
                    <a:bodyPr/>
                    <a:lstStyle/>
                    <a:p>
                      <a:pPr algn="ctr">
                        <a:lnSpc>
                          <a:spcPct val="100000"/>
                        </a:lnSpc>
                        <a:spcBef>
                          <a:spcPts val="195"/>
                        </a:spcBef>
                      </a:pPr>
                      <a:r>
                        <a:rPr sz="1000" b="1">
                          <a:solidFill>
                            <a:srgbClr val="202429"/>
                          </a:solidFill>
                          <a:latin typeface="Arial"/>
                          <a:cs typeface="Arial"/>
                        </a:rPr>
                        <a:t>No.</a:t>
                      </a:r>
                      <a:r>
                        <a:rPr sz="1000" b="1" spc="210">
                          <a:solidFill>
                            <a:srgbClr val="202429"/>
                          </a:solidFill>
                          <a:latin typeface="Arial"/>
                          <a:cs typeface="Arial"/>
                        </a:rPr>
                        <a:t> </a:t>
                      </a:r>
                      <a:r>
                        <a:rPr sz="1000" b="1" spc="-10">
                          <a:solidFill>
                            <a:srgbClr val="202429"/>
                          </a:solidFill>
                          <a:latin typeface="Arial"/>
                          <a:cs typeface="Arial"/>
                        </a:rPr>
                        <a:t>Reports</a:t>
                      </a:r>
                      <a:endParaRPr sz="1000">
                        <a:latin typeface="Arial"/>
                        <a:cs typeface="Arial"/>
                      </a:endParaRPr>
                    </a:p>
                  </a:txBody>
                  <a:tcPr marL="0" marR="0" marT="24765" marB="0">
                    <a:lnT w="12700">
                      <a:solidFill>
                        <a:srgbClr val="202429"/>
                      </a:solidFill>
                      <a:prstDash val="solid"/>
                    </a:lnT>
                    <a:lnB w="9525">
                      <a:solidFill>
                        <a:srgbClr val="202429"/>
                      </a:solidFill>
                      <a:prstDash val="solid"/>
                    </a:lnB>
                  </a:tcPr>
                </a:tc>
                <a:tc>
                  <a:txBody>
                    <a:bodyPr/>
                    <a:lstStyle/>
                    <a:p>
                      <a:pPr algn="ctr">
                        <a:lnSpc>
                          <a:spcPct val="100000"/>
                        </a:lnSpc>
                        <a:spcBef>
                          <a:spcPts val="195"/>
                        </a:spcBef>
                      </a:pPr>
                      <a:r>
                        <a:rPr sz="1000" b="1">
                          <a:solidFill>
                            <a:srgbClr val="202429"/>
                          </a:solidFill>
                          <a:latin typeface="Arial"/>
                          <a:cs typeface="Arial"/>
                        </a:rPr>
                        <a:t>No.</a:t>
                      </a:r>
                      <a:r>
                        <a:rPr sz="1000" b="1" spc="210">
                          <a:solidFill>
                            <a:srgbClr val="202429"/>
                          </a:solidFill>
                          <a:latin typeface="Arial"/>
                          <a:cs typeface="Arial"/>
                        </a:rPr>
                        <a:t> </a:t>
                      </a:r>
                      <a:r>
                        <a:rPr sz="1000" b="1" spc="-10">
                          <a:solidFill>
                            <a:srgbClr val="202429"/>
                          </a:solidFill>
                          <a:latin typeface="Arial"/>
                          <a:cs typeface="Arial"/>
                        </a:rPr>
                        <a:t>Concepts</a:t>
                      </a:r>
                      <a:endParaRPr sz="1000">
                        <a:latin typeface="Arial"/>
                        <a:cs typeface="Arial"/>
                      </a:endParaRPr>
                    </a:p>
                  </a:txBody>
                  <a:tcPr marL="0" marR="0" marT="24765" marB="0">
                    <a:lnT w="12700">
                      <a:solidFill>
                        <a:srgbClr val="202429"/>
                      </a:solidFill>
                      <a:prstDash val="solid"/>
                    </a:lnT>
                    <a:lnB w="9525">
                      <a:solidFill>
                        <a:srgbClr val="202429"/>
                      </a:solidFill>
                      <a:prstDash val="solid"/>
                    </a:lnB>
                  </a:tcPr>
                </a:tc>
                <a:tc>
                  <a:txBody>
                    <a:bodyPr/>
                    <a:lstStyle/>
                    <a:p>
                      <a:pPr algn="ctr">
                        <a:lnSpc>
                          <a:spcPct val="100000"/>
                        </a:lnSpc>
                        <a:spcBef>
                          <a:spcPts val="195"/>
                        </a:spcBef>
                      </a:pPr>
                      <a:r>
                        <a:rPr sz="1000" b="1">
                          <a:solidFill>
                            <a:srgbClr val="202429"/>
                          </a:solidFill>
                          <a:latin typeface="Arial"/>
                          <a:cs typeface="Arial"/>
                        </a:rPr>
                        <a:t>No.</a:t>
                      </a:r>
                      <a:r>
                        <a:rPr sz="1000" b="1" spc="210">
                          <a:solidFill>
                            <a:srgbClr val="202429"/>
                          </a:solidFill>
                          <a:latin typeface="Arial"/>
                          <a:cs typeface="Arial"/>
                        </a:rPr>
                        <a:t> </a:t>
                      </a:r>
                      <a:r>
                        <a:rPr sz="1000" b="1" spc="-10">
                          <a:solidFill>
                            <a:srgbClr val="202429"/>
                          </a:solidFill>
                          <a:latin typeface="Arial"/>
                          <a:cs typeface="Arial"/>
                        </a:rPr>
                        <a:t>Sentences</a:t>
                      </a:r>
                      <a:endParaRPr sz="1000">
                        <a:latin typeface="Arial"/>
                        <a:cs typeface="Arial"/>
                      </a:endParaRPr>
                    </a:p>
                  </a:txBody>
                  <a:tcPr marL="0" marR="0" marT="24765" marB="0">
                    <a:lnT w="12700">
                      <a:solidFill>
                        <a:srgbClr val="202429"/>
                      </a:solidFill>
                      <a:prstDash val="solid"/>
                    </a:lnT>
                    <a:lnB w="9525">
                      <a:solidFill>
                        <a:srgbClr val="202429"/>
                      </a:solidFill>
                      <a:prstDash val="solid"/>
                    </a:lnB>
                  </a:tcPr>
                </a:tc>
                <a:tc>
                  <a:txBody>
                    <a:bodyPr/>
                    <a:lstStyle/>
                    <a:p>
                      <a:pPr marL="73660" algn="ctr">
                        <a:lnSpc>
                          <a:spcPct val="100000"/>
                        </a:lnSpc>
                        <a:spcBef>
                          <a:spcPts val="195"/>
                        </a:spcBef>
                      </a:pPr>
                      <a:r>
                        <a:rPr sz="1000" b="1" spc="-10">
                          <a:solidFill>
                            <a:srgbClr val="202429"/>
                          </a:solidFill>
                          <a:latin typeface="Arial"/>
                          <a:cs typeface="Arial"/>
                        </a:rPr>
                        <a:t>Purpose</a:t>
                      </a:r>
                      <a:endParaRPr sz="1000">
                        <a:latin typeface="Arial"/>
                        <a:cs typeface="Arial"/>
                      </a:endParaRPr>
                    </a:p>
                  </a:txBody>
                  <a:tcPr marL="0" marR="0" marT="24765" marB="0">
                    <a:lnT w="12700">
                      <a:solidFill>
                        <a:srgbClr val="202429"/>
                      </a:solidFill>
                      <a:prstDash val="solid"/>
                    </a:lnT>
                    <a:lnB w="9525">
                      <a:solidFill>
                        <a:srgbClr val="202429"/>
                      </a:solidFill>
                      <a:prstDash val="solid"/>
                    </a:lnB>
                  </a:tcPr>
                </a:tc>
                <a:extLst>
                  <a:ext uri="{0D108BD9-81ED-4DB2-BD59-A6C34878D82A}">
                    <a16:rowId xmlns:a16="http://schemas.microsoft.com/office/drawing/2014/main" val="10000"/>
                  </a:ext>
                </a:extLst>
              </a:tr>
              <a:tr h="191135">
                <a:tc>
                  <a:txBody>
                    <a:bodyPr/>
                    <a:lstStyle/>
                    <a:p>
                      <a:pPr>
                        <a:lnSpc>
                          <a:spcPct val="100000"/>
                        </a:lnSpc>
                        <a:spcBef>
                          <a:spcPts val="175"/>
                        </a:spcBef>
                      </a:pPr>
                      <a:r>
                        <a:rPr sz="1000" b="1">
                          <a:solidFill>
                            <a:srgbClr val="005F73"/>
                          </a:solidFill>
                          <a:latin typeface="Arial"/>
                          <a:cs typeface="Arial"/>
                        </a:rPr>
                        <a:t>Batch </a:t>
                      </a:r>
                      <a:r>
                        <a:rPr sz="1000" b="1" spc="-60">
                          <a:solidFill>
                            <a:srgbClr val="005F73"/>
                          </a:solidFill>
                          <a:latin typeface="Arial"/>
                          <a:cs typeface="Arial"/>
                        </a:rPr>
                        <a:t>1</a:t>
                      </a:r>
                      <a:endParaRPr sz="1000">
                        <a:latin typeface="Arial"/>
                        <a:cs typeface="Arial"/>
                      </a:endParaRPr>
                    </a:p>
                  </a:txBody>
                  <a:tcPr marL="0" marR="0" marT="22225" marB="0">
                    <a:lnT w="9525">
                      <a:solidFill>
                        <a:srgbClr val="202429"/>
                      </a:solidFill>
                      <a:prstDash val="solid"/>
                    </a:lnT>
                  </a:tcPr>
                </a:tc>
                <a:tc>
                  <a:txBody>
                    <a:bodyPr/>
                    <a:lstStyle/>
                    <a:p>
                      <a:pPr algn="ctr">
                        <a:lnSpc>
                          <a:spcPct val="100000"/>
                        </a:lnSpc>
                        <a:spcBef>
                          <a:spcPts val="175"/>
                        </a:spcBef>
                      </a:pPr>
                      <a:r>
                        <a:rPr sz="1000" spc="-20">
                          <a:solidFill>
                            <a:srgbClr val="202429"/>
                          </a:solidFill>
                          <a:latin typeface="Tahoma"/>
                          <a:cs typeface="Tahoma"/>
                        </a:rPr>
                        <a:t>76</a:t>
                      </a:r>
                      <a:r>
                        <a:rPr sz="1000" spc="-55">
                          <a:solidFill>
                            <a:srgbClr val="202429"/>
                          </a:solidFill>
                          <a:latin typeface="Tahoma"/>
                          <a:cs typeface="Tahoma"/>
                        </a:rPr>
                        <a:t> </a:t>
                      </a:r>
                      <a:r>
                        <a:rPr sz="1000" spc="-20">
                          <a:solidFill>
                            <a:srgbClr val="202429"/>
                          </a:solidFill>
                          <a:latin typeface="Tahoma"/>
                          <a:cs typeface="Tahoma"/>
                        </a:rPr>
                        <a:t>real</a:t>
                      </a:r>
                      <a:endParaRPr sz="1000">
                        <a:latin typeface="Tahoma"/>
                        <a:cs typeface="Tahoma"/>
                      </a:endParaRPr>
                    </a:p>
                  </a:txBody>
                  <a:tcPr marL="0" marR="0" marT="22225" marB="0">
                    <a:lnT w="9525">
                      <a:solidFill>
                        <a:srgbClr val="202429"/>
                      </a:solidFill>
                      <a:prstDash val="solid"/>
                    </a:lnT>
                  </a:tcPr>
                </a:tc>
                <a:tc>
                  <a:txBody>
                    <a:bodyPr/>
                    <a:lstStyle/>
                    <a:p>
                      <a:pPr marL="635" algn="ctr">
                        <a:lnSpc>
                          <a:spcPct val="100000"/>
                        </a:lnSpc>
                        <a:spcBef>
                          <a:spcPts val="175"/>
                        </a:spcBef>
                      </a:pPr>
                      <a:r>
                        <a:rPr sz="1000" spc="-25">
                          <a:solidFill>
                            <a:srgbClr val="202429"/>
                          </a:solidFill>
                          <a:latin typeface="Tahoma"/>
                          <a:cs typeface="Tahoma"/>
                        </a:rPr>
                        <a:t>970</a:t>
                      </a:r>
                      <a:endParaRPr sz="1000">
                        <a:latin typeface="Tahoma"/>
                        <a:cs typeface="Tahoma"/>
                      </a:endParaRPr>
                    </a:p>
                  </a:txBody>
                  <a:tcPr marL="0" marR="0" marT="22225" marB="0">
                    <a:lnT w="9525">
                      <a:solidFill>
                        <a:srgbClr val="202429"/>
                      </a:solidFill>
                      <a:prstDash val="solid"/>
                    </a:lnT>
                  </a:tcPr>
                </a:tc>
                <a:tc>
                  <a:txBody>
                    <a:bodyPr/>
                    <a:lstStyle/>
                    <a:p>
                      <a:pPr marL="1270" algn="ctr">
                        <a:lnSpc>
                          <a:spcPct val="100000"/>
                        </a:lnSpc>
                        <a:spcBef>
                          <a:spcPts val="175"/>
                        </a:spcBef>
                      </a:pPr>
                      <a:r>
                        <a:rPr sz="1000" spc="-25">
                          <a:solidFill>
                            <a:srgbClr val="202429"/>
                          </a:solidFill>
                          <a:latin typeface="Tahoma"/>
                          <a:cs typeface="Tahoma"/>
                        </a:rPr>
                        <a:t>818</a:t>
                      </a:r>
                      <a:endParaRPr sz="1000">
                        <a:latin typeface="Tahoma"/>
                        <a:cs typeface="Tahoma"/>
                      </a:endParaRPr>
                    </a:p>
                  </a:txBody>
                  <a:tcPr marL="0" marR="0" marT="22225" marB="0">
                    <a:lnT w="9525">
                      <a:solidFill>
                        <a:srgbClr val="202429"/>
                      </a:solidFill>
                      <a:prstDash val="solid"/>
                    </a:lnT>
                  </a:tcPr>
                </a:tc>
                <a:tc>
                  <a:txBody>
                    <a:bodyPr/>
                    <a:lstStyle/>
                    <a:p>
                      <a:pPr marL="76835" algn="ctr">
                        <a:lnSpc>
                          <a:spcPct val="100000"/>
                        </a:lnSpc>
                        <a:spcBef>
                          <a:spcPts val="175"/>
                        </a:spcBef>
                      </a:pPr>
                      <a:r>
                        <a:rPr sz="1000" spc="-20">
                          <a:solidFill>
                            <a:srgbClr val="005F73"/>
                          </a:solidFill>
                          <a:latin typeface="Tahoma"/>
                          <a:cs typeface="Tahoma"/>
                        </a:rPr>
                        <a:t>Initial</a:t>
                      </a:r>
                      <a:r>
                        <a:rPr sz="1000" spc="-25">
                          <a:solidFill>
                            <a:srgbClr val="005F73"/>
                          </a:solidFill>
                          <a:latin typeface="Tahoma"/>
                          <a:cs typeface="Tahoma"/>
                        </a:rPr>
                        <a:t> </a:t>
                      </a:r>
                      <a:r>
                        <a:rPr sz="1000" spc="-10">
                          <a:solidFill>
                            <a:srgbClr val="005F73"/>
                          </a:solidFill>
                          <a:latin typeface="Tahoma"/>
                          <a:cs typeface="Tahoma"/>
                        </a:rPr>
                        <a:t>Training</a:t>
                      </a:r>
                      <a:endParaRPr sz="1000">
                        <a:latin typeface="Tahoma"/>
                        <a:cs typeface="Tahoma"/>
                      </a:endParaRPr>
                    </a:p>
                  </a:txBody>
                  <a:tcPr marL="0" marR="0" marT="22225" marB="0">
                    <a:lnT w="9525">
                      <a:solidFill>
                        <a:srgbClr val="202429"/>
                      </a:solidFill>
                      <a:prstDash val="solid"/>
                    </a:lnT>
                  </a:tcPr>
                </a:tc>
                <a:extLst>
                  <a:ext uri="{0D108BD9-81ED-4DB2-BD59-A6C34878D82A}">
                    <a16:rowId xmlns:a16="http://schemas.microsoft.com/office/drawing/2014/main" val="10001"/>
                  </a:ext>
                </a:extLst>
              </a:tr>
              <a:tr h="189230">
                <a:tc>
                  <a:txBody>
                    <a:bodyPr/>
                    <a:lstStyle/>
                    <a:p>
                      <a:pPr>
                        <a:lnSpc>
                          <a:spcPct val="100000"/>
                        </a:lnSpc>
                        <a:spcBef>
                          <a:spcPts val="165"/>
                        </a:spcBef>
                      </a:pPr>
                      <a:r>
                        <a:rPr sz="1000" b="1">
                          <a:solidFill>
                            <a:srgbClr val="005F73"/>
                          </a:solidFill>
                          <a:latin typeface="Arial"/>
                          <a:cs typeface="Arial"/>
                        </a:rPr>
                        <a:t>Batch </a:t>
                      </a:r>
                      <a:r>
                        <a:rPr sz="1000" b="1" spc="-60">
                          <a:solidFill>
                            <a:srgbClr val="005F73"/>
                          </a:solidFill>
                          <a:latin typeface="Arial"/>
                          <a:cs typeface="Arial"/>
                        </a:rPr>
                        <a:t>2</a:t>
                      </a:r>
                      <a:endParaRPr sz="1000">
                        <a:latin typeface="Arial"/>
                        <a:cs typeface="Arial"/>
                      </a:endParaRPr>
                    </a:p>
                  </a:txBody>
                  <a:tcPr marL="0" marR="0" marT="20955" marB="0"/>
                </a:tc>
                <a:tc>
                  <a:txBody>
                    <a:bodyPr/>
                    <a:lstStyle/>
                    <a:p>
                      <a:pPr algn="ctr">
                        <a:lnSpc>
                          <a:spcPct val="100000"/>
                        </a:lnSpc>
                        <a:spcBef>
                          <a:spcPts val="165"/>
                        </a:spcBef>
                      </a:pPr>
                      <a:r>
                        <a:rPr sz="1000" spc="-20">
                          <a:solidFill>
                            <a:srgbClr val="202429"/>
                          </a:solidFill>
                          <a:latin typeface="Tahoma"/>
                          <a:cs typeface="Tahoma"/>
                        </a:rPr>
                        <a:t>15</a:t>
                      </a:r>
                      <a:r>
                        <a:rPr sz="1000" spc="-55">
                          <a:solidFill>
                            <a:srgbClr val="202429"/>
                          </a:solidFill>
                          <a:latin typeface="Tahoma"/>
                          <a:cs typeface="Tahoma"/>
                        </a:rPr>
                        <a:t> </a:t>
                      </a:r>
                      <a:r>
                        <a:rPr sz="1000" spc="-20">
                          <a:solidFill>
                            <a:srgbClr val="202429"/>
                          </a:solidFill>
                          <a:latin typeface="Tahoma"/>
                          <a:cs typeface="Tahoma"/>
                        </a:rPr>
                        <a:t>real</a:t>
                      </a:r>
                      <a:endParaRPr sz="1000">
                        <a:latin typeface="Tahoma"/>
                        <a:cs typeface="Tahoma"/>
                      </a:endParaRPr>
                    </a:p>
                  </a:txBody>
                  <a:tcPr marL="0" marR="0" marT="20955" marB="0"/>
                </a:tc>
                <a:tc>
                  <a:txBody>
                    <a:bodyPr/>
                    <a:lstStyle/>
                    <a:p>
                      <a:pPr marL="635" algn="ctr">
                        <a:lnSpc>
                          <a:spcPct val="100000"/>
                        </a:lnSpc>
                        <a:spcBef>
                          <a:spcPts val="165"/>
                        </a:spcBef>
                      </a:pPr>
                      <a:r>
                        <a:rPr sz="1000" spc="-25">
                          <a:solidFill>
                            <a:srgbClr val="202429"/>
                          </a:solidFill>
                          <a:latin typeface="Tahoma"/>
                          <a:cs typeface="Tahoma"/>
                        </a:rPr>
                        <a:t>452</a:t>
                      </a:r>
                      <a:endParaRPr sz="1000">
                        <a:latin typeface="Tahoma"/>
                        <a:cs typeface="Tahoma"/>
                      </a:endParaRPr>
                    </a:p>
                  </a:txBody>
                  <a:tcPr marL="0" marR="0" marT="20955" marB="0"/>
                </a:tc>
                <a:tc>
                  <a:txBody>
                    <a:bodyPr/>
                    <a:lstStyle/>
                    <a:p>
                      <a:pPr marL="1270" algn="ctr">
                        <a:lnSpc>
                          <a:spcPct val="100000"/>
                        </a:lnSpc>
                        <a:spcBef>
                          <a:spcPts val="165"/>
                        </a:spcBef>
                      </a:pPr>
                      <a:r>
                        <a:rPr sz="1000" spc="-25">
                          <a:solidFill>
                            <a:srgbClr val="202429"/>
                          </a:solidFill>
                          <a:latin typeface="Tahoma"/>
                          <a:cs typeface="Tahoma"/>
                        </a:rPr>
                        <a:t>344</a:t>
                      </a:r>
                      <a:endParaRPr sz="1000">
                        <a:latin typeface="Tahoma"/>
                        <a:cs typeface="Tahoma"/>
                      </a:endParaRPr>
                    </a:p>
                  </a:txBody>
                  <a:tcPr marL="0" marR="0" marT="20955" marB="0"/>
                </a:tc>
                <a:tc>
                  <a:txBody>
                    <a:bodyPr/>
                    <a:lstStyle/>
                    <a:p>
                      <a:pPr marL="76835" algn="ctr">
                        <a:lnSpc>
                          <a:spcPct val="100000"/>
                        </a:lnSpc>
                        <a:spcBef>
                          <a:spcPts val="165"/>
                        </a:spcBef>
                      </a:pPr>
                      <a:r>
                        <a:rPr sz="1000" spc="-10">
                          <a:solidFill>
                            <a:srgbClr val="005F73"/>
                          </a:solidFill>
                          <a:latin typeface="Tahoma"/>
                          <a:cs typeface="Tahoma"/>
                        </a:rPr>
                        <a:t>Retraining</a:t>
                      </a:r>
                      <a:endParaRPr sz="1000">
                        <a:latin typeface="Tahoma"/>
                        <a:cs typeface="Tahoma"/>
                      </a:endParaRPr>
                    </a:p>
                  </a:txBody>
                  <a:tcPr marL="0" marR="0" marT="20955" marB="0"/>
                </a:tc>
                <a:extLst>
                  <a:ext uri="{0D108BD9-81ED-4DB2-BD59-A6C34878D82A}">
                    <a16:rowId xmlns:a16="http://schemas.microsoft.com/office/drawing/2014/main" val="10002"/>
                  </a:ext>
                </a:extLst>
              </a:tr>
              <a:tr h="189230">
                <a:tc>
                  <a:txBody>
                    <a:bodyPr/>
                    <a:lstStyle/>
                    <a:p>
                      <a:pPr>
                        <a:lnSpc>
                          <a:spcPct val="100000"/>
                        </a:lnSpc>
                        <a:spcBef>
                          <a:spcPts val="165"/>
                        </a:spcBef>
                      </a:pPr>
                      <a:r>
                        <a:rPr sz="1000" b="1">
                          <a:solidFill>
                            <a:srgbClr val="005F73"/>
                          </a:solidFill>
                          <a:latin typeface="Arial"/>
                          <a:cs typeface="Arial"/>
                        </a:rPr>
                        <a:t>Batch </a:t>
                      </a:r>
                      <a:r>
                        <a:rPr sz="1000" b="1" spc="-60">
                          <a:solidFill>
                            <a:srgbClr val="005F73"/>
                          </a:solidFill>
                          <a:latin typeface="Arial"/>
                          <a:cs typeface="Arial"/>
                        </a:rPr>
                        <a:t>3</a:t>
                      </a:r>
                      <a:endParaRPr sz="1000">
                        <a:latin typeface="Arial"/>
                        <a:cs typeface="Arial"/>
                      </a:endParaRPr>
                    </a:p>
                  </a:txBody>
                  <a:tcPr marL="0" marR="0" marT="20955" marB="0"/>
                </a:tc>
                <a:tc>
                  <a:txBody>
                    <a:bodyPr/>
                    <a:lstStyle/>
                    <a:p>
                      <a:pPr algn="ctr">
                        <a:lnSpc>
                          <a:spcPct val="100000"/>
                        </a:lnSpc>
                        <a:spcBef>
                          <a:spcPts val="165"/>
                        </a:spcBef>
                      </a:pPr>
                      <a:r>
                        <a:rPr sz="1000" spc="-20">
                          <a:solidFill>
                            <a:srgbClr val="202429"/>
                          </a:solidFill>
                          <a:latin typeface="Tahoma"/>
                          <a:cs typeface="Tahoma"/>
                        </a:rPr>
                        <a:t>97</a:t>
                      </a:r>
                      <a:r>
                        <a:rPr sz="1000" spc="-55">
                          <a:solidFill>
                            <a:srgbClr val="202429"/>
                          </a:solidFill>
                          <a:latin typeface="Tahoma"/>
                          <a:cs typeface="Tahoma"/>
                        </a:rPr>
                        <a:t> </a:t>
                      </a:r>
                      <a:r>
                        <a:rPr sz="1000" spc="-20">
                          <a:solidFill>
                            <a:srgbClr val="202429"/>
                          </a:solidFill>
                          <a:latin typeface="Tahoma"/>
                          <a:cs typeface="Tahoma"/>
                        </a:rPr>
                        <a:t>real</a:t>
                      </a:r>
                      <a:endParaRPr sz="1000">
                        <a:latin typeface="Tahoma"/>
                        <a:cs typeface="Tahoma"/>
                      </a:endParaRPr>
                    </a:p>
                  </a:txBody>
                  <a:tcPr marL="0" marR="0" marT="20955" marB="0"/>
                </a:tc>
                <a:tc>
                  <a:txBody>
                    <a:bodyPr/>
                    <a:lstStyle/>
                    <a:p>
                      <a:pPr marL="635" algn="ctr">
                        <a:lnSpc>
                          <a:spcPct val="100000"/>
                        </a:lnSpc>
                        <a:spcBef>
                          <a:spcPts val="165"/>
                        </a:spcBef>
                      </a:pPr>
                      <a:r>
                        <a:rPr sz="1000" spc="-20">
                          <a:solidFill>
                            <a:srgbClr val="202429"/>
                          </a:solidFill>
                          <a:latin typeface="Tahoma"/>
                          <a:cs typeface="Tahoma"/>
                        </a:rPr>
                        <a:t>2644</a:t>
                      </a:r>
                      <a:endParaRPr sz="1000">
                        <a:latin typeface="Tahoma"/>
                        <a:cs typeface="Tahoma"/>
                      </a:endParaRPr>
                    </a:p>
                  </a:txBody>
                  <a:tcPr marL="0" marR="0" marT="20955" marB="0"/>
                </a:tc>
                <a:tc>
                  <a:txBody>
                    <a:bodyPr/>
                    <a:lstStyle/>
                    <a:p>
                      <a:pPr marL="1270" algn="ctr">
                        <a:lnSpc>
                          <a:spcPct val="100000"/>
                        </a:lnSpc>
                        <a:spcBef>
                          <a:spcPts val="165"/>
                        </a:spcBef>
                      </a:pPr>
                      <a:r>
                        <a:rPr sz="1000" spc="-20">
                          <a:solidFill>
                            <a:srgbClr val="202429"/>
                          </a:solidFill>
                          <a:latin typeface="Tahoma"/>
                          <a:cs typeface="Tahoma"/>
                        </a:rPr>
                        <a:t>1960</a:t>
                      </a:r>
                      <a:endParaRPr sz="1000">
                        <a:latin typeface="Tahoma"/>
                        <a:cs typeface="Tahoma"/>
                      </a:endParaRPr>
                    </a:p>
                  </a:txBody>
                  <a:tcPr marL="0" marR="0" marT="20955" marB="0"/>
                </a:tc>
                <a:tc>
                  <a:txBody>
                    <a:bodyPr/>
                    <a:lstStyle/>
                    <a:p>
                      <a:pPr marL="76200" algn="ctr">
                        <a:lnSpc>
                          <a:spcPct val="100000"/>
                        </a:lnSpc>
                        <a:spcBef>
                          <a:spcPts val="165"/>
                        </a:spcBef>
                      </a:pPr>
                      <a:r>
                        <a:rPr sz="1000" spc="-30">
                          <a:solidFill>
                            <a:srgbClr val="005F73"/>
                          </a:solidFill>
                          <a:latin typeface="Tahoma"/>
                          <a:cs typeface="Tahoma"/>
                        </a:rPr>
                        <a:t>Testing</a:t>
                      </a:r>
                      <a:r>
                        <a:rPr sz="1000" spc="-15">
                          <a:solidFill>
                            <a:srgbClr val="005F73"/>
                          </a:solidFill>
                          <a:latin typeface="Tahoma"/>
                          <a:cs typeface="Tahoma"/>
                        </a:rPr>
                        <a:t> </a:t>
                      </a:r>
                      <a:r>
                        <a:rPr sz="1000" spc="-10">
                          <a:solidFill>
                            <a:srgbClr val="005F73"/>
                          </a:solidFill>
                          <a:latin typeface="Tahoma"/>
                          <a:cs typeface="Tahoma"/>
                        </a:rPr>
                        <a:t>(Real)</a:t>
                      </a:r>
                      <a:endParaRPr sz="1000">
                        <a:latin typeface="Tahoma"/>
                        <a:cs typeface="Tahoma"/>
                      </a:endParaRPr>
                    </a:p>
                  </a:txBody>
                  <a:tcPr marL="0" marR="0" marT="20955" marB="0"/>
                </a:tc>
                <a:extLst>
                  <a:ext uri="{0D108BD9-81ED-4DB2-BD59-A6C34878D82A}">
                    <a16:rowId xmlns:a16="http://schemas.microsoft.com/office/drawing/2014/main" val="10003"/>
                  </a:ext>
                </a:extLst>
              </a:tr>
              <a:tr h="223520">
                <a:tc>
                  <a:txBody>
                    <a:bodyPr/>
                    <a:lstStyle/>
                    <a:p>
                      <a:pPr>
                        <a:lnSpc>
                          <a:spcPct val="100000"/>
                        </a:lnSpc>
                        <a:spcBef>
                          <a:spcPts val="165"/>
                        </a:spcBef>
                      </a:pPr>
                      <a:r>
                        <a:rPr sz="1000" b="1">
                          <a:solidFill>
                            <a:srgbClr val="005F73"/>
                          </a:solidFill>
                          <a:latin typeface="Arial"/>
                          <a:cs typeface="Arial"/>
                        </a:rPr>
                        <a:t>Batch </a:t>
                      </a:r>
                      <a:r>
                        <a:rPr sz="1000" b="1" spc="-60">
                          <a:solidFill>
                            <a:srgbClr val="005F73"/>
                          </a:solidFill>
                          <a:latin typeface="Arial"/>
                          <a:cs typeface="Arial"/>
                        </a:rPr>
                        <a:t>4</a:t>
                      </a:r>
                      <a:endParaRPr sz="1000">
                        <a:latin typeface="Arial"/>
                        <a:cs typeface="Arial"/>
                      </a:endParaRPr>
                    </a:p>
                  </a:txBody>
                  <a:tcPr marL="0" marR="0" marT="20955" marB="0">
                    <a:lnB w="12700">
                      <a:solidFill>
                        <a:srgbClr val="202429"/>
                      </a:solidFill>
                      <a:prstDash val="solid"/>
                    </a:lnB>
                  </a:tcPr>
                </a:tc>
                <a:tc>
                  <a:txBody>
                    <a:bodyPr/>
                    <a:lstStyle/>
                    <a:p>
                      <a:pPr marL="635" algn="ctr">
                        <a:lnSpc>
                          <a:spcPct val="100000"/>
                        </a:lnSpc>
                        <a:spcBef>
                          <a:spcPts val="165"/>
                        </a:spcBef>
                      </a:pPr>
                      <a:r>
                        <a:rPr sz="1000" spc="-20">
                          <a:solidFill>
                            <a:srgbClr val="202429"/>
                          </a:solidFill>
                          <a:latin typeface="Tahoma"/>
                          <a:cs typeface="Tahoma"/>
                        </a:rPr>
                        <a:t>76</a:t>
                      </a:r>
                      <a:r>
                        <a:rPr sz="1000" spc="-55">
                          <a:solidFill>
                            <a:srgbClr val="202429"/>
                          </a:solidFill>
                          <a:latin typeface="Tahoma"/>
                          <a:cs typeface="Tahoma"/>
                        </a:rPr>
                        <a:t> </a:t>
                      </a:r>
                      <a:r>
                        <a:rPr sz="1000" spc="-10">
                          <a:solidFill>
                            <a:srgbClr val="202429"/>
                          </a:solidFill>
                          <a:latin typeface="Tahoma"/>
                          <a:cs typeface="Tahoma"/>
                        </a:rPr>
                        <a:t>synthetic</a:t>
                      </a:r>
                      <a:endParaRPr sz="1000">
                        <a:latin typeface="Tahoma"/>
                        <a:cs typeface="Tahoma"/>
                      </a:endParaRPr>
                    </a:p>
                  </a:txBody>
                  <a:tcPr marL="0" marR="0" marT="20955" marB="0">
                    <a:lnB w="12700">
                      <a:solidFill>
                        <a:srgbClr val="202429"/>
                      </a:solidFill>
                      <a:prstDash val="solid"/>
                    </a:lnB>
                  </a:tcPr>
                </a:tc>
                <a:tc>
                  <a:txBody>
                    <a:bodyPr/>
                    <a:lstStyle/>
                    <a:p>
                      <a:pPr marL="635" algn="ctr">
                        <a:lnSpc>
                          <a:spcPct val="100000"/>
                        </a:lnSpc>
                        <a:spcBef>
                          <a:spcPts val="165"/>
                        </a:spcBef>
                      </a:pPr>
                      <a:r>
                        <a:rPr sz="1000" spc="-25">
                          <a:solidFill>
                            <a:srgbClr val="202429"/>
                          </a:solidFill>
                          <a:latin typeface="Tahoma"/>
                          <a:cs typeface="Tahoma"/>
                        </a:rPr>
                        <a:t>970</a:t>
                      </a:r>
                      <a:endParaRPr sz="1000">
                        <a:latin typeface="Tahoma"/>
                        <a:cs typeface="Tahoma"/>
                      </a:endParaRPr>
                    </a:p>
                  </a:txBody>
                  <a:tcPr marL="0" marR="0" marT="20955" marB="0">
                    <a:lnB w="12700">
                      <a:solidFill>
                        <a:srgbClr val="202429"/>
                      </a:solidFill>
                      <a:prstDash val="solid"/>
                    </a:lnB>
                  </a:tcPr>
                </a:tc>
                <a:tc>
                  <a:txBody>
                    <a:bodyPr/>
                    <a:lstStyle/>
                    <a:p>
                      <a:pPr marL="1270" algn="ctr">
                        <a:lnSpc>
                          <a:spcPct val="100000"/>
                        </a:lnSpc>
                        <a:spcBef>
                          <a:spcPts val="165"/>
                        </a:spcBef>
                      </a:pPr>
                      <a:r>
                        <a:rPr sz="1000" spc="-25">
                          <a:solidFill>
                            <a:srgbClr val="202429"/>
                          </a:solidFill>
                          <a:latin typeface="Tahoma"/>
                          <a:cs typeface="Tahoma"/>
                        </a:rPr>
                        <a:t>818</a:t>
                      </a:r>
                      <a:endParaRPr sz="1000">
                        <a:latin typeface="Tahoma"/>
                        <a:cs typeface="Tahoma"/>
                      </a:endParaRPr>
                    </a:p>
                  </a:txBody>
                  <a:tcPr marL="0" marR="0" marT="20955" marB="0">
                    <a:lnB w="12700">
                      <a:solidFill>
                        <a:srgbClr val="202429"/>
                      </a:solidFill>
                      <a:prstDash val="solid"/>
                    </a:lnB>
                  </a:tcPr>
                </a:tc>
                <a:tc>
                  <a:txBody>
                    <a:bodyPr/>
                    <a:lstStyle/>
                    <a:p>
                      <a:pPr marL="76200" algn="ctr">
                        <a:lnSpc>
                          <a:spcPct val="100000"/>
                        </a:lnSpc>
                        <a:spcBef>
                          <a:spcPts val="165"/>
                        </a:spcBef>
                      </a:pPr>
                      <a:r>
                        <a:rPr sz="1000" spc="-30">
                          <a:solidFill>
                            <a:srgbClr val="005F73"/>
                          </a:solidFill>
                          <a:latin typeface="Tahoma"/>
                          <a:cs typeface="Tahoma"/>
                        </a:rPr>
                        <a:t>Testing</a:t>
                      </a:r>
                      <a:r>
                        <a:rPr sz="1000" spc="-15">
                          <a:solidFill>
                            <a:srgbClr val="005F73"/>
                          </a:solidFill>
                          <a:latin typeface="Tahoma"/>
                          <a:cs typeface="Tahoma"/>
                        </a:rPr>
                        <a:t> </a:t>
                      </a:r>
                      <a:r>
                        <a:rPr sz="1000" spc="-25">
                          <a:solidFill>
                            <a:srgbClr val="005F73"/>
                          </a:solidFill>
                          <a:latin typeface="Tahoma"/>
                          <a:cs typeface="Tahoma"/>
                        </a:rPr>
                        <a:t>(Synth)</a:t>
                      </a:r>
                      <a:endParaRPr sz="1000">
                        <a:latin typeface="Tahoma"/>
                        <a:cs typeface="Tahoma"/>
                      </a:endParaRPr>
                    </a:p>
                  </a:txBody>
                  <a:tcPr marL="0" marR="0" marT="20955" marB="0">
                    <a:lnB w="12700">
                      <a:solidFill>
                        <a:srgbClr val="202429"/>
                      </a:solidFill>
                      <a:prstDash val="solid"/>
                    </a:lnB>
                  </a:tcPr>
                </a:tc>
                <a:extLst>
                  <a:ext uri="{0D108BD9-81ED-4DB2-BD59-A6C34878D82A}">
                    <a16:rowId xmlns:a16="http://schemas.microsoft.com/office/drawing/2014/main" val="10004"/>
                  </a:ext>
                </a:extLst>
              </a:tr>
            </a:tbl>
          </a:graphicData>
        </a:graphic>
      </p:graphicFrame>
      <p:sp>
        <p:nvSpPr>
          <p:cNvPr id="5" name="object 5"/>
          <p:cNvSpPr txBox="1"/>
          <p:nvPr/>
        </p:nvSpPr>
        <p:spPr>
          <a:xfrm>
            <a:off x="347294" y="1901952"/>
            <a:ext cx="3655695" cy="594360"/>
          </a:xfrm>
          <a:prstGeom prst="rect">
            <a:avLst/>
          </a:prstGeom>
        </p:spPr>
        <p:txBody>
          <a:bodyPr vert="horz" wrap="square" lIns="0" tIns="39369" rIns="0" bIns="0" rtlCol="0">
            <a:spAutoFit/>
          </a:bodyPr>
          <a:lstStyle/>
          <a:p>
            <a:pPr marL="12700">
              <a:lnSpc>
                <a:spcPct val="100000"/>
              </a:lnSpc>
              <a:spcBef>
                <a:spcPts val="309"/>
              </a:spcBef>
            </a:pPr>
            <a:r>
              <a:rPr sz="1100" b="1" spc="-25">
                <a:solidFill>
                  <a:srgbClr val="202429"/>
                </a:solidFill>
                <a:latin typeface="Arial"/>
                <a:cs typeface="Arial"/>
              </a:rPr>
              <a:t>Ethnic</a:t>
            </a:r>
            <a:r>
              <a:rPr sz="1100" b="1" spc="25">
                <a:solidFill>
                  <a:srgbClr val="202429"/>
                </a:solidFill>
                <a:latin typeface="Arial"/>
                <a:cs typeface="Arial"/>
              </a:rPr>
              <a:t> </a:t>
            </a:r>
            <a:r>
              <a:rPr sz="1100" b="1" spc="-40">
                <a:solidFill>
                  <a:srgbClr val="202429"/>
                </a:solidFill>
                <a:latin typeface="Arial"/>
                <a:cs typeface="Arial"/>
              </a:rPr>
              <a:t>Group</a:t>
            </a:r>
            <a:r>
              <a:rPr sz="1100" b="1" spc="30">
                <a:solidFill>
                  <a:srgbClr val="202429"/>
                </a:solidFill>
                <a:latin typeface="Arial"/>
                <a:cs typeface="Arial"/>
              </a:rPr>
              <a:t> </a:t>
            </a:r>
            <a:r>
              <a:rPr sz="1100" b="1" spc="-20">
                <a:solidFill>
                  <a:srgbClr val="202429"/>
                </a:solidFill>
                <a:latin typeface="Arial"/>
                <a:cs typeface="Arial"/>
              </a:rPr>
              <a:t>Distribution</a:t>
            </a:r>
            <a:r>
              <a:rPr sz="1100" b="1" spc="30">
                <a:solidFill>
                  <a:srgbClr val="202429"/>
                </a:solidFill>
                <a:latin typeface="Arial"/>
                <a:cs typeface="Arial"/>
              </a:rPr>
              <a:t> </a:t>
            </a:r>
            <a:r>
              <a:rPr sz="1100" b="1">
                <a:solidFill>
                  <a:srgbClr val="202429"/>
                </a:solidFill>
                <a:latin typeface="Arial"/>
                <a:cs typeface="Arial"/>
              </a:rPr>
              <a:t>(Batch</a:t>
            </a:r>
            <a:r>
              <a:rPr sz="1100" b="1" spc="30">
                <a:solidFill>
                  <a:srgbClr val="202429"/>
                </a:solidFill>
                <a:latin typeface="Arial"/>
                <a:cs typeface="Arial"/>
              </a:rPr>
              <a:t> </a:t>
            </a:r>
            <a:r>
              <a:rPr sz="1100" b="1" spc="-25">
                <a:solidFill>
                  <a:srgbClr val="202429"/>
                </a:solidFill>
                <a:latin typeface="Arial"/>
                <a:cs typeface="Arial"/>
              </a:rPr>
              <a:t>1):</a:t>
            </a:r>
            <a:endParaRPr sz="1100">
              <a:latin typeface="Arial"/>
              <a:cs typeface="Arial"/>
            </a:endParaRPr>
          </a:p>
          <a:p>
            <a:pPr marL="12700">
              <a:lnSpc>
                <a:spcPct val="100000"/>
              </a:lnSpc>
              <a:spcBef>
                <a:spcPts val="190"/>
              </a:spcBef>
              <a:tabLst>
                <a:tab pos="1640205" algn="l"/>
                <a:tab pos="2723515" algn="l"/>
              </a:tabLst>
            </a:pPr>
            <a:r>
              <a:rPr sz="1000">
                <a:solidFill>
                  <a:srgbClr val="202429"/>
                </a:solidFill>
                <a:latin typeface="Tahoma"/>
                <a:cs typeface="Tahoma"/>
              </a:rPr>
              <a:t>White</a:t>
            </a:r>
            <a:r>
              <a:rPr sz="1000" spc="-75">
                <a:solidFill>
                  <a:srgbClr val="202429"/>
                </a:solidFill>
                <a:latin typeface="Tahoma"/>
                <a:cs typeface="Tahoma"/>
              </a:rPr>
              <a:t> </a:t>
            </a:r>
            <a:r>
              <a:rPr sz="1000">
                <a:solidFill>
                  <a:srgbClr val="202429"/>
                </a:solidFill>
                <a:latin typeface="Tahoma"/>
                <a:cs typeface="Tahoma"/>
              </a:rPr>
              <a:t>British:</a:t>
            </a:r>
            <a:r>
              <a:rPr sz="1000" spc="15">
                <a:solidFill>
                  <a:srgbClr val="202429"/>
                </a:solidFill>
                <a:latin typeface="Tahoma"/>
                <a:cs typeface="Tahoma"/>
              </a:rPr>
              <a:t> </a:t>
            </a:r>
            <a:r>
              <a:rPr sz="1000" spc="-20">
                <a:solidFill>
                  <a:srgbClr val="202429"/>
                </a:solidFill>
                <a:latin typeface="Tahoma"/>
                <a:cs typeface="Tahoma"/>
              </a:rPr>
              <a:t>52</a:t>
            </a:r>
            <a:r>
              <a:rPr sz="1000" spc="-55">
                <a:solidFill>
                  <a:srgbClr val="202429"/>
                </a:solidFill>
                <a:latin typeface="Tahoma"/>
                <a:cs typeface="Tahoma"/>
              </a:rPr>
              <a:t> </a:t>
            </a:r>
            <a:r>
              <a:rPr sz="1000" spc="-10">
                <a:solidFill>
                  <a:srgbClr val="202429"/>
                </a:solidFill>
                <a:latin typeface="Tahoma"/>
                <a:cs typeface="Tahoma"/>
              </a:rPr>
              <a:t>(70.93%)</a:t>
            </a:r>
            <a:r>
              <a:rPr sz="1000">
                <a:solidFill>
                  <a:srgbClr val="202429"/>
                </a:solidFill>
                <a:latin typeface="Tahoma"/>
                <a:cs typeface="Tahoma"/>
              </a:rPr>
              <a:t>	</a:t>
            </a:r>
            <a:r>
              <a:rPr sz="1000" spc="-10">
                <a:solidFill>
                  <a:srgbClr val="202429"/>
                </a:solidFill>
                <a:latin typeface="Tahoma"/>
                <a:cs typeface="Tahoma"/>
              </a:rPr>
              <a:t>Asian:</a:t>
            </a:r>
            <a:r>
              <a:rPr sz="1000" spc="20">
                <a:solidFill>
                  <a:srgbClr val="202429"/>
                </a:solidFill>
                <a:latin typeface="Tahoma"/>
                <a:cs typeface="Tahoma"/>
              </a:rPr>
              <a:t> </a:t>
            </a:r>
            <a:r>
              <a:rPr sz="1000">
                <a:solidFill>
                  <a:srgbClr val="202429"/>
                </a:solidFill>
                <a:latin typeface="Tahoma"/>
                <a:cs typeface="Tahoma"/>
              </a:rPr>
              <a:t>6</a:t>
            </a:r>
            <a:r>
              <a:rPr sz="1000" spc="-60">
                <a:solidFill>
                  <a:srgbClr val="202429"/>
                </a:solidFill>
                <a:latin typeface="Tahoma"/>
                <a:cs typeface="Tahoma"/>
              </a:rPr>
              <a:t> </a:t>
            </a:r>
            <a:r>
              <a:rPr sz="1000" spc="-10">
                <a:solidFill>
                  <a:srgbClr val="202429"/>
                </a:solidFill>
                <a:latin typeface="Tahoma"/>
                <a:cs typeface="Tahoma"/>
              </a:rPr>
              <a:t>(8.97%)</a:t>
            </a:r>
            <a:r>
              <a:rPr sz="1000">
                <a:solidFill>
                  <a:srgbClr val="202429"/>
                </a:solidFill>
                <a:latin typeface="Tahoma"/>
                <a:cs typeface="Tahoma"/>
              </a:rPr>
              <a:t>	Black:</a:t>
            </a:r>
            <a:r>
              <a:rPr sz="1000" spc="35">
                <a:solidFill>
                  <a:srgbClr val="202429"/>
                </a:solidFill>
                <a:latin typeface="Tahoma"/>
                <a:cs typeface="Tahoma"/>
              </a:rPr>
              <a:t> </a:t>
            </a:r>
            <a:r>
              <a:rPr sz="1000">
                <a:solidFill>
                  <a:srgbClr val="202429"/>
                </a:solidFill>
                <a:latin typeface="Tahoma"/>
                <a:cs typeface="Tahoma"/>
              </a:rPr>
              <a:t>7</a:t>
            </a:r>
            <a:r>
              <a:rPr sz="1000" spc="-50">
                <a:solidFill>
                  <a:srgbClr val="202429"/>
                </a:solidFill>
                <a:latin typeface="Tahoma"/>
                <a:cs typeface="Tahoma"/>
              </a:rPr>
              <a:t> </a:t>
            </a:r>
            <a:r>
              <a:rPr sz="1000" spc="-40">
                <a:solidFill>
                  <a:srgbClr val="202429"/>
                </a:solidFill>
                <a:latin typeface="Tahoma"/>
                <a:cs typeface="Tahoma"/>
              </a:rPr>
              <a:t>(8.35%)</a:t>
            </a:r>
            <a:endParaRPr sz="1000">
              <a:latin typeface="Tahoma"/>
              <a:cs typeface="Tahoma"/>
            </a:endParaRPr>
          </a:p>
          <a:p>
            <a:pPr marL="12700">
              <a:lnSpc>
                <a:spcPct val="100000"/>
              </a:lnSpc>
              <a:spcBef>
                <a:spcPts val="355"/>
              </a:spcBef>
              <a:tabLst>
                <a:tab pos="1469390" algn="l"/>
              </a:tabLst>
            </a:pPr>
            <a:r>
              <a:rPr sz="1000">
                <a:solidFill>
                  <a:srgbClr val="202429"/>
                </a:solidFill>
                <a:latin typeface="Tahoma"/>
                <a:cs typeface="Tahoma"/>
              </a:rPr>
              <a:t>White</a:t>
            </a:r>
            <a:r>
              <a:rPr sz="1000" spc="-60">
                <a:solidFill>
                  <a:srgbClr val="202429"/>
                </a:solidFill>
                <a:latin typeface="Tahoma"/>
                <a:cs typeface="Tahoma"/>
              </a:rPr>
              <a:t> </a:t>
            </a:r>
            <a:r>
              <a:rPr sz="1000" spc="-20">
                <a:solidFill>
                  <a:srgbClr val="202429"/>
                </a:solidFill>
                <a:latin typeface="Tahoma"/>
                <a:cs typeface="Tahoma"/>
              </a:rPr>
              <a:t>Other:</a:t>
            </a:r>
            <a:r>
              <a:rPr sz="1000" spc="35">
                <a:solidFill>
                  <a:srgbClr val="202429"/>
                </a:solidFill>
                <a:latin typeface="Tahoma"/>
                <a:cs typeface="Tahoma"/>
              </a:rPr>
              <a:t> </a:t>
            </a:r>
            <a:r>
              <a:rPr sz="1000">
                <a:solidFill>
                  <a:srgbClr val="202429"/>
                </a:solidFill>
                <a:latin typeface="Tahoma"/>
                <a:cs typeface="Tahoma"/>
              </a:rPr>
              <a:t>6</a:t>
            </a:r>
            <a:r>
              <a:rPr sz="1000" spc="-55">
                <a:solidFill>
                  <a:srgbClr val="202429"/>
                </a:solidFill>
                <a:latin typeface="Tahoma"/>
                <a:cs typeface="Tahoma"/>
              </a:rPr>
              <a:t> </a:t>
            </a:r>
            <a:r>
              <a:rPr sz="1000" spc="-10">
                <a:solidFill>
                  <a:srgbClr val="202429"/>
                </a:solidFill>
                <a:latin typeface="Tahoma"/>
                <a:cs typeface="Tahoma"/>
              </a:rPr>
              <a:t>(4.74%)</a:t>
            </a:r>
            <a:r>
              <a:rPr sz="1000">
                <a:solidFill>
                  <a:srgbClr val="202429"/>
                </a:solidFill>
                <a:latin typeface="Tahoma"/>
                <a:cs typeface="Tahoma"/>
              </a:rPr>
              <a:t>	Mixed</a:t>
            </a:r>
            <a:r>
              <a:rPr sz="1000" spc="-40">
                <a:solidFill>
                  <a:srgbClr val="202429"/>
                </a:solidFill>
                <a:latin typeface="Tahoma"/>
                <a:cs typeface="Tahoma"/>
              </a:rPr>
              <a:t> </a:t>
            </a:r>
            <a:r>
              <a:rPr sz="1000" spc="-30">
                <a:solidFill>
                  <a:srgbClr val="202429"/>
                </a:solidFill>
                <a:latin typeface="Tahoma"/>
                <a:cs typeface="Tahoma"/>
              </a:rPr>
              <a:t>Background:</a:t>
            </a:r>
            <a:r>
              <a:rPr sz="1000" spc="55">
                <a:solidFill>
                  <a:srgbClr val="202429"/>
                </a:solidFill>
                <a:latin typeface="Tahoma"/>
                <a:cs typeface="Tahoma"/>
              </a:rPr>
              <a:t> </a:t>
            </a:r>
            <a:r>
              <a:rPr sz="1000">
                <a:solidFill>
                  <a:srgbClr val="202429"/>
                </a:solidFill>
                <a:latin typeface="Tahoma"/>
                <a:cs typeface="Tahoma"/>
              </a:rPr>
              <a:t>1</a:t>
            </a:r>
            <a:r>
              <a:rPr sz="1000" spc="-35">
                <a:solidFill>
                  <a:srgbClr val="202429"/>
                </a:solidFill>
                <a:latin typeface="Tahoma"/>
                <a:cs typeface="Tahoma"/>
              </a:rPr>
              <a:t> </a:t>
            </a:r>
            <a:r>
              <a:rPr sz="1000" spc="-10">
                <a:solidFill>
                  <a:srgbClr val="202429"/>
                </a:solidFill>
                <a:latin typeface="Tahoma"/>
                <a:cs typeface="Tahoma"/>
              </a:rPr>
              <a:t>(1.34%)</a:t>
            </a:r>
            <a:endParaRPr sz="1000">
              <a:latin typeface="Tahoma"/>
              <a:cs typeface="Tahoma"/>
            </a:endParaRPr>
          </a:p>
        </p:txBody>
      </p:sp>
      <p:sp>
        <p:nvSpPr>
          <p:cNvPr id="6" name="object 6"/>
          <p:cNvSpPr txBox="1"/>
          <p:nvPr/>
        </p:nvSpPr>
        <p:spPr>
          <a:xfrm>
            <a:off x="230440" y="2647970"/>
            <a:ext cx="5121275" cy="247650"/>
          </a:xfrm>
          <a:prstGeom prst="rect">
            <a:avLst/>
          </a:prstGeom>
          <a:solidFill>
            <a:srgbClr val="E8F4F8"/>
          </a:solidFill>
          <a:ln w="5060">
            <a:solidFill>
              <a:srgbClr val="005F73"/>
            </a:solidFill>
          </a:ln>
        </p:spPr>
        <p:txBody>
          <a:bodyPr vert="horz" wrap="square" lIns="0" tIns="27305" rIns="0" bIns="0" rtlCol="0">
            <a:spAutoFit/>
          </a:bodyPr>
          <a:lstStyle/>
          <a:p>
            <a:pPr marL="106045">
              <a:lnSpc>
                <a:spcPct val="100000"/>
              </a:lnSpc>
              <a:spcBef>
                <a:spcPts val="215"/>
              </a:spcBef>
              <a:tabLst>
                <a:tab pos="3372485" algn="l"/>
              </a:tabLst>
            </a:pPr>
            <a:r>
              <a:rPr sz="1000" b="1">
                <a:solidFill>
                  <a:srgbClr val="202429"/>
                </a:solidFill>
                <a:latin typeface="Arial"/>
                <a:cs typeface="Arial"/>
              </a:rPr>
              <a:t>Human</a:t>
            </a:r>
            <a:r>
              <a:rPr sz="1000" b="1" spc="45">
                <a:solidFill>
                  <a:srgbClr val="202429"/>
                </a:solidFill>
                <a:latin typeface="Arial"/>
                <a:cs typeface="Arial"/>
              </a:rPr>
              <a:t> </a:t>
            </a:r>
            <a:r>
              <a:rPr sz="1000" b="1" spc="-25">
                <a:solidFill>
                  <a:srgbClr val="202429"/>
                </a:solidFill>
                <a:latin typeface="Arial"/>
                <a:cs typeface="Arial"/>
              </a:rPr>
              <a:t>Annotation:</a:t>
            </a:r>
            <a:r>
              <a:rPr sz="1000" b="1" spc="114">
                <a:solidFill>
                  <a:srgbClr val="202429"/>
                </a:solidFill>
                <a:latin typeface="Arial"/>
                <a:cs typeface="Arial"/>
              </a:rPr>
              <a:t> </a:t>
            </a:r>
            <a:r>
              <a:rPr sz="1000">
                <a:solidFill>
                  <a:srgbClr val="202429"/>
                </a:solidFill>
                <a:latin typeface="Tahoma"/>
                <a:cs typeface="Tahoma"/>
              </a:rPr>
              <a:t>3</a:t>
            </a:r>
            <a:r>
              <a:rPr sz="1000" spc="-25">
                <a:solidFill>
                  <a:srgbClr val="202429"/>
                </a:solidFill>
                <a:latin typeface="Tahoma"/>
                <a:cs typeface="Tahoma"/>
              </a:rPr>
              <a:t> </a:t>
            </a:r>
            <a:r>
              <a:rPr sz="1000" spc="-40">
                <a:solidFill>
                  <a:srgbClr val="202429"/>
                </a:solidFill>
                <a:latin typeface="Tahoma"/>
                <a:cs typeface="Tahoma"/>
              </a:rPr>
              <a:t>experts</a:t>
            </a:r>
            <a:r>
              <a:rPr sz="1000" spc="-20">
                <a:solidFill>
                  <a:srgbClr val="202429"/>
                </a:solidFill>
                <a:latin typeface="Tahoma"/>
                <a:cs typeface="Tahoma"/>
              </a:rPr>
              <a:t> </a:t>
            </a:r>
            <a:r>
              <a:rPr sz="1000">
                <a:solidFill>
                  <a:srgbClr val="202429"/>
                </a:solidFill>
                <a:latin typeface="Tahoma"/>
                <a:cs typeface="Tahoma"/>
              </a:rPr>
              <a:t>(HSIB</a:t>
            </a:r>
            <a:r>
              <a:rPr sz="1000" spc="-20">
                <a:solidFill>
                  <a:srgbClr val="202429"/>
                </a:solidFill>
                <a:latin typeface="Tahoma"/>
                <a:cs typeface="Tahoma"/>
              </a:rPr>
              <a:t> </a:t>
            </a:r>
            <a:r>
              <a:rPr sz="1000">
                <a:solidFill>
                  <a:srgbClr val="202429"/>
                </a:solidFill>
                <a:latin typeface="Tahoma"/>
                <a:cs typeface="Tahoma"/>
              </a:rPr>
              <a:t>+</a:t>
            </a:r>
            <a:r>
              <a:rPr sz="1000" spc="-20">
                <a:solidFill>
                  <a:srgbClr val="202429"/>
                </a:solidFill>
                <a:latin typeface="Tahoma"/>
                <a:cs typeface="Tahoma"/>
              </a:rPr>
              <a:t> </a:t>
            </a:r>
            <a:r>
              <a:rPr sz="1000" spc="-25">
                <a:solidFill>
                  <a:srgbClr val="202429"/>
                </a:solidFill>
                <a:latin typeface="Tahoma"/>
                <a:cs typeface="Tahoma"/>
              </a:rPr>
              <a:t>Human</a:t>
            </a:r>
            <a:r>
              <a:rPr sz="1000" spc="-20">
                <a:solidFill>
                  <a:srgbClr val="202429"/>
                </a:solidFill>
                <a:latin typeface="Tahoma"/>
                <a:cs typeface="Tahoma"/>
              </a:rPr>
              <a:t> </a:t>
            </a:r>
            <a:r>
              <a:rPr sz="1000" spc="-10">
                <a:solidFill>
                  <a:srgbClr val="202429"/>
                </a:solidFill>
                <a:latin typeface="Tahoma"/>
                <a:cs typeface="Tahoma"/>
              </a:rPr>
              <a:t>Factors)</a:t>
            </a:r>
            <a:r>
              <a:rPr sz="1000">
                <a:solidFill>
                  <a:srgbClr val="202429"/>
                </a:solidFill>
                <a:latin typeface="Tahoma"/>
                <a:cs typeface="Tahoma"/>
              </a:rPr>
              <a:t>	</a:t>
            </a:r>
            <a:r>
              <a:rPr sz="1000" spc="-50">
                <a:solidFill>
                  <a:srgbClr val="202429"/>
                </a:solidFill>
                <a:latin typeface="Tahoma"/>
                <a:cs typeface="Tahoma"/>
              </a:rPr>
              <a:t>Inter-</a:t>
            </a:r>
            <a:r>
              <a:rPr sz="1000" spc="-30">
                <a:solidFill>
                  <a:srgbClr val="202429"/>
                </a:solidFill>
                <a:latin typeface="Tahoma"/>
                <a:cs typeface="Tahoma"/>
              </a:rPr>
              <a:t>rater</a:t>
            </a:r>
            <a:r>
              <a:rPr sz="1000" spc="-50">
                <a:solidFill>
                  <a:srgbClr val="202429"/>
                </a:solidFill>
                <a:latin typeface="Tahoma"/>
                <a:cs typeface="Tahoma"/>
              </a:rPr>
              <a:t> </a:t>
            </a:r>
            <a:r>
              <a:rPr sz="1000" spc="-10">
                <a:solidFill>
                  <a:srgbClr val="202429"/>
                </a:solidFill>
                <a:latin typeface="Tahoma"/>
                <a:cs typeface="Tahoma"/>
              </a:rPr>
              <a:t>reliability:</a:t>
            </a:r>
            <a:r>
              <a:rPr sz="1000" spc="40">
                <a:solidFill>
                  <a:srgbClr val="202429"/>
                </a:solidFill>
                <a:latin typeface="Tahoma"/>
                <a:cs typeface="Tahoma"/>
              </a:rPr>
              <a:t> </a:t>
            </a:r>
            <a:r>
              <a:rPr sz="1000" b="1" spc="-10">
                <a:solidFill>
                  <a:srgbClr val="202429"/>
                </a:solidFill>
                <a:latin typeface="Arial"/>
                <a:cs typeface="Arial"/>
              </a:rPr>
              <a:t>80.15%</a:t>
            </a:r>
            <a:endParaRPr sz="1000">
              <a:latin typeface="Arial"/>
              <a:cs typeface="Arial"/>
            </a:endParaRPr>
          </a:p>
        </p:txBody>
      </p:sp>
      <p:sp>
        <p:nvSpPr>
          <p:cNvPr id="7" name="object 7"/>
          <p:cNvSpPr/>
          <p:nvPr/>
        </p:nvSpPr>
        <p:spPr>
          <a:xfrm>
            <a:off x="0" y="3060028"/>
            <a:ext cx="5760085" cy="0"/>
          </a:xfrm>
          <a:custGeom>
            <a:avLst/>
            <a:gdLst/>
            <a:ahLst/>
            <a:cxnLst/>
            <a:rect l="l" t="t" r="r" b="b"/>
            <a:pathLst>
              <a:path w="5760085">
                <a:moveTo>
                  <a:pt x="0" y="0"/>
                </a:moveTo>
                <a:lnTo>
                  <a:pt x="5760073" y="0"/>
                </a:lnTo>
              </a:path>
            </a:pathLst>
          </a:custGeom>
          <a:ln w="6326">
            <a:solidFill>
              <a:srgbClr val="CED3DA"/>
            </a:solidFill>
          </a:ln>
        </p:spPr>
        <p:txBody>
          <a:bodyPr wrap="square" lIns="0" tIns="0" rIns="0" bIns="0" rtlCol="0"/>
          <a:lstStyle/>
          <a:p>
            <a:endParaRPr/>
          </a:p>
        </p:txBody>
      </p:sp>
      <p:sp>
        <p:nvSpPr>
          <p:cNvPr id="10" name="Slide Number Placeholder 9">
            <a:extLst>
              <a:ext uri="{FF2B5EF4-FFF2-40B4-BE49-F238E27FC236}">
                <a16:creationId xmlns:a16="http://schemas.microsoft.com/office/drawing/2014/main" id="{0782B021-D3FA-F216-0D10-217FEDD204CB}"/>
              </a:ext>
            </a:extLst>
          </p:cNvPr>
          <p:cNvSpPr>
            <a:spLocks noGrp="1"/>
          </p:cNvSpPr>
          <p:nvPr>
            <p:ph type="sldNum" sz="quarter" idx="7"/>
          </p:nvPr>
        </p:nvSpPr>
        <p:spPr>
          <a:xfrm>
            <a:off x="5301628" y="3068831"/>
            <a:ext cx="464172" cy="173989"/>
          </a:xfrm>
        </p:spPr>
        <p:txBody>
          <a:bodyPr/>
          <a:lstStyle/>
          <a:p>
            <a:pPr marL="39370">
              <a:lnSpc>
                <a:spcPct val="100000"/>
              </a:lnSpc>
              <a:spcBef>
                <a:spcPts val="219"/>
              </a:spcBef>
            </a:pPr>
            <a:fld id="{81D60167-4931-47E6-BA6A-407CBD079E47}" type="slidenum">
              <a:rPr lang="en-GB" smtClean="0"/>
              <a:t>11</a:t>
            </a:fld>
            <a:r>
              <a:rPr lang="en-GB" spc="20"/>
              <a:t> </a:t>
            </a:r>
            <a:r>
              <a:rPr lang="en-GB" spc="120"/>
              <a:t>/</a:t>
            </a:r>
            <a:r>
              <a:rPr lang="en-GB" spc="25"/>
              <a:t> </a:t>
            </a:r>
            <a:r>
              <a:rPr lang="en-GB" spc="-25"/>
              <a:t>41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77468" rIns="0" bIns="0" rtlCol="0">
            <a:spAutoFit/>
          </a:bodyPr>
          <a:lstStyle/>
          <a:p>
            <a:pPr marL="99060">
              <a:lnSpc>
                <a:spcPts val="1664"/>
              </a:lnSpc>
              <a:spcBef>
                <a:spcPts val="135"/>
              </a:spcBef>
            </a:pPr>
            <a:r>
              <a:rPr spc="65"/>
              <a:t>I-</a:t>
            </a:r>
            <a:r>
              <a:t>SIRch:</a:t>
            </a:r>
            <a:r>
              <a:rPr spc="170"/>
              <a:t> </a:t>
            </a:r>
            <a:r>
              <a:t>Development</a:t>
            </a:r>
            <a:r>
              <a:rPr spc="30"/>
              <a:t> </a:t>
            </a:r>
            <a:r>
              <a:rPr spc="170"/>
              <a:t>&amp;</a:t>
            </a:r>
            <a:r>
              <a:rPr spc="35"/>
              <a:t> </a:t>
            </a:r>
            <a:r>
              <a:rPr spc="-10"/>
              <a:t>Evaluation</a:t>
            </a:r>
            <a:r>
              <a:rPr spc="35"/>
              <a:t> </a:t>
            </a:r>
            <a:r>
              <a:rPr spc="-10"/>
              <a:t>Cycle</a:t>
            </a:r>
          </a:p>
          <a:p>
            <a:pPr marL="99060">
              <a:lnSpc>
                <a:spcPts val="1305"/>
              </a:lnSpc>
            </a:pPr>
            <a:r>
              <a:rPr sz="1100" b="0" spc="-40">
                <a:solidFill>
                  <a:srgbClr val="6C757C"/>
                </a:solidFill>
                <a:latin typeface="Tahoma"/>
                <a:cs typeface="Tahoma"/>
              </a:rPr>
              <a:t>Rigorous</a:t>
            </a:r>
            <a:r>
              <a:rPr sz="1100" b="0" spc="-15">
                <a:solidFill>
                  <a:srgbClr val="6C757C"/>
                </a:solidFill>
                <a:latin typeface="Tahoma"/>
                <a:cs typeface="Tahoma"/>
              </a:rPr>
              <a:t> </a:t>
            </a:r>
            <a:r>
              <a:rPr sz="1100" b="0" spc="-20">
                <a:solidFill>
                  <a:srgbClr val="6C757C"/>
                </a:solidFill>
                <a:latin typeface="Tahoma"/>
                <a:cs typeface="Tahoma"/>
              </a:rPr>
              <a:t>iterative</a:t>
            </a:r>
            <a:r>
              <a:rPr sz="1100" b="0" spc="-10">
                <a:solidFill>
                  <a:srgbClr val="6C757C"/>
                </a:solidFill>
                <a:latin typeface="Tahoma"/>
                <a:cs typeface="Tahoma"/>
              </a:rPr>
              <a:t> </a:t>
            </a:r>
            <a:r>
              <a:rPr sz="1100" b="0" spc="-30">
                <a:solidFill>
                  <a:srgbClr val="6C757C"/>
                </a:solidFill>
                <a:latin typeface="Tahoma"/>
                <a:cs typeface="Tahoma"/>
              </a:rPr>
              <a:t>validation</a:t>
            </a:r>
            <a:r>
              <a:rPr sz="1100" b="0" spc="-10">
                <a:solidFill>
                  <a:srgbClr val="6C757C"/>
                </a:solidFill>
                <a:latin typeface="Tahoma"/>
                <a:cs typeface="Tahoma"/>
              </a:rPr>
              <a:t> </a:t>
            </a:r>
            <a:r>
              <a:rPr sz="1100" b="0" spc="-50">
                <a:solidFill>
                  <a:srgbClr val="6C757C"/>
                </a:solidFill>
                <a:latin typeface="Tahoma"/>
                <a:cs typeface="Tahoma"/>
              </a:rPr>
              <a:t>across</a:t>
            </a:r>
            <a:r>
              <a:rPr sz="1100" b="0" spc="-10">
                <a:solidFill>
                  <a:srgbClr val="6C757C"/>
                </a:solidFill>
                <a:latin typeface="Tahoma"/>
                <a:cs typeface="Tahoma"/>
              </a:rPr>
              <a:t> </a:t>
            </a:r>
            <a:r>
              <a:rPr sz="1100" b="0" spc="-20">
                <a:solidFill>
                  <a:srgbClr val="6C757C"/>
                </a:solidFill>
                <a:latin typeface="Tahoma"/>
                <a:cs typeface="Tahoma"/>
              </a:rPr>
              <a:t>multiple</a:t>
            </a:r>
            <a:r>
              <a:rPr sz="1100" b="0" spc="-10">
                <a:solidFill>
                  <a:srgbClr val="6C757C"/>
                </a:solidFill>
                <a:latin typeface="Tahoma"/>
                <a:cs typeface="Tahoma"/>
              </a:rPr>
              <a:t> batches</a:t>
            </a:r>
            <a:endParaRPr sz="1100">
              <a:latin typeface="Tahoma"/>
              <a:cs typeface="Tahoma"/>
            </a:endParaRPr>
          </a:p>
        </p:txBody>
      </p:sp>
      <p:sp>
        <p:nvSpPr>
          <p:cNvPr id="3" name="object 3"/>
          <p:cNvSpPr/>
          <p:nvPr/>
        </p:nvSpPr>
        <p:spPr>
          <a:xfrm>
            <a:off x="359994" y="603745"/>
            <a:ext cx="900430" cy="0"/>
          </a:xfrm>
          <a:custGeom>
            <a:avLst/>
            <a:gdLst/>
            <a:ahLst/>
            <a:cxnLst/>
            <a:rect l="l" t="t" r="r" b="b"/>
            <a:pathLst>
              <a:path w="900430">
                <a:moveTo>
                  <a:pt x="0" y="0"/>
                </a:moveTo>
                <a:lnTo>
                  <a:pt x="900010" y="0"/>
                </a:lnTo>
              </a:path>
            </a:pathLst>
          </a:custGeom>
          <a:ln w="18978">
            <a:solidFill>
              <a:srgbClr val="005F73"/>
            </a:solidFill>
          </a:ln>
        </p:spPr>
        <p:txBody>
          <a:bodyPr wrap="square" lIns="0" tIns="0" rIns="0" bIns="0" rtlCol="0"/>
          <a:lstStyle/>
          <a:p>
            <a:endParaRPr/>
          </a:p>
        </p:txBody>
      </p:sp>
      <p:pic>
        <p:nvPicPr>
          <p:cNvPr id="4" name="object 4"/>
          <p:cNvPicPr/>
          <p:nvPr/>
        </p:nvPicPr>
        <p:blipFill>
          <a:blip r:embed="rId3" cstate="print"/>
          <a:stretch>
            <a:fillRect/>
          </a:stretch>
        </p:blipFill>
        <p:spPr>
          <a:xfrm>
            <a:off x="1116012" y="676521"/>
            <a:ext cx="3527993" cy="1804499"/>
          </a:xfrm>
          <a:prstGeom prst="rect">
            <a:avLst/>
          </a:prstGeom>
        </p:spPr>
      </p:pic>
      <p:sp>
        <p:nvSpPr>
          <p:cNvPr id="5" name="object 5"/>
          <p:cNvSpPr txBox="1"/>
          <p:nvPr/>
        </p:nvSpPr>
        <p:spPr>
          <a:xfrm>
            <a:off x="361683" y="2598494"/>
            <a:ext cx="2307590" cy="271145"/>
          </a:xfrm>
          <a:prstGeom prst="rect">
            <a:avLst/>
          </a:prstGeom>
        </p:spPr>
        <p:txBody>
          <a:bodyPr vert="horz" wrap="square" lIns="0" tIns="12065" rIns="0" bIns="0" rtlCol="0">
            <a:spAutoFit/>
          </a:bodyPr>
          <a:lstStyle/>
          <a:p>
            <a:pPr marL="12700">
              <a:lnSpc>
                <a:spcPct val="100000"/>
              </a:lnSpc>
              <a:spcBef>
                <a:spcPts val="95"/>
              </a:spcBef>
            </a:pPr>
            <a:r>
              <a:rPr sz="800" b="1">
                <a:solidFill>
                  <a:srgbClr val="202429"/>
                </a:solidFill>
                <a:latin typeface="Arial"/>
                <a:cs typeface="Arial"/>
              </a:rPr>
              <a:t>Why</a:t>
            </a:r>
            <a:r>
              <a:rPr sz="800" b="1" spc="30">
                <a:solidFill>
                  <a:srgbClr val="202429"/>
                </a:solidFill>
                <a:latin typeface="Arial"/>
                <a:cs typeface="Arial"/>
              </a:rPr>
              <a:t> </a:t>
            </a:r>
            <a:r>
              <a:rPr sz="800" b="1" spc="-30">
                <a:solidFill>
                  <a:srgbClr val="202429"/>
                </a:solidFill>
                <a:latin typeface="Arial"/>
                <a:cs typeface="Arial"/>
              </a:rPr>
              <a:t>synthetic</a:t>
            </a:r>
            <a:r>
              <a:rPr sz="800" b="1" spc="35">
                <a:solidFill>
                  <a:srgbClr val="202429"/>
                </a:solidFill>
                <a:latin typeface="Arial"/>
                <a:cs typeface="Arial"/>
              </a:rPr>
              <a:t> </a:t>
            </a:r>
            <a:r>
              <a:rPr sz="800" b="1" spc="-10">
                <a:solidFill>
                  <a:srgbClr val="202429"/>
                </a:solidFill>
                <a:latin typeface="Arial"/>
                <a:cs typeface="Arial"/>
              </a:rPr>
              <a:t>data?</a:t>
            </a:r>
            <a:endParaRPr sz="800">
              <a:latin typeface="Arial"/>
              <a:cs typeface="Arial"/>
            </a:endParaRPr>
          </a:p>
          <a:p>
            <a:pPr marL="12700">
              <a:lnSpc>
                <a:spcPct val="100000"/>
              </a:lnSpc>
              <a:spcBef>
                <a:spcPts val="15"/>
              </a:spcBef>
            </a:pPr>
            <a:r>
              <a:rPr sz="800">
                <a:solidFill>
                  <a:srgbClr val="202429"/>
                </a:solidFill>
                <a:latin typeface="Tahoma"/>
                <a:cs typeface="Tahoma"/>
              </a:rPr>
              <a:t>Batch</a:t>
            </a:r>
            <a:r>
              <a:rPr sz="800" spc="10">
                <a:solidFill>
                  <a:srgbClr val="202429"/>
                </a:solidFill>
                <a:latin typeface="Tahoma"/>
                <a:cs typeface="Tahoma"/>
              </a:rPr>
              <a:t> </a:t>
            </a:r>
            <a:r>
              <a:rPr sz="800">
                <a:solidFill>
                  <a:srgbClr val="202429"/>
                </a:solidFill>
                <a:latin typeface="Tahoma"/>
                <a:cs typeface="Tahoma"/>
              </a:rPr>
              <a:t>4</a:t>
            </a:r>
            <a:r>
              <a:rPr sz="800" spc="10">
                <a:solidFill>
                  <a:srgbClr val="202429"/>
                </a:solidFill>
                <a:latin typeface="Tahoma"/>
                <a:cs typeface="Tahoma"/>
              </a:rPr>
              <a:t> </a:t>
            </a:r>
            <a:r>
              <a:rPr sz="800">
                <a:solidFill>
                  <a:srgbClr val="202429"/>
                </a:solidFill>
                <a:latin typeface="Tahoma"/>
                <a:cs typeface="Tahoma"/>
              </a:rPr>
              <a:t>tests</a:t>
            </a:r>
            <a:r>
              <a:rPr sz="800" spc="15">
                <a:solidFill>
                  <a:srgbClr val="202429"/>
                </a:solidFill>
                <a:latin typeface="Tahoma"/>
                <a:cs typeface="Tahoma"/>
              </a:rPr>
              <a:t> </a:t>
            </a:r>
            <a:r>
              <a:rPr sz="800" spc="-10">
                <a:solidFill>
                  <a:srgbClr val="202429"/>
                </a:solidFill>
                <a:latin typeface="Tahoma"/>
                <a:cs typeface="Tahoma"/>
              </a:rPr>
              <a:t>whether</a:t>
            </a:r>
            <a:r>
              <a:rPr sz="800" spc="10">
                <a:solidFill>
                  <a:srgbClr val="202429"/>
                </a:solidFill>
                <a:latin typeface="Tahoma"/>
                <a:cs typeface="Tahoma"/>
              </a:rPr>
              <a:t> </a:t>
            </a:r>
            <a:r>
              <a:rPr sz="800">
                <a:solidFill>
                  <a:srgbClr val="202429"/>
                </a:solidFill>
                <a:latin typeface="Tahoma"/>
                <a:cs typeface="Tahoma"/>
              </a:rPr>
              <a:t>the</a:t>
            </a:r>
            <a:r>
              <a:rPr sz="800" spc="10">
                <a:solidFill>
                  <a:srgbClr val="202429"/>
                </a:solidFill>
                <a:latin typeface="Tahoma"/>
                <a:cs typeface="Tahoma"/>
              </a:rPr>
              <a:t> </a:t>
            </a:r>
            <a:r>
              <a:rPr sz="800">
                <a:solidFill>
                  <a:srgbClr val="202429"/>
                </a:solidFill>
                <a:latin typeface="Tahoma"/>
                <a:cs typeface="Tahoma"/>
              </a:rPr>
              <a:t>model</a:t>
            </a:r>
            <a:r>
              <a:rPr sz="800" spc="15">
                <a:solidFill>
                  <a:srgbClr val="202429"/>
                </a:solidFill>
                <a:latin typeface="Tahoma"/>
                <a:cs typeface="Tahoma"/>
              </a:rPr>
              <a:t> </a:t>
            </a:r>
            <a:r>
              <a:rPr sz="800" spc="-20">
                <a:solidFill>
                  <a:srgbClr val="202429"/>
                </a:solidFill>
                <a:latin typeface="Tahoma"/>
                <a:cs typeface="Tahoma"/>
              </a:rPr>
              <a:t>genuinely</a:t>
            </a:r>
            <a:r>
              <a:rPr sz="800" spc="10">
                <a:solidFill>
                  <a:srgbClr val="202429"/>
                </a:solidFill>
                <a:latin typeface="Tahoma"/>
                <a:cs typeface="Tahoma"/>
              </a:rPr>
              <a:t> </a:t>
            </a:r>
            <a:r>
              <a:rPr sz="800" spc="-10">
                <a:solidFill>
                  <a:srgbClr val="202429"/>
                </a:solidFill>
                <a:latin typeface="Tahoma"/>
                <a:cs typeface="Tahoma"/>
              </a:rPr>
              <a:t>learned</a:t>
            </a:r>
            <a:endParaRPr sz="800">
              <a:latin typeface="Tahoma"/>
              <a:cs typeface="Tahoma"/>
            </a:endParaRPr>
          </a:p>
        </p:txBody>
      </p:sp>
      <p:sp>
        <p:nvSpPr>
          <p:cNvPr id="6" name="object 6"/>
          <p:cNvSpPr txBox="1"/>
          <p:nvPr/>
        </p:nvSpPr>
        <p:spPr>
          <a:xfrm>
            <a:off x="3054489" y="2598494"/>
            <a:ext cx="2203450" cy="271145"/>
          </a:xfrm>
          <a:prstGeom prst="rect">
            <a:avLst/>
          </a:prstGeom>
        </p:spPr>
        <p:txBody>
          <a:bodyPr vert="horz" wrap="square" lIns="0" tIns="12065" rIns="0" bIns="0" rtlCol="0">
            <a:spAutoFit/>
          </a:bodyPr>
          <a:lstStyle/>
          <a:p>
            <a:pPr marL="12700">
              <a:lnSpc>
                <a:spcPct val="100000"/>
              </a:lnSpc>
              <a:spcBef>
                <a:spcPts val="95"/>
              </a:spcBef>
            </a:pPr>
            <a:r>
              <a:rPr sz="800" b="1" spc="-35">
                <a:solidFill>
                  <a:srgbClr val="202429"/>
                </a:solidFill>
                <a:latin typeface="Arial"/>
                <a:cs typeface="Arial"/>
              </a:rPr>
              <a:t>Continuous</a:t>
            </a:r>
            <a:r>
              <a:rPr sz="800" b="1" spc="20">
                <a:solidFill>
                  <a:srgbClr val="202429"/>
                </a:solidFill>
                <a:latin typeface="Arial"/>
                <a:cs typeface="Arial"/>
              </a:rPr>
              <a:t> </a:t>
            </a:r>
            <a:r>
              <a:rPr sz="800" b="1" spc="-50">
                <a:solidFill>
                  <a:srgbClr val="202429"/>
                </a:solidFill>
                <a:latin typeface="Arial"/>
                <a:cs typeface="Arial"/>
              </a:rPr>
              <a:t>fairness</a:t>
            </a:r>
            <a:r>
              <a:rPr sz="800" b="1" spc="25">
                <a:solidFill>
                  <a:srgbClr val="202429"/>
                </a:solidFill>
                <a:latin typeface="Arial"/>
                <a:cs typeface="Arial"/>
              </a:rPr>
              <a:t> </a:t>
            </a:r>
            <a:r>
              <a:rPr sz="800" b="1" spc="-10">
                <a:solidFill>
                  <a:srgbClr val="202429"/>
                </a:solidFill>
                <a:latin typeface="Arial"/>
                <a:cs typeface="Arial"/>
              </a:rPr>
              <a:t>evaluation:</a:t>
            </a:r>
            <a:endParaRPr sz="800">
              <a:latin typeface="Arial"/>
              <a:cs typeface="Arial"/>
            </a:endParaRPr>
          </a:p>
          <a:p>
            <a:pPr marL="12700">
              <a:lnSpc>
                <a:spcPct val="100000"/>
              </a:lnSpc>
              <a:spcBef>
                <a:spcPts val="15"/>
              </a:spcBef>
            </a:pPr>
            <a:r>
              <a:rPr sz="800">
                <a:solidFill>
                  <a:srgbClr val="202429"/>
                </a:solidFill>
                <a:latin typeface="Tahoma"/>
                <a:cs typeface="Tahoma"/>
              </a:rPr>
              <a:t>Performance</a:t>
            </a:r>
            <a:r>
              <a:rPr sz="800" spc="-15">
                <a:solidFill>
                  <a:srgbClr val="202429"/>
                </a:solidFill>
                <a:latin typeface="Tahoma"/>
                <a:cs typeface="Tahoma"/>
              </a:rPr>
              <a:t> </a:t>
            </a:r>
            <a:r>
              <a:rPr sz="800">
                <a:solidFill>
                  <a:srgbClr val="202429"/>
                </a:solidFill>
                <a:latin typeface="Tahoma"/>
                <a:cs typeface="Tahoma"/>
              </a:rPr>
              <a:t>tested</a:t>
            </a:r>
            <a:r>
              <a:rPr sz="800" spc="-15">
                <a:solidFill>
                  <a:srgbClr val="202429"/>
                </a:solidFill>
                <a:latin typeface="Tahoma"/>
                <a:cs typeface="Tahoma"/>
              </a:rPr>
              <a:t> </a:t>
            </a:r>
            <a:r>
              <a:rPr sz="800" spc="-10">
                <a:solidFill>
                  <a:srgbClr val="202429"/>
                </a:solidFill>
                <a:latin typeface="Tahoma"/>
                <a:cs typeface="Tahoma"/>
              </a:rPr>
              <a:t>across</a:t>
            </a:r>
            <a:r>
              <a:rPr sz="800" spc="-15">
                <a:solidFill>
                  <a:srgbClr val="202429"/>
                </a:solidFill>
                <a:latin typeface="Tahoma"/>
                <a:cs typeface="Tahoma"/>
              </a:rPr>
              <a:t> </a:t>
            </a:r>
            <a:r>
              <a:rPr sz="800">
                <a:solidFill>
                  <a:srgbClr val="202429"/>
                </a:solidFill>
                <a:latin typeface="Tahoma"/>
                <a:cs typeface="Tahoma"/>
              </a:rPr>
              <a:t>ethnic</a:t>
            </a:r>
            <a:r>
              <a:rPr sz="800" spc="-15">
                <a:solidFill>
                  <a:srgbClr val="202429"/>
                </a:solidFill>
                <a:latin typeface="Tahoma"/>
                <a:cs typeface="Tahoma"/>
              </a:rPr>
              <a:t> </a:t>
            </a:r>
            <a:r>
              <a:rPr sz="800" spc="-10">
                <a:solidFill>
                  <a:srgbClr val="202429"/>
                </a:solidFill>
                <a:latin typeface="Tahoma"/>
                <a:cs typeface="Tahoma"/>
              </a:rPr>
              <a:t>groups</a:t>
            </a:r>
            <a:r>
              <a:rPr sz="800" spc="-15">
                <a:solidFill>
                  <a:srgbClr val="202429"/>
                </a:solidFill>
                <a:latin typeface="Tahoma"/>
                <a:cs typeface="Tahoma"/>
              </a:rPr>
              <a:t> </a:t>
            </a:r>
            <a:r>
              <a:rPr sz="800">
                <a:solidFill>
                  <a:srgbClr val="202429"/>
                </a:solidFill>
                <a:latin typeface="Tahoma"/>
                <a:cs typeface="Tahoma"/>
              </a:rPr>
              <a:t>at</a:t>
            </a:r>
            <a:r>
              <a:rPr sz="800" spc="-15">
                <a:solidFill>
                  <a:srgbClr val="202429"/>
                </a:solidFill>
                <a:latin typeface="Tahoma"/>
                <a:cs typeface="Tahoma"/>
              </a:rPr>
              <a:t> </a:t>
            </a:r>
            <a:r>
              <a:rPr sz="800" spc="-20">
                <a:solidFill>
                  <a:srgbClr val="202429"/>
                </a:solidFill>
                <a:latin typeface="Tahoma"/>
                <a:cs typeface="Tahoma"/>
              </a:rPr>
              <a:t>each</a:t>
            </a:r>
            <a:endParaRPr sz="800">
              <a:latin typeface="Tahoma"/>
              <a:cs typeface="Tahoma"/>
            </a:endParaRPr>
          </a:p>
        </p:txBody>
      </p:sp>
      <p:sp>
        <p:nvSpPr>
          <p:cNvPr id="7" name="object 7"/>
          <p:cNvSpPr/>
          <p:nvPr/>
        </p:nvSpPr>
        <p:spPr>
          <a:xfrm>
            <a:off x="0" y="3060028"/>
            <a:ext cx="5760085" cy="0"/>
          </a:xfrm>
          <a:custGeom>
            <a:avLst/>
            <a:gdLst/>
            <a:ahLst/>
            <a:cxnLst/>
            <a:rect l="l" t="t" r="r" b="b"/>
            <a:pathLst>
              <a:path w="5760085">
                <a:moveTo>
                  <a:pt x="0" y="0"/>
                </a:moveTo>
                <a:lnTo>
                  <a:pt x="5760073" y="0"/>
                </a:lnTo>
              </a:path>
            </a:pathLst>
          </a:custGeom>
          <a:ln w="6326">
            <a:solidFill>
              <a:srgbClr val="CED3DA"/>
            </a:solidFill>
          </a:ln>
        </p:spPr>
        <p:txBody>
          <a:bodyPr wrap="square" lIns="0" tIns="0" rIns="0" bIns="0" rtlCol="0"/>
          <a:lstStyle/>
          <a:p>
            <a:endParaRPr/>
          </a:p>
        </p:txBody>
      </p:sp>
      <p:sp>
        <p:nvSpPr>
          <p:cNvPr id="8" name="object 8"/>
          <p:cNvSpPr txBox="1"/>
          <p:nvPr/>
        </p:nvSpPr>
        <p:spPr>
          <a:xfrm>
            <a:off x="70497" y="2802934"/>
            <a:ext cx="2101215" cy="405765"/>
          </a:xfrm>
          <a:prstGeom prst="rect">
            <a:avLst/>
          </a:prstGeom>
        </p:spPr>
        <p:txBody>
          <a:bodyPr vert="horz" wrap="square" lIns="0" tIns="27939" rIns="0" bIns="0" rtlCol="0">
            <a:spAutoFit/>
          </a:bodyPr>
          <a:lstStyle/>
          <a:p>
            <a:pPr marL="303530">
              <a:lnSpc>
                <a:spcPct val="100000"/>
              </a:lnSpc>
              <a:spcBef>
                <a:spcPts val="219"/>
              </a:spcBef>
            </a:pPr>
            <a:r>
              <a:rPr sz="800" spc="-10">
                <a:solidFill>
                  <a:srgbClr val="202429"/>
                </a:solidFill>
                <a:latin typeface="Tahoma"/>
                <a:cs typeface="Tahoma"/>
              </a:rPr>
              <a:t>concepts </a:t>
            </a:r>
            <a:r>
              <a:rPr sz="800">
                <a:solidFill>
                  <a:srgbClr val="202429"/>
                </a:solidFill>
                <a:latin typeface="Tahoma"/>
                <a:cs typeface="Tahoma"/>
              </a:rPr>
              <a:t>or</a:t>
            </a:r>
            <a:r>
              <a:rPr sz="800" spc="-10">
                <a:solidFill>
                  <a:srgbClr val="202429"/>
                </a:solidFill>
                <a:latin typeface="Tahoma"/>
                <a:cs typeface="Tahoma"/>
              </a:rPr>
              <a:t> merely </a:t>
            </a:r>
            <a:r>
              <a:rPr sz="800" spc="-20">
                <a:solidFill>
                  <a:srgbClr val="202429"/>
                </a:solidFill>
                <a:latin typeface="Tahoma"/>
                <a:cs typeface="Tahoma"/>
              </a:rPr>
              <a:t>memorised</a:t>
            </a:r>
            <a:r>
              <a:rPr sz="800" spc="-10">
                <a:solidFill>
                  <a:srgbClr val="202429"/>
                </a:solidFill>
                <a:latin typeface="Tahoma"/>
                <a:cs typeface="Tahoma"/>
              </a:rPr>
              <a:t> patterns.</a:t>
            </a:r>
            <a:endParaRPr sz="800">
              <a:latin typeface="Tahoma"/>
              <a:cs typeface="Tahoma"/>
            </a:endParaRPr>
          </a:p>
          <a:p>
            <a:pPr marL="12700">
              <a:lnSpc>
                <a:spcPct val="100000"/>
              </a:lnSpc>
              <a:spcBef>
                <a:spcPts val="860"/>
              </a:spcBef>
            </a:pPr>
            <a:r>
              <a:rPr sz="800" spc="-10">
                <a:solidFill>
                  <a:srgbClr val="6C757C"/>
                </a:solidFill>
                <a:latin typeface="Tahoma"/>
                <a:cs typeface="Tahoma"/>
              </a:rPr>
              <a:t>Responsible</a:t>
            </a:r>
            <a:r>
              <a:rPr sz="800" spc="20">
                <a:solidFill>
                  <a:srgbClr val="6C757C"/>
                </a:solidFill>
                <a:latin typeface="Tahoma"/>
                <a:cs typeface="Tahoma"/>
              </a:rPr>
              <a:t> </a:t>
            </a:r>
            <a:r>
              <a:rPr sz="800">
                <a:solidFill>
                  <a:srgbClr val="6C757C"/>
                </a:solidFill>
                <a:latin typeface="Tahoma"/>
                <a:cs typeface="Tahoma"/>
              </a:rPr>
              <a:t>AI</a:t>
            </a:r>
            <a:r>
              <a:rPr sz="800" spc="25">
                <a:solidFill>
                  <a:srgbClr val="6C757C"/>
                </a:solidFill>
                <a:latin typeface="Tahoma"/>
                <a:cs typeface="Tahoma"/>
              </a:rPr>
              <a:t> </a:t>
            </a:r>
            <a:r>
              <a:rPr sz="800">
                <a:solidFill>
                  <a:srgbClr val="6C757C"/>
                </a:solidFill>
                <a:latin typeface="Tahoma"/>
                <a:cs typeface="Tahoma"/>
              </a:rPr>
              <a:t>in</a:t>
            </a:r>
            <a:r>
              <a:rPr sz="800" spc="25">
                <a:solidFill>
                  <a:srgbClr val="6C757C"/>
                </a:solidFill>
                <a:latin typeface="Tahoma"/>
                <a:cs typeface="Tahoma"/>
              </a:rPr>
              <a:t> </a:t>
            </a:r>
            <a:r>
              <a:rPr sz="800" spc="-10">
                <a:solidFill>
                  <a:srgbClr val="6C757C"/>
                </a:solidFill>
                <a:latin typeface="Tahoma"/>
                <a:cs typeface="Tahoma"/>
              </a:rPr>
              <a:t>Healthcare</a:t>
            </a:r>
            <a:endParaRPr sz="800">
              <a:latin typeface="Tahoma"/>
              <a:cs typeface="Tahoma"/>
            </a:endParaRPr>
          </a:p>
        </p:txBody>
      </p:sp>
      <p:sp>
        <p:nvSpPr>
          <p:cNvPr id="9" name="object 9"/>
          <p:cNvSpPr txBox="1"/>
          <p:nvPr/>
        </p:nvSpPr>
        <p:spPr>
          <a:xfrm>
            <a:off x="3054489" y="2802934"/>
            <a:ext cx="1450975" cy="151322"/>
          </a:xfrm>
          <a:prstGeom prst="rect">
            <a:avLst/>
          </a:prstGeom>
        </p:spPr>
        <p:txBody>
          <a:bodyPr vert="horz" wrap="square" lIns="0" tIns="27939" rIns="0" bIns="0" rtlCol="0">
            <a:spAutoFit/>
          </a:bodyPr>
          <a:lstStyle/>
          <a:p>
            <a:pPr marL="12700">
              <a:lnSpc>
                <a:spcPct val="100000"/>
              </a:lnSpc>
              <a:spcBef>
                <a:spcPts val="219"/>
              </a:spcBef>
            </a:pPr>
            <a:r>
              <a:rPr sz="800">
                <a:solidFill>
                  <a:srgbClr val="202429"/>
                </a:solidFill>
                <a:latin typeface="Tahoma"/>
                <a:cs typeface="Tahoma"/>
              </a:rPr>
              <a:t>stag</a:t>
            </a:r>
            <a:r>
              <a:rPr lang="en-GB" sz="800">
                <a:solidFill>
                  <a:srgbClr val="202429"/>
                </a:solidFill>
                <a:latin typeface="Tahoma"/>
                <a:cs typeface="Tahoma"/>
              </a:rPr>
              <a:t>e</a:t>
            </a:r>
            <a:endParaRPr sz="800">
              <a:latin typeface="Tahoma"/>
              <a:cs typeface="Tahoma"/>
            </a:endParaRPr>
          </a:p>
        </p:txBody>
      </p:sp>
      <p:sp>
        <p:nvSpPr>
          <p:cNvPr id="11" name="Slide Number Placeholder 10">
            <a:extLst>
              <a:ext uri="{FF2B5EF4-FFF2-40B4-BE49-F238E27FC236}">
                <a16:creationId xmlns:a16="http://schemas.microsoft.com/office/drawing/2014/main" id="{B7B2BF96-3206-9F75-2C96-AACECB9772EE}"/>
              </a:ext>
            </a:extLst>
          </p:cNvPr>
          <p:cNvSpPr>
            <a:spLocks noGrp="1"/>
          </p:cNvSpPr>
          <p:nvPr>
            <p:ph type="sldNum" sz="quarter" idx="7"/>
          </p:nvPr>
        </p:nvSpPr>
        <p:spPr>
          <a:xfrm>
            <a:off x="5364937" y="3060028"/>
            <a:ext cx="400863" cy="173989"/>
          </a:xfrm>
        </p:spPr>
        <p:txBody>
          <a:bodyPr/>
          <a:lstStyle/>
          <a:p>
            <a:pPr marL="39370">
              <a:lnSpc>
                <a:spcPct val="100000"/>
              </a:lnSpc>
              <a:spcBef>
                <a:spcPts val="219"/>
              </a:spcBef>
            </a:pPr>
            <a:fld id="{81D60167-4931-47E6-BA6A-407CBD079E47}" type="slidenum">
              <a:rPr lang="en-GB" smtClean="0"/>
              <a:t>12</a:t>
            </a:fld>
            <a:r>
              <a:rPr lang="en-GB" spc="20"/>
              <a:t> </a:t>
            </a:r>
            <a:r>
              <a:rPr lang="en-GB" spc="120"/>
              <a:t>/</a:t>
            </a:r>
            <a:r>
              <a:rPr lang="en-GB" spc="25"/>
              <a:t> </a:t>
            </a:r>
            <a:r>
              <a:rPr lang="en-GB" spc="-25"/>
              <a:t>41</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91097" rIns="0" bIns="0" rtlCol="0">
            <a:spAutoFit/>
          </a:bodyPr>
          <a:lstStyle/>
          <a:p>
            <a:pPr marL="99060">
              <a:lnSpc>
                <a:spcPct val="100000"/>
              </a:lnSpc>
              <a:spcBef>
                <a:spcPts val="390"/>
              </a:spcBef>
            </a:pPr>
            <a:r>
              <a:rPr spc="65"/>
              <a:t>I-</a:t>
            </a:r>
            <a:r>
              <a:t>SIRch:</a:t>
            </a:r>
            <a:r>
              <a:rPr spc="150"/>
              <a:t> </a:t>
            </a:r>
            <a:r>
              <a:rPr spc="-10"/>
              <a:t>Evaluation</a:t>
            </a:r>
            <a:r>
              <a:rPr spc="25"/>
              <a:t> </a:t>
            </a:r>
            <a:r>
              <a:rPr spc="-10"/>
              <a:t>Approach</a:t>
            </a:r>
          </a:p>
          <a:p>
            <a:pPr marL="99060">
              <a:lnSpc>
                <a:spcPct val="100000"/>
              </a:lnSpc>
              <a:spcBef>
                <a:spcPts val="195"/>
              </a:spcBef>
            </a:pPr>
            <a:r>
              <a:rPr sz="1100" b="0" spc="-40">
                <a:solidFill>
                  <a:srgbClr val="6C757C"/>
                </a:solidFill>
                <a:latin typeface="Tahoma"/>
                <a:cs typeface="Tahoma"/>
              </a:rPr>
              <a:t>Rigorous</a:t>
            </a:r>
            <a:r>
              <a:rPr sz="1100" b="0" spc="-15">
                <a:solidFill>
                  <a:srgbClr val="6C757C"/>
                </a:solidFill>
                <a:latin typeface="Tahoma"/>
                <a:cs typeface="Tahoma"/>
              </a:rPr>
              <a:t> </a:t>
            </a:r>
            <a:r>
              <a:rPr sz="1100" b="0" spc="-25">
                <a:solidFill>
                  <a:srgbClr val="6C757C"/>
                </a:solidFill>
                <a:latin typeface="Tahoma"/>
                <a:cs typeface="Tahoma"/>
              </a:rPr>
              <a:t>testing</a:t>
            </a:r>
            <a:r>
              <a:rPr sz="1100" b="0" spc="-15">
                <a:solidFill>
                  <a:srgbClr val="6C757C"/>
                </a:solidFill>
                <a:latin typeface="Tahoma"/>
                <a:cs typeface="Tahoma"/>
              </a:rPr>
              <a:t> </a:t>
            </a:r>
            <a:r>
              <a:rPr sz="1100" b="0">
                <a:solidFill>
                  <a:srgbClr val="6C757C"/>
                </a:solidFill>
                <a:latin typeface="Tahoma"/>
                <a:cs typeface="Tahoma"/>
              </a:rPr>
              <a:t>to</a:t>
            </a:r>
            <a:r>
              <a:rPr sz="1100" b="0" spc="-10">
                <a:solidFill>
                  <a:srgbClr val="6C757C"/>
                </a:solidFill>
                <a:latin typeface="Tahoma"/>
                <a:cs typeface="Tahoma"/>
              </a:rPr>
              <a:t> </a:t>
            </a:r>
            <a:r>
              <a:rPr sz="1100" b="0" spc="-65">
                <a:solidFill>
                  <a:srgbClr val="6C757C"/>
                </a:solidFill>
                <a:latin typeface="Tahoma"/>
                <a:cs typeface="Tahoma"/>
              </a:rPr>
              <a:t>ensure</a:t>
            </a:r>
            <a:r>
              <a:rPr sz="1100" b="0" spc="-10">
                <a:solidFill>
                  <a:srgbClr val="6C757C"/>
                </a:solidFill>
                <a:latin typeface="Tahoma"/>
                <a:cs typeface="Tahoma"/>
              </a:rPr>
              <a:t> </a:t>
            </a:r>
            <a:r>
              <a:rPr sz="1100" b="0" spc="-20">
                <a:solidFill>
                  <a:srgbClr val="6C757C"/>
                </a:solidFill>
                <a:latin typeface="Tahoma"/>
                <a:cs typeface="Tahoma"/>
              </a:rPr>
              <a:t>reliability</a:t>
            </a:r>
            <a:r>
              <a:rPr sz="1100" b="0" spc="-10">
                <a:solidFill>
                  <a:srgbClr val="6C757C"/>
                </a:solidFill>
                <a:latin typeface="Tahoma"/>
                <a:cs typeface="Tahoma"/>
              </a:rPr>
              <a:t> </a:t>
            </a:r>
            <a:r>
              <a:rPr sz="1100" b="0" spc="-40">
                <a:solidFill>
                  <a:srgbClr val="6C757C"/>
                </a:solidFill>
                <a:latin typeface="Tahoma"/>
                <a:cs typeface="Tahoma"/>
              </a:rPr>
              <a:t>and</a:t>
            </a:r>
            <a:r>
              <a:rPr sz="1100" b="0" spc="-15">
                <a:solidFill>
                  <a:srgbClr val="6C757C"/>
                </a:solidFill>
                <a:latin typeface="Tahoma"/>
                <a:cs typeface="Tahoma"/>
              </a:rPr>
              <a:t> </a:t>
            </a:r>
            <a:r>
              <a:rPr sz="1100" b="0" spc="-35">
                <a:solidFill>
                  <a:srgbClr val="6C757C"/>
                </a:solidFill>
                <a:latin typeface="Tahoma"/>
                <a:cs typeface="Tahoma"/>
              </a:rPr>
              <a:t>fairness</a:t>
            </a:r>
            <a:endParaRPr sz="1100">
              <a:latin typeface="Tahoma"/>
              <a:cs typeface="Tahoma"/>
            </a:endParaRPr>
          </a:p>
        </p:txBody>
      </p:sp>
      <p:sp>
        <p:nvSpPr>
          <p:cNvPr id="3" name="object 3"/>
          <p:cNvSpPr/>
          <p:nvPr/>
        </p:nvSpPr>
        <p:spPr>
          <a:xfrm>
            <a:off x="359994" y="645299"/>
            <a:ext cx="900430" cy="0"/>
          </a:xfrm>
          <a:custGeom>
            <a:avLst/>
            <a:gdLst/>
            <a:ahLst/>
            <a:cxnLst/>
            <a:rect l="l" t="t" r="r" b="b"/>
            <a:pathLst>
              <a:path w="900430">
                <a:moveTo>
                  <a:pt x="0" y="0"/>
                </a:moveTo>
                <a:lnTo>
                  <a:pt x="900010" y="0"/>
                </a:lnTo>
              </a:path>
            </a:pathLst>
          </a:custGeom>
          <a:ln w="18978">
            <a:solidFill>
              <a:srgbClr val="005F73"/>
            </a:solidFill>
          </a:ln>
        </p:spPr>
        <p:txBody>
          <a:bodyPr wrap="square" lIns="0" tIns="0" rIns="0" bIns="0" rtlCol="0"/>
          <a:lstStyle/>
          <a:p>
            <a:endParaRPr/>
          </a:p>
        </p:txBody>
      </p:sp>
      <p:sp>
        <p:nvSpPr>
          <p:cNvPr id="4" name="object 4"/>
          <p:cNvSpPr txBox="1"/>
          <p:nvPr/>
        </p:nvSpPr>
        <p:spPr>
          <a:xfrm>
            <a:off x="242874" y="721497"/>
            <a:ext cx="2306320" cy="2273935"/>
          </a:xfrm>
          <a:prstGeom prst="rect">
            <a:avLst/>
          </a:prstGeom>
        </p:spPr>
        <p:txBody>
          <a:bodyPr vert="horz" wrap="square" lIns="0" tIns="69215" rIns="0" bIns="0" rtlCol="0">
            <a:spAutoFit/>
          </a:bodyPr>
          <a:lstStyle/>
          <a:p>
            <a:pPr marL="12700">
              <a:lnSpc>
                <a:spcPct val="100000"/>
              </a:lnSpc>
              <a:spcBef>
                <a:spcPts val="545"/>
              </a:spcBef>
            </a:pPr>
            <a:r>
              <a:rPr sz="1100" b="1" spc="-40">
                <a:solidFill>
                  <a:srgbClr val="202429"/>
                </a:solidFill>
                <a:latin typeface="Arial"/>
                <a:cs typeface="Arial"/>
              </a:rPr>
              <a:t>Performance</a:t>
            </a:r>
            <a:r>
              <a:rPr sz="1100" b="1" spc="20">
                <a:solidFill>
                  <a:srgbClr val="202429"/>
                </a:solidFill>
                <a:latin typeface="Arial"/>
                <a:cs typeface="Arial"/>
              </a:rPr>
              <a:t> </a:t>
            </a:r>
            <a:r>
              <a:rPr sz="1100" b="1" spc="-10">
                <a:solidFill>
                  <a:srgbClr val="202429"/>
                </a:solidFill>
                <a:latin typeface="Arial"/>
                <a:cs typeface="Arial"/>
              </a:rPr>
              <a:t>evaluation:</a:t>
            </a:r>
            <a:endParaRPr sz="1100">
              <a:latin typeface="Arial"/>
              <a:cs typeface="Arial"/>
            </a:endParaRPr>
          </a:p>
          <a:p>
            <a:pPr marL="159385" indent="-146685">
              <a:lnSpc>
                <a:spcPct val="100000"/>
              </a:lnSpc>
              <a:spcBef>
                <a:spcPts val="414"/>
              </a:spcBef>
              <a:buClr>
                <a:srgbClr val="005F73"/>
              </a:buClr>
              <a:buFont typeface="Adobe Text Pro"/>
              <a:buChar char="✓"/>
              <a:tabLst>
                <a:tab pos="159385" algn="l"/>
              </a:tabLst>
            </a:pPr>
            <a:r>
              <a:rPr sz="1000" spc="-40">
                <a:solidFill>
                  <a:srgbClr val="202429"/>
                </a:solidFill>
                <a:latin typeface="Tahoma"/>
                <a:cs typeface="Tahoma"/>
              </a:rPr>
              <a:t>Tested </a:t>
            </a:r>
            <a:r>
              <a:rPr sz="1000">
                <a:solidFill>
                  <a:srgbClr val="202429"/>
                </a:solidFill>
                <a:latin typeface="Tahoma"/>
                <a:cs typeface="Tahoma"/>
              </a:rPr>
              <a:t>on</a:t>
            </a:r>
            <a:r>
              <a:rPr sz="1000" spc="-60">
                <a:solidFill>
                  <a:srgbClr val="202429"/>
                </a:solidFill>
                <a:latin typeface="Tahoma"/>
                <a:cs typeface="Tahoma"/>
              </a:rPr>
              <a:t> </a:t>
            </a:r>
            <a:r>
              <a:rPr sz="1000" spc="-25">
                <a:solidFill>
                  <a:srgbClr val="202429"/>
                </a:solidFill>
                <a:latin typeface="Tahoma"/>
                <a:cs typeface="Tahoma"/>
              </a:rPr>
              <a:t>real</a:t>
            </a:r>
            <a:r>
              <a:rPr sz="1000" spc="-35">
                <a:solidFill>
                  <a:srgbClr val="202429"/>
                </a:solidFill>
                <a:latin typeface="Tahoma"/>
                <a:cs typeface="Tahoma"/>
              </a:rPr>
              <a:t> </a:t>
            </a:r>
            <a:r>
              <a:rPr sz="1000" spc="-70">
                <a:solidFill>
                  <a:srgbClr val="202429"/>
                </a:solidFill>
                <a:latin typeface="Tahoma"/>
                <a:cs typeface="Tahoma"/>
              </a:rPr>
              <a:t>unseen</a:t>
            </a:r>
            <a:r>
              <a:rPr sz="1000" spc="-10">
                <a:solidFill>
                  <a:srgbClr val="202429"/>
                </a:solidFill>
                <a:latin typeface="Tahoma"/>
                <a:cs typeface="Tahoma"/>
              </a:rPr>
              <a:t> </a:t>
            </a:r>
            <a:r>
              <a:rPr sz="1000" spc="-20">
                <a:solidFill>
                  <a:srgbClr val="202429"/>
                </a:solidFill>
                <a:latin typeface="Tahoma"/>
                <a:cs typeface="Tahoma"/>
              </a:rPr>
              <a:t>data</a:t>
            </a:r>
            <a:r>
              <a:rPr sz="1000" spc="-35">
                <a:solidFill>
                  <a:srgbClr val="202429"/>
                </a:solidFill>
                <a:latin typeface="Tahoma"/>
                <a:cs typeface="Tahoma"/>
              </a:rPr>
              <a:t> </a:t>
            </a:r>
            <a:r>
              <a:rPr sz="1000" spc="-10">
                <a:solidFill>
                  <a:srgbClr val="202429"/>
                </a:solidFill>
                <a:latin typeface="Tahoma"/>
                <a:cs typeface="Tahoma"/>
              </a:rPr>
              <a:t>(97</a:t>
            </a:r>
            <a:r>
              <a:rPr sz="1000" spc="-35">
                <a:solidFill>
                  <a:srgbClr val="202429"/>
                </a:solidFill>
                <a:latin typeface="Tahoma"/>
                <a:cs typeface="Tahoma"/>
              </a:rPr>
              <a:t> </a:t>
            </a:r>
            <a:r>
              <a:rPr sz="1000" spc="-10">
                <a:solidFill>
                  <a:srgbClr val="202429"/>
                </a:solidFill>
                <a:latin typeface="Tahoma"/>
                <a:cs typeface="Tahoma"/>
              </a:rPr>
              <a:t>reports)</a:t>
            </a:r>
            <a:endParaRPr sz="1000">
              <a:latin typeface="Tahoma"/>
              <a:cs typeface="Tahoma"/>
            </a:endParaRPr>
          </a:p>
          <a:p>
            <a:pPr marL="12700" marR="341630" indent="146685">
              <a:lnSpc>
                <a:spcPct val="100000"/>
              </a:lnSpc>
              <a:spcBef>
                <a:spcPts val="390"/>
              </a:spcBef>
              <a:buClr>
                <a:srgbClr val="005F73"/>
              </a:buClr>
              <a:buFont typeface="Adobe Text Pro"/>
              <a:buChar char="✓"/>
              <a:tabLst>
                <a:tab pos="159385" algn="l"/>
              </a:tabLst>
            </a:pPr>
            <a:r>
              <a:rPr sz="1000" spc="-40">
                <a:solidFill>
                  <a:srgbClr val="202429"/>
                </a:solidFill>
                <a:latin typeface="Tahoma"/>
                <a:cs typeface="Tahoma"/>
              </a:rPr>
              <a:t>Tested</a:t>
            </a:r>
            <a:r>
              <a:rPr sz="1000" spc="-30">
                <a:solidFill>
                  <a:srgbClr val="202429"/>
                </a:solidFill>
                <a:latin typeface="Tahoma"/>
                <a:cs typeface="Tahoma"/>
              </a:rPr>
              <a:t> </a:t>
            </a:r>
            <a:r>
              <a:rPr sz="1000">
                <a:solidFill>
                  <a:srgbClr val="202429"/>
                </a:solidFill>
                <a:latin typeface="Tahoma"/>
                <a:cs typeface="Tahoma"/>
              </a:rPr>
              <a:t>on</a:t>
            </a:r>
            <a:r>
              <a:rPr sz="1000" spc="-25">
                <a:solidFill>
                  <a:srgbClr val="202429"/>
                </a:solidFill>
                <a:latin typeface="Tahoma"/>
                <a:cs typeface="Tahoma"/>
              </a:rPr>
              <a:t> </a:t>
            </a:r>
            <a:r>
              <a:rPr sz="1000" spc="-30">
                <a:solidFill>
                  <a:srgbClr val="202429"/>
                </a:solidFill>
                <a:latin typeface="Tahoma"/>
                <a:cs typeface="Tahoma"/>
              </a:rPr>
              <a:t>synthetic </a:t>
            </a:r>
            <a:r>
              <a:rPr sz="1000" spc="-20">
                <a:solidFill>
                  <a:srgbClr val="202429"/>
                </a:solidFill>
                <a:latin typeface="Tahoma"/>
                <a:cs typeface="Tahoma"/>
              </a:rPr>
              <a:t>data</a:t>
            </a:r>
            <a:r>
              <a:rPr sz="1000" spc="-25">
                <a:solidFill>
                  <a:srgbClr val="202429"/>
                </a:solidFill>
                <a:latin typeface="Tahoma"/>
                <a:cs typeface="Tahoma"/>
              </a:rPr>
              <a:t> </a:t>
            </a:r>
            <a:r>
              <a:rPr sz="1000">
                <a:solidFill>
                  <a:srgbClr val="202429"/>
                </a:solidFill>
                <a:latin typeface="Tahoma"/>
                <a:cs typeface="Tahoma"/>
              </a:rPr>
              <a:t>to</a:t>
            </a:r>
            <a:r>
              <a:rPr sz="1000" spc="-25">
                <a:solidFill>
                  <a:srgbClr val="202429"/>
                </a:solidFill>
                <a:latin typeface="Tahoma"/>
                <a:cs typeface="Tahoma"/>
              </a:rPr>
              <a:t> check </a:t>
            </a:r>
            <a:r>
              <a:rPr sz="1000" spc="-10">
                <a:solidFill>
                  <a:srgbClr val="202429"/>
                </a:solidFill>
                <a:latin typeface="Tahoma"/>
                <a:cs typeface="Tahoma"/>
              </a:rPr>
              <a:t>generalisation</a:t>
            </a:r>
            <a:endParaRPr sz="1000">
              <a:latin typeface="Tahoma"/>
              <a:cs typeface="Tahoma"/>
            </a:endParaRPr>
          </a:p>
          <a:p>
            <a:pPr marL="12700" marR="204470" indent="146685">
              <a:lnSpc>
                <a:spcPct val="100000"/>
              </a:lnSpc>
              <a:spcBef>
                <a:spcPts val="390"/>
              </a:spcBef>
              <a:buClr>
                <a:srgbClr val="005F73"/>
              </a:buClr>
              <a:buFont typeface="Adobe Text Pro"/>
              <a:buChar char="✓"/>
              <a:tabLst>
                <a:tab pos="159385" algn="l"/>
              </a:tabLst>
            </a:pPr>
            <a:r>
              <a:rPr sz="1000">
                <a:solidFill>
                  <a:srgbClr val="202429"/>
                </a:solidFill>
                <a:latin typeface="Tahoma"/>
                <a:cs typeface="Tahoma"/>
              </a:rPr>
              <a:t>Multiple</a:t>
            </a:r>
            <a:r>
              <a:rPr sz="1000" spc="-30">
                <a:solidFill>
                  <a:srgbClr val="202429"/>
                </a:solidFill>
                <a:latin typeface="Tahoma"/>
                <a:cs typeface="Tahoma"/>
              </a:rPr>
              <a:t> metrics:</a:t>
            </a:r>
            <a:r>
              <a:rPr sz="1000" spc="70">
                <a:solidFill>
                  <a:srgbClr val="202429"/>
                </a:solidFill>
                <a:latin typeface="Tahoma"/>
                <a:cs typeface="Tahoma"/>
              </a:rPr>
              <a:t> </a:t>
            </a:r>
            <a:r>
              <a:rPr sz="1000" spc="-40">
                <a:solidFill>
                  <a:srgbClr val="202429"/>
                </a:solidFill>
                <a:latin typeface="Tahoma"/>
                <a:cs typeface="Tahoma"/>
              </a:rPr>
              <a:t>balanced</a:t>
            </a:r>
            <a:r>
              <a:rPr sz="1000" spc="-25">
                <a:solidFill>
                  <a:srgbClr val="202429"/>
                </a:solidFill>
                <a:latin typeface="Tahoma"/>
                <a:cs typeface="Tahoma"/>
              </a:rPr>
              <a:t> </a:t>
            </a:r>
            <a:r>
              <a:rPr sz="1000" spc="-35">
                <a:solidFill>
                  <a:srgbClr val="202429"/>
                </a:solidFill>
                <a:latin typeface="Tahoma"/>
                <a:cs typeface="Tahoma"/>
              </a:rPr>
              <a:t>accuracy, </a:t>
            </a:r>
            <a:r>
              <a:rPr sz="1000" spc="-25">
                <a:solidFill>
                  <a:srgbClr val="202429"/>
                </a:solidFill>
                <a:latin typeface="Tahoma"/>
                <a:cs typeface="Tahoma"/>
              </a:rPr>
              <a:t>recall,</a:t>
            </a:r>
            <a:r>
              <a:rPr sz="1000">
                <a:solidFill>
                  <a:srgbClr val="202429"/>
                </a:solidFill>
                <a:latin typeface="Tahoma"/>
                <a:cs typeface="Tahoma"/>
              </a:rPr>
              <a:t> </a:t>
            </a:r>
            <a:r>
              <a:rPr sz="1000" spc="-40">
                <a:solidFill>
                  <a:srgbClr val="202429"/>
                </a:solidFill>
                <a:latin typeface="Tahoma"/>
                <a:cs typeface="Tahoma"/>
              </a:rPr>
              <a:t>precision,</a:t>
            </a:r>
            <a:r>
              <a:rPr sz="1000" spc="5">
                <a:solidFill>
                  <a:srgbClr val="202429"/>
                </a:solidFill>
                <a:latin typeface="Tahoma"/>
                <a:cs typeface="Tahoma"/>
              </a:rPr>
              <a:t> </a:t>
            </a:r>
            <a:r>
              <a:rPr sz="1000" spc="-30">
                <a:solidFill>
                  <a:srgbClr val="202429"/>
                </a:solidFill>
                <a:latin typeface="Tahoma"/>
                <a:cs typeface="Tahoma"/>
              </a:rPr>
              <a:t>F-</a:t>
            </a:r>
            <a:r>
              <a:rPr sz="1000" spc="-10">
                <a:solidFill>
                  <a:srgbClr val="202429"/>
                </a:solidFill>
                <a:latin typeface="Tahoma"/>
                <a:cs typeface="Tahoma"/>
              </a:rPr>
              <a:t>score</a:t>
            </a:r>
            <a:endParaRPr sz="1000">
              <a:latin typeface="Tahoma"/>
              <a:cs typeface="Tahoma"/>
            </a:endParaRPr>
          </a:p>
          <a:p>
            <a:pPr marL="159385" indent="-146685">
              <a:lnSpc>
                <a:spcPct val="100000"/>
              </a:lnSpc>
              <a:spcBef>
                <a:spcPts val="550"/>
              </a:spcBef>
              <a:buClr>
                <a:srgbClr val="005F73"/>
              </a:buClr>
              <a:buFont typeface="Adobe Text Pro"/>
              <a:buChar char="✓"/>
              <a:tabLst>
                <a:tab pos="159385" algn="l"/>
              </a:tabLst>
            </a:pPr>
            <a:r>
              <a:rPr sz="1000" spc="-35">
                <a:solidFill>
                  <a:srgbClr val="202429"/>
                </a:solidFill>
                <a:latin typeface="Tahoma"/>
                <a:cs typeface="Tahoma"/>
              </a:rPr>
              <a:t>Iterative</a:t>
            </a:r>
            <a:r>
              <a:rPr sz="1000" spc="-15">
                <a:solidFill>
                  <a:srgbClr val="202429"/>
                </a:solidFill>
                <a:latin typeface="Tahoma"/>
                <a:cs typeface="Tahoma"/>
              </a:rPr>
              <a:t> </a:t>
            </a:r>
            <a:r>
              <a:rPr sz="1000" spc="-30">
                <a:solidFill>
                  <a:srgbClr val="202429"/>
                </a:solidFill>
                <a:latin typeface="Tahoma"/>
                <a:cs typeface="Tahoma"/>
              </a:rPr>
              <a:t>retraining</a:t>
            </a:r>
            <a:r>
              <a:rPr sz="1000" spc="-10">
                <a:solidFill>
                  <a:srgbClr val="202429"/>
                </a:solidFill>
                <a:latin typeface="Tahoma"/>
                <a:cs typeface="Tahoma"/>
              </a:rPr>
              <a:t> </a:t>
            </a:r>
            <a:r>
              <a:rPr sz="1000" spc="-30">
                <a:solidFill>
                  <a:srgbClr val="202429"/>
                </a:solidFill>
                <a:latin typeface="Tahoma"/>
                <a:cs typeface="Tahoma"/>
              </a:rPr>
              <a:t>and</a:t>
            </a:r>
            <a:r>
              <a:rPr sz="1000" spc="-10">
                <a:solidFill>
                  <a:srgbClr val="202429"/>
                </a:solidFill>
                <a:latin typeface="Tahoma"/>
                <a:cs typeface="Tahoma"/>
              </a:rPr>
              <a:t> </a:t>
            </a:r>
            <a:r>
              <a:rPr sz="1000" spc="-30">
                <a:solidFill>
                  <a:srgbClr val="202429"/>
                </a:solidFill>
                <a:latin typeface="Tahoma"/>
                <a:cs typeface="Tahoma"/>
              </a:rPr>
              <a:t>retesting</a:t>
            </a:r>
            <a:r>
              <a:rPr sz="1000" spc="-10">
                <a:solidFill>
                  <a:srgbClr val="202429"/>
                </a:solidFill>
                <a:latin typeface="Tahoma"/>
                <a:cs typeface="Tahoma"/>
              </a:rPr>
              <a:t> cycle</a:t>
            </a:r>
            <a:endParaRPr sz="1000">
              <a:latin typeface="Tahoma"/>
              <a:cs typeface="Tahoma"/>
            </a:endParaRPr>
          </a:p>
          <a:p>
            <a:pPr marL="12700">
              <a:lnSpc>
                <a:spcPct val="100000"/>
              </a:lnSpc>
              <a:spcBef>
                <a:spcPts val="710"/>
              </a:spcBef>
            </a:pPr>
            <a:r>
              <a:rPr sz="1100" b="1" spc="-10">
                <a:solidFill>
                  <a:srgbClr val="202429"/>
                </a:solidFill>
                <a:latin typeface="Arial"/>
                <a:cs typeface="Arial"/>
              </a:rPr>
              <a:t>Human validation:</a:t>
            </a:r>
            <a:endParaRPr sz="1100">
              <a:latin typeface="Arial"/>
              <a:cs typeface="Arial"/>
            </a:endParaRPr>
          </a:p>
          <a:p>
            <a:pPr marL="159385" indent="-146685">
              <a:lnSpc>
                <a:spcPct val="100000"/>
              </a:lnSpc>
              <a:spcBef>
                <a:spcPts val="409"/>
              </a:spcBef>
              <a:buClr>
                <a:srgbClr val="005F73"/>
              </a:buClr>
              <a:buFont typeface="Adobe Text Pro"/>
              <a:buChar char="✓"/>
              <a:tabLst>
                <a:tab pos="159385" algn="l"/>
              </a:tabLst>
            </a:pPr>
            <a:r>
              <a:rPr sz="1000" spc="-20">
                <a:solidFill>
                  <a:srgbClr val="202429"/>
                </a:solidFill>
                <a:latin typeface="Tahoma"/>
                <a:cs typeface="Tahoma"/>
              </a:rPr>
              <a:t>Three</a:t>
            </a:r>
            <a:r>
              <a:rPr sz="1000" spc="-30">
                <a:solidFill>
                  <a:srgbClr val="202429"/>
                </a:solidFill>
                <a:latin typeface="Tahoma"/>
                <a:cs typeface="Tahoma"/>
              </a:rPr>
              <a:t> </a:t>
            </a:r>
            <a:r>
              <a:rPr sz="1000" spc="-35">
                <a:solidFill>
                  <a:srgbClr val="202429"/>
                </a:solidFill>
                <a:latin typeface="Tahoma"/>
                <a:cs typeface="Tahoma"/>
              </a:rPr>
              <a:t>domain</a:t>
            </a:r>
            <a:r>
              <a:rPr sz="1000" spc="-25">
                <a:solidFill>
                  <a:srgbClr val="202429"/>
                </a:solidFill>
                <a:latin typeface="Tahoma"/>
                <a:cs typeface="Tahoma"/>
              </a:rPr>
              <a:t> </a:t>
            </a:r>
            <a:r>
              <a:rPr sz="1000" spc="-40">
                <a:solidFill>
                  <a:srgbClr val="202429"/>
                </a:solidFill>
                <a:latin typeface="Tahoma"/>
                <a:cs typeface="Tahoma"/>
              </a:rPr>
              <a:t>experts</a:t>
            </a:r>
            <a:r>
              <a:rPr sz="1000" spc="-25">
                <a:solidFill>
                  <a:srgbClr val="202429"/>
                </a:solidFill>
                <a:latin typeface="Tahoma"/>
                <a:cs typeface="Tahoma"/>
              </a:rPr>
              <a:t> </a:t>
            </a:r>
            <a:r>
              <a:rPr sz="1000" spc="-35">
                <a:solidFill>
                  <a:srgbClr val="202429"/>
                </a:solidFill>
                <a:latin typeface="Tahoma"/>
                <a:cs typeface="Tahoma"/>
              </a:rPr>
              <a:t>annotated</a:t>
            </a:r>
            <a:r>
              <a:rPr sz="1000" spc="-20">
                <a:solidFill>
                  <a:srgbClr val="202429"/>
                </a:solidFill>
                <a:latin typeface="Tahoma"/>
                <a:cs typeface="Tahoma"/>
              </a:rPr>
              <a:t> </a:t>
            </a:r>
            <a:r>
              <a:rPr sz="1000" spc="-10">
                <a:solidFill>
                  <a:srgbClr val="202429"/>
                </a:solidFill>
                <a:latin typeface="Tahoma"/>
                <a:cs typeface="Tahoma"/>
              </a:rPr>
              <a:t>reports</a:t>
            </a:r>
            <a:endParaRPr sz="1000">
              <a:latin typeface="Tahoma"/>
              <a:cs typeface="Tahoma"/>
            </a:endParaRPr>
          </a:p>
          <a:p>
            <a:pPr marL="159385" indent="-146685">
              <a:lnSpc>
                <a:spcPct val="100000"/>
              </a:lnSpc>
              <a:spcBef>
                <a:spcPts val="395"/>
              </a:spcBef>
              <a:buClr>
                <a:srgbClr val="005F73"/>
              </a:buClr>
              <a:buFont typeface="Adobe Text Pro"/>
              <a:buChar char="✓"/>
              <a:tabLst>
                <a:tab pos="159385" algn="l"/>
              </a:tabLst>
            </a:pPr>
            <a:r>
              <a:rPr sz="1000" spc="-50">
                <a:solidFill>
                  <a:srgbClr val="202429"/>
                </a:solidFill>
                <a:latin typeface="Tahoma"/>
                <a:cs typeface="Tahoma"/>
              </a:rPr>
              <a:t>Inter-</a:t>
            </a:r>
            <a:r>
              <a:rPr sz="1000" spc="-30">
                <a:solidFill>
                  <a:srgbClr val="202429"/>
                </a:solidFill>
                <a:latin typeface="Tahoma"/>
                <a:cs typeface="Tahoma"/>
              </a:rPr>
              <a:t>rater</a:t>
            </a:r>
            <a:r>
              <a:rPr sz="1000" spc="-25">
                <a:solidFill>
                  <a:srgbClr val="202429"/>
                </a:solidFill>
                <a:latin typeface="Tahoma"/>
                <a:cs typeface="Tahoma"/>
              </a:rPr>
              <a:t> </a:t>
            </a:r>
            <a:r>
              <a:rPr sz="1000" spc="-10">
                <a:solidFill>
                  <a:srgbClr val="202429"/>
                </a:solidFill>
                <a:latin typeface="Tahoma"/>
                <a:cs typeface="Tahoma"/>
              </a:rPr>
              <a:t>reliability</a:t>
            </a:r>
            <a:r>
              <a:rPr sz="1000" spc="-25">
                <a:solidFill>
                  <a:srgbClr val="202429"/>
                </a:solidFill>
                <a:latin typeface="Tahoma"/>
                <a:cs typeface="Tahoma"/>
              </a:rPr>
              <a:t> </a:t>
            </a:r>
            <a:r>
              <a:rPr sz="1000" spc="-55">
                <a:solidFill>
                  <a:srgbClr val="202429"/>
                </a:solidFill>
                <a:latin typeface="Tahoma"/>
                <a:cs typeface="Tahoma"/>
              </a:rPr>
              <a:t>measured</a:t>
            </a:r>
            <a:r>
              <a:rPr sz="1000" spc="-15">
                <a:solidFill>
                  <a:srgbClr val="202429"/>
                </a:solidFill>
                <a:latin typeface="Tahoma"/>
                <a:cs typeface="Tahoma"/>
              </a:rPr>
              <a:t> </a:t>
            </a:r>
            <a:r>
              <a:rPr sz="1000" spc="-30">
                <a:solidFill>
                  <a:srgbClr val="202429"/>
                </a:solidFill>
                <a:latin typeface="Tahoma"/>
                <a:cs typeface="Tahoma"/>
              </a:rPr>
              <a:t>(80.15%)</a:t>
            </a:r>
            <a:endParaRPr sz="1000">
              <a:latin typeface="Tahoma"/>
              <a:cs typeface="Tahoma"/>
            </a:endParaRPr>
          </a:p>
          <a:p>
            <a:pPr marL="159385" indent="-146685">
              <a:lnSpc>
                <a:spcPct val="100000"/>
              </a:lnSpc>
              <a:spcBef>
                <a:spcPts val="555"/>
              </a:spcBef>
              <a:buClr>
                <a:srgbClr val="005F73"/>
              </a:buClr>
              <a:buFont typeface="Adobe Text Pro"/>
              <a:buChar char="✓"/>
              <a:tabLst>
                <a:tab pos="159385" algn="l"/>
              </a:tabLst>
            </a:pPr>
            <a:r>
              <a:rPr sz="1000" spc="-25">
                <a:solidFill>
                  <a:srgbClr val="202429"/>
                </a:solidFill>
                <a:latin typeface="Tahoma"/>
                <a:cs typeface="Tahoma"/>
              </a:rPr>
              <a:t>Human</a:t>
            </a:r>
            <a:r>
              <a:rPr sz="1000" spc="-30">
                <a:solidFill>
                  <a:srgbClr val="202429"/>
                </a:solidFill>
                <a:latin typeface="Tahoma"/>
                <a:cs typeface="Tahoma"/>
              </a:rPr>
              <a:t> veriﬁcation</a:t>
            </a:r>
            <a:r>
              <a:rPr sz="1000" spc="-25">
                <a:solidFill>
                  <a:srgbClr val="202429"/>
                </a:solidFill>
                <a:latin typeface="Tahoma"/>
                <a:cs typeface="Tahoma"/>
              </a:rPr>
              <a:t> </a:t>
            </a:r>
            <a:r>
              <a:rPr sz="1000">
                <a:solidFill>
                  <a:srgbClr val="202429"/>
                </a:solidFill>
                <a:latin typeface="Tahoma"/>
                <a:cs typeface="Tahoma"/>
              </a:rPr>
              <a:t>of</a:t>
            </a:r>
            <a:r>
              <a:rPr sz="1000" spc="-25">
                <a:solidFill>
                  <a:srgbClr val="202429"/>
                </a:solidFill>
                <a:latin typeface="Tahoma"/>
                <a:cs typeface="Tahoma"/>
              </a:rPr>
              <a:t> </a:t>
            </a:r>
            <a:r>
              <a:rPr sz="1000">
                <a:solidFill>
                  <a:srgbClr val="202429"/>
                </a:solidFill>
                <a:latin typeface="Tahoma"/>
                <a:cs typeface="Tahoma"/>
              </a:rPr>
              <a:t>AI</a:t>
            </a:r>
            <a:r>
              <a:rPr sz="1000" spc="-25">
                <a:solidFill>
                  <a:srgbClr val="202429"/>
                </a:solidFill>
                <a:latin typeface="Tahoma"/>
                <a:cs typeface="Tahoma"/>
              </a:rPr>
              <a:t> </a:t>
            </a:r>
            <a:r>
              <a:rPr sz="1000" spc="-10">
                <a:solidFill>
                  <a:srgbClr val="202429"/>
                </a:solidFill>
                <a:latin typeface="Tahoma"/>
                <a:cs typeface="Tahoma"/>
              </a:rPr>
              <a:t>outputs</a:t>
            </a:r>
            <a:endParaRPr sz="1000">
              <a:latin typeface="Tahoma"/>
              <a:cs typeface="Tahoma"/>
            </a:endParaRPr>
          </a:p>
        </p:txBody>
      </p:sp>
      <p:sp>
        <p:nvSpPr>
          <p:cNvPr id="5" name="object 5"/>
          <p:cNvSpPr/>
          <p:nvPr/>
        </p:nvSpPr>
        <p:spPr>
          <a:xfrm>
            <a:off x="2880004" y="1010018"/>
            <a:ext cx="0" cy="1980564"/>
          </a:xfrm>
          <a:custGeom>
            <a:avLst/>
            <a:gdLst/>
            <a:ahLst/>
            <a:cxnLst/>
            <a:rect l="l" t="t" r="r" b="b"/>
            <a:pathLst>
              <a:path h="1980564">
                <a:moveTo>
                  <a:pt x="0" y="1979993"/>
                </a:moveTo>
                <a:lnTo>
                  <a:pt x="0" y="0"/>
                </a:lnTo>
              </a:path>
            </a:pathLst>
          </a:custGeom>
          <a:ln w="6325">
            <a:solidFill>
              <a:srgbClr val="CED3DA"/>
            </a:solidFill>
          </a:ln>
        </p:spPr>
        <p:txBody>
          <a:bodyPr wrap="square" lIns="0" tIns="0" rIns="0" bIns="0" rtlCol="0"/>
          <a:lstStyle/>
          <a:p>
            <a:endParaRPr/>
          </a:p>
        </p:txBody>
      </p:sp>
      <p:sp>
        <p:nvSpPr>
          <p:cNvPr id="6" name="object 6"/>
          <p:cNvSpPr txBox="1"/>
          <p:nvPr/>
        </p:nvSpPr>
        <p:spPr>
          <a:xfrm>
            <a:off x="3173285" y="721497"/>
            <a:ext cx="2343150" cy="1919605"/>
          </a:xfrm>
          <a:prstGeom prst="rect">
            <a:avLst/>
          </a:prstGeom>
        </p:spPr>
        <p:txBody>
          <a:bodyPr vert="horz" wrap="square" lIns="0" tIns="69215" rIns="0" bIns="0" rtlCol="0">
            <a:spAutoFit/>
          </a:bodyPr>
          <a:lstStyle/>
          <a:p>
            <a:pPr marL="12700">
              <a:lnSpc>
                <a:spcPct val="100000"/>
              </a:lnSpc>
              <a:spcBef>
                <a:spcPts val="545"/>
              </a:spcBef>
            </a:pPr>
            <a:r>
              <a:rPr sz="1100" b="1" spc="-70">
                <a:solidFill>
                  <a:srgbClr val="202429"/>
                </a:solidFill>
                <a:latin typeface="Arial"/>
                <a:cs typeface="Arial"/>
              </a:rPr>
              <a:t>Fairness</a:t>
            </a:r>
            <a:r>
              <a:rPr sz="1100" b="1" spc="30">
                <a:solidFill>
                  <a:srgbClr val="202429"/>
                </a:solidFill>
                <a:latin typeface="Arial"/>
                <a:cs typeface="Arial"/>
              </a:rPr>
              <a:t> </a:t>
            </a:r>
            <a:r>
              <a:rPr sz="1100" b="1" spc="-10">
                <a:solidFill>
                  <a:srgbClr val="202429"/>
                </a:solidFill>
                <a:latin typeface="Arial"/>
                <a:cs typeface="Arial"/>
              </a:rPr>
              <a:t>evaluation:</a:t>
            </a:r>
            <a:endParaRPr sz="1100">
              <a:latin typeface="Arial"/>
              <a:cs typeface="Arial"/>
            </a:endParaRPr>
          </a:p>
          <a:p>
            <a:pPr marL="159385" indent="-146685">
              <a:lnSpc>
                <a:spcPct val="100000"/>
              </a:lnSpc>
              <a:spcBef>
                <a:spcPts val="414"/>
              </a:spcBef>
              <a:buClr>
                <a:srgbClr val="005F73"/>
              </a:buClr>
              <a:buFont typeface="Adobe Text Pro"/>
              <a:buChar char="✓"/>
              <a:tabLst>
                <a:tab pos="159385" algn="l"/>
              </a:tabLst>
            </a:pPr>
            <a:r>
              <a:rPr sz="1000" spc="-40">
                <a:solidFill>
                  <a:srgbClr val="202429"/>
                </a:solidFill>
                <a:latin typeface="Tahoma"/>
                <a:cs typeface="Tahoma"/>
              </a:rPr>
              <a:t>Performance</a:t>
            </a:r>
            <a:r>
              <a:rPr sz="1000" spc="-20">
                <a:solidFill>
                  <a:srgbClr val="202429"/>
                </a:solidFill>
                <a:latin typeface="Tahoma"/>
                <a:cs typeface="Tahoma"/>
              </a:rPr>
              <a:t> </a:t>
            </a:r>
            <a:r>
              <a:rPr sz="1000" spc="-35">
                <a:solidFill>
                  <a:srgbClr val="202429"/>
                </a:solidFill>
                <a:latin typeface="Tahoma"/>
                <a:cs typeface="Tahoma"/>
              </a:rPr>
              <a:t>tested</a:t>
            </a:r>
            <a:r>
              <a:rPr sz="1000" spc="-10">
                <a:solidFill>
                  <a:srgbClr val="202429"/>
                </a:solidFill>
                <a:latin typeface="Tahoma"/>
                <a:cs typeface="Tahoma"/>
              </a:rPr>
              <a:t> </a:t>
            </a:r>
            <a:r>
              <a:rPr sz="1000" spc="-40">
                <a:solidFill>
                  <a:srgbClr val="202429"/>
                </a:solidFill>
                <a:latin typeface="Tahoma"/>
                <a:cs typeface="Tahoma"/>
              </a:rPr>
              <a:t>across</a:t>
            </a:r>
            <a:r>
              <a:rPr sz="1000" spc="-15">
                <a:solidFill>
                  <a:srgbClr val="202429"/>
                </a:solidFill>
                <a:latin typeface="Tahoma"/>
                <a:cs typeface="Tahoma"/>
              </a:rPr>
              <a:t> </a:t>
            </a:r>
            <a:r>
              <a:rPr sz="1000" spc="-25">
                <a:solidFill>
                  <a:srgbClr val="202429"/>
                </a:solidFill>
                <a:latin typeface="Tahoma"/>
                <a:cs typeface="Tahoma"/>
              </a:rPr>
              <a:t>ethnic</a:t>
            </a:r>
            <a:r>
              <a:rPr sz="1000" spc="-15">
                <a:solidFill>
                  <a:srgbClr val="202429"/>
                </a:solidFill>
                <a:latin typeface="Tahoma"/>
                <a:cs typeface="Tahoma"/>
              </a:rPr>
              <a:t> </a:t>
            </a:r>
            <a:r>
              <a:rPr sz="1000" spc="-10">
                <a:solidFill>
                  <a:srgbClr val="202429"/>
                </a:solidFill>
                <a:latin typeface="Tahoma"/>
                <a:cs typeface="Tahoma"/>
              </a:rPr>
              <a:t>groups</a:t>
            </a:r>
            <a:endParaRPr sz="1000">
              <a:latin typeface="Tahoma"/>
              <a:cs typeface="Tahoma"/>
            </a:endParaRPr>
          </a:p>
          <a:p>
            <a:pPr marL="159385" indent="-146685">
              <a:lnSpc>
                <a:spcPct val="100000"/>
              </a:lnSpc>
              <a:spcBef>
                <a:spcPts val="390"/>
              </a:spcBef>
              <a:buClr>
                <a:srgbClr val="005F73"/>
              </a:buClr>
              <a:buFont typeface="Adobe Text Pro"/>
              <a:buChar char="✓"/>
              <a:tabLst>
                <a:tab pos="159385" algn="l"/>
              </a:tabLst>
            </a:pPr>
            <a:r>
              <a:rPr sz="1000" spc="-10">
                <a:solidFill>
                  <a:srgbClr val="202429"/>
                </a:solidFill>
                <a:latin typeface="Tahoma"/>
                <a:cs typeface="Tahoma"/>
              </a:rPr>
              <a:t>Statistical</a:t>
            </a:r>
            <a:r>
              <a:rPr sz="1000" spc="-40">
                <a:solidFill>
                  <a:srgbClr val="202429"/>
                </a:solidFill>
                <a:latin typeface="Tahoma"/>
                <a:cs typeface="Tahoma"/>
              </a:rPr>
              <a:t> </a:t>
            </a:r>
            <a:r>
              <a:rPr sz="1000" spc="-25">
                <a:solidFill>
                  <a:srgbClr val="202429"/>
                </a:solidFill>
                <a:latin typeface="Tahoma"/>
                <a:cs typeface="Tahoma"/>
              </a:rPr>
              <a:t>tests</a:t>
            </a:r>
            <a:r>
              <a:rPr sz="1000" spc="-40">
                <a:solidFill>
                  <a:srgbClr val="202429"/>
                </a:solidFill>
                <a:latin typeface="Tahoma"/>
                <a:cs typeface="Tahoma"/>
              </a:rPr>
              <a:t> </a:t>
            </a:r>
            <a:r>
              <a:rPr sz="1000" spc="-10">
                <a:solidFill>
                  <a:srgbClr val="202429"/>
                </a:solidFill>
                <a:latin typeface="Tahoma"/>
                <a:cs typeface="Tahoma"/>
              </a:rPr>
              <a:t>for</a:t>
            </a:r>
            <a:r>
              <a:rPr sz="1000" spc="-40">
                <a:solidFill>
                  <a:srgbClr val="202429"/>
                </a:solidFill>
                <a:latin typeface="Tahoma"/>
                <a:cs typeface="Tahoma"/>
              </a:rPr>
              <a:t> </a:t>
            </a:r>
            <a:r>
              <a:rPr sz="1000" spc="-35">
                <a:solidFill>
                  <a:srgbClr val="202429"/>
                </a:solidFill>
                <a:latin typeface="Tahoma"/>
                <a:cs typeface="Tahoma"/>
              </a:rPr>
              <a:t>group </a:t>
            </a:r>
            <a:r>
              <a:rPr sz="1000" spc="-10">
                <a:solidFill>
                  <a:srgbClr val="202429"/>
                </a:solidFill>
                <a:latin typeface="Tahoma"/>
                <a:cs typeface="Tahoma"/>
              </a:rPr>
              <a:t>diﬀerences</a:t>
            </a:r>
            <a:endParaRPr sz="1000">
              <a:latin typeface="Tahoma"/>
              <a:cs typeface="Tahoma"/>
            </a:endParaRPr>
          </a:p>
          <a:p>
            <a:pPr marL="159385" indent="-146685">
              <a:lnSpc>
                <a:spcPct val="100000"/>
              </a:lnSpc>
              <a:spcBef>
                <a:spcPts val="555"/>
              </a:spcBef>
              <a:buClr>
                <a:srgbClr val="005F73"/>
              </a:buClr>
              <a:buFont typeface="Adobe Text Pro"/>
              <a:buChar char="✓"/>
              <a:tabLst>
                <a:tab pos="159385" algn="l"/>
              </a:tabLst>
            </a:pPr>
            <a:r>
              <a:rPr sz="1000" spc="-10">
                <a:solidFill>
                  <a:srgbClr val="202429"/>
                </a:solidFill>
                <a:latin typeface="Tahoma"/>
                <a:cs typeface="Tahoma"/>
              </a:rPr>
              <a:t>Ethnicity</a:t>
            </a:r>
            <a:r>
              <a:rPr sz="1000" spc="-25">
                <a:solidFill>
                  <a:srgbClr val="202429"/>
                </a:solidFill>
                <a:latin typeface="Tahoma"/>
                <a:cs typeface="Tahoma"/>
              </a:rPr>
              <a:t> </a:t>
            </a:r>
            <a:r>
              <a:rPr sz="1000" spc="-30">
                <a:solidFill>
                  <a:srgbClr val="202429"/>
                </a:solidFill>
                <a:latin typeface="Tahoma"/>
                <a:cs typeface="Tahoma"/>
              </a:rPr>
              <a:t>blinded</a:t>
            </a:r>
            <a:r>
              <a:rPr sz="1000" spc="-20">
                <a:solidFill>
                  <a:srgbClr val="202429"/>
                </a:solidFill>
                <a:latin typeface="Tahoma"/>
                <a:cs typeface="Tahoma"/>
              </a:rPr>
              <a:t> </a:t>
            </a:r>
            <a:r>
              <a:rPr sz="1000" spc="-25">
                <a:solidFill>
                  <a:srgbClr val="202429"/>
                </a:solidFill>
                <a:latin typeface="Tahoma"/>
                <a:cs typeface="Tahoma"/>
              </a:rPr>
              <a:t>during</a:t>
            </a:r>
            <a:r>
              <a:rPr sz="1000" spc="-15">
                <a:solidFill>
                  <a:srgbClr val="202429"/>
                </a:solidFill>
                <a:latin typeface="Tahoma"/>
                <a:cs typeface="Tahoma"/>
              </a:rPr>
              <a:t> </a:t>
            </a:r>
            <a:r>
              <a:rPr sz="1000" spc="-10">
                <a:solidFill>
                  <a:srgbClr val="202429"/>
                </a:solidFill>
                <a:latin typeface="Tahoma"/>
                <a:cs typeface="Tahoma"/>
              </a:rPr>
              <a:t>annotation</a:t>
            </a:r>
            <a:endParaRPr sz="1000">
              <a:latin typeface="Tahoma"/>
              <a:cs typeface="Tahoma"/>
            </a:endParaRPr>
          </a:p>
          <a:p>
            <a:pPr marL="12700">
              <a:lnSpc>
                <a:spcPct val="100000"/>
              </a:lnSpc>
              <a:spcBef>
                <a:spcPts val="710"/>
              </a:spcBef>
            </a:pPr>
            <a:r>
              <a:rPr sz="1100" b="1" spc="-35">
                <a:solidFill>
                  <a:srgbClr val="202429"/>
                </a:solidFill>
                <a:latin typeface="Arial"/>
                <a:cs typeface="Arial"/>
              </a:rPr>
              <a:t>Bias</a:t>
            </a:r>
            <a:r>
              <a:rPr sz="1100" b="1" spc="-20">
                <a:solidFill>
                  <a:srgbClr val="202429"/>
                </a:solidFill>
                <a:latin typeface="Arial"/>
                <a:cs typeface="Arial"/>
              </a:rPr>
              <a:t> </a:t>
            </a:r>
            <a:r>
              <a:rPr sz="1100" b="1" spc="-10">
                <a:solidFill>
                  <a:srgbClr val="202429"/>
                </a:solidFill>
                <a:latin typeface="Arial"/>
                <a:cs typeface="Arial"/>
              </a:rPr>
              <a:t>mitigation:</a:t>
            </a:r>
            <a:endParaRPr sz="1100">
              <a:latin typeface="Arial"/>
              <a:cs typeface="Arial"/>
            </a:endParaRPr>
          </a:p>
          <a:p>
            <a:pPr marL="12700" marR="95885" indent="146685">
              <a:lnSpc>
                <a:spcPct val="100000"/>
              </a:lnSpc>
              <a:spcBef>
                <a:spcPts val="409"/>
              </a:spcBef>
              <a:buClr>
                <a:srgbClr val="005F73"/>
              </a:buClr>
              <a:buFont typeface="Adobe Text Pro"/>
              <a:buChar char="✓"/>
              <a:tabLst>
                <a:tab pos="159385" algn="l"/>
              </a:tabLst>
            </a:pPr>
            <a:r>
              <a:rPr sz="1000" spc="-30">
                <a:solidFill>
                  <a:srgbClr val="202429"/>
                </a:solidFill>
                <a:latin typeface="Tahoma"/>
                <a:cs typeface="Tahoma"/>
              </a:rPr>
              <a:t>Continuous</a:t>
            </a:r>
            <a:r>
              <a:rPr sz="1000" spc="-10">
                <a:solidFill>
                  <a:srgbClr val="202429"/>
                </a:solidFill>
                <a:latin typeface="Tahoma"/>
                <a:cs typeface="Tahoma"/>
              </a:rPr>
              <a:t> </a:t>
            </a:r>
            <a:r>
              <a:rPr sz="1000" spc="-30">
                <a:solidFill>
                  <a:srgbClr val="202429"/>
                </a:solidFill>
                <a:latin typeface="Tahoma"/>
                <a:cs typeface="Tahoma"/>
              </a:rPr>
              <a:t>monitoring</a:t>
            </a:r>
            <a:r>
              <a:rPr sz="1000" spc="-10">
                <a:solidFill>
                  <a:srgbClr val="202429"/>
                </a:solidFill>
                <a:latin typeface="Tahoma"/>
                <a:cs typeface="Tahoma"/>
              </a:rPr>
              <a:t> for </a:t>
            </a:r>
            <a:r>
              <a:rPr sz="1000" spc="-45">
                <a:solidFill>
                  <a:srgbClr val="202429"/>
                </a:solidFill>
                <a:latin typeface="Tahoma"/>
                <a:cs typeface="Tahoma"/>
              </a:rPr>
              <a:t>performance </a:t>
            </a:r>
            <a:r>
              <a:rPr sz="1000" spc="-10">
                <a:solidFill>
                  <a:srgbClr val="202429"/>
                </a:solidFill>
                <a:latin typeface="Tahoma"/>
                <a:cs typeface="Tahoma"/>
              </a:rPr>
              <a:t>drift</a:t>
            </a:r>
            <a:endParaRPr sz="1000">
              <a:latin typeface="Tahoma"/>
              <a:cs typeface="Tahoma"/>
            </a:endParaRPr>
          </a:p>
          <a:p>
            <a:pPr marL="159385" indent="-146685">
              <a:lnSpc>
                <a:spcPct val="100000"/>
              </a:lnSpc>
              <a:spcBef>
                <a:spcPts val="390"/>
              </a:spcBef>
              <a:buClr>
                <a:srgbClr val="005F73"/>
              </a:buClr>
              <a:buFont typeface="Adobe Text Pro"/>
              <a:buChar char="✓"/>
              <a:tabLst>
                <a:tab pos="159385" algn="l"/>
              </a:tabLst>
            </a:pPr>
            <a:r>
              <a:rPr sz="1000" spc="-25">
                <a:solidFill>
                  <a:srgbClr val="202429"/>
                </a:solidFill>
                <a:latin typeface="Tahoma"/>
                <a:cs typeface="Tahoma"/>
              </a:rPr>
              <a:t>Retraining</a:t>
            </a:r>
            <a:r>
              <a:rPr sz="1000" spc="-30">
                <a:solidFill>
                  <a:srgbClr val="202429"/>
                </a:solidFill>
                <a:latin typeface="Tahoma"/>
                <a:cs typeface="Tahoma"/>
              </a:rPr>
              <a:t> </a:t>
            </a:r>
            <a:r>
              <a:rPr sz="1000" spc="-20">
                <a:solidFill>
                  <a:srgbClr val="202429"/>
                </a:solidFill>
                <a:latin typeface="Tahoma"/>
                <a:cs typeface="Tahoma"/>
              </a:rPr>
              <a:t>capability</a:t>
            </a:r>
            <a:r>
              <a:rPr sz="1000" spc="-25">
                <a:solidFill>
                  <a:srgbClr val="202429"/>
                </a:solidFill>
                <a:latin typeface="Tahoma"/>
                <a:cs typeface="Tahoma"/>
              </a:rPr>
              <a:t> </a:t>
            </a:r>
            <a:r>
              <a:rPr sz="1000" spc="-20">
                <a:solidFill>
                  <a:srgbClr val="202429"/>
                </a:solidFill>
                <a:latin typeface="Tahoma"/>
                <a:cs typeface="Tahoma"/>
              </a:rPr>
              <a:t>as</a:t>
            </a:r>
            <a:r>
              <a:rPr sz="1000" spc="-25">
                <a:solidFill>
                  <a:srgbClr val="202429"/>
                </a:solidFill>
                <a:latin typeface="Tahoma"/>
                <a:cs typeface="Tahoma"/>
              </a:rPr>
              <a:t> </a:t>
            </a:r>
            <a:r>
              <a:rPr sz="1000" spc="-55">
                <a:solidFill>
                  <a:srgbClr val="202429"/>
                </a:solidFill>
                <a:latin typeface="Tahoma"/>
                <a:cs typeface="Tahoma"/>
              </a:rPr>
              <a:t>new</a:t>
            </a:r>
            <a:r>
              <a:rPr sz="1000" spc="-20">
                <a:solidFill>
                  <a:srgbClr val="202429"/>
                </a:solidFill>
                <a:latin typeface="Tahoma"/>
                <a:cs typeface="Tahoma"/>
              </a:rPr>
              <a:t> data</a:t>
            </a:r>
            <a:r>
              <a:rPr sz="1000" spc="-25">
                <a:solidFill>
                  <a:srgbClr val="202429"/>
                </a:solidFill>
                <a:latin typeface="Tahoma"/>
                <a:cs typeface="Tahoma"/>
              </a:rPr>
              <a:t> </a:t>
            </a:r>
            <a:r>
              <a:rPr sz="1000" spc="-10">
                <a:solidFill>
                  <a:srgbClr val="202429"/>
                </a:solidFill>
                <a:latin typeface="Tahoma"/>
                <a:cs typeface="Tahoma"/>
              </a:rPr>
              <a:t>arrives</a:t>
            </a:r>
            <a:endParaRPr sz="1000">
              <a:latin typeface="Tahoma"/>
              <a:cs typeface="Tahoma"/>
            </a:endParaRPr>
          </a:p>
          <a:p>
            <a:pPr marL="159385" indent="-146685">
              <a:lnSpc>
                <a:spcPct val="100000"/>
              </a:lnSpc>
              <a:spcBef>
                <a:spcPts val="555"/>
              </a:spcBef>
              <a:buClr>
                <a:srgbClr val="005F73"/>
              </a:buClr>
              <a:buFont typeface="Adobe Text Pro"/>
              <a:buChar char="✓"/>
              <a:tabLst>
                <a:tab pos="159385" algn="l"/>
              </a:tabLst>
            </a:pPr>
            <a:r>
              <a:rPr sz="1000" spc="-55">
                <a:solidFill>
                  <a:srgbClr val="202429"/>
                </a:solidFill>
                <a:latin typeface="Tahoma"/>
                <a:cs typeface="Tahoma"/>
              </a:rPr>
              <a:t>Sentence-</a:t>
            </a:r>
            <a:r>
              <a:rPr sz="1000" spc="-30">
                <a:solidFill>
                  <a:srgbClr val="202429"/>
                </a:solidFill>
                <a:latin typeface="Tahoma"/>
                <a:cs typeface="Tahoma"/>
              </a:rPr>
              <a:t>level</a:t>
            </a:r>
            <a:r>
              <a:rPr sz="1000" spc="-15">
                <a:solidFill>
                  <a:srgbClr val="202429"/>
                </a:solidFill>
                <a:latin typeface="Tahoma"/>
                <a:cs typeface="Tahoma"/>
              </a:rPr>
              <a:t> </a:t>
            </a:r>
            <a:r>
              <a:rPr sz="1000" spc="-20">
                <a:solidFill>
                  <a:srgbClr val="202429"/>
                </a:solidFill>
                <a:latin typeface="Tahoma"/>
                <a:cs typeface="Tahoma"/>
              </a:rPr>
              <a:t>traceability</a:t>
            </a:r>
            <a:r>
              <a:rPr sz="1000" spc="-10">
                <a:solidFill>
                  <a:srgbClr val="202429"/>
                </a:solidFill>
                <a:latin typeface="Tahoma"/>
                <a:cs typeface="Tahoma"/>
              </a:rPr>
              <a:t> for</a:t>
            </a:r>
            <a:r>
              <a:rPr sz="1000" spc="-15">
                <a:solidFill>
                  <a:srgbClr val="202429"/>
                </a:solidFill>
                <a:latin typeface="Tahoma"/>
                <a:cs typeface="Tahoma"/>
              </a:rPr>
              <a:t> </a:t>
            </a:r>
            <a:r>
              <a:rPr sz="1000" spc="-10">
                <a:solidFill>
                  <a:srgbClr val="202429"/>
                </a:solidFill>
                <a:latin typeface="Tahoma"/>
                <a:cs typeface="Tahoma"/>
              </a:rPr>
              <a:t>veriﬁcation</a:t>
            </a:r>
            <a:endParaRPr sz="1000">
              <a:latin typeface="Tahoma"/>
              <a:cs typeface="Tahoma"/>
            </a:endParaRPr>
          </a:p>
        </p:txBody>
      </p:sp>
      <p:sp>
        <p:nvSpPr>
          <p:cNvPr id="7" name="object 7"/>
          <p:cNvSpPr/>
          <p:nvPr/>
        </p:nvSpPr>
        <p:spPr>
          <a:xfrm>
            <a:off x="0" y="3060028"/>
            <a:ext cx="5760085" cy="0"/>
          </a:xfrm>
          <a:custGeom>
            <a:avLst/>
            <a:gdLst/>
            <a:ahLst/>
            <a:cxnLst/>
            <a:rect l="l" t="t" r="r" b="b"/>
            <a:pathLst>
              <a:path w="5760085">
                <a:moveTo>
                  <a:pt x="0" y="0"/>
                </a:moveTo>
                <a:lnTo>
                  <a:pt x="5760073" y="0"/>
                </a:lnTo>
              </a:path>
            </a:pathLst>
          </a:custGeom>
          <a:ln w="6326">
            <a:solidFill>
              <a:srgbClr val="CED3DA"/>
            </a:solidFill>
          </a:ln>
        </p:spPr>
        <p:txBody>
          <a:bodyPr wrap="square" lIns="0" tIns="0" rIns="0" bIns="0" rtlCol="0"/>
          <a:lstStyle/>
          <a:p>
            <a:endParaRPr/>
          </a:p>
        </p:txBody>
      </p:sp>
      <p:sp>
        <p:nvSpPr>
          <p:cNvPr id="10" name="Slide Number Placeholder 9">
            <a:extLst>
              <a:ext uri="{FF2B5EF4-FFF2-40B4-BE49-F238E27FC236}">
                <a16:creationId xmlns:a16="http://schemas.microsoft.com/office/drawing/2014/main" id="{1019FFE0-454A-3622-A4B2-667CE95FD803}"/>
              </a:ext>
            </a:extLst>
          </p:cNvPr>
          <p:cNvSpPr>
            <a:spLocks noGrp="1"/>
          </p:cNvSpPr>
          <p:nvPr>
            <p:ph type="sldNum" sz="quarter" idx="7"/>
          </p:nvPr>
        </p:nvSpPr>
        <p:spPr>
          <a:xfrm>
            <a:off x="5377776" y="3070861"/>
            <a:ext cx="388024" cy="173989"/>
          </a:xfrm>
        </p:spPr>
        <p:txBody>
          <a:bodyPr/>
          <a:lstStyle/>
          <a:p>
            <a:pPr marL="39370">
              <a:lnSpc>
                <a:spcPct val="100000"/>
              </a:lnSpc>
              <a:spcBef>
                <a:spcPts val="219"/>
              </a:spcBef>
            </a:pPr>
            <a:fld id="{81D60167-4931-47E6-BA6A-407CBD079E47}" type="slidenum">
              <a:rPr lang="en-GB" smtClean="0"/>
              <a:t>13</a:t>
            </a:fld>
            <a:r>
              <a:rPr lang="en-GB" spc="20"/>
              <a:t> </a:t>
            </a:r>
            <a:r>
              <a:rPr lang="en-GB" spc="120"/>
              <a:t>/</a:t>
            </a:r>
            <a:r>
              <a:rPr lang="en-GB" spc="25"/>
              <a:t> </a:t>
            </a:r>
            <a:r>
              <a:rPr lang="en-GB" spc="-25"/>
              <a:t>41</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91097" rIns="0" bIns="0" rtlCol="0">
            <a:spAutoFit/>
          </a:bodyPr>
          <a:lstStyle/>
          <a:p>
            <a:pPr marL="99060">
              <a:lnSpc>
                <a:spcPct val="100000"/>
              </a:lnSpc>
              <a:spcBef>
                <a:spcPts val="390"/>
              </a:spcBef>
            </a:pPr>
            <a:r>
              <a:rPr spc="65"/>
              <a:t>I-</a:t>
            </a:r>
            <a:r>
              <a:t>SIRch:</a:t>
            </a:r>
            <a:r>
              <a:rPr spc="114"/>
              <a:t> </a:t>
            </a:r>
            <a:r>
              <a:t>Overall</a:t>
            </a:r>
            <a:r>
              <a:rPr spc="-5"/>
              <a:t> </a:t>
            </a:r>
            <a:r>
              <a:rPr spc="-20"/>
              <a:t>Performance</a:t>
            </a:r>
          </a:p>
          <a:p>
            <a:pPr marL="99060">
              <a:lnSpc>
                <a:spcPct val="100000"/>
              </a:lnSpc>
              <a:spcBef>
                <a:spcPts val="195"/>
              </a:spcBef>
            </a:pPr>
            <a:r>
              <a:rPr sz="1100" b="0" spc="-40">
                <a:solidFill>
                  <a:srgbClr val="6C757C"/>
                </a:solidFill>
                <a:latin typeface="Tahoma"/>
                <a:cs typeface="Tahoma"/>
              </a:rPr>
              <a:t>Tested</a:t>
            </a:r>
            <a:r>
              <a:rPr sz="1100" b="0" spc="-50">
                <a:solidFill>
                  <a:srgbClr val="6C757C"/>
                </a:solidFill>
                <a:latin typeface="Tahoma"/>
                <a:cs typeface="Tahoma"/>
              </a:rPr>
              <a:t> </a:t>
            </a:r>
            <a:r>
              <a:rPr sz="1100" b="0" spc="-20">
                <a:solidFill>
                  <a:srgbClr val="6C757C"/>
                </a:solidFill>
                <a:latin typeface="Tahoma"/>
                <a:cs typeface="Tahoma"/>
              </a:rPr>
              <a:t>on</a:t>
            </a:r>
            <a:r>
              <a:rPr sz="1100" b="0" spc="-65">
                <a:solidFill>
                  <a:srgbClr val="6C757C"/>
                </a:solidFill>
                <a:latin typeface="Tahoma"/>
                <a:cs typeface="Tahoma"/>
              </a:rPr>
              <a:t> </a:t>
            </a:r>
            <a:r>
              <a:rPr sz="1100" b="0" spc="-20">
                <a:solidFill>
                  <a:srgbClr val="6C757C"/>
                </a:solidFill>
                <a:latin typeface="Tahoma"/>
                <a:cs typeface="Tahoma"/>
              </a:rPr>
              <a:t>97</a:t>
            </a:r>
            <a:r>
              <a:rPr sz="1100" b="0" spc="-40">
                <a:solidFill>
                  <a:srgbClr val="6C757C"/>
                </a:solidFill>
                <a:latin typeface="Tahoma"/>
                <a:cs typeface="Tahoma"/>
              </a:rPr>
              <a:t> </a:t>
            </a:r>
            <a:r>
              <a:rPr sz="1100" b="0" spc="-25">
                <a:solidFill>
                  <a:srgbClr val="6C757C"/>
                </a:solidFill>
                <a:latin typeface="Tahoma"/>
                <a:cs typeface="Tahoma"/>
              </a:rPr>
              <a:t>real</a:t>
            </a:r>
            <a:r>
              <a:rPr sz="1100" b="0" spc="-40">
                <a:solidFill>
                  <a:srgbClr val="6C757C"/>
                </a:solidFill>
                <a:latin typeface="Tahoma"/>
                <a:cs typeface="Tahoma"/>
              </a:rPr>
              <a:t> </a:t>
            </a:r>
            <a:r>
              <a:rPr sz="1100" b="0" spc="-75">
                <a:solidFill>
                  <a:srgbClr val="6C757C"/>
                </a:solidFill>
                <a:latin typeface="Tahoma"/>
                <a:cs typeface="Tahoma"/>
              </a:rPr>
              <a:t>unseen</a:t>
            </a:r>
            <a:r>
              <a:rPr sz="1100" b="0" spc="-10">
                <a:solidFill>
                  <a:srgbClr val="6C757C"/>
                </a:solidFill>
                <a:latin typeface="Tahoma"/>
                <a:cs typeface="Tahoma"/>
              </a:rPr>
              <a:t> reports</a:t>
            </a:r>
            <a:endParaRPr sz="1100">
              <a:latin typeface="Tahoma"/>
              <a:cs typeface="Tahoma"/>
            </a:endParaRPr>
          </a:p>
        </p:txBody>
      </p:sp>
      <p:sp>
        <p:nvSpPr>
          <p:cNvPr id="3" name="object 3"/>
          <p:cNvSpPr/>
          <p:nvPr/>
        </p:nvSpPr>
        <p:spPr>
          <a:xfrm>
            <a:off x="359994" y="645299"/>
            <a:ext cx="900430" cy="0"/>
          </a:xfrm>
          <a:custGeom>
            <a:avLst/>
            <a:gdLst/>
            <a:ahLst/>
            <a:cxnLst/>
            <a:rect l="l" t="t" r="r" b="b"/>
            <a:pathLst>
              <a:path w="900430">
                <a:moveTo>
                  <a:pt x="0" y="0"/>
                </a:moveTo>
                <a:lnTo>
                  <a:pt x="900010" y="0"/>
                </a:lnTo>
              </a:path>
            </a:pathLst>
          </a:custGeom>
          <a:ln w="18978">
            <a:solidFill>
              <a:srgbClr val="005F73"/>
            </a:solidFill>
          </a:ln>
        </p:spPr>
        <p:txBody>
          <a:bodyPr wrap="square" lIns="0" tIns="0" rIns="0" bIns="0" rtlCol="0"/>
          <a:lstStyle/>
          <a:p>
            <a:endParaRPr/>
          </a:p>
        </p:txBody>
      </p:sp>
      <p:graphicFrame>
        <p:nvGraphicFramePr>
          <p:cNvPr id="4" name="object 4"/>
          <p:cNvGraphicFramePr>
            <a:graphicFrameLocks noGrp="1"/>
          </p:cNvGraphicFramePr>
          <p:nvPr>
            <p:extLst>
              <p:ext uri="{D42A27DB-BD31-4B8C-83A1-F6EECF244321}">
                <p14:modId xmlns:p14="http://schemas.microsoft.com/office/powerpoint/2010/main" val="2661720334"/>
              </p:ext>
            </p:extLst>
          </p:nvPr>
        </p:nvGraphicFramePr>
        <p:xfrm>
          <a:off x="385394" y="807903"/>
          <a:ext cx="1792604" cy="905510"/>
        </p:xfrm>
        <a:graphic>
          <a:graphicData uri="http://schemas.openxmlformats.org/drawingml/2006/table">
            <a:tbl>
              <a:tblPr firstRow="1" bandRow="1">
                <a:tableStyleId>{2D5ABB26-0587-4C30-8999-92F81FD0307C}</a:tableStyleId>
              </a:tblPr>
              <a:tblGrid>
                <a:gridCol w="1074420">
                  <a:extLst>
                    <a:ext uri="{9D8B030D-6E8A-4147-A177-3AD203B41FA5}">
                      <a16:colId xmlns:a16="http://schemas.microsoft.com/office/drawing/2014/main" val="20000"/>
                    </a:ext>
                  </a:extLst>
                </a:gridCol>
                <a:gridCol w="718184">
                  <a:extLst>
                    <a:ext uri="{9D8B030D-6E8A-4147-A177-3AD203B41FA5}">
                      <a16:colId xmlns:a16="http://schemas.microsoft.com/office/drawing/2014/main" val="20001"/>
                    </a:ext>
                  </a:extLst>
                </a:gridCol>
              </a:tblGrid>
              <a:tr h="225425">
                <a:tc>
                  <a:txBody>
                    <a:bodyPr/>
                    <a:lstStyle/>
                    <a:p>
                      <a:pPr>
                        <a:lnSpc>
                          <a:spcPct val="100000"/>
                        </a:lnSpc>
                        <a:spcBef>
                          <a:spcPts val="195"/>
                        </a:spcBef>
                      </a:pPr>
                      <a:r>
                        <a:rPr sz="1000" b="1" spc="-10">
                          <a:solidFill>
                            <a:srgbClr val="202429"/>
                          </a:solidFill>
                          <a:latin typeface="Arial"/>
                          <a:cs typeface="Arial"/>
                        </a:rPr>
                        <a:t>Metric</a:t>
                      </a:r>
                      <a:endParaRPr sz="1000">
                        <a:latin typeface="Arial"/>
                        <a:cs typeface="Arial"/>
                      </a:endParaRPr>
                    </a:p>
                  </a:txBody>
                  <a:tcPr marL="0" marR="0" marT="24765" marB="0">
                    <a:lnT w="12700">
                      <a:solidFill>
                        <a:srgbClr val="202429"/>
                      </a:solidFill>
                      <a:prstDash val="solid"/>
                    </a:lnT>
                    <a:lnB w="9525">
                      <a:solidFill>
                        <a:srgbClr val="202429"/>
                      </a:solidFill>
                      <a:prstDash val="solid"/>
                    </a:lnB>
                  </a:tcPr>
                </a:tc>
                <a:tc>
                  <a:txBody>
                    <a:bodyPr/>
                    <a:lstStyle/>
                    <a:p>
                      <a:pPr marL="75565" marR="3175" algn="ctr">
                        <a:lnSpc>
                          <a:spcPct val="100000"/>
                        </a:lnSpc>
                        <a:spcBef>
                          <a:spcPts val="195"/>
                        </a:spcBef>
                      </a:pPr>
                      <a:r>
                        <a:rPr sz="1000" b="1" spc="-20">
                          <a:solidFill>
                            <a:srgbClr val="202429"/>
                          </a:solidFill>
                          <a:latin typeface="Arial"/>
                          <a:cs typeface="Arial"/>
                        </a:rPr>
                        <a:t>Score</a:t>
                      </a:r>
                      <a:endParaRPr sz="1000">
                        <a:latin typeface="Arial"/>
                        <a:cs typeface="Arial"/>
                      </a:endParaRPr>
                    </a:p>
                  </a:txBody>
                  <a:tcPr marL="0" marR="0" marT="24765" marB="0">
                    <a:lnT w="12700">
                      <a:solidFill>
                        <a:srgbClr val="202429"/>
                      </a:solidFill>
                      <a:prstDash val="solid"/>
                    </a:lnT>
                    <a:lnB w="9525">
                      <a:solidFill>
                        <a:srgbClr val="202429"/>
                      </a:solidFill>
                      <a:prstDash val="solid"/>
                    </a:lnB>
                  </a:tcPr>
                </a:tc>
                <a:extLst>
                  <a:ext uri="{0D108BD9-81ED-4DB2-BD59-A6C34878D82A}">
                    <a16:rowId xmlns:a16="http://schemas.microsoft.com/office/drawing/2014/main" val="10000"/>
                  </a:ext>
                </a:extLst>
              </a:tr>
              <a:tr h="172085">
                <a:tc>
                  <a:txBody>
                    <a:bodyPr/>
                    <a:lstStyle/>
                    <a:p>
                      <a:pPr>
                        <a:lnSpc>
                          <a:spcPts val="1075"/>
                        </a:lnSpc>
                        <a:spcBef>
                          <a:spcPts val="180"/>
                        </a:spcBef>
                      </a:pPr>
                      <a:r>
                        <a:rPr sz="1000" spc="-25">
                          <a:solidFill>
                            <a:srgbClr val="202429"/>
                          </a:solidFill>
                          <a:latin typeface="Tahoma"/>
                          <a:cs typeface="Tahoma"/>
                        </a:rPr>
                        <a:t>Balanced</a:t>
                      </a:r>
                      <a:r>
                        <a:rPr sz="1000" spc="-20">
                          <a:solidFill>
                            <a:srgbClr val="202429"/>
                          </a:solidFill>
                          <a:latin typeface="Tahoma"/>
                          <a:cs typeface="Tahoma"/>
                        </a:rPr>
                        <a:t> </a:t>
                      </a:r>
                      <a:r>
                        <a:rPr sz="1000" spc="-10">
                          <a:solidFill>
                            <a:srgbClr val="202429"/>
                          </a:solidFill>
                          <a:latin typeface="Tahoma"/>
                          <a:cs typeface="Tahoma"/>
                        </a:rPr>
                        <a:t>Accuracy</a:t>
                      </a:r>
                      <a:endParaRPr sz="1000">
                        <a:latin typeface="Tahoma"/>
                        <a:cs typeface="Tahoma"/>
                      </a:endParaRPr>
                    </a:p>
                  </a:txBody>
                  <a:tcPr marL="0" marR="0" marT="22860" marB="0">
                    <a:lnT w="9525">
                      <a:solidFill>
                        <a:srgbClr val="202429"/>
                      </a:solidFill>
                      <a:prstDash val="solid"/>
                    </a:lnT>
                  </a:tcPr>
                </a:tc>
                <a:tc>
                  <a:txBody>
                    <a:bodyPr/>
                    <a:lstStyle/>
                    <a:p>
                      <a:pPr marL="75565">
                        <a:lnSpc>
                          <a:spcPts val="1075"/>
                        </a:lnSpc>
                        <a:spcBef>
                          <a:spcPts val="180"/>
                        </a:spcBef>
                      </a:pPr>
                      <a:r>
                        <a:rPr sz="1000" spc="-40">
                          <a:solidFill>
                            <a:srgbClr val="202429"/>
                          </a:solidFill>
                          <a:latin typeface="Tahoma"/>
                          <a:cs typeface="Tahoma"/>
                        </a:rPr>
                        <a:t>0.90</a:t>
                      </a:r>
                      <a:r>
                        <a:rPr sz="1000">
                          <a:solidFill>
                            <a:srgbClr val="202429"/>
                          </a:solidFill>
                          <a:latin typeface="Tahoma"/>
                          <a:cs typeface="Tahoma"/>
                        </a:rPr>
                        <a:t> </a:t>
                      </a:r>
                      <a:r>
                        <a:rPr sz="1000" i="1" spc="220">
                          <a:solidFill>
                            <a:srgbClr val="202429"/>
                          </a:solidFill>
                          <a:latin typeface="Times New Roman"/>
                          <a:cs typeface="Times New Roman"/>
                        </a:rPr>
                        <a:t>±</a:t>
                      </a:r>
                      <a:r>
                        <a:rPr sz="1000" i="1" spc="65">
                          <a:solidFill>
                            <a:srgbClr val="202429"/>
                          </a:solidFill>
                          <a:latin typeface="Times New Roman"/>
                          <a:cs typeface="Times New Roman"/>
                        </a:rPr>
                        <a:t> </a:t>
                      </a:r>
                      <a:r>
                        <a:rPr sz="1000" spc="-40">
                          <a:solidFill>
                            <a:srgbClr val="202429"/>
                          </a:solidFill>
                          <a:latin typeface="Tahoma"/>
                          <a:cs typeface="Tahoma"/>
                        </a:rPr>
                        <a:t>0.18</a:t>
                      </a:r>
                      <a:endParaRPr sz="1000">
                        <a:latin typeface="Tahoma"/>
                        <a:cs typeface="Tahoma"/>
                      </a:endParaRPr>
                    </a:p>
                  </a:txBody>
                  <a:tcPr marL="0" marR="0" marT="22860" marB="0">
                    <a:lnT w="9525">
                      <a:solidFill>
                        <a:srgbClr val="202429"/>
                      </a:solidFill>
                      <a:prstDash val="solid"/>
                    </a:lnT>
                  </a:tcPr>
                </a:tc>
                <a:extLst>
                  <a:ext uri="{0D108BD9-81ED-4DB2-BD59-A6C34878D82A}">
                    <a16:rowId xmlns:a16="http://schemas.microsoft.com/office/drawing/2014/main" val="10001"/>
                  </a:ext>
                </a:extLst>
              </a:tr>
              <a:tr h="151765">
                <a:tc>
                  <a:txBody>
                    <a:bodyPr/>
                    <a:lstStyle/>
                    <a:p>
                      <a:pPr>
                        <a:lnSpc>
                          <a:spcPts val="1075"/>
                        </a:lnSpc>
                        <a:spcBef>
                          <a:spcPts val="15"/>
                        </a:spcBef>
                      </a:pPr>
                      <a:r>
                        <a:rPr sz="1000" spc="-10">
                          <a:solidFill>
                            <a:srgbClr val="202429"/>
                          </a:solidFill>
                          <a:latin typeface="Tahoma"/>
                          <a:cs typeface="Tahoma"/>
                        </a:rPr>
                        <a:t>Recall</a:t>
                      </a:r>
                      <a:endParaRPr sz="1000">
                        <a:latin typeface="Tahoma"/>
                        <a:cs typeface="Tahoma"/>
                      </a:endParaRPr>
                    </a:p>
                  </a:txBody>
                  <a:tcPr marL="0" marR="0" marT="1905" marB="0"/>
                </a:tc>
                <a:tc>
                  <a:txBody>
                    <a:bodyPr/>
                    <a:lstStyle/>
                    <a:p>
                      <a:pPr marL="75565">
                        <a:lnSpc>
                          <a:spcPts val="1075"/>
                        </a:lnSpc>
                        <a:spcBef>
                          <a:spcPts val="15"/>
                        </a:spcBef>
                      </a:pPr>
                      <a:r>
                        <a:rPr sz="1000" spc="-35">
                          <a:solidFill>
                            <a:srgbClr val="202429"/>
                          </a:solidFill>
                          <a:latin typeface="Tahoma"/>
                          <a:cs typeface="Tahoma"/>
                        </a:rPr>
                        <a:t>0.93</a:t>
                      </a:r>
                      <a:r>
                        <a:rPr sz="1000" spc="-25">
                          <a:solidFill>
                            <a:srgbClr val="202429"/>
                          </a:solidFill>
                          <a:latin typeface="Tahoma"/>
                          <a:cs typeface="Tahoma"/>
                        </a:rPr>
                        <a:t> </a:t>
                      </a:r>
                      <a:r>
                        <a:rPr sz="1000" i="1" spc="220">
                          <a:solidFill>
                            <a:srgbClr val="202429"/>
                          </a:solidFill>
                          <a:latin typeface="Times New Roman"/>
                          <a:cs typeface="Times New Roman"/>
                        </a:rPr>
                        <a:t>±</a:t>
                      </a:r>
                      <a:r>
                        <a:rPr sz="1000" i="1" spc="55">
                          <a:solidFill>
                            <a:srgbClr val="202429"/>
                          </a:solidFill>
                          <a:latin typeface="Times New Roman"/>
                          <a:cs typeface="Times New Roman"/>
                        </a:rPr>
                        <a:t> </a:t>
                      </a:r>
                      <a:r>
                        <a:rPr sz="1000" spc="-40">
                          <a:solidFill>
                            <a:srgbClr val="202429"/>
                          </a:solidFill>
                          <a:latin typeface="Tahoma"/>
                          <a:cs typeface="Tahoma"/>
                        </a:rPr>
                        <a:t>0.18</a:t>
                      </a:r>
                      <a:endParaRPr sz="1000">
                        <a:latin typeface="Tahoma"/>
                        <a:cs typeface="Tahoma"/>
                      </a:endParaRPr>
                    </a:p>
                  </a:txBody>
                  <a:tcPr marL="0" marR="0" marT="1905" marB="0"/>
                </a:tc>
                <a:extLst>
                  <a:ext uri="{0D108BD9-81ED-4DB2-BD59-A6C34878D82A}">
                    <a16:rowId xmlns:a16="http://schemas.microsoft.com/office/drawing/2014/main" val="10002"/>
                  </a:ext>
                </a:extLst>
              </a:tr>
              <a:tr h="151765">
                <a:tc>
                  <a:txBody>
                    <a:bodyPr/>
                    <a:lstStyle/>
                    <a:p>
                      <a:pPr>
                        <a:lnSpc>
                          <a:spcPts val="1075"/>
                        </a:lnSpc>
                        <a:spcBef>
                          <a:spcPts val="15"/>
                        </a:spcBef>
                      </a:pPr>
                      <a:r>
                        <a:rPr sz="1000" spc="-10">
                          <a:solidFill>
                            <a:srgbClr val="202429"/>
                          </a:solidFill>
                          <a:latin typeface="Tahoma"/>
                          <a:cs typeface="Tahoma"/>
                        </a:rPr>
                        <a:t>Precision</a:t>
                      </a:r>
                      <a:endParaRPr sz="1000">
                        <a:latin typeface="Tahoma"/>
                        <a:cs typeface="Tahoma"/>
                      </a:endParaRPr>
                    </a:p>
                  </a:txBody>
                  <a:tcPr marL="0" marR="0" marT="1905" marB="0"/>
                </a:tc>
                <a:tc>
                  <a:txBody>
                    <a:bodyPr/>
                    <a:lstStyle/>
                    <a:p>
                      <a:pPr marL="75565">
                        <a:lnSpc>
                          <a:spcPts val="1075"/>
                        </a:lnSpc>
                        <a:spcBef>
                          <a:spcPts val="15"/>
                        </a:spcBef>
                      </a:pPr>
                      <a:r>
                        <a:rPr sz="1000" spc="-35">
                          <a:solidFill>
                            <a:srgbClr val="202429"/>
                          </a:solidFill>
                          <a:latin typeface="Tahoma"/>
                          <a:cs typeface="Tahoma"/>
                        </a:rPr>
                        <a:t>0.87</a:t>
                      </a:r>
                      <a:r>
                        <a:rPr sz="1000" spc="-25">
                          <a:solidFill>
                            <a:srgbClr val="202429"/>
                          </a:solidFill>
                          <a:latin typeface="Tahoma"/>
                          <a:cs typeface="Tahoma"/>
                        </a:rPr>
                        <a:t> </a:t>
                      </a:r>
                      <a:r>
                        <a:rPr sz="1000" i="1" spc="220">
                          <a:solidFill>
                            <a:srgbClr val="202429"/>
                          </a:solidFill>
                          <a:latin typeface="Times New Roman"/>
                          <a:cs typeface="Times New Roman"/>
                        </a:rPr>
                        <a:t>±</a:t>
                      </a:r>
                      <a:r>
                        <a:rPr sz="1000" i="1" spc="55">
                          <a:solidFill>
                            <a:srgbClr val="202429"/>
                          </a:solidFill>
                          <a:latin typeface="Times New Roman"/>
                          <a:cs typeface="Times New Roman"/>
                        </a:rPr>
                        <a:t> </a:t>
                      </a:r>
                      <a:r>
                        <a:rPr sz="1000" spc="-40">
                          <a:solidFill>
                            <a:srgbClr val="202429"/>
                          </a:solidFill>
                          <a:latin typeface="Tahoma"/>
                          <a:cs typeface="Tahoma"/>
                        </a:rPr>
                        <a:t>0.34</a:t>
                      </a:r>
                      <a:endParaRPr sz="1000">
                        <a:latin typeface="Tahoma"/>
                        <a:cs typeface="Tahoma"/>
                      </a:endParaRPr>
                    </a:p>
                  </a:txBody>
                  <a:tcPr marL="0" marR="0" marT="1905" marB="0"/>
                </a:tc>
                <a:extLst>
                  <a:ext uri="{0D108BD9-81ED-4DB2-BD59-A6C34878D82A}">
                    <a16:rowId xmlns:a16="http://schemas.microsoft.com/office/drawing/2014/main" val="10003"/>
                  </a:ext>
                </a:extLst>
              </a:tr>
              <a:tr h="204470">
                <a:tc>
                  <a:txBody>
                    <a:bodyPr/>
                    <a:lstStyle/>
                    <a:p>
                      <a:pPr>
                        <a:lnSpc>
                          <a:spcPct val="100000"/>
                        </a:lnSpc>
                        <a:spcBef>
                          <a:spcPts val="15"/>
                        </a:spcBef>
                      </a:pPr>
                      <a:r>
                        <a:rPr sz="1000">
                          <a:solidFill>
                            <a:srgbClr val="202429"/>
                          </a:solidFill>
                          <a:latin typeface="Tahoma"/>
                          <a:cs typeface="Tahoma"/>
                        </a:rPr>
                        <a:t>F-</a:t>
                      </a:r>
                      <a:r>
                        <a:rPr sz="1000" spc="-10">
                          <a:solidFill>
                            <a:srgbClr val="202429"/>
                          </a:solidFill>
                          <a:latin typeface="Tahoma"/>
                          <a:cs typeface="Tahoma"/>
                        </a:rPr>
                        <a:t>score</a:t>
                      </a:r>
                      <a:endParaRPr sz="1000">
                        <a:latin typeface="Tahoma"/>
                        <a:cs typeface="Tahoma"/>
                      </a:endParaRPr>
                    </a:p>
                  </a:txBody>
                  <a:tcPr marL="0" marR="0" marT="1905" marB="0">
                    <a:lnB w="12700">
                      <a:solidFill>
                        <a:srgbClr val="202429"/>
                      </a:solidFill>
                      <a:prstDash val="solid"/>
                    </a:lnB>
                  </a:tcPr>
                </a:tc>
                <a:tc>
                  <a:txBody>
                    <a:bodyPr/>
                    <a:lstStyle/>
                    <a:p>
                      <a:pPr marL="75565">
                        <a:lnSpc>
                          <a:spcPct val="100000"/>
                        </a:lnSpc>
                        <a:spcBef>
                          <a:spcPts val="15"/>
                        </a:spcBef>
                      </a:pPr>
                      <a:r>
                        <a:rPr sz="1000" spc="-35">
                          <a:solidFill>
                            <a:srgbClr val="202429"/>
                          </a:solidFill>
                          <a:latin typeface="Tahoma"/>
                          <a:cs typeface="Tahoma"/>
                        </a:rPr>
                        <a:t>0.96</a:t>
                      </a:r>
                      <a:r>
                        <a:rPr sz="1000" spc="-25">
                          <a:solidFill>
                            <a:srgbClr val="202429"/>
                          </a:solidFill>
                          <a:latin typeface="Tahoma"/>
                          <a:cs typeface="Tahoma"/>
                        </a:rPr>
                        <a:t> </a:t>
                      </a:r>
                      <a:r>
                        <a:rPr sz="1000" i="1" spc="220">
                          <a:solidFill>
                            <a:srgbClr val="202429"/>
                          </a:solidFill>
                          <a:latin typeface="Times New Roman"/>
                          <a:cs typeface="Times New Roman"/>
                        </a:rPr>
                        <a:t>±</a:t>
                      </a:r>
                      <a:r>
                        <a:rPr sz="1000" i="1" spc="55">
                          <a:solidFill>
                            <a:srgbClr val="202429"/>
                          </a:solidFill>
                          <a:latin typeface="Times New Roman"/>
                          <a:cs typeface="Times New Roman"/>
                        </a:rPr>
                        <a:t> </a:t>
                      </a:r>
                      <a:r>
                        <a:rPr sz="1000" spc="-40">
                          <a:solidFill>
                            <a:srgbClr val="202429"/>
                          </a:solidFill>
                          <a:latin typeface="Tahoma"/>
                          <a:cs typeface="Tahoma"/>
                        </a:rPr>
                        <a:t>0.10</a:t>
                      </a:r>
                      <a:endParaRPr sz="1000">
                        <a:latin typeface="Tahoma"/>
                        <a:cs typeface="Tahoma"/>
                      </a:endParaRPr>
                    </a:p>
                  </a:txBody>
                  <a:tcPr marL="0" marR="0" marT="1905" marB="0">
                    <a:lnB w="12700">
                      <a:solidFill>
                        <a:srgbClr val="202429"/>
                      </a:solidFill>
                      <a:prstDash val="solid"/>
                    </a:lnB>
                  </a:tcPr>
                </a:tc>
                <a:extLst>
                  <a:ext uri="{0D108BD9-81ED-4DB2-BD59-A6C34878D82A}">
                    <a16:rowId xmlns:a16="http://schemas.microsoft.com/office/drawing/2014/main" val="10004"/>
                  </a:ext>
                </a:extLst>
              </a:tr>
            </a:tbl>
          </a:graphicData>
        </a:graphic>
      </p:graphicFrame>
      <p:sp>
        <p:nvSpPr>
          <p:cNvPr id="6" name="object 6"/>
          <p:cNvSpPr/>
          <p:nvPr/>
        </p:nvSpPr>
        <p:spPr>
          <a:xfrm>
            <a:off x="2804401" y="945184"/>
            <a:ext cx="0" cy="1620520"/>
          </a:xfrm>
          <a:custGeom>
            <a:avLst/>
            <a:gdLst/>
            <a:ahLst/>
            <a:cxnLst/>
            <a:rect l="l" t="t" r="r" b="b"/>
            <a:pathLst>
              <a:path h="1620520">
                <a:moveTo>
                  <a:pt x="0" y="1619999"/>
                </a:moveTo>
                <a:lnTo>
                  <a:pt x="0" y="0"/>
                </a:lnTo>
              </a:path>
            </a:pathLst>
          </a:custGeom>
          <a:ln w="6325">
            <a:solidFill>
              <a:srgbClr val="CED3DA"/>
            </a:solidFill>
          </a:ln>
        </p:spPr>
        <p:txBody>
          <a:bodyPr wrap="square" lIns="0" tIns="0" rIns="0" bIns="0" rtlCol="0"/>
          <a:lstStyle/>
          <a:p>
            <a:endParaRPr/>
          </a:p>
        </p:txBody>
      </p:sp>
      <p:sp>
        <p:nvSpPr>
          <p:cNvPr id="7" name="object 7"/>
          <p:cNvSpPr txBox="1"/>
          <p:nvPr/>
        </p:nvSpPr>
        <p:spPr>
          <a:xfrm>
            <a:off x="3007652" y="820194"/>
            <a:ext cx="2241550" cy="626110"/>
          </a:xfrm>
          <a:prstGeom prst="rect">
            <a:avLst/>
          </a:prstGeom>
          <a:solidFill>
            <a:srgbClr val="E8F4F8"/>
          </a:solidFill>
          <a:ln w="5060">
            <a:solidFill>
              <a:srgbClr val="005F73"/>
            </a:solidFill>
          </a:ln>
        </p:spPr>
        <p:txBody>
          <a:bodyPr vert="horz" wrap="square" lIns="0" tIns="28575" rIns="0" bIns="0" rtlCol="0">
            <a:spAutoFit/>
          </a:bodyPr>
          <a:lstStyle/>
          <a:p>
            <a:pPr marL="40005" marR="32384" algn="just">
              <a:lnSpc>
                <a:spcPct val="112900"/>
              </a:lnSpc>
              <a:spcBef>
                <a:spcPts val="225"/>
              </a:spcBef>
            </a:pPr>
            <a:r>
              <a:rPr sz="1000" b="1">
                <a:solidFill>
                  <a:srgbClr val="202429"/>
                </a:solidFill>
                <a:latin typeface="Arial"/>
                <a:cs typeface="Arial"/>
              </a:rPr>
              <a:t>Key</a:t>
            </a:r>
            <a:r>
              <a:rPr sz="1000" b="1" spc="40">
                <a:solidFill>
                  <a:srgbClr val="202429"/>
                </a:solidFill>
                <a:latin typeface="Arial"/>
                <a:cs typeface="Arial"/>
              </a:rPr>
              <a:t> </a:t>
            </a:r>
            <a:r>
              <a:rPr sz="1000" b="1">
                <a:solidFill>
                  <a:srgbClr val="202429"/>
                </a:solidFill>
                <a:latin typeface="Arial"/>
                <a:cs typeface="Arial"/>
              </a:rPr>
              <a:t>ﬁnding:</a:t>
            </a:r>
            <a:r>
              <a:rPr sz="1000" b="1" spc="165">
                <a:solidFill>
                  <a:srgbClr val="202429"/>
                </a:solidFill>
                <a:latin typeface="Arial"/>
                <a:cs typeface="Arial"/>
              </a:rPr>
              <a:t> </a:t>
            </a:r>
            <a:r>
              <a:rPr sz="1000">
                <a:solidFill>
                  <a:srgbClr val="202429"/>
                </a:solidFill>
                <a:latin typeface="Tahoma"/>
                <a:cs typeface="Tahoma"/>
              </a:rPr>
              <a:t>High</a:t>
            </a:r>
            <a:r>
              <a:rPr sz="1000" spc="-25">
                <a:solidFill>
                  <a:srgbClr val="202429"/>
                </a:solidFill>
                <a:latin typeface="Tahoma"/>
                <a:cs typeface="Tahoma"/>
              </a:rPr>
              <a:t> </a:t>
            </a:r>
            <a:r>
              <a:rPr sz="1000">
                <a:solidFill>
                  <a:srgbClr val="202429"/>
                </a:solidFill>
                <a:latin typeface="Tahoma"/>
                <a:cs typeface="Tahoma"/>
              </a:rPr>
              <a:t>recall</a:t>
            </a:r>
            <a:r>
              <a:rPr sz="1000" spc="-20">
                <a:solidFill>
                  <a:srgbClr val="202429"/>
                </a:solidFill>
                <a:latin typeface="Tahoma"/>
                <a:cs typeface="Tahoma"/>
              </a:rPr>
              <a:t> (93%) </a:t>
            </a:r>
            <a:r>
              <a:rPr sz="1000" spc="-35">
                <a:solidFill>
                  <a:srgbClr val="202429"/>
                </a:solidFill>
                <a:latin typeface="Tahoma"/>
                <a:cs typeface="Tahoma"/>
              </a:rPr>
              <a:t>means </a:t>
            </a:r>
            <a:r>
              <a:rPr sz="1000">
                <a:solidFill>
                  <a:srgbClr val="202429"/>
                </a:solidFill>
                <a:latin typeface="Tahoma"/>
                <a:cs typeface="Tahoma"/>
              </a:rPr>
              <a:t>the</a:t>
            </a:r>
            <a:r>
              <a:rPr sz="1000" spc="10">
                <a:solidFill>
                  <a:srgbClr val="202429"/>
                </a:solidFill>
                <a:latin typeface="Tahoma"/>
                <a:cs typeface="Tahoma"/>
              </a:rPr>
              <a:t> </a:t>
            </a:r>
            <a:r>
              <a:rPr sz="1000">
                <a:solidFill>
                  <a:srgbClr val="202429"/>
                </a:solidFill>
                <a:latin typeface="Tahoma"/>
                <a:cs typeface="Tahoma"/>
              </a:rPr>
              <a:t>model</a:t>
            </a:r>
            <a:r>
              <a:rPr sz="1000" spc="10">
                <a:solidFill>
                  <a:srgbClr val="202429"/>
                </a:solidFill>
                <a:latin typeface="Tahoma"/>
                <a:cs typeface="Tahoma"/>
              </a:rPr>
              <a:t> </a:t>
            </a:r>
            <a:r>
              <a:rPr sz="1000" spc="-10">
                <a:solidFill>
                  <a:srgbClr val="202429"/>
                </a:solidFill>
                <a:latin typeface="Tahoma"/>
                <a:cs typeface="Tahoma"/>
              </a:rPr>
              <a:t>catches</a:t>
            </a:r>
            <a:r>
              <a:rPr sz="1000" spc="15">
                <a:solidFill>
                  <a:srgbClr val="202429"/>
                </a:solidFill>
                <a:latin typeface="Tahoma"/>
                <a:cs typeface="Tahoma"/>
              </a:rPr>
              <a:t> </a:t>
            </a:r>
            <a:r>
              <a:rPr sz="1000">
                <a:solidFill>
                  <a:srgbClr val="202429"/>
                </a:solidFill>
                <a:latin typeface="Tahoma"/>
                <a:cs typeface="Tahoma"/>
              </a:rPr>
              <a:t>the</a:t>
            </a:r>
            <a:r>
              <a:rPr sz="1000" spc="15">
                <a:solidFill>
                  <a:srgbClr val="202429"/>
                </a:solidFill>
                <a:latin typeface="Tahoma"/>
                <a:cs typeface="Tahoma"/>
              </a:rPr>
              <a:t> </a:t>
            </a:r>
            <a:r>
              <a:rPr sz="1000">
                <a:solidFill>
                  <a:srgbClr val="202429"/>
                </a:solidFill>
                <a:latin typeface="Tahoma"/>
                <a:cs typeface="Tahoma"/>
              </a:rPr>
              <a:t>vast</a:t>
            </a:r>
            <a:r>
              <a:rPr sz="1000" spc="10">
                <a:solidFill>
                  <a:srgbClr val="202429"/>
                </a:solidFill>
                <a:latin typeface="Tahoma"/>
                <a:cs typeface="Tahoma"/>
              </a:rPr>
              <a:t> </a:t>
            </a:r>
            <a:r>
              <a:rPr sz="1000" spc="-10">
                <a:solidFill>
                  <a:srgbClr val="202429"/>
                </a:solidFill>
                <a:latin typeface="Tahoma"/>
                <a:cs typeface="Tahoma"/>
              </a:rPr>
              <a:t>majority</a:t>
            </a:r>
            <a:r>
              <a:rPr sz="1000" spc="10">
                <a:solidFill>
                  <a:srgbClr val="202429"/>
                </a:solidFill>
                <a:latin typeface="Tahoma"/>
                <a:cs typeface="Tahoma"/>
              </a:rPr>
              <a:t> </a:t>
            </a:r>
            <a:r>
              <a:rPr sz="1000" spc="-25">
                <a:solidFill>
                  <a:srgbClr val="202429"/>
                </a:solidFill>
                <a:latin typeface="Tahoma"/>
                <a:cs typeface="Tahoma"/>
              </a:rPr>
              <a:t>of </a:t>
            </a:r>
            <a:r>
              <a:rPr sz="1000" spc="-45">
                <a:solidFill>
                  <a:srgbClr val="202429"/>
                </a:solidFill>
                <a:latin typeface="Tahoma"/>
                <a:cs typeface="Tahoma"/>
              </a:rPr>
              <a:t>safety</a:t>
            </a:r>
            <a:r>
              <a:rPr sz="1000" spc="15">
                <a:solidFill>
                  <a:srgbClr val="202429"/>
                </a:solidFill>
                <a:latin typeface="Tahoma"/>
                <a:cs typeface="Tahoma"/>
              </a:rPr>
              <a:t> </a:t>
            </a:r>
            <a:r>
              <a:rPr sz="1000" spc="-10">
                <a:solidFill>
                  <a:srgbClr val="202429"/>
                </a:solidFill>
                <a:latin typeface="Tahoma"/>
                <a:cs typeface="Tahoma"/>
              </a:rPr>
              <a:t>issues.</a:t>
            </a:r>
            <a:endParaRPr sz="1000">
              <a:latin typeface="Tahoma"/>
              <a:cs typeface="Tahoma"/>
            </a:endParaRPr>
          </a:p>
        </p:txBody>
      </p:sp>
      <p:sp>
        <p:nvSpPr>
          <p:cNvPr id="8" name="object 8"/>
          <p:cNvSpPr txBox="1"/>
          <p:nvPr/>
        </p:nvSpPr>
        <p:spPr>
          <a:xfrm>
            <a:off x="3085122" y="1855349"/>
            <a:ext cx="2086610" cy="369570"/>
          </a:xfrm>
          <a:prstGeom prst="rect">
            <a:avLst/>
          </a:prstGeom>
        </p:spPr>
        <p:txBody>
          <a:bodyPr vert="horz" wrap="square" lIns="0" tIns="12700" rIns="0" bIns="0" rtlCol="0">
            <a:spAutoFit/>
          </a:bodyPr>
          <a:lstStyle/>
          <a:p>
            <a:pPr marL="12700" marR="5080">
              <a:lnSpc>
                <a:spcPct val="112900"/>
              </a:lnSpc>
              <a:spcBef>
                <a:spcPts val="100"/>
              </a:spcBef>
            </a:pPr>
            <a:r>
              <a:rPr sz="1000" spc="-40">
                <a:solidFill>
                  <a:srgbClr val="6C757C"/>
                </a:solidFill>
                <a:latin typeface="Tahoma"/>
                <a:cs typeface="Tahoma"/>
              </a:rPr>
              <a:t>Tested </a:t>
            </a:r>
            <a:r>
              <a:rPr sz="1000">
                <a:solidFill>
                  <a:srgbClr val="6C757C"/>
                </a:solidFill>
                <a:latin typeface="Tahoma"/>
                <a:cs typeface="Tahoma"/>
              </a:rPr>
              <a:t>on</a:t>
            </a:r>
            <a:r>
              <a:rPr sz="1000" spc="-20">
                <a:solidFill>
                  <a:srgbClr val="6C757C"/>
                </a:solidFill>
                <a:latin typeface="Tahoma"/>
                <a:cs typeface="Tahoma"/>
              </a:rPr>
              <a:t> </a:t>
            </a:r>
            <a:r>
              <a:rPr sz="1000" spc="-30">
                <a:solidFill>
                  <a:srgbClr val="6C757C"/>
                </a:solidFill>
                <a:latin typeface="Tahoma"/>
                <a:cs typeface="Tahoma"/>
              </a:rPr>
              <a:t>real,</a:t>
            </a:r>
            <a:r>
              <a:rPr sz="1000" spc="-25">
                <a:solidFill>
                  <a:srgbClr val="6C757C"/>
                </a:solidFill>
                <a:latin typeface="Tahoma"/>
                <a:cs typeface="Tahoma"/>
              </a:rPr>
              <a:t> </a:t>
            </a:r>
            <a:r>
              <a:rPr sz="1000" spc="-70">
                <a:solidFill>
                  <a:srgbClr val="6C757C"/>
                </a:solidFill>
                <a:latin typeface="Tahoma"/>
                <a:cs typeface="Tahoma"/>
              </a:rPr>
              <a:t>unseen</a:t>
            </a:r>
            <a:r>
              <a:rPr sz="1000" spc="-10">
                <a:solidFill>
                  <a:srgbClr val="6C757C"/>
                </a:solidFill>
                <a:latin typeface="Tahoma"/>
                <a:cs typeface="Tahoma"/>
              </a:rPr>
              <a:t> </a:t>
            </a:r>
            <a:r>
              <a:rPr sz="1000" spc="-20">
                <a:solidFill>
                  <a:srgbClr val="6C757C"/>
                </a:solidFill>
                <a:latin typeface="Tahoma"/>
                <a:cs typeface="Tahoma"/>
              </a:rPr>
              <a:t>data </a:t>
            </a:r>
            <a:r>
              <a:rPr sz="1000">
                <a:solidFill>
                  <a:srgbClr val="6C757C"/>
                </a:solidFill>
                <a:latin typeface="Tahoma"/>
                <a:cs typeface="Tahoma"/>
              </a:rPr>
              <a:t>to</a:t>
            </a:r>
            <a:r>
              <a:rPr sz="1000" spc="-25">
                <a:solidFill>
                  <a:srgbClr val="6C757C"/>
                </a:solidFill>
                <a:latin typeface="Tahoma"/>
                <a:cs typeface="Tahoma"/>
              </a:rPr>
              <a:t> </a:t>
            </a:r>
            <a:r>
              <a:rPr sz="1000" spc="-20">
                <a:solidFill>
                  <a:srgbClr val="6C757C"/>
                </a:solidFill>
                <a:latin typeface="Tahoma"/>
                <a:cs typeface="Tahoma"/>
              </a:rPr>
              <a:t>validate </a:t>
            </a:r>
            <a:r>
              <a:rPr sz="1000" spc="-45">
                <a:solidFill>
                  <a:srgbClr val="6C757C"/>
                </a:solidFill>
                <a:latin typeface="Tahoma"/>
                <a:cs typeface="Tahoma"/>
              </a:rPr>
              <a:t>real-</a:t>
            </a:r>
            <a:r>
              <a:rPr sz="1000" spc="-35">
                <a:solidFill>
                  <a:srgbClr val="6C757C"/>
                </a:solidFill>
                <a:latin typeface="Tahoma"/>
                <a:cs typeface="Tahoma"/>
              </a:rPr>
              <a:t>world</a:t>
            </a:r>
            <a:r>
              <a:rPr sz="1000" spc="10">
                <a:solidFill>
                  <a:srgbClr val="6C757C"/>
                </a:solidFill>
                <a:latin typeface="Tahoma"/>
                <a:cs typeface="Tahoma"/>
              </a:rPr>
              <a:t> </a:t>
            </a:r>
            <a:r>
              <a:rPr sz="1000" spc="-10">
                <a:solidFill>
                  <a:srgbClr val="6C757C"/>
                </a:solidFill>
                <a:latin typeface="Tahoma"/>
                <a:cs typeface="Tahoma"/>
              </a:rPr>
              <a:t>performance.</a:t>
            </a:r>
            <a:endParaRPr sz="1000">
              <a:latin typeface="Tahoma"/>
              <a:cs typeface="Tahoma"/>
            </a:endParaRPr>
          </a:p>
        </p:txBody>
      </p:sp>
      <p:sp>
        <p:nvSpPr>
          <p:cNvPr id="9" name="object 9"/>
          <p:cNvSpPr txBox="1"/>
          <p:nvPr/>
        </p:nvSpPr>
        <p:spPr>
          <a:xfrm>
            <a:off x="1723948" y="2728307"/>
            <a:ext cx="2312670" cy="177800"/>
          </a:xfrm>
          <a:prstGeom prst="rect">
            <a:avLst/>
          </a:prstGeom>
        </p:spPr>
        <p:txBody>
          <a:bodyPr vert="horz" wrap="square" lIns="0" tIns="12065" rIns="0" bIns="0" rtlCol="0">
            <a:spAutoFit/>
          </a:bodyPr>
          <a:lstStyle/>
          <a:p>
            <a:pPr marL="12700">
              <a:lnSpc>
                <a:spcPct val="100000"/>
              </a:lnSpc>
              <a:spcBef>
                <a:spcPts val="95"/>
              </a:spcBef>
            </a:pPr>
            <a:r>
              <a:rPr sz="1000">
                <a:solidFill>
                  <a:srgbClr val="202429"/>
                </a:solidFill>
                <a:latin typeface="Tahoma"/>
                <a:cs typeface="Tahoma"/>
              </a:rPr>
              <a:t>But</a:t>
            </a:r>
            <a:r>
              <a:rPr sz="1000" spc="-10">
                <a:solidFill>
                  <a:srgbClr val="202429"/>
                </a:solidFill>
                <a:latin typeface="Tahoma"/>
                <a:cs typeface="Tahoma"/>
              </a:rPr>
              <a:t> </a:t>
            </a:r>
            <a:r>
              <a:rPr sz="1000" spc="-45">
                <a:solidFill>
                  <a:srgbClr val="202429"/>
                </a:solidFill>
                <a:latin typeface="Tahoma"/>
                <a:cs typeface="Tahoma"/>
              </a:rPr>
              <a:t>does</a:t>
            </a:r>
            <a:r>
              <a:rPr sz="1000" spc="-5">
                <a:solidFill>
                  <a:srgbClr val="202429"/>
                </a:solidFill>
                <a:latin typeface="Tahoma"/>
                <a:cs typeface="Tahoma"/>
              </a:rPr>
              <a:t> </a:t>
            </a:r>
            <a:r>
              <a:rPr sz="1000">
                <a:solidFill>
                  <a:srgbClr val="202429"/>
                </a:solidFill>
                <a:latin typeface="Tahoma"/>
                <a:cs typeface="Tahoma"/>
              </a:rPr>
              <a:t>it</a:t>
            </a:r>
            <a:r>
              <a:rPr sz="1000" spc="-10">
                <a:solidFill>
                  <a:srgbClr val="202429"/>
                </a:solidFill>
                <a:latin typeface="Tahoma"/>
                <a:cs typeface="Tahoma"/>
              </a:rPr>
              <a:t> </a:t>
            </a:r>
            <a:r>
              <a:rPr sz="1000" spc="-35">
                <a:solidFill>
                  <a:srgbClr val="202429"/>
                </a:solidFill>
                <a:latin typeface="Tahoma"/>
                <a:cs typeface="Tahoma"/>
              </a:rPr>
              <a:t>perform</a:t>
            </a:r>
            <a:r>
              <a:rPr sz="1000" spc="-5">
                <a:solidFill>
                  <a:srgbClr val="202429"/>
                </a:solidFill>
                <a:latin typeface="Tahoma"/>
                <a:cs typeface="Tahoma"/>
              </a:rPr>
              <a:t> </a:t>
            </a:r>
            <a:r>
              <a:rPr sz="1000" b="1" spc="-30">
                <a:solidFill>
                  <a:srgbClr val="202429"/>
                </a:solidFill>
                <a:latin typeface="Arial"/>
                <a:cs typeface="Arial"/>
              </a:rPr>
              <a:t>equally</a:t>
            </a:r>
            <a:r>
              <a:rPr sz="1000" b="1" spc="25">
                <a:solidFill>
                  <a:srgbClr val="202429"/>
                </a:solidFill>
                <a:latin typeface="Arial"/>
                <a:cs typeface="Arial"/>
              </a:rPr>
              <a:t> </a:t>
            </a:r>
            <a:r>
              <a:rPr sz="1000" spc="-10">
                <a:solidFill>
                  <a:srgbClr val="202429"/>
                </a:solidFill>
                <a:latin typeface="Tahoma"/>
                <a:cs typeface="Tahoma"/>
              </a:rPr>
              <a:t>for</a:t>
            </a:r>
            <a:r>
              <a:rPr sz="1000" spc="-5">
                <a:solidFill>
                  <a:srgbClr val="202429"/>
                </a:solidFill>
                <a:latin typeface="Tahoma"/>
                <a:cs typeface="Tahoma"/>
              </a:rPr>
              <a:t> </a:t>
            </a:r>
            <a:r>
              <a:rPr sz="1000">
                <a:solidFill>
                  <a:srgbClr val="202429"/>
                </a:solidFill>
                <a:latin typeface="Tahoma"/>
                <a:cs typeface="Tahoma"/>
              </a:rPr>
              <a:t>all</a:t>
            </a:r>
            <a:r>
              <a:rPr sz="1000" spc="-10">
                <a:solidFill>
                  <a:srgbClr val="202429"/>
                </a:solidFill>
                <a:latin typeface="Tahoma"/>
                <a:cs typeface="Tahoma"/>
              </a:rPr>
              <a:t> </a:t>
            </a:r>
            <a:r>
              <a:rPr sz="1000" spc="-25">
                <a:solidFill>
                  <a:srgbClr val="202429"/>
                </a:solidFill>
                <a:latin typeface="Tahoma"/>
                <a:cs typeface="Tahoma"/>
              </a:rPr>
              <a:t>groups?</a:t>
            </a:r>
            <a:endParaRPr sz="1000">
              <a:latin typeface="Tahoma"/>
              <a:cs typeface="Tahoma"/>
            </a:endParaRPr>
          </a:p>
        </p:txBody>
      </p:sp>
      <p:sp>
        <p:nvSpPr>
          <p:cNvPr id="10" name="object 10"/>
          <p:cNvSpPr/>
          <p:nvPr/>
        </p:nvSpPr>
        <p:spPr>
          <a:xfrm>
            <a:off x="0" y="3060028"/>
            <a:ext cx="5760085" cy="0"/>
          </a:xfrm>
          <a:custGeom>
            <a:avLst/>
            <a:gdLst/>
            <a:ahLst/>
            <a:cxnLst/>
            <a:rect l="l" t="t" r="r" b="b"/>
            <a:pathLst>
              <a:path w="5760085">
                <a:moveTo>
                  <a:pt x="0" y="0"/>
                </a:moveTo>
                <a:lnTo>
                  <a:pt x="5760073" y="0"/>
                </a:lnTo>
              </a:path>
            </a:pathLst>
          </a:custGeom>
          <a:ln w="6326">
            <a:solidFill>
              <a:srgbClr val="CED3DA"/>
            </a:solidFill>
          </a:ln>
        </p:spPr>
        <p:txBody>
          <a:bodyPr wrap="square" lIns="0" tIns="0" rIns="0" bIns="0" rtlCol="0"/>
          <a:lstStyle/>
          <a:p>
            <a:endParaRPr/>
          </a:p>
        </p:txBody>
      </p:sp>
      <p:sp>
        <p:nvSpPr>
          <p:cNvPr id="13" name="Slide Number Placeholder 12">
            <a:extLst>
              <a:ext uri="{FF2B5EF4-FFF2-40B4-BE49-F238E27FC236}">
                <a16:creationId xmlns:a16="http://schemas.microsoft.com/office/drawing/2014/main" id="{BD08DA53-C5E0-CBB1-215F-A0622C41F38F}"/>
              </a:ext>
            </a:extLst>
          </p:cNvPr>
          <p:cNvSpPr>
            <a:spLocks noGrp="1"/>
          </p:cNvSpPr>
          <p:nvPr>
            <p:ph type="sldNum" sz="quarter" idx="7"/>
          </p:nvPr>
        </p:nvSpPr>
        <p:spPr>
          <a:xfrm>
            <a:off x="5377776" y="3066276"/>
            <a:ext cx="388024" cy="173989"/>
          </a:xfrm>
        </p:spPr>
        <p:txBody>
          <a:bodyPr/>
          <a:lstStyle/>
          <a:p>
            <a:pPr marL="39370">
              <a:lnSpc>
                <a:spcPct val="100000"/>
              </a:lnSpc>
              <a:spcBef>
                <a:spcPts val="219"/>
              </a:spcBef>
            </a:pPr>
            <a:fld id="{81D60167-4931-47E6-BA6A-407CBD079E47}" type="slidenum">
              <a:rPr lang="en-GB" smtClean="0"/>
              <a:t>14</a:t>
            </a:fld>
            <a:r>
              <a:rPr lang="en-GB" spc="20"/>
              <a:t> </a:t>
            </a:r>
            <a:r>
              <a:rPr lang="en-GB" spc="120"/>
              <a:t>/</a:t>
            </a:r>
            <a:r>
              <a:rPr lang="en-GB" spc="25"/>
              <a:t> </a:t>
            </a:r>
            <a:r>
              <a:rPr lang="en-GB" spc="-25"/>
              <a:t>41</a:t>
            </a:r>
          </a:p>
        </p:txBody>
      </p:sp>
      <p:sp>
        <p:nvSpPr>
          <p:cNvPr id="15" name="TextBox 14">
            <a:extLst>
              <a:ext uri="{FF2B5EF4-FFF2-40B4-BE49-F238E27FC236}">
                <a16:creationId xmlns:a16="http://schemas.microsoft.com/office/drawing/2014/main" id="{D224ECC9-15B6-A0D4-57B8-1C8FDCF48094}"/>
              </a:ext>
            </a:extLst>
          </p:cNvPr>
          <p:cNvSpPr txBox="1"/>
          <p:nvPr/>
        </p:nvSpPr>
        <p:spPr>
          <a:xfrm>
            <a:off x="63500" y="1917860"/>
            <a:ext cx="2613935" cy="584775"/>
          </a:xfrm>
          <a:prstGeom prst="rect">
            <a:avLst/>
          </a:prstGeom>
          <a:noFill/>
        </p:spPr>
        <p:txBody>
          <a:bodyPr wrap="square">
            <a:spAutoFit/>
          </a:bodyPr>
          <a:lstStyle/>
          <a:p>
            <a:pPr>
              <a:buNone/>
            </a:pPr>
            <a:r>
              <a:rPr lang="en-GB" sz="800" b="1">
                <a:solidFill>
                  <a:schemeClr val="tx1">
                    <a:lumMod val="65000"/>
                    <a:lumOff val="35000"/>
                  </a:schemeClr>
                </a:solidFill>
              </a:rPr>
              <a:t>Balanced Accuracy</a:t>
            </a:r>
            <a:r>
              <a:rPr lang="en-GB" sz="800">
                <a:solidFill>
                  <a:schemeClr val="tx1">
                    <a:lumMod val="65000"/>
                    <a:lumOff val="35000"/>
                  </a:schemeClr>
                </a:solidFill>
              </a:rPr>
              <a:t> = Overall accuracy corrected for label imbalance</a:t>
            </a:r>
          </a:p>
          <a:p>
            <a:pPr>
              <a:buNone/>
            </a:pPr>
            <a:r>
              <a:rPr lang="en-GB" sz="800" b="1">
                <a:solidFill>
                  <a:schemeClr val="tx1">
                    <a:lumMod val="65000"/>
                    <a:lumOff val="35000"/>
                  </a:schemeClr>
                </a:solidFill>
              </a:rPr>
              <a:t>Recall</a:t>
            </a:r>
            <a:r>
              <a:rPr lang="en-GB" sz="800">
                <a:solidFill>
                  <a:schemeClr val="tx1">
                    <a:lumMod val="65000"/>
                    <a:lumOff val="35000"/>
                  </a:schemeClr>
                </a:solidFill>
              </a:rPr>
              <a:t> = How many actual issues did the AI catch? </a:t>
            </a:r>
          </a:p>
          <a:p>
            <a:pPr>
              <a:buNone/>
            </a:pPr>
            <a:r>
              <a:rPr lang="en-GB" sz="800" b="1">
                <a:solidFill>
                  <a:schemeClr val="tx1">
                    <a:lumMod val="65000"/>
                    <a:lumOff val="35000"/>
                  </a:schemeClr>
                </a:solidFill>
              </a:rPr>
              <a:t>Precision</a:t>
            </a:r>
            <a:r>
              <a:rPr lang="en-GB" sz="800">
                <a:solidFill>
                  <a:schemeClr val="tx1">
                    <a:lumMod val="65000"/>
                    <a:lumOff val="35000"/>
                  </a:schemeClr>
                </a:solidFill>
              </a:rPr>
              <a:t> = When the AI flags an issue, is it correct?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347294" y="32053"/>
            <a:ext cx="3304540" cy="467995"/>
          </a:xfrm>
          <a:prstGeom prst="rect">
            <a:avLst/>
          </a:prstGeom>
        </p:spPr>
        <p:txBody>
          <a:bodyPr vert="horz" wrap="square" lIns="0" tIns="49530" rIns="0" bIns="0" rtlCol="0">
            <a:spAutoFit/>
          </a:bodyPr>
          <a:lstStyle/>
          <a:p>
            <a:pPr marL="12700">
              <a:lnSpc>
                <a:spcPct val="100000"/>
              </a:lnSpc>
              <a:spcBef>
                <a:spcPts val="390"/>
              </a:spcBef>
            </a:pPr>
            <a:r>
              <a:rPr spc="65"/>
              <a:t>I-</a:t>
            </a:r>
            <a:r>
              <a:t>SIRch:</a:t>
            </a:r>
            <a:r>
              <a:rPr spc="140"/>
              <a:t> </a:t>
            </a:r>
            <a:r>
              <a:rPr spc="-50"/>
              <a:t>Fairness</a:t>
            </a:r>
            <a:r>
              <a:rPr spc="10"/>
              <a:t> </a:t>
            </a:r>
            <a:r>
              <a:rPr spc="-70"/>
              <a:t>Across</a:t>
            </a:r>
            <a:r>
              <a:rPr spc="10"/>
              <a:t> </a:t>
            </a:r>
            <a:r>
              <a:t>Ethnic</a:t>
            </a:r>
            <a:r>
              <a:rPr spc="10"/>
              <a:t> </a:t>
            </a:r>
            <a:r>
              <a:rPr spc="-30"/>
              <a:t>Groups</a:t>
            </a:r>
          </a:p>
          <a:p>
            <a:pPr marL="12700">
              <a:lnSpc>
                <a:spcPct val="100000"/>
              </a:lnSpc>
              <a:spcBef>
                <a:spcPts val="195"/>
              </a:spcBef>
            </a:pPr>
            <a:r>
              <a:rPr sz="1100" b="0" spc="-25">
                <a:solidFill>
                  <a:srgbClr val="6C757C"/>
                </a:solidFill>
                <a:latin typeface="Tahoma"/>
                <a:cs typeface="Tahoma"/>
              </a:rPr>
              <a:t>Does</a:t>
            </a:r>
            <a:r>
              <a:rPr sz="1100" b="0" spc="-45">
                <a:solidFill>
                  <a:srgbClr val="6C757C"/>
                </a:solidFill>
                <a:latin typeface="Tahoma"/>
                <a:cs typeface="Tahoma"/>
              </a:rPr>
              <a:t> </a:t>
            </a:r>
            <a:r>
              <a:rPr sz="1100" b="0" spc="-10">
                <a:solidFill>
                  <a:srgbClr val="6C757C"/>
                </a:solidFill>
                <a:latin typeface="Tahoma"/>
                <a:cs typeface="Tahoma"/>
              </a:rPr>
              <a:t>the</a:t>
            </a:r>
            <a:r>
              <a:rPr sz="1100" b="0" spc="-45">
                <a:solidFill>
                  <a:srgbClr val="6C757C"/>
                </a:solidFill>
                <a:latin typeface="Tahoma"/>
                <a:cs typeface="Tahoma"/>
              </a:rPr>
              <a:t> </a:t>
            </a:r>
            <a:r>
              <a:rPr sz="1100" b="0" spc="-35">
                <a:solidFill>
                  <a:srgbClr val="6C757C"/>
                </a:solidFill>
                <a:latin typeface="Tahoma"/>
                <a:cs typeface="Tahoma"/>
              </a:rPr>
              <a:t>model</a:t>
            </a:r>
            <a:r>
              <a:rPr sz="1100" b="0" spc="-45">
                <a:solidFill>
                  <a:srgbClr val="6C757C"/>
                </a:solidFill>
                <a:latin typeface="Tahoma"/>
                <a:cs typeface="Tahoma"/>
              </a:rPr>
              <a:t> </a:t>
            </a:r>
            <a:r>
              <a:rPr sz="1100" b="0" spc="-40">
                <a:solidFill>
                  <a:srgbClr val="6C757C"/>
                </a:solidFill>
                <a:latin typeface="Tahoma"/>
                <a:cs typeface="Tahoma"/>
              </a:rPr>
              <a:t>perform</a:t>
            </a:r>
            <a:r>
              <a:rPr sz="1100" b="0" spc="-50">
                <a:solidFill>
                  <a:srgbClr val="6C757C"/>
                </a:solidFill>
                <a:latin typeface="Tahoma"/>
                <a:cs typeface="Tahoma"/>
              </a:rPr>
              <a:t> </a:t>
            </a:r>
            <a:r>
              <a:rPr sz="1100" b="0" spc="-30">
                <a:solidFill>
                  <a:srgbClr val="6C757C"/>
                </a:solidFill>
                <a:latin typeface="Tahoma"/>
                <a:cs typeface="Tahoma"/>
              </a:rPr>
              <a:t>equally</a:t>
            </a:r>
            <a:r>
              <a:rPr sz="1100" b="0" spc="-45">
                <a:solidFill>
                  <a:srgbClr val="6C757C"/>
                </a:solidFill>
                <a:latin typeface="Tahoma"/>
                <a:cs typeface="Tahoma"/>
              </a:rPr>
              <a:t> </a:t>
            </a:r>
            <a:r>
              <a:rPr sz="1100" b="0" spc="-20">
                <a:solidFill>
                  <a:srgbClr val="6C757C"/>
                </a:solidFill>
                <a:latin typeface="Tahoma"/>
                <a:cs typeface="Tahoma"/>
              </a:rPr>
              <a:t>for</a:t>
            </a:r>
            <a:r>
              <a:rPr sz="1100" b="0" spc="-45">
                <a:solidFill>
                  <a:srgbClr val="6C757C"/>
                </a:solidFill>
                <a:latin typeface="Tahoma"/>
                <a:cs typeface="Tahoma"/>
              </a:rPr>
              <a:t> </a:t>
            </a:r>
            <a:r>
              <a:rPr sz="1100" b="0">
                <a:solidFill>
                  <a:srgbClr val="6C757C"/>
                </a:solidFill>
                <a:latin typeface="Tahoma"/>
                <a:cs typeface="Tahoma"/>
              </a:rPr>
              <a:t>all</a:t>
            </a:r>
            <a:r>
              <a:rPr sz="1100" b="0" spc="-45">
                <a:solidFill>
                  <a:srgbClr val="6C757C"/>
                </a:solidFill>
                <a:latin typeface="Tahoma"/>
                <a:cs typeface="Tahoma"/>
              </a:rPr>
              <a:t> </a:t>
            </a:r>
            <a:r>
              <a:rPr sz="1100" b="0" spc="-10">
                <a:solidFill>
                  <a:srgbClr val="6C757C"/>
                </a:solidFill>
                <a:latin typeface="Tahoma"/>
                <a:cs typeface="Tahoma"/>
              </a:rPr>
              <a:t>groups?</a:t>
            </a:r>
            <a:endParaRPr sz="1100">
              <a:latin typeface="Tahoma"/>
              <a:cs typeface="Tahoma"/>
            </a:endParaRPr>
          </a:p>
        </p:txBody>
      </p:sp>
      <p:sp>
        <p:nvSpPr>
          <p:cNvPr id="3" name="object 3"/>
          <p:cNvSpPr/>
          <p:nvPr/>
        </p:nvSpPr>
        <p:spPr>
          <a:xfrm>
            <a:off x="359994" y="649643"/>
            <a:ext cx="900430" cy="0"/>
          </a:xfrm>
          <a:custGeom>
            <a:avLst/>
            <a:gdLst/>
            <a:ahLst/>
            <a:cxnLst/>
            <a:rect l="l" t="t" r="r" b="b"/>
            <a:pathLst>
              <a:path w="900430">
                <a:moveTo>
                  <a:pt x="0" y="0"/>
                </a:moveTo>
                <a:lnTo>
                  <a:pt x="900010" y="0"/>
                </a:lnTo>
              </a:path>
            </a:pathLst>
          </a:custGeom>
          <a:ln w="18978">
            <a:solidFill>
              <a:srgbClr val="005F73"/>
            </a:solidFill>
          </a:ln>
        </p:spPr>
        <p:txBody>
          <a:bodyPr wrap="square" lIns="0" tIns="0" rIns="0" bIns="0" rtlCol="0"/>
          <a:lstStyle/>
          <a:p>
            <a:endParaRPr/>
          </a:p>
        </p:txBody>
      </p:sp>
      <p:sp>
        <p:nvSpPr>
          <p:cNvPr id="4" name="object 4"/>
          <p:cNvSpPr txBox="1"/>
          <p:nvPr/>
        </p:nvSpPr>
        <p:spPr>
          <a:xfrm>
            <a:off x="192481" y="783868"/>
            <a:ext cx="1649095" cy="191770"/>
          </a:xfrm>
          <a:prstGeom prst="rect">
            <a:avLst/>
          </a:prstGeom>
        </p:spPr>
        <p:txBody>
          <a:bodyPr vert="horz" wrap="square" lIns="0" tIns="11430" rIns="0" bIns="0" rtlCol="0">
            <a:spAutoFit/>
          </a:bodyPr>
          <a:lstStyle/>
          <a:p>
            <a:pPr marL="12700">
              <a:lnSpc>
                <a:spcPct val="100000"/>
              </a:lnSpc>
              <a:spcBef>
                <a:spcPts val="90"/>
              </a:spcBef>
            </a:pPr>
            <a:r>
              <a:rPr sz="1100" b="1" spc="-40">
                <a:solidFill>
                  <a:srgbClr val="202429"/>
                </a:solidFill>
                <a:latin typeface="Arial"/>
                <a:cs typeface="Arial"/>
              </a:rPr>
              <a:t>Performance</a:t>
            </a:r>
            <a:r>
              <a:rPr sz="1100" b="1" spc="-5">
                <a:solidFill>
                  <a:srgbClr val="202429"/>
                </a:solidFill>
                <a:latin typeface="Arial"/>
                <a:cs typeface="Arial"/>
              </a:rPr>
              <a:t> </a:t>
            </a:r>
            <a:r>
              <a:rPr sz="1100" b="1" spc="-25">
                <a:solidFill>
                  <a:srgbClr val="202429"/>
                </a:solidFill>
                <a:latin typeface="Arial"/>
                <a:cs typeface="Arial"/>
              </a:rPr>
              <a:t>by</a:t>
            </a:r>
            <a:r>
              <a:rPr sz="1100" b="1" spc="-5">
                <a:solidFill>
                  <a:srgbClr val="202429"/>
                </a:solidFill>
                <a:latin typeface="Arial"/>
                <a:cs typeface="Arial"/>
              </a:rPr>
              <a:t> </a:t>
            </a:r>
            <a:r>
              <a:rPr sz="1100" b="1" spc="-25">
                <a:solidFill>
                  <a:srgbClr val="202429"/>
                </a:solidFill>
                <a:latin typeface="Arial"/>
                <a:cs typeface="Arial"/>
              </a:rPr>
              <a:t>ethnicity:</a:t>
            </a:r>
            <a:endParaRPr sz="1100">
              <a:latin typeface="Arial"/>
              <a:cs typeface="Arial"/>
            </a:endParaRPr>
          </a:p>
        </p:txBody>
      </p:sp>
      <p:graphicFrame>
        <p:nvGraphicFramePr>
          <p:cNvPr id="5" name="object 5"/>
          <p:cNvGraphicFramePr>
            <a:graphicFrameLocks noGrp="1"/>
          </p:cNvGraphicFramePr>
          <p:nvPr/>
        </p:nvGraphicFramePr>
        <p:xfrm>
          <a:off x="205181" y="1035659"/>
          <a:ext cx="2523489" cy="1057275"/>
        </p:xfrm>
        <a:graphic>
          <a:graphicData uri="http://schemas.openxmlformats.org/drawingml/2006/table">
            <a:tbl>
              <a:tblPr firstRow="1" bandRow="1">
                <a:tableStyleId>{2D5ABB26-0587-4C30-8999-92F81FD0307C}</a:tableStyleId>
              </a:tblPr>
              <a:tblGrid>
                <a:gridCol w="1068070">
                  <a:extLst>
                    <a:ext uri="{9D8B030D-6E8A-4147-A177-3AD203B41FA5}">
                      <a16:colId xmlns:a16="http://schemas.microsoft.com/office/drawing/2014/main" val="20000"/>
                    </a:ext>
                  </a:extLst>
                </a:gridCol>
                <a:gridCol w="680084">
                  <a:extLst>
                    <a:ext uri="{9D8B030D-6E8A-4147-A177-3AD203B41FA5}">
                      <a16:colId xmlns:a16="http://schemas.microsoft.com/office/drawing/2014/main" val="20001"/>
                    </a:ext>
                  </a:extLst>
                </a:gridCol>
                <a:gridCol w="499110">
                  <a:extLst>
                    <a:ext uri="{9D8B030D-6E8A-4147-A177-3AD203B41FA5}">
                      <a16:colId xmlns:a16="http://schemas.microsoft.com/office/drawing/2014/main" val="20002"/>
                    </a:ext>
                  </a:extLst>
                </a:gridCol>
                <a:gridCol w="276225">
                  <a:extLst>
                    <a:ext uri="{9D8B030D-6E8A-4147-A177-3AD203B41FA5}">
                      <a16:colId xmlns:a16="http://schemas.microsoft.com/office/drawing/2014/main" val="20003"/>
                    </a:ext>
                  </a:extLst>
                </a:gridCol>
              </a:tblGrid>
              <a:tr h="225425">
                <a:tc>
                  <a:txBody>
                    <a:bodyPr/>
                    <a:lstStyle/>
                    <a:p>
                      <a:pPr>
                        <a:lnSpc>
                          <a:spcPct val="100000"/>
                        </a:lnSpc>
                        <a:spcBef>
                          <a:spcPts val="195"/>
                        </a:spcBef>
                      </a:pPr>
                      <a:r>
                        <a:rPr sz="1000" b="1" spc="-10">
                          <a:solidFill>
                            <a:srgbClr val="202429"/>
                          </a:solidFill>
                          <a:latin typeface="Arial"/>
                          <a:cs typeface="Arial"/>
                        </a:rPr>
                        <a:t>Ethnic</a:t>
                      </a:r>
                      <a:r>
                        <a:rPr sz="1000" b="1" spc="-35">
                          <a:solidFill>
                            <a:srgbClr val="202429"/>
                          </a:solidFill>
                          <a:latin typeface="Arial"/>
                          <a:cs typeface="Arial"/>
                        </a:rPr>
                        <a:t> </a:t>
                      </a:r>
                      <a:r>
                        <a:rPr sz="1000" b="1" spc="-10">
                          <a:solidFill>
                            <a:srgbClr val="202429"/>
                          </a:solidFill>
                          <a:latin typeface="Arial"/>
                          <a:cs typeface="Arial"/>
                        </a:rPr>
                        <a:t>Group</a:t>
                      </a:r>
                      <a:endParaRPr sz="1000">
                        <a:latin typeface="Arial"/>
                        <a:cs typeface="Arial"/>
                      </a:endParaRPr>
                    </a:p>
                  </a:txBody>
                  <a:tcPr marL="0" marR="0" marT="24765" marB="0">
                    <a:lnT w="12700">
                      <a:solidFill>
                        <a:srgbClr val="202429"/>
                      </a:solidFill>
                      <a:prstDash val="solid"/>
                    </a:lnT>
                    <a:lnB w="9525">
                      <a:solidFill>
                        <a:srgbClr val="202429"/>
                      </a:solidFill>
                      <a:prstDash val="solid"/>
                    </a:lnB>
                  </a:tcPr>
                </a:tc>
                <a:tc>
                  <a:txBody>
                    <a:bodyPr/>
                    <a:lstStyle/>
                    <a:p>
                      <a:pPr algn="ctr">
                        <a:lnSpc>
                          <a:spcPct val="100000"/>
                        </a:lnSpc>
                        <a:spcBef>
                          <a:spcPts val="195"/>
                        </a:spcBef>
                      </a:pPr>
                      <a:r>
                        <a:rPr sz="1000" b="1">
                          <a:solidFill>
                            <a:srgbClr val="202429"/>
                          </a:solidFill>
                          <a:latin typeface="Arial"/>
                          <a:cs typeface="Arial"/>
                        </a:rPr>
                        <a:t>Bal.</a:t>
                      </a:r>
                      <a:r>
                        <a:rPr sz="1000" b="1" spc="50">
                          <a:solidFill>
                            <a:srgbClr val="202429"/>
                          </a:solidFill>
                          <a:latin typeface="Arial"/>
                          <a:cs typeface="Arial"/>
                        </a:rPr>
                        <a:t> </a:t>
                      </a:r>
                      <a:r>
                        <a:rPr sz="1000" b="1" spc="-20">
                          <a:solidFill>
                            <a:srgbClr val="202429"/>
                          </a:solidFill>
                          <a:latin typeface="Arial"/>
                          <a:cs typeface="Arial"/>
                        </a:rPr>
                        <a:t>Acc.</a:t>
                      </a:r>
                      <a:endParaRPr sz="1000">
                        <a:latin typeface="Arial"/>
                        <a:cs typeface="Arial"/>
                      </a:endParaRPr>
                    </a:p>
                  </a:txBody>
                  <a:tcPr marL="0" marR="0" marT="24765" marB="0">
                    <a:lnT w="12700">
                      <a:solidFill>
                        <a:srgbClr val="202429"/>
                      </a:solidFill>
                      <a:prstDash val="solid"/>
                    </a:lnT>
                    <a:lnB w="9525">
                      <a:solidFill>
                        <a:srgbClr val="202429"/>
                      </a:solidFill>
                      <a:prstDash val="solid"/>
                    </a:lnB>
                  </a:tcPr>
                </a:tc>
                <a:tc>
                  <a:txBody>
                    <a:bodyPr/>
                    <a:lstStyle/>
                    <a:p>
                      <a:pPr algn="ctr">
                        <a:lnSpc>
                          <a:spcPct val="100000"/>
                        </a:lnSpc>
                        <a:spcBef>
                          <a:spcPts val="195"/>
                        </a:spcBef>
                      </a:pPr>
                      <a:r>
                        <a:rPr sz="1000" b="1" spc="-10">
                          <a:solidFill>
                            <a:srgbClr val="202429"/>
                          </a:solidFill>
                          <a:latin typeface="Arial"/>
                          <a:cs typeface="Arial"/>
                        </a:rPr>
                        <a:t>Recall</a:t>
                      </a:r>
                      <a:endParaRPr sz="1000">
                        <a:latin typeface="Arial"/>
                        <a:cs typeface="Arial"/>
                      </a:endParaRPr>
                    </a:p>
                  </a:txBody>
                  <a:tcPr marL="0" marR="0" marT="24765" marB="0">
                    <a:lnT w="12700">
                      <a:solidFill>
                        <a:srgbClr val="202429"/>
                      </a:solidFill>
                      <a:prstDash val="solid"/>
                    </a:lnT>
                    <a:lnB w="9525">
                      <a:solidFill>
                        <a:srgbClr val="202429"/>
                      </a:solidFill>
                      <a:prstDash val="solid"/>
                    </a:lnB>
                  </a:tcPr>
                </a:tc>
                <a:tc>
                  <a:txBody>
                    <a:bodyPr/>
                    <a:lstStyle/>
                    <a:p>
                      <a:pPr marL="134620" marR="3175">
                        <a:lnSpc>
                          <a:spcPct val="100000"/>
                        </a:lnSpc>
                        <a:spcBef>
                          <a:spcPts val="195"/>
                        </a:spcBef>
                      </a:pPr>
                      <a:r>
                        <a:rPr sz="1000" b="1" spc="-50">
                          <a:solidFill>
                            <a:srgbClr val="202429"/>
                          </a:solidFill>
                          <a:latin typeface="Arial"/>
                          <a:cs typeface="Arial"/>
                        </a:rPr>
                        <a:t>n</a:t>
                      </a:r>
                      <a:endParaRPr sz="1000">
                        <a:latin typeface="Arial"/>
                        <a:cs typeface="Arial"/>
                      </a:endParaRPr>
                    </a:p>
                  </a:txBody>
                  <a:tcPr marL="0" marR="0" marT="24765" marB="0">
                    <a:lnT w="12700">
                      <a:solidFill>
                        <a:srgbClr val="202429"/>
                      </a:solidFill>
                      <a:prstDash val="solid"/>
                    </a:lnT>
                    <a:lnB w="9525">
                      <a:solidFill>
                        <a:srgbClr val="202429"/>
                      </a:solidFill>
                      <a:prstDash val="solid"/>
                    </a:lnB>
                  </a:tcPr>
                </a:tc>
                <a:extLst>
                  <a:ext uri="{0D108BD9-81ED-4DB2-BD59-A6C34878D82A}">
                    <a16:rowId xmlns:a16="http://schemas.microsoft.com/office/drawing/2014/main" val="10000"/>
                  </a:ext>
                </a:extLst>
              </a:tr>
              <a:tr h="172085">
                <a:tc>
                  <a:txBody>
                    <a:bodyPr/>
                    <a:lstStyle/>
                    <a:p>
                      <a:pPr>
                        <a:lnSpc>
                          <a:spcPts val="1075"/>
                        </a:lnSpc>
                        <a:spcBef>
                          <a:spcPts val="180"/>
                        </a:spcBef>
                      </a:pPr>
                      <a:r>
                        <a:rPr sz="1000">
                          <a:solidFill>
                            <a:srgbClr val="202429"/>
                          </a:solidFill>
                          <a:latin typeface="Tahoma"/>
                          <a:cs typeface="Tahoma"/>
                        </a:rPr>
                        <a:t>White</a:t>
                      </a:r>
                      <a:r>
                        <a:rPr sz="1000" spc="-65">
                          <a:solidFill>
                            <a:srgbClr val="202429"/>
                          </a:solidFill>
                          <a:latin typeface="Tahoma"/>
                          <a:cs typeface="Tahoma"/>
                        </a:rPr>
                        <a:t> </a:t>
                      </a:r>
                      <a:r>
                        <a:rPr sz="1000" spc="-10">
                          <a:solidFill>
                            <a:srgbClr val="202429"/>
                          </a:solidFill>
                          <a:latin typeface="Tahoma"/>
                          <a:cs typeface="Tahoma"/>
                        </a:rPr>
                        <a:t>British</a:t>
                      </a:r>
                      <a:endParaRPr sz="1000">
                        <a:latin typeface="Tahoma"/>
                        <a:cs typeface="Tahoma"/>
                      </a:endParaRPr>
                    </a:p>
                  </a:txBody>
                  <a:tcPr marL="0" marR="0" marT="22860" marB="0">
                    <a:lnT w="9525">
                      <a:solidFill>
                        <a:srgbClr val="202429"/>
                      </a:solidFill>
                      <a:prstDash val="solid"/>
                    </a:lnT>
                  </a:tcPr>
                </a:tc>
                <a:tc>
                  <a:txBody>
                    <a:bodyPr/>
                    <a:lstStyle/>
                    <a:p>
                      <a:pPr algn="ctr">
                        <a:lnSpc>
                          <a:spcPts val="1075"/>
                        </a:lnSpc>
                        <a:spcBef>
                          <a:spcPts val="180"/>
                        </a:spcBef>
                      </a:pPr>
                      <a:r>
                        <a:rPr sz="1000" spc="-25">
                          <a:solidFill>
                            <a:srgbClr val="202429"/>
                          </a:solidFill>
                          <a:latin typeface="Tahoma"/>
                          <a:cs typeface="Tahoma"/>
                        </a:rPr>
                        <a:t>84%</a:t>
                      </a:r>
                      <a:endParaRPr sz="1000">
                        <a:latin typeface="Tahoma"/>
                        <a:cs typeface="Tahoma"/>
                      </a:endParaRPr>
                    </a:p>
                  </a:txBody>
                  <a:tcPr marL="0" marR="0" marT="22860" marB="0">
                    <a:lnT w="9525">
                      <a:solidFill>
                        <a:srgbClr val="202429"/>
                      </a:solidFill>
                      <a:prstDash val="solid"/>
                    </a:lnT>
                  </a:tcPr>
                </a:tc>
                <a:tc>
                  <a:txBody>
                    <a:bodyPr/>
                    <a:lstStyle/>
                    <a:p>
                      <a:pPr algn="ctr">
                        <a:lnSpc>
                          <a:spcPts val="1075"/>
                        </a:lnSpc>
                        <a:spcBef>
                          <a:spcPts val="180"/>
                        </a:spcBef>
                      </a:pPr>
                      <a:r>
                        <a:rPr sz="1000" spc="-25">
                          <a:solidFill>
                            <a:srgbClr val="202429"/>
                          </a:solidFill>
                          <a:latin typeface="Tahoma"/>
                          <a:cs typeface="Tahoma"/>
                        </a:rPr>
                        <a:t>67%</a:t>
                      </a:r>
                      <a:endParaRPr sz="1000">
                        <a:latin typeface="Tahoma"/>
                        <a:cs typeface="Tahoma"/>
                      </a:endParaRPr>
                    </a:p>
                  </a:txBody>
                  <a:tcPr marL="0" marR="0" marT="22860" marB="0">
                    <a:lnT w="9525">
                      <a:solidFill>
                        <a:srgbClr val="202429"/>
                      </a:solidFill>
                      <a:prstDash val="solid"/>
                    </a:lnT>
                  </a:tcPr>
                </a:tc>
                <a:tc>
                  <a:txBody>
                    <a:bodyPr/>
                    <a:lstStyle/>
                    <a:p>
                      <a:pPr marL="76200">
                        <a:lnSpc>
                          <a:spcPts val="1075"/>
                        </a:lnSpc>
                        <a:spcBef>
                          <a:spcPts val="180"/>
                        </a:spcBef>
                      </a:pPr>
                      <a:r>
                        <a:rPr sz="1000" spc="-50">
                          <a:solidFill>
                            <a:srgbClr val="202429"/>
                          </a:solidFill>
                          <a:latin typeface="Tahoma"/>
                          <a:cs typeface="Tahoma"/>
                        </a:rPr>
                        <a:t>688</a:t>
                      </a:r>
                      <a:endParaRPr sz="1000">
                        <a:latin typeface="Tahoma"/>
                        <a:cs typeface="Tahoma"/>
                      </a:endParaRPr>
                    </a:p>
                  </a:txBody>
                  <a:tcPr marL="0" marR="0" marT="22860" marB="0">
                    <a:lnT w="9525">
                      <a:solidFill>
                        <a:srgbClr val="202429"/>
                      </a:solidFill>
                      <a:prstDash val="solid"/>
                    </a:lnT>
                  </a:tcPr>
                </a:tc>
                <a:extLst>
                  <a:ext uri="{0D108BD9-81ED-4DB2-BD59-A6C34878D82A}">
                    <a16:rowId xmlns:a16="http://schemas.microsoft.com/office/drawing/2014/main" val="10001"/>
                  </a:ext>
                </a:extLst>
              </a:tr>
              <a:tr h="151765">
                <a:tc>
                  <a:txBody>
                    <a:bodyPr/>
                    <a:lstStyle/>
                    <a:p>
                      <a:pPr>
                        <a:lnSpc>
                          <a:spcPts val="1075"/>
                        </a:lnSpc>
                        <a:spcBef>
                          <a:spcPts val="15"/>
                        </a:spcBef>
                      </a:pPr>
                      <a:r>
                        <a:rPr sz="1000" spc="-10">
                          <a:solidFill>
                            <a:srgbClr val="202429"/>
                          </a:solidFill>
                          <a:latin typeface="Tahoma"/>
                          <a:cs typeface="Tahoma"/>
                        </a:rPr>
                        <a:t>Asian</a:t>
                      </a:r>
                      <a:endParaRPr sz="1000">
                        <a:latin typeface="Tahoma"/>
                        <a:cs typeface="Tahoma"/>
                      </a:endParaRPr>
                    </a:p>
                  </a:txBody>
                  <a:tcPr marL="0" marR="0" marT="1905" marB="0"/>
                </a:tc>
                <a:tc>
                  <a:txBody>
                    <a:bodyPr/>
                    <a:lstStyle/>
                    <a:p>
                      <a:pPr algn="ctr">
                        <a:lnSpc>
                          <a:spcPts val="1075"/>
                        </a:lnSpc>
                        <a:spcBef>
                          <a:spcPts val="15"/>
                        </a:spcBef>
                      </a:pPr>
                      <a:r>
                        <a:rPr sz="1000" spc="-25">
                          <a:solidFill>
                            <a:srgbClr val="202429"/>
                          </a:solidFill>
                          <a:latin typeface="Tahoma"/>
                          <a:cs typeface="Tahoma"/>
                        </a:rPr>
                        <a:t>84%</a:t>
                      </a:r>
                      <a:endParaRPr sz="1000">
                        <a:latin typeface="Tahoma"/>
                        <a:cs typeface="Tahoma"/>
                      </a:endParaRPr>
                    </a:p>
                  </a:txBody>
                  <a:tcPr marL="0" marR="0" marT="1905" marB="0"/>
                </a:tc>
                <a:tc>
                  <a:txBody>
                    <a:bodyPr/>
                    <a:lstStyle/>
                    <a:p>
                      <a:pPr algn="ctr">
                        <a:lnSpc>
                          <a:spcPts val="1075"/>
                        </a:lnSpc>
                        <a:spcBef>
                          <a:spcPts val="15"/>
                        </a:spcBef>
                      </a:pPr>
                      <a:r>
                        <a:rPr sz="1000" spc="-25">
                          <a:solidFill>
                            <a:srgbClr val="202429"/>
                          </a:solidFill>
                          <a:latin typeface="Tahoma"/>
                          <a:cs typeface="Tahoma"/>
                        </a:rPr>
                        <a:t>68%</a:t>
                      </a:r>
                      <a:endParaRPr sz="1000">
                        <a:latin typeface="Tahoma"/>
                        <a:cs typeface="Tahoma"/>
                      </a:endParaRPr>
                    </a:p>
                  </a:txBody>
                  <a:tcPr marL="0" marR="0" marT="1905" marB="0"/>
                </a:tc>
                <a:tc>
                  <a:txBody>
                    <a:bodyPr/>
                    <a:lstStyle/>
                    <a:p>
                      <a:pPr marL="107314" marR="3175">
                        <a:lnSpc>
                          <a:spcPts val="1075"/>
                        </a:lnSpc>
                        <a:spcBef>
                          <a:spcPts val="15"/>
                        </a:spcBef>
                      </a:pPr>
                      <a:r>
                        <a:rPr sz="1000" spc="-25">
                          <a:solidFill>
                            <a:srgbClr val="202429"/>
                          </a:solidFill>
                          <a:latin typeface="Tahoma"/>
                          <a:cs typeface="Tahoma"/>
                        </a:rPr>
                        <a:t>87</a:t>
                      </a:r>
                      <a:endParaRPr sz="1000">
                        <a:latin typeface="Tahoma"/>
                        <a:cs typeface="Tahoma"/>
                      </a:endParaRPr>
                    </a:p>
                  </a:txBody>
                  <a:tcPr marL="0" marR="0" marT="1905" marB="0"/>
                </a:tc>
                <a:extLst>
                  <a:ext uri="{0D108BD9-81ED-4DB2-BD59-A6C34878D82A}">
                    <a16:rowId xmlns:a16="http://schemas.microsoft.com/office/drawing/2014/main" val="10002"/>
                  </a:ext>
                </a:extLst>
              </a:tr>
              <a:tr h="151765">
                <a:tc>
                  <a:txBody>
                    <a:bodyPr/>
                    <a:lstStyle/>
                    <a:p>
                      <a:pPr>
                        <a:lnSpc>
                          <a:spcPts val="1075"/>
                        </a:lnSpc>
                        <a:spcBef>
                          <a:spcPts val="15"/>
                        </a:spcBef>
                      </a:pPr>
                      <a:r>
                        <a:rPr sz="1000" spc="-10">
                          <a:solidFill>
                            <a:srgbClr val="202429"/>
                          </a:solidFill>
                          <a:latin typeface="Tahoma"/>
                          <a:cs typeface="Tahoma"/>
                        </a:rPr>
                        <a:t>Black</a:t>
                      </a:r>
                      <a:endParaRPr sz="1000">
                        <a:latin typeface="Tahoma"/>
                        <a:cs typeface="Tahoma"/>
                      </a:endParaRPr>
                    </a:p>
                  </a:txBody>
                  <a:tcPr marL="0" marR="0" marT="1905" marB="0"/>
                </a:tc>
                <a:tc>
                  <a:txBody>
                    <a:bodyPr/>
                    <a:lstStyle/>
                    <a:p>
                      <a:pPr algn="ctr">
                        <a:lnSpc>
                          <a:spcPts val="1075"/>
                        </a:lnSpc>
                        <a:spcBef>
                          <a:spcPts val="15"/>
                        </a:spcBef>
                      </a:pPr>
                      <a:r>
                        <a:rPr sz="1000" spc="-25">
                          <a:solidFill>
                            <a:srgbClr val="202429"/>
                          </a:solidFill>
                          <a:latin typeface="Tahoma"/>
                          <a:cs typeface="Tahoma"/>
                        </a:rPr>
                        <a:t>82%</a:t>
                      </a:r>
                      <a:endParaRPr sz="1000">
                        <a:latin typeface="Tahoma"/>
                        <a:cs typeface="Tahoma"/>
                      </a:endParaRPr>
                    </a:p>
                  </a:txBody>
                  <a:tcPr marL="0" marR="0" marT="1905" marB="0"/>
                </a:tc>
                <a:tc>
                  <a:txBody>
                    <a:bodyPr/>
                    <a:lstStyle/>
                    <a:p>
                      <a:pPr algn="ctr">
                        <a:lnSpc>
                          <a:spcPts val="1075"/>
                        </a:lnSpc>
                        <a:spcBef>
                          <a:spcPts val="15"/>
                        </a:spcBef>
                      </a:pPr>
                      <a:r>
                        <a:rPr sz="1000" spc="-25">
                          <a:solidFill>
                            <a:srgbClr val="202429"/>
                          </a:solidFill>
                          <a:latin typeface="Tahoma"/>
                          <a:cs typeface="Tahoma"/>
                        </a:rPr>
                        <a:t>65%</a:t>
                      </a:r>
                      <a:endParaRPr sz="1000">
                        <a:latin typeface="Tahoma"/>
                        <a:cs typeface="Tahoma"/>
                      </a:endParaRPr>
                    </a:p>
                  </a:txBody>
                  <a:tcPr marL="0" marR="0" marT="1905" marB="0"/>
                </a:tc>
                <a:tc>
                  <a:txBody>
                    <a:bodyPr/>
                    <a:lstStyle/>
                    <a:p>
                      <a:pPr marL="107314" marR="3175">
                        <a:lnSpc>
                          <a:spcPts val="1075"/>
                        </a:lnSpc>
                        <a:spcBef>
                          <a:spcPts val="15"/>
                        </a:spcBef>
                      </a:pPr>
                      <a:r>
                        <a:rPr sz="1000" spc="-25">
                          <a:solidFill>
                            <a:srgbClr val="202429"/>
                          </a:solidFill>
                          <a:latin typeface="Tahoma"/>
                          <a:cs typeface="Tahoma"/>
                        </a:rPr>
                        <a:t>81</a:t>
                      </a:r>
                      <a:endParaRPr sz="1000">
                        <a:latin typeface="Tahoma"/>
                        <a:cs typeface="Tahoma"/>
                      </a:endParaRPr>
                    </a:p>
                  </a:txBody>
                  <a:tcPr marL="0" marR="0" marT="1905" marB="0"/>
                </a:tc>
                <a:extLst>
                  <a:ext uri="{0D108BD9-81ED-4DB2-BD59-A6C34878D82A}">
                    <a16:rowId xmlns:a16="http://schemas.microsoft.com/office/drawing/2014/main" val="10003"/>
                  </a:ext>
                </a:extLst>
              </a:tr>
              <a:tr h="151765">
                <a:tc>
                  <a:txBody>
                    <a:bodyPr/>
                    <a:lstStyle/>
                    <a:p>
                      <a:pPr>
                        <a:lnSpc>
                          <a:spcPts val="1075"/>
                        </a:lnSpc>
                        <a:spcBef>
                          <a:spcPts val="15"/>
                        </a:spcBef>
                      </a:pPr>
                      <a:r>
                        <a:rPr sz="1000">
                          <a:solidFill>
                            <a:srgbClr val="202429"/>
                          </a:solidFill>
                          <a:latin typeface="Tahoma"/>
                          <a:cs typeface="Tahoma"/>
                        </a:rPr>
                        <a:t>Mixed</a:t>
                      </a:r>
                      <a:r>
                        <a:rPr sz="1000" spc="-60">
                          <a:solidFill>
                            <a:srgbClr val="202429"/>
                          </a:solidFill>
                          <a:latin typeface="Tahoma"/>
                          <a:cs typeface="Tahoma"/>
                        </a:rPr>
                        <a:t> </a:t>
                      </a:r>
                      <a:r>
                        <a:rPr sz="1000" spc="-10">
                          <a:solidFill>
                            <a:srgbClr val="202429"/>
                          </a:solidFill>
                          <a:latin typeface="Tahoma"/>
                          <a:cs typeface="Tahoma"/>
                        </a:rPr>
                        <a:t>Background</a:t>
                      </a:r>
                      <a:endParaRPr sz="1000">
                        <a:latin typeface="Tahoma"/>
                        <a:cs typeface="Tahoma"/>
                      </a:endParaRPr>
                    </a:p>
                  </a:txBody>
                  <a:tcPr marL="0" marR="0" marT="1905" marB="0"/>
                </a:tc>
                <a:tc>
                  <a:txBody>
                    <a:bodyPr/>
                    <a:lstStyle/>
                    <a:p>
                      <a:pPr algn="ctr">
                        <a:lnSpc>
                          <a:spcPts val="1075"/>
                        </a:lnSpc>
                        <a:spcBef>
                          <a:spcPts val="15"/>
                        </a:spcBef>
                      </a:pPr>
                      <a:r>
                        <a:rPr sz="1000" spc="-25">
                          <a:solidFill>
                            <a:srgbClr val="202429"/>
                          </a:solidFill>
                          <a:latin typeface="Tahoma"/>
                          <a:cs typeface="Tahoma"/>
                        </a:rPr>
                        <a:t>85%</a:t>
                      </a:r>
                      <a:endParaRPr sz="1000">
                        <a:latin typeface="Tahoma"/>
                        <a:cs typeface="Tahoma"/>
                      </a:endParaRPr>
                    </a:p>
                  </a:txBody>
                  <a:tcPr marL="0" marR="0" marT="1905" marB="0"/>
                </a:tc>
                <a:tc>
                  <a:txBody>
                    <a:bodyPr/>
                    <a:lstStyle/>
                    <a:p>
                      <a:pPr algn="ctr">
                        <a:lnSpc>
                          <a:spcPts val="1075"/>
                        </a:lnSpc>
                        <a:spcBef>
                          <a:spcPts val="15"/>
                        </a:spcBef>
                      </a:pPr>
                      <a:r>
                        <a:rPr sz="1000" spc="-25">
                          <a:solidFill>
                            <a:srgbClr val="202429"/>
                          </a:solidFill>
                          <a:latin typeface="Tahoma"/>
                          <a:cs typeface="Tahoma"/>
                        </a:rPr>
                        <a:t>69%</a:t>
                      </a:r>
                      <a:endParaRPr sz="1000">
                        <a:latin typeface="Tahoma"/>
                        <a:cs typeface="Tahoma"/>
                      </a:endParaRPr>
                    </a:p>
                  </a:txBody>
                  <a:tcPr marL="0" marR="0" marT="1905" marB="0"/>
                </a:tc>
                <a:tc>
                  <a:txBody>
                    <a:bodyPr/>
                    <a:lstStyle/>
                    <a:p>
                      <a:pPr marL="107314" marR="3175">
                        <a:lnSpc>
                          <a:spcPts val="1075"/>
                        </a:lnSpc>
                        <a:spcBef>
                          <a:spcPts val="15"/>
                        </a:spcBef>
                      </a:pPr>
                      <a:r>
                        <a:rPr sz="1000" spc="-25">
                          <a:solidFill>
                            <a:srgbClr val="202429"/>
                          </a:solidFill>
                          <a:latin typeface="Tahoma"/>
                          <a:cs typeface="Tahoma"/>
                        </a:rPr>
                        <a:t>13</a:t>
                      </a:r>
                      <a:endParaRPr sz="1000">
                        <a:latin typeface="Tahoma"/>
                        <a:cs typeface="Tahoma"/>
                      </a:endParaRPr>
                    </a:p>
                  </a:txBody>
                  <a:tcPr marL="0" marR="0" marT="1905" marB="0"/>
                </a:tc>
                <a:extLst>
                  <a:ext uri="{0D108BD9-81ED-4DB2-BD59-A6C34878D82A}">
                    <a16:rowId xmlns:a16="http://schemas.microsoft.com/office/drawing/2014/main" val="10004"/>
                  </a:ext>
                </a:extLst>
              </a:tr>
              <a:tr h="204470">
                <a:tc>
                  <a:txBody>
                    <a:bodyPr/>
                    <a:lstStyle/>
                    <a:p>
                      <a:pPr>
                        <a:lnSpc>
                          <a:spcPct val="100000"/>
                        </a:lnSpc>
                        <a:spcBef>
                          <a:spcPts val="15"/>
                        </a:spcBef>
                      </a:pPr>
                      <a:r>
                        <a:rPr sz="1000" spc="-20">
                          <a:solidFill>
                            <a:srgbClr val="202429"/>
                          </a:solidFill>
                          <a:latin typeface="Tahoma"/>
                          <a:cs typeface="Tahoma"/>
                        </a:rPr>
                        <a:t>Other</a:t>
                      </a:r>
                      <a:r>
                        <a:rPr sz="1000" spc="-30">
                          <a:solidFill>
                            <a:srgbClr val="202429"/>
                          </a:solidFill>
                          <a:latin typeface="Tahoma"/>
                          <a:cs typeface="Tahoma"/>
                        </a:rPr>
                        <a:t> </a:t>
                      </a:r>
                      <a:r>
                        <a:rPr sz="1000" spc="-20">
                          <a:solidFill>
                            <a:srgbClr val="202429"/>
                          </a:solidFill>
                          <a:latin typeface="Tahoma"/>
                          <a:cs typeface="Tahoma"/>
                        </a:rPr>
                        <a:t>White</a:t>
                      </a:r>
                      <a:endParaRPr sz="1000">
                        <a:latin typeface="Tahoma"/>
                        <a:cs typeface="Tahoma"/>
                      </a:endParaRPr>
                    </a:p>
                  </a:txBody>
                  <a:tcPr marL="0" marR="0" marT="1905" marB="0">
                    <a:lnB w="12700">
                      <a:solidFill>
                        <a:srgbClr val="202429"/>
                      </a:solidFill>
                      <a:prstDash val="solid"/>
                    </a:lnB>
                  </a:tcPr>
                </a:tc>
                <a:tc>
                  <a:txBody>
                    <a:bodyPr/>
                    <a:lstStyle/>
                    <a:p>
                      <a:pPr algn="ctr">
                        <a:lnSpc>
                          <a:spcPct val="100000"/>
                        </a:lnSpc>
                        <a:spcBef>
                          <a:spcPts val="15"/>
                        </a:spcBef>
                      </a:pPr>
                      <a:r>
                        <a:rPr sz="1000" spc="-25">
                          <a:solidFill>
                            <a:srgbClr val="202429"/>
                          </a:solidFill>
                          <a:latin typeface="Tahoma"/>
                          <a:cs typeface="Tahoma"/>
                        </a:rPr>
                        <a:t>82%</a:t>
                      </a:r>
                      <a:endParaRPr sz="1000">
                        <a:latin typeface="Tahoma"/>
                        <a:cs typeface="Tahoma"/>
                      </a:endParaRPr>
                    </a:p>
                  </a:txBody>
                  <a:tcPr marL="0" marR="0" marT="1905" marB="0">
                    <a:lnB w="12700">
                      <a:solidFill>
                        <a:srgbClr val="202429"/>
                      </a:solidFill>
                      <a:prstDash val="solid"/>
                    </a:lnB>
                  </a:tcPr>
                </a:tc>
                <a:tc>
                  <a:txBody>
                    <a:bodyPr/>
                    <a:lstStyle/>
                    <a:p>
                      <a:pPr algn="ctr">
                        <a:lnSpc>
                          <a:spcPct val="100000"/>
                        </a:lnSpc>
                        <a:spcBef>
                          <a:spcPts val="15"/>
                        </a:spcBef>
                      </a:pPr>
                      <a:r>
                        <a:rPr sz="1000" spc="-25">
                          <a:solidFill>
                            <a:srgbClr val="202429"/>
                          </a:solidFill>
                          <a:latin typeface="Tahoma"/>
                          <a:cs typeface="Tahoma"/>
                        </a:rPr>
                        <a:t>64%</a:t>
                      </a:r>
                      <a:endParaRPr sz="1000">
                        <a:latin typeface="Tahoma"/>
                        <a:cs typeface="Tahoma"/>
                      </a:endParaRPr>
                    </a:p>
                  </a:txBody>
                  <a:tcPr marL="0" marR="0" marT="1905" marB="0">
                    <a:lnB w="12700">
                      <a:solidFill>
                        <a:srgbClr val="202429"/>
                      </a:solidFill>
                      <a:prstDash val="solid"/>
                    </a:lnB>
                  </a:tcPr>
                </a:tc>
                <a:tc>
                  <a:txBody>
                    <a:bodyPr/>
                    <a:lstStyle/>
                    <a:p>
                      <a:pPr marL="107314" marR="3175">
                        <a:lnSpc>
                          <a:spcPct val="100000"/>
                        </a:lnSpc>
                        <a:spcBef>
                          <a:spcPts val="15"/>
                        </a:spcBef>
                      </a:pPr>
                      <a:r>
                        <a:rPr sz="1000" spc="-25">
                          <a:solidFill>
                            <a:srgbClr val="202429"/>
                          </a:solidFill>
                          <a:latin typeface="Tahoma"/>
                          <a:cs typeface="Tahoma"/>
                        </a:rPr>
                        <a:t>46</a:t>
                      </a:r>
                      <a:endParaRPr sz="1000">
                        <a:latin typeface="Tahoma"/>
                        <a:cs typeface="Tahoma"/>
                      </a:endParaRPr>
                    </a:p>
                  </a:txBody>
                  <a:tcPr marL="0" marR="0" marT="1905" marB="0">
                    <a:lnB w="12700">
                      <a:solidFill>
                        <a:srgbClr val="202429"/>
                      </a:solidFill>
                      <a:prstDash val="solid"/>
                    </a:lnB>
                  </a:tcPr>
                </a:tc>
                <a:extLst>
                  <a:ext uri="{0D108BD9-81ED-4DB2-BD59-A6C34878D82A}">
                    <a16:rowId xmlns:a16="http://schemas.microsoft.com/office/drawing/2014/main" val="10005"/>
                  </a:ext>
                </a:extLst>
              </a:tr>
            </a:tbl>
          </a:graphicData>
        </a:graphic>
      </p:graphicFrame>
      <p:sp>
        <p:nvSpPr>
          <p:cNvPr id="6" name="object 6"/>
          <p:cNvSpPr txBox="1"/>
          <p:nvPr/>
        </p:nvSpPr>
        <p:spPr>
          <a:xfrm>
            <a:off x="192481" y="2147290"/>
            <a:ext cx="2118995" cy="755650"/>
          </a:xfrm>
          <a:prstGeom prst="rect">
            <a:avLst/>
          </a:prstGeom>
        </p:spPr>
        <p:txBody>
          <a:bodyPr vert="horz" wrap="square" lIns="0" tIns="12700" rIns="0" bIns="0" rtlCol="0">
            <a:spAutoFit/>
          </a:bodyPr>
          <a:lstStyle/>
          <a:p>
            <a:pPr marL="12700" marR="178435">
              <a:lnSpc>
                <a:spcPct val="152500"/>
              </a:lnSpc>
              <a:spcBef>
                <a:spcPts val="100"/>
              </a:spcBef>
            </a:pPr>
            <a:r>
              <a:rPr sz="800">
                <a:solidFill>
                  <a:srgbClr val="6C757C"/>
                </a:solidFill>
                <a:latin typeface="Tahoma"/>
                <a:cs typeface="Tahoma"/>
              </a:rPr>
              <a:t>n</a:t>
            </a:r>
            <a:r>
              <a:rPr sz="800" spc="-15">
                <a:solidFill>
                  <a:srgbClr val="6C757C"/>
                </a:solidFill>
                <a:latin typeface="Tahoma"/>
                <a:cs typeface="Tahoma"/>
              </a:rPr>
              <a:t> </a:t>
            </a:r>
            <a:r>
              <a:rPr sz="800" spc="70">
                <a:solidFill>
                  <a:srgbClr val="6C757C"/>
                </a:solidFill>
                <a:latin typeface="Tahoma"/>
                <a:cs typeface="Tahoma"/>
              </a:rPr>
              <a:t>=</a:t>
            </a:r>
            <a:r>
              <a:rPr sz="800" spc="-10">
                <a:solidFill>
                  <a:srgbClr val="6C757C"/>
                </a:solidFill>
                <a:latin typeface="Tahoma"/>
                <a:cs typeface="Tahoma"/>
              </a:rPr>
              <a:t> </a:t>
            </a:r>
            <a:r>
              <a:rPr sz="800">
                <a:solidFill>
                  <a:srgbClr val="6C757C"/>
                </a:solidFill>
                <a:latin typeface="Tahoma"/>
                <a:cs typeface="Tahoma"/>
              </a:rPr>
              <a:t>number</a:t>
            </a:r>
            <a:r>
              <a:rPr sz="800" spc="-10">
                <a:solidFill>
                  <a:srgbClr val="6C757C"/>
                </a:solidFill>
                <a:latin typeface="Tahoma"/>
                <a:cs typeface="Tahoma"/>
              </a:rPr>
              <a:t> </a:t>
            </a:r>
            <a:r>
              <a:rPr sz="800">
                <a:solidFill>
                  <a:srgbClr val="6C757C"/>
                </a:solidFill>
                <a:latin typeface="Tahoma"/>
                <a:cs typeface="Tahoma"/>
              </a:rPr>
              <a:t>of</a:t>
            </a:r>
            <a:r>
              <a:rPr sz="800" spc="-10">
                <a:solidFill>
                  <a:srgbClr val="6C757C"/>
                </a:solidFill>
                <a:latin typeface="Tahoma"/>
                <a:cs typeface="Tahoma"/>
              </a:rPr>
              <a:t> </a:t>
            </a:r>
            <a:r>
              <a:rPr sz="800">
                <a:solidFill>
                  <a:srgbClr val="6C757C"/>
                </a:solidFill>
                <a:latin typeface="Tahoma"/>
                <a:cs typeface="Tahoma"/>
              </a:rPr>
              <a:t>concept</a:t>
            </a:r>
            <a:r>
              <a:rPr sz="800" spc="-10">
                <a:solidFill>
                  <a:srgbClr val="6C757C"/>
                </a:solidFill>
                <a:latin typeface="Tahoma"/>
                <a:cs typeface="Tahoma"/>
              </a:rPr>
              <a:t> </a:t>
            </a:r>
            <a:r>
              <a:rPr sz="800">
                <a:solidFill>
                  <a:srgbClr val="6C757C"/>
                </a:solidFill>
                <a:latin typeface="Tahoma"/>
                <a:cs typeface="Tahoma"/>
              </a:rPr>
              <a:t>annotations</a:t>
            </a:r>
            <a:r>
              <a:rPr sz="800" spc="-10">
                <a:solidFill>
                  <a:srgbClr val="6C757C"/>
                </a:solidFill>
                <a:latin typeface="Tahoma"/>
                <a:cs typeface="Tahoma"/>
              </a:rPr>
              <a:t> tested </a:t>
            </a:r>
            <a:r>
              <a:rPr sz="800">
                <a:solidFill>
                  <a:srgbClr val="6C757C"/>
                </a:solidFill>
                <a:latin typeface="Tahoma"/>
                <a:cs typeface="Tahoma"/>
              </a:rPr>
              <a:t>Precision</a:t>
            </a:r>
            <a:r>
              <a:rPr sz="800" spc="20">
                <a:solidFill>
                  <a:srgbClr val="6C757C"/>
                </a:solidFill>
                <a:latin typeface="Tahoma"/>
                <a:cs typeface="Tahoma"/>
              </a:rPr>
              <a:t> </a:t>
            </a:r>
            <a:r>
              <a:rPr sz="800" spc="70">
                <a:solidFill>
                  <a:srgbClr val="6C757C"/>
                </a:solidFill>
                <a:latin typeface="Tahoma"/>
                <a:cs typeface="Tahoma"/>
              </a:rPr>
              <a:t>=</a:t>
            </a:r>
            <a:r>
              <a:rPr sz="800" spc="25">
                <a:solidFill>
                  <a:srgbClr val="6C757C"/>
                </a:solidFill>
                <a:latin typeface="Tahoma"/>
                <a:cs typeface="Tahoma"/>
              </a:rPr>
              <a:t> </a:t>
            </a:r>
            <a:r>
              <a:rPr sz="800">
                <a:solidFill>
                  <a:srgbClr val="6C757C"/>
                </a:solidFill>
                <a:latin typeface="Tahoma"/>
                <a:cs typeface="Tahoma"/>
              </a:rPr>
              <a:t>1.0</a:t>
            </a:r>
            <a:r>
              <a:rPr sz="800" spc="25">
                <a:solidFill>
                  <a:srgbClr val="6C757C"/>
                </a:solidFill>
                <a:latin typeface="Tahoma"/>
                <a:cs typeface="Tahoma"/>
              </a:rPr>
              <a:t> </a:t>
            </a:r>
            <a:r>
              <a:rPr sz="800">
                <a:solidFill>
                  <a:srgbClr val="6C757C"/>
                </a:solidFill>
                <a:latin typeface="Tahoma"/>
                <a:cs typeface="Tahoma"/>
              </a:rPr>
              <a:t>(std=0)</a:t>
            </a:r>
            <a:r>
              <a:rPr sz="800" spc="25">
                <a:solidFill>
                  <a:srgbClr val="6C757C"/>
                </a:solidFill>
                <a:latin typeface="Tahoma"/>
                <a:cs typeface="Tahoma"/>
              </a:rPr>
              <a:t> </a:t>
            </a:r>
            <a:r>
              <a:rPr sz="800" spc="-10">
                <a:solidFill>
                  <a:srgbClr val="6C757C"/>
                </a:solidFill>
                <a:latin typeface="Tahoma"/>
                <a:cs typeface="Tahoma"/>
              </a:rPr>
              <a:t>across</a:t>
            </a:r>
            <a:r>
              <a:rPr sz="800" spc="25">
                <a:solidFill>
                  <a:srgbClr val="6C757C"/>
                </a:solidFill>
                <a:latin typeface="Tahoma"/>
                <a:cs typeface="Tahoma"/>
              </a:rPr>
              <a:t> </a:t>
            </a:r>
            <a:r>
              <a:rPr sz="800">
                <a:solidFill>
                  <a:srgbClr val="6C757C"/>
                </a:solidFill>
                <a:latin typeface="Tahoma"/>
                <a:cs typeface="Tahoma"/>
              </a:rPr>
              <a:t>all</a:t>
            </a:r>
            <a:r>
              <a:rPr sz="800" spc="20">
                <a:solidFill>
                  <a:srgbClr val="6C757C"/>
                </a:solidFill>
                <a:latin typeface="Tahoma"/>
                <a:cs typeface="Tahoma"/>
              </a:rPr>
              <a:t> </a:t>
            </a:r>
            <a:r>
              <a:rPr sz="800" spc="-10">
                <a:solidFill>
                  <a:srgbClr val="6C757C"/>
                </a:solidFill>
                <a:latin typeface="Tahoma"/>
                <a:cs typeface="Tahoma"/>
              </a:rPr>
              <a:t>groups</a:t>
            </a:r>
            <a:endParaRPr sz="800">
              <a:latin typeface="Tahoma"/>
              <a:cs typeface="Tahoma"/>
            </a:endParaRPr>
          </a:p>
          <a:p>
            <a:pPr marL="12700" marR="5080">
              <a:lnSpc>
                <a:spcPct val="141100"/>
              </a:lnSpc>
              <a:spcBef>
                <a:spcPts val="110"/>
              </a:spcBef>
            </a:pPr>
            <a:r>
              <a:rPr sz="800" spc="-10">
                <a:solidFill>
                  <a:srgbClr val="6C757C"/>
                </a:solidFill>
                <a:latin typeface="Tahoma"/>
                <a:cs typeface="Tahoma"/>
              </a:rPr>
              <a:t>Fairness</a:t>
            </a:r>
            <a:r>
              <a:rPr sz="800">
                <a:solidFill>
                  <a:srgbClr val="6C757C"/>
                </a:solidFill>
                <a:latin typeface="Tahoma"/>
                <a:cs typeface="Tahoma"/>
              </a:rPr>
              <a:t> </a:t>
            </a:r>
            <a:r>
              <a:rPr sz="800" spc="-10">
                <a:solidFill>
                  <a:srgbClr val="6C757C"/>
                </a:solidFill>
                <a:latin typeface="Tahoma"/>
                <a:cs typeface="Tahoma"/>
              </a:rPr>
              <a:t>evaluated</a:t>
            </a:r>
            <a:r>
              <a:rPr sz="800" spc="-5">
                <a:solidFill>
                  <a:srgbClr val="6C757C"/>
                </a:solidFill>
                <a:latin typeface="Tahoma"/>
                <a:cs typeface="Tahoma"/>
              </a:rPr>
              <a:t> </a:t>
            </a:r>
            <a:r>
              <a:rPr sz="800">
                <a:solidFill>
                  <a:srgbClr val="6C757C"/>
                </a:solidFill>
                <a:latin typeface="Tahoma"/>
                <a:cs typeface="Tahoma"/>
              </a:rPr>
              <a:t>on synthetic data </a:t>
            </a:r>
            <a:r>
              <a:rPr sz="800" spc="-10">
                <a:solidFill>
                  <a:srgbClr val="6C757C"/>
                </a:solidFill>
                <a:latin typeface="Tahoma"/>
                <a:cs typeface="Tahoma"/>
              </a:rPr>
              <a:t>(ethnicity unavailable</a:t>
            </a:r>
            <a:r>
              <a:rPr sz="800">
                <a:solidFill>
                  <a:srgbClr val="6C757C"/>
                </a:solidFill>
                <a:latin typeface="Tahoma"/>
                <a:cs typeface="Tahoma"/>
              </a:rPr>
              <a:t> for</a:t>
            </a:r>
            <a:r>
              <a:rPr sz="800" spc="5">
                <a:solidFill>
                  <a:srgbClr val="6C757C"/>
                </a:solidFill>
                <a:latin typeface="Tahoma"/>
                <a:cs typeface="Tahoma"/>
              </a:rPr>
              <a:t> </a:t>
            </a:r>
            <a:r>
              <a:rPr sz="800">
                <a:solidFill>
                  <a:srgbClr val="6C757C"/>
                </a:solidFill>
                <a:latin typeface="Tahoma"/>
                <a:cs typeface="Tahoma"/>
              </a:rPr>
              <a:t>real test</a:t>
            </a:r>
            <a:r>
              <a:rPr sz="800" spc="5">
                <a:solidFill>
                  <a:srgbClr val="6C757C"/>
                </a:solidFill>
                <a:latin typeface="Tahoma"/>
                <a:cs typeface="Tahoma"/>
              </a:rPr>
              <a:t> </a:t>
            </a:r>
            <a:r>
              <a:rPr sz="800" spc="-20">
                <a:solidFill>
                  <a:srgbClr val="6C757C"/>
                </a:solidFill>
                <a:latin typeface="Tahoma"/>
                <a:cs typeface="Tahoma"/>
              </a:rPr>
              <a:t>set)</a:t>
            </a:r>
            <a:endParaRPr sz="800">
              <a:latin typeface="Tahoma"/>
              <a:cs typeface="Tahoma"/>
            </a:endParaRPr>
          </a:p>
        </p:txBody>
      </p:sp>
      <p:sp>
        <p:nvSpPr>
          <p:cNvPr id="7" name="object 7"/>
          <p:cNvSpPr/>
          <p:nvPr/>
        </p:nvSpPr>
        <p:spPr>
          <a:xfrm>
            <a:off x="2980778" y="1014348"/>
            <a:ext cx="0" cy="1800225"/>
          </a:xfrm>
          <a:custGeom>
            <a:avLst/>
            <a:gdLst/>
            <a:ahLst/>
            <a:cxnLst/>
            <a:rect l="l" t="t" r="r" b="b"/>
            <a:pathLst>
              <a:path h="1800225">
                <a:moveTo>
                  <a:pt x="0" y="1799996"/>
                </a:moveTo>
                <a:lnTo>
                  <a:pt x="0" y="0"/>
                </a:lnTo>
              </a:path>
            </a:pathLst>
          </a:custGeom>
          <a:ln w="6325">
            <a:solidFill>
              <a:srgbClr val="CED3DA"/>
            </a:solidFill>
          </a:ln>
        </p:spPr>
        <p:txBody>
          <a:bodyPr wrap="square" lIns="0" tIns="0" rIns="0" bIns="0" rtlCol="0"/>
          <a:lstStyle/>
          <a:p>
            <a:endParaRPr/>
          </a:p>
        </p:txBody>
      </p:sp>
      <p:sp>
        <p:nvSpPr>
          <p:cNvPr id="8" name="object 8"/>
          <p:cNvSpPr txBox="1"/>
          <p:nvPr/>
        </p:nvSpPr>
        <p:spPr>
          <a:xfrm>
            <a:off x="3223679" y="783868"/>
            <a:ext cx="1228725" cy="191770"/>
          </a:xfrm>
          <a:prstGeom prst="rect">
            <a:avLst/>
          </a:prstGeom>
        </p:spPr>
        <p:txBody>
          <a:bodyPr vert="horz" wrap="square" lIns="0" tIns="11430" rIns="0" bIns="0" rtlCol="0">
            <a:spAutoFit/>
          </a:bodyPr>
          <a:lstStyle/>
          <a:p>
            <a:pPr marL="12700">
              <a:lnSpc>
                <a:spcPct val="100000"/>
              </a:lnSpc>
              <a:spcBef>
                <a:spcPts val="90"/>
              </a:spcBef>
            </a:pPr>
            <a:r>
              <a:rPr sz="1100" b="1" spc="-25">
                <a:solidFill>
                  <a:srgbClr val="202429"/>
                </a:solidFill>
                <a:latin typeface="Arial"/>
                <a:cs typeface="Arial"/>
              </a:rPr>
              <a:t>Statistical</a:t>
            </a:r>
            <a:r>
              <a:rPr sz="1100" b="1" spc="55">
                <a:solidFill>
                  <a:srgbClr val="202429"/>
                </a:solidFill>
                <a:latin typeface="Arial"/>
                <a:cs typeface="Arial"/>
              </a:rPr>
              <a:t> </a:t>
            </a:r>
            <a:r>
              <a:rPr sz="1100" b="1" spc="-55">
                <a:solidFill>
                  <a:srgbClr val="202429"/>
                </a:solidFill>
                <a:latin typeface="Arial"/>
                <a:cs typeface="Arial"/>
              </a:rPr>
              <a:t>analysis:</a:t>
            </a:r>
            <a:endParaRPr sz="1100">
              <a:latin typeface="Arial"/>
              <a:cs typeface="Arial"/>
            </a:endParaRPr>
          </a:p>
        </p:txBody>
      </p:sp>
      <p:sp>
        <p:nvSpPr>
          <p:cNvPr id="9" name="object 9"/>
          <p:cNvSpPr txBox="1"/>
          <p:nvPr/>
        </p:nvSpPr>
        <p:spPr>
          <a:xfrm>
            <a:off x="3238906" y="1032649"/>
            <a:ext cx="2241550" cy="540469"/>
          </a:xfrm>
          <a:prstGeom prst="rect">
            <a:avLst/>
          </a:prstGeom>
          <a:solidFill>
            <a:srgbClr val="E8F4F8"/>
          </a:solidFill>
          <a:ln w="5060">
            <a:solidFill>
              <a:srgbClr val="005F73"/>
            </a:solidFill>
          </a:ln>
        </p:spPr>
        <p:txBody>
          <a:bodyPr vert="horz" wrap="square" lIns="0" tIns="35560" rIns="0" bIns="0" rtlCol="0">
            <a:spAutoFit/>
          </a:bodyPr>
          <a:lstStyle/>
          <a:p>
            <a:pPr marL="40005" marR="33020">
              <a:lnSpc>
                <a:spcPct val="112900"/>
              </a:lnSpc>
              <a:spcBef>
                <a:spcPts val="150"/>
              </a:spcBef>
            </a:pPr>
            <a:r>
              <a:rPr sz="1000" b="1">
                <a:solidFill>
                  <a:srgbClr val="202429"/>
                </a:solidFill>
                <a:latin typeface="Arial"/>
                <a:cs typeface="Arial"/>
              </a:rPr>
              <a:t>No</a:t>
            </a:r>
            <a:r>
              <a:rPr sz="1000" b="1" spc="10">
                <a:solidFill>
                  <a:srgbClr val="202429"/>
                </a:solidFill>
                <a:latin typeface="Arial"/>
                <a:cs typeface="Arial"/>
              </a:rPr>
              <a:t> </a:t>
            </a:r>
            <a:r>
              <a:rPr sz="1000" b="1" spc="-45">
                <a:solidFill>
                  <a:srgbClr val="202429"/>
                </a:solidFill>
                <a:latin typeface="Arial"/>
                <a:cs typeface="Arial"/>
              </a:rPr>
              <a:t>signiﬁcant</a:t>
            </a:r>
            <a:r>
              <a:rPr sz="1000" b="1" spc="15">
                <a:solidFill>
                  <a:srgbClr val="202429"/>
                </a:solidFill>
                <a:latin typeface="Arial"/>
                <a:cs typeface="Arial"/>
              </a:rPr>
              <a:t> </a:t>
            </a:r>
            <a:r>
              <a:rPr sz="1000" b="1" spc="-40">
                <a:solidFill>
                  <a:srgbClr val="202429"/>
                </a:solidFill>
                <a:latin typeface="Arial"/>
                <a:cs typeface="Arial"/>
              </a:rPr>
              <a:t>diﬀerence</a:t>
            </a:r>
            <a:r>
              <a:rPr sz="1000" b="1" spc="-10">
                <a:solidFill>
                  <a:srgbClr val="202429"/>
                </a:solidFill>
                <a:latin typeface="Arial"/>
                <a:cs typeface="Arial"/>
              </a:rPr>
              <a:t> </a:t>
            </a:r>
            <a:r>
              <a:rPr sz="1000" spc="-70">
                <a:solidFill>
                  <a:srgbClr val="202429"/>
                </a:solidFill>
                <a:latin typeface="Tahoma"/>
                <a:cs typeface="Tahoma"/>
              </a:rPr>
              <a:t>between</a:t>
            </a:r>
            <a:r>
              <a:rPr sz="1000" spc="-50">
                <a:solidFill>
                  <a:srgbClr val="202429"/>
                </a:solidFill>
                <a:latin typeface="Tahoma"/>
                <a:cs typeface="Tahoma"/>
              </a:rPr>
              <a:t> </a:t>
            </a:r>
            <a:r>
              <a:rPr sz="1000" spc="-10">
                <a:solidFill>
                  <a:srgbClr val="202429"/>
                </a:solidFill>
                <a:latin typeface="Tahoma"/>
                <a:cs typeface="Tahoma"/>
              </a:rPr>
              <a:t>Black </a:t>
            </a:r>
            <a:r>
              <a:rPr sz="1000" spc="-25">
                <a:solidFill>
                  <a:srgbClr val="202429"/>
                </a:solidFill>
                <a:latin typeface="Tahoma"/>
                <a:cs typeface="Tahoma"/>
              </a:rPr>
              <a:t>and</a:t>
            </a:r>
            <a:r>
              <a:rPr sz="1000" spc="-55">
                <a:solidFill>
                  <a:srgbClr val="202429"/>
                </a:solidFill>
                <a:latin typeface="Tahoma"/>
                <a:cs typeface="Tahoma"/>
              </a:rPr>
              <a:t> </a:t>
            </a:r>
            <a:r>
              <a:rPr sz="1000">
                <a:solidFill>
                  <a:srgbClr val="202429"/>
                </a:solidFill>
                <a:latin typeface="Tahoma"/>
                <a:cs typeface="Tahoma"/>
              </a:rPr>
              <a:t>White</a:t>
            </a:r>
            <a:r>
              <a:rPr sz="1000" spc="-50">
                <a:solidFill>
                  <a:srgbClr val="202429"/>
                </a:solidFill>
                <a:latin typeface="Tahoma"/>
                <a:cs typeface="Tahoma"/>
              </a:rPr>
              <a:t> </a:t>
            </a:r>
            <a:r>
              <a:rPr sz="1000">
                <a:solidFill>
                  <a:srgbClr val="202429"/>
                </a:solidFill>
                <a:latin typeface="Tahoma"/>
                <a:cs typeface="Tahoma"/>
              </a:rPr>
              <a:t>British</a:t>
            </a:r>
            <a:r>
              <a:rPr lang="en-GB" sz="1000">
                <a:solidFill>
                  <a:srgbClr val="202429"/>
                </a:solidFill>
                <a:latin typeface="Tahoma"/>
                <a:cs typeface="Tahoma"/>
              </a:rPr>
              <a:t>, and Asian and White</a:t>
            </a:r>
            <a:r>
              <a:rPr sz="1000" spc="-45">
                <a:solidFill>
                  <a:srgbClr val="202429"/>
                </a:solidFill>
                <a:latin typeface="Tahoma"/>
                <a:cs typeface="Tahoma"/>
              </a:rPr>
              <a:t> </a:t>
            </a:r>
            <a:r>
              <a:rPr sz="1000" spc="-10">
                <a:solidFill>
                  <a:srgbClr val="202429"/>
                </a:solidFill>
                <a:latin typeface="Tahoma"/>
                <a:cs typeface="Tahoma"/>
              </a:rPr>
              <a:t>groups.</a:t>
            </a:r>
            <a:endParaRPr sz="1000">
              <a:latin typeface="Tahoma"/>
              <a:cs typeface="Tahoma"/>
            </a:endParaRPr>
          </a:p>
        </p:txBody>
      </p:sp>
      <p:sp>
        <p:nvSpPr>
          <p:cNvPr id="10" name="object 10"/>
          <p:cNvSpPr/>
          <p:nvPr/>
        </p:nvSpPr>
        <p:spPr>
          <a:xfrm>
            <a:off x="3241446" y="1939061"/>
            <a:ext cx="2236470" cy="415925"/>
          </a:xfrm>
          <a:custGeom>
            <a:avLst/>
            <a:gdLst/>
            <a:ahLst/>
            <a:cxnLst/>
            <a:rect l="l" t="t" r="r" b="b"/>
            <a:pathLst>
              <a:path w="2236470" h="415925">
                <a:moveTo>
                  <a:pt x="2235911" y="0"/>
                </a:moveTo>
                <a:lnTo>
                  <a:pt x="0" y="0"/>
                </a:lnTo>
                <a:lnTo>
                  <a:pt x="0" y="415874"/>
                </a:lnTo>
                <a:lnTo>
                  <a:pt x="2235911" y="415874"/>
                </a:lnTo>
                <a:lnTo>
                  <a:pt x="2235911" y="0"/>
                </a:lnTo>
                <a:close/>
              </a:path>
            </a:pathLst>
          </a:custGeom>
          <a:solidFill>
            <a:srgbClr val="FFF3EB"/>
          </a:solidFill>
        </p:spPr>
        <p:txBody>
          <a:bodyPr wrap="square" lIns="0" tIns="0" rIns="0" bIns="0" rtlCol="0"/>
          <a:lstStyle/>
          <a:p>
            <a:endParaRPr/>
          </a:p>
        </p:txBody>
      </p:sp>
      <p:sp>
        <p:nvSpPr>
          <p:cNvPr id="11" name="object 11"/>
          <p:cNvSpPr txBox="1"/>
          <p:nvPr/>
        </p:nvSpPr>
        <p:spPr>
          <a:xfrm>
            <a:off x="3241446" y="1939061"/>
            <a:ext cx="2236470" cy="186690"/>
          </a:xfrm>
          <a:prstGeom prst="rect">
            <a:avLst/>
          </a:prstGeom>
          <a:solidFill>
            <a:srgbClr val="FFF3EB"/>
          </a:solidFill>
        </p:spPr>
        <p:txBody>
          <a:bodyPr vert="horz" wrap="square" lIns="0" tIns="26669" rIns="0" bIns="0" rtlCol="0">
            <a:spAutoFit/>
          </a:bodyPr>
          <a:lstStyle/>
          <a:p>
            <a:pPr marL="37465">
              <a:lnSpc>
                <a:spcPct val="100000"/>
              </a:lnSpc>
              <a:spcBef>
                <a:spcPts val="209"/>
              </a:spcBef>
            </a:pPr>
            <a:r>
              <a:rPr sz="1000">
                <a:solidFill>
                  <a:srgbClr val="202429"/>
                </a:solidFill>
                <a:latin typeface="Tahoma"/>
                <a:cs typeface="Tahoma"/>
              </a:rPr>
              <a:t>The</a:t>
            </a:r>
            <a:r>
              <a:rPr sz="1000" spc="-25">
                <a:solidFill>
                  <a:srgbClr val="202429"/>
                </a:solidFill>
                <a:latin typeface="Tahoma"/>
                <a:cs typeface="Tahoma"/>
              </a:rPr>
              <a:t> model </a:t>
            </a:r>
            <a:r>
              <a:rPr sz="1000" spc="-35">
                <a:solidFill>
                  <a:srgbClr val="202429"/>
                </a:solidFill>
                <a:latin typeface="Tahoma"/>
                <a:cs typeface="Tahoma"/>
              </a:rPr>
              <a:t>performs</a:t>
            </a:r>
            <a:r>
              <a:rPr sz="1000" spc="-20">
                <a:solidFill>
                  <a:srgbClr val="202429"/>
                </a:solidFill>
                <a:latin typeface="Tahoma"/>
                <a:cs typeface="Tahoma"/>
              </a:rPr>
              <a:t> </a:t>
            </a:r>
            <a:r>
              <a:rPr sz="1000" b="1" spc="-40">
                <a:solidFill>
                  <a:srgbClr val="202429"/>
                </a:solidFill>
                <a:latin typeface="Arial"/>
                <a:cs typeface="Arial"/>
              </a:rPr>
              <a:t>consistently</a:t>
            </a:r>
            <a:r>
              <a:rPr sz="1000" b="1" spc="15">
                <a:solidFill>
                  <a:srgbClr val="202429"/>
                </a:solidFill>
                <a:latin typeface="Arial"/>
                <a:cs typeface="Arial"/>
              </a:rPr>
              <a:t> </a:t>
            </a:r>
            <a:r>
              <a:rPr sz="1000" spc="-10">
                <a:solidFill>
                  <a:srgbClr val="202429"/>
                </a:solidFill>
                <a:latin typeface="Tahoma"/>
                <a:cs typeface="Tahoma"/>
              </a:rPr>
              <a:t>across</a:t>
            </a:r>
            <a:endParaRPr sz="1000">
              <a:latin typeface="Tahoma"/>
              <a:cs typeface="Tahoma"/>
            </a:endParaRPr>
          </a:p>
        </p:txBody>
      </p:sp>
      <p:sp>
        <p:nvSpPr>
          <p:cNvPr id="12" name="object 12"/>
          <p:cNvSpPr txBox="1"/>
          <p:nvPr/>
        </p:nvSpPr>
        <p:spPr>
          <a:xfrm>
            <a:off x="3241446" y="2125183"/>
            <a:ext cx="2236470" cy="229870"/>
          </a:xfrm>
          <a:prstGeom prst="rect">
            <a:avLst/>
          </a:prstGeom>
          <a:solidFill>
            <a:srgbClr val="FFF3EB"/>
          </a:solidFill>
        </p:spPr>
        <p:txBody>
          <a:bodyPr vert="horz" wrap="square" lIns="0" tIns="12065" rIns="0" bIns="0" rtlCol="0">
            <a:spAutoFit/>
          </a:bodyPr>
          <a:lstStyle/>
          <a:p>
            <a:pPr marL="37465">
              <a:lnSpc>
                <a:spcPct val="100000"/>
              </a:lnSpc>
              <a:spcBef>
                <a:spcPts val="95"/>
              </a:spcBef>
            </a:pPr>
            <a:r>
              <a:rPr sz="1000">
                <a:solidFill>
                  <a:srgbClr val="202429"/>
                </a:solidFill>
                <a:latin typeface="Tahoma"/>
                <a:cs typeface="Tahoma"/>
              </a:rPr>
              <a:t>all</a:t>
            </a:r>
            <a:r>
              <a:rPr sz="1000" spc="-30">
                <a:solidFill>
                  <a:srgbClr val="202429"/>
                </a:solidFill>
                <a:latin typeface="Tahoma"/>
                <a:cs typeface="Tahoma"/>
              </a:rPr>
              <a:t> </a:t>
            </a:r>
            <a:r>
              <a:rPr sz="1000" spc="-25">
                <a:solidFill>
                  <a:srgbClr val="202429"/>
                </a:solidFill>
                <a:latin typeface="Tahoma"/>
                <a:cs typeface="Tahoma"/>
              </a:rPr>
              <a:t>ethnic</a:t>
            </a:r>
            <a:r>
              <a:rPr sz="1000" spc="-20">
                <a:solidFill>
                  <a:srgbClr val="202429"/>
                </a:solidFill>
                <a:latin typeface="Tahoma"/>
                <a:cs typeface="Tahoma"/>
              </a:rPr>
              <a:t> </a:t>
            </a:r>
            <a:r>
              <a:rPr sz="1000" spc="-50">
                <a:solidFill>
                  <a:srgbClr val="202429"/>
                </a:solidFill>
                <a:latin typeface="Tahoma"/>
                <a:cs typeface="Tahoma"/>
              </a:rPr>
              <a:t>groups</a:t>
            </a:r>
            <a:r>
              <a:rPr sz="1000" spc="-20">
                <a:solidFill>
                  <a:srgbClr val="202429"/>
                </a:solidFill>
                <a:latin typeface="Tahoma"/>
                <a:cs typeface="Tahoma"/>
              </a:rPr>
              <a:t> </a:t>
            </a:r>
            <a:r>
              <a:rPr sz="1000" spc="80">
                <a:solidFill>
                  <a:srgbClr val="202429"/>
                </a:solidFill>
                <a:latin typeface="Tahoma"/>
                <a:cs typeface="Tahoma"/>
              </a:rPr>
              <a:t>—</a:t>
            </a:r>
            <a:r>
              <a:rPr sz="1000" spc="-20">
                <a:solidFill>
                  <a:srgbClr val="202429"/>
                </a:solidFill>
                <a:latin typeface="Tahoma"/>
                <a:cs typeface="Tahoma"/>
              </a:rPr>
              <a:t> </a:t>
            </a:r>
            <a:r>
              <a:rPr sz="1000" spc="-30">
                <a:solidFill>
                  <a:srgbClr val="202429"/>
                </a:solidFill>
                <a:latin typeface="Tahoma"/>
                <a:cs typeface="Tahoma"/>
              </a:rPr>
              <a:t>no</a:t>
            </a:r>
            <a:r>
              <a:rPr sz="1000" spc="-25">
                <a:solidFill>
                  <a:srgbClr val="202429"/>
                </a:solidFill>
                <a:latin typeface="Tahoma"/>
                <a:cs typeface="Tahoma"/>
              </a:rPr>
              <a:t> </a:t>
            </a:r>
            <a:r>
              <a:rPr sz="1000" spc="-55">
                <a:solidFill>
                  <a:srgbClr val="202429"/>
                </a:solidFill>
                <a:latin typeface="Tahoma"/>
                <a:cs typeface="Tahoma"/>
              </a:rPr>
              <a:t>evidence</a:t>
            </a:r>
            <a:r>
              <a:rPr sz="1000" spc="-25">
                <a:solidFill>
                  <a:srgbClr val="202429"/>
                </a:solidFill>
                <a:latin typeface="Tahoma"/>
                <a:cs typeface="Tahoma"/>
              </a:rPr>
              <a:t> </a:t>
            </a:r>
            <a:r>
              <a:rPr sz="1000">
                <a:solidFill>
                  <a:srgbClr val="202429"/>
                </a:solidFill>
                <a:latin typeface="Tahoma"/>
                <a:cs typeface="Tahoma"/>
              </a:rPr>
              <a:t>of</a:t>
            </a:r>
            <a:r>
              <a:rPr sz="1000" spc="-20">
                <a:solidFill>
                  <a:srgbClr val="202429"/>
                </a:solidFill>
                <a:latin typeface="Tahoma"/>
                <a:cs typeface="Tahoma"/>
              </a:rPr>
              <a:t> </a:t>
            </a:r>
            <a:r>
              <a:rPr sz="1000" spc="-10">
                <a:solidFill>
                  <a:srgbClr val="202429"/>
                </a:solidFill>
                <a:latin typeface="Tahoma"/>
                <a:cs typeface="Tahoma"/>
              </a:rPr>
              <a:t>bias.</a:t>
            </a:r>
            <a:endParaRPr sz="1000">
              <a:latin typeface="Tahoma"/>
              <a:cs typeface="Tahoma"/>
            </a:endParaRPr>
          </a:p>
        </p:txBody>
      </p:sp>
      <p:sp>
        <p:nvSpPr>
          <p:cNvPr id="13" name="object 13"/>
          <p:cNvSpPr/>
          <p:nvPr/>
        </p:nvSpPr>
        <p:spPr>
          <a:xfrm>
            <a:off x="3236379" y="1936534"/>
            <a:ext cx="2246630" cy="421005"/>
          </a:xfrm>
          <a:custGeom>
            <a:avLst/>
            <a:gdLst/>
            <a:ahLst/>
            <a:cxnLst/>
            <a:rect l="l" t="t" r="r" b="b"/>
            <a:pathLst>
              <a:path w="2246629" h="421005">
                <a:moveTo>
                  <a:pt x="0" y="0"/>
                </a:moveTo>
                <a:lnTo>
                  <a:pt x="2246033" y="0"/>
                </a:lnTo>
              </a:path>
              <a:path w="2246629" h="421005">
                <a:moveTo>
                  <a:pt x="2527" y="420941"/>
                </a:moveTo>
                <a:lnTo>
                  <a:pt x="2527" y="0"/>
                </a:lnTo>
              </a:path>
              <a:path w="2246629" h="421005">
                <a:moveTo>
                  <a:pt x="2243505" y="420941"/>
                </a:moveTo>
                <a:lnTo>
                  <a:pt x="2243505" y="0"/>
                </a:lnTo>
              </a:path>
              <a:path w="2246629" h="421005">
                <a:moveTo>
                  <a:pt x="0" y="420941"/>
                </a:moveTo>
                <a:lnTo>
                  <a:pt x="2246033" y="420941"/>
                </a:lnTo>
              </a:path>
            </a:pathLst>
          </a:custGeom>
          <a:ln w="5060">
            <a:solidFill>
              <a:srgbClr val="D65F2C"/>
            </a:solidFill>
          </a:ln>
        </p:spPr>
        <p:txBody>
          <a:bodyPr wrap="square" lIns="0" tIns="0" rIns="0" bIns="0" rtlCol="0"/>
          <a:lstStyle/>
          <a:p>
            <a:endParaRPr/>
          </a:p>
        </p:txBody>
      </p:sp>
      <p:sp>
        <p:nvSpPr>
          <p:cNvPr id="14" name="object 14"/>
          <p:cNvSpPr txBox="1"/>
          <p:nvPr/>
        </p:nvSpPr>
        <p:spPr>
          <a:xfrm>
            <a:off x="3375431" y="2504444"/>
            <a:ext cx="2040889" cy="354965"/>
          </a:xfrm>
          <a:prstGeom prst="rect">
            <a:avLst/>
          </a:prstGeom>
        </p:spPr>
        <p:txBody>
          <a:bodyPr vert="horz" wrap="square" lIns="0" tIns="1905" rIns="0" bIns="0" rtlCol="0">
            <a:spAutoFit/>
          </a:bodyPr>
          <a:lstStyle/>
          <a:p>
            <a:pPr marL="89535" marR="5080" indent="-77470">
              <a:lnSpc>
                <a:spcPts val="1350"/>
              </a:lnSpc>
              <a:spcBef>
                <a:spcPts val="15"/>
              </a:spcBef>
            </a:pPr>
            <a:r>
              <a:rPr sz="1000">
                <a:solidFill>
                  <a:srgbClr val="202429"/>
                </a:solidFill>
                <a:latin typeface="Tahoma"/>
                <a:cs typeface="Tahoma"/>
              </a:rPr>
              <a:t>AI</a:t>
            </a:r>
            <a:r>
              <a:rPr sz="1000" spc="-55">
                <a:solidFill>
                  <a:srgbClr val="202429"/>
                </a:solidFill>
                <a:latin typeface="Tahoma"/>
                <a:cs typeface="Tahoma"/>
              </a:rPr>
              <a:t> </a:t>
            </a:r>
            <a:r>
              <a:rPr sz="1000" spc="-45">
                <a:solidFill>
                  <a:srgbClr val="202429"/>
                </a:solidFill>
                <a:latin typeface="Tahoma"/>
                <a:cs typeface="Tahoma"/>
              </a:rPr>
              <a:t>systems</a:t>
            </a:r>
            <a:r>
              <a:rPr sz="1000" spc="-35">
                <a:solidFill>
                  <a:srgbClr val="202429"/>
                </a:solidFill>
                <a:latin typeface="Tahoma"/>
                <a:cs typeface="Tahoma"/>
              </a:rPr>
              <a:t> </a:t>
            </a:r>
            <a:r>
              <a:rPr sz="1000" spc="-20">
                <a:solidFill>
                  <a:srgbClr val="202429"/>
                </a:solidFill>
                <a:latin typeface="Tahoma"/>
                <a:cs typeface="Tahoma"/>
              </a:rPr>
              <a:t>must</a:t>
            </a:r>
            <a:r>
              <a:rPr sz="1000" spc="-35">
                <a:solidFill>
                  <a:srgbClr val="202429"/>
                </a:solidFill>
                <a:latin typeface="Tahoma"/>
                <a:cs typeface="Tahoma"/>
              </a:rPr>
              <a:t> </a:t>
            </a:r>
            <a:r>
              <a:rPr sz="1000">
                <a:solidFill>
                  <a:srgbClr val="202429"/>
                </a:solidFill>
                <a:latin typeface="Tahoma"/>
                <a:cs typeface="Tahoma"/>
              </a:rPr>
              <a:t>be</a:t>
            </a:r>
            <a:r>
              <a:rPr sz="1000" spc="-35">
                <a:solidFill>
                  <a:srgbClr val="202429"/>
                </a:solidFill>
                <a:latin typeface="Tahoma"/>
                <a:cs typeface="Tahoma"/>
              </a:rPr>
              <a:t> </a:t>
            </a:r>
            <a:r>
              <a:rPr sz="1000" spc="-45">
                <a:solidFill>
                  <a:srgbClr val="202429"/>
                </a:solidFill>
                <a:latin typeface="Tahoma"/>
                <a:cs typeface="Tahoma"/>
              </a:rPr>
              <a:t>tested</a:t>
            </a:r>
            <a:r>
              <a:rPr sz="1000" spc="-35">
                <a:solidFill>
                  <a:srgbClr val="202429"/>
                </a:solidFill>
                <a:latin typeface="Tahoma"/>
                <a:cs typeface="Tahoma"/>
              </a:rPr>
              <a:t> </a:t>
            </a:r>
            <a:r>
              <a:rPr sz="1000" spc="-10">
                <a:solidFill>
                  <a:srgbClr val="202429"/>
                </a:solidFill>
                <a:latin typeface="Tahoma"/>
                <a:cs typeface="Tahoma"/>
              </a:rPr>
              <a:t>for</a:t>
            </a:r>
            <a:r>
              <a:rPr sz="1000" spc="-40">
                <a:solidFill>
                  <a:srgbClr val="202429"/>
                </a:solidFill>
                <a:latin typeface="Tahoma"/>
                <a:cs typeface="Tahoma"/>
              </a:rPr>
              <a:t> fairness across</a:t>
            </a:r>
            <a:r>
              <a:rPr sz="1000" spc="-15">
                <a:solidFill>
                  <a:srgbClr val="202429"/>
                </a:solidFill>
                <a:latin typeface="Tahoma"/>
                <a:cs typeface="Tahoma"/>
              </a:rPr>
              <a:t> </a:t>
            </a:r>
            <a:r>
              <a:rPr sz="1000" spc="-35">
                <a:solidFill>
                  <a:srgbClr val="202429"/>
                </a:solidFill>
                <a:latin typeface="Tahoma"/>
                <a:cs typeface="Tahoma"/>
              </a:rPr>
              <a:t>protected</a:t>
            </a:r>
            <a:r>
              <a:rPr sz="1000" spc="-15">
                <a:solidFill>
                  <a:srgbClr val="202429"/>
                </a:solidFill>
                <a:latin typeface="Tahoma"/>
                <a:cs typeface="Tahoma"/>
              </a:rPr>
              <a:t> </a:t>
            </a:r>
            <a:r>
              <a:rPr sz="1000" spc="-35">
                <a:solidFill>
                  <a:srgbClr val="202429"/>
                </a:solidFill>
                <a:latin typeface="Tahoma"/>
                <a:cs typeface="Tahoma"/>
              </a:rPr>
              <a:t>characteristics.</a:t>
            </a:r>
            <a:r>
              <a:rPr sz="1000" spc="95">
                <a:solidFill>
                  <a:srgbClr val="202429"/>
                </a:solidFill>
                <a:latin typeface="Tahoma"/>
                <a:cs typeface="Tahoma"/>
              </a:rPr>
              <a:t> </a:t>
            </a:r>
            <a:r>
              <a:rPr sz="1200" spc="140">
                <a:solidFill>
                  <a:srgbClr val="202429"/>
                </a:solidFill>
                <a:latin typeface="Adobe Text Pro"/>
                <a:cs typeface="Adobe Text Pro"/>
              </a:rPr>
              <a:t>✓</a:t>
            </a:r>
            <a:endParaRPr sz="1200">
              <a:latin typeface="Adobe Text Pro"/>
              <a:cs typeface="Adobe Text Pro"/>
            </a:endParaRPr>
          </a:p>
        </p:txBody>
      </p:sp>
      <p:sp>
        <p:nvSpPr>
          <p:cNvPr id="15" name="object 15"/>
          <p:cNvSpPr/>
          <p:nvPr/>
        </p:nvSpPr>
        <p:spPr>
          <a:xfrm>
            <a:off x="0" y="3060028"/>
            <a:ext cx="5760085" cy="0"/>
          </a:xfrm>
          <a:custGeom>
            <a:avLst/>
            <a:gdLst/>
            <a:ahLst/>
            <a:cxnLst/>
            <a:rect l="l" t="t" r="r" b="b"/>
            <a:pathLst>
              <a:path w="5760085">
                <a:moveTo>
                  <a:pt x="0" y="0"/>
                </a:moveTo>
                <a:lnTo>
                  <a:pt x="5760073" y="0"/>
                </a:lnTo>
              </a:path>
            </a:pathLst>
          </a:custGeom>
          <a:ln w="6326">
            <a:solidFill>
              <a:srgbClr val="CED3DA"/>
            </a:solidFill>
          </a:ln>
        </p:spPr>
        <p:txBody>
          <a:bodyPr wrap="square" lIns="0" tIns="0" rIns="0" bIns="0" rtlCol="0"/>
          <a:lstStyle/>
          <a:p>
            <a:endParaRPr/>
          </a:p>
        </p:txBody>
      </p:sp>
      <p:sp>
        <p:nvSpPr>
          <p:cNvPr id="18" name="Slide Number Placeholder 17">
            <a:extLst>
              <a:ext uri="{FF2B5EF4-FFF2-40B4-BE49-F238E27FC236}">
                <a16:creationId xmlns:a16="http://schemas.microsoft.com/office/drawing/2014/main" id="{7A333FD5-E400-BFD1-2CFA-C249665822B7}"/>
              </a:ext>
            </a:extLst>
          </p:cNvPr>
          <p:cNvSpPr>
            <a:spLocks noGrp="1"/>
          </p:cNvSpPr>
          <p:nvPr>
            <p:ph type="sldNum" sz="quarter" idx="7"/>
          </p:nvPr>
        </p:nvSpPr>
        <p:spPr>
          <a:xfrm>
            <a:off x="5372061" y="3070861"/>
            <a:ext cx="388024" cy="173989"/>
          </a:xfrm>
        </p:spPr>
        <p:txBody>
          <a:bodyPr/>
          <a:lstStyle/>
          <a:p>
            <a:pPr marL="39370">
              <a:lnSpc>
                <a:spcPct val="100000"/>
              </a:lnSpc>
              <a:spcBef>
                <a:spcPts val="219"/>
              </a:spcBef>
            </a:pPr>
            <a:fld id="{81D60167-4931-47E6-BA6A-407CBD079E47}" type="slidenum">
              <a:rPr lang="en-GB" smtClean="0"/>
              <a:t>15</a:t>
            </a:fld>
            <a:r>
              <a:rPr lang="en-GB" spc="20"/>
              <a:t> </a:t>
            </a:r>
            <a:r>
              <a:rPr lang="en-GB" spc="120"/>
              <a:t>/</a:t>
            </a:r>
            <a:r>
              <a:rPr lang="en-GB" spc="25"/>
              <a:t> </a:t>
            </a:r>
            <a:r>
              <a:rPr lang="en-GB" spc="-25"/>
              <a:t>41</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2239657" y="1131437"/>
            <a:ext cx="2433320" cy="511809"/>
          </a:xfrm>
          <a:prstGeom prst="rect">
            <a:avLst/>
          </a:prstGeom>
        </p:spPr>
        <p:txBody>
          <a:bodyPr vert="horz" wrap="square" lIns="0" tIns="17145" rIns="0" bIns="0" rtlCol="0">
            <a:spAutoFit/>
          </a:bodyPr>
          <a:lstStyle/>
          <a:p>
            <a:pPr marL="12700">
              <a:lnSpc>
                <a:spcPct val="100000"/>
              </a:lnSpc>
              <a:spcBef>
                <a:spcPts val="135"/>
              </a:spcBef>
            </a:pPr>
            <a:r>
              <a:rPr sz="3150" b="1">
                <a:solidFill>
                  <a:srgbClr val="202429"/>
                </a:solidFill>
                <a:latin typeface="Arial"/>
                <a:cs typeface="Arial"/>
              </a:rPr>
              <a:t>The</a:t>
            </a:r>
            <a:r>
              <a:rPr sz="3150" b="1" spc="400">
                <a:solidFill>
                  <a:srgbClr val="202429"/>
                </a:solidFill>
                <a:latin typeface="Arial"/>
                <a:cs typeface="Arial"/>
              </a:rPr>
              <a:t> </a:t>
            </a:r>
            <a:r>
              <a:rPr sz="3150" b="1" spc="-130">
                <a:solidFill>
                  <a:srgbClr val="202429"/>
                </a:solidFill>
                <a:latin typeface="Arial"/>
                <a:cs typeface="Arial"/>
              </a:rPr>
              <a:t>Findings</a:t>
            </a:r>
            <a:endParaRPr sz="3150">
              <a:latin typeface="Arial"/>
              <a:cs typeface="Arial"/>
            </a:endParaRPr>
          </a:p>
        </p:txBody>
      </p:sp>
      <p:sp>
        <p:nvSpPr>
          <p:cNvPr id="4" name="object 4"/>
          <p:cNvSpPr/>
          <p:nvPr/>
        </p:nvSpPr>
        <p:spPr>
          <a:xfrm>
            <a:off x="2252357" y="1794738"/>
            <a:ext cx="900430" cy="0"/>
          </a:xfrm>
          <a:custGeom>
            <a:avLst/>
            <a:gdLst/>
            <a:ahLst/>
            <a:cxnLst/>
            <a:rect l="l" t="t" r="r" b="b"/>
            <a:pathLst>
              <a:path w="900430">
                <a:moveTo>
                  <a:pt x="0" y="0"/>
                </a:moveTo>
                <a:lnTo>
                  <a:pt x="900010" y="0"/>
                </a:lnTo>
              </a:path>
            </a:pathLst>
          </a:custGeom>
          <a:ln w="18978">
            <a:solidFill>
              <a:srgbClr val="005F73"/>
            </a:solidFill>
          </a:ln>
        </p:spPr>
        <p:txBody>
          <a:bodyPr wrap="square" lIns="0" tIns="0" rIns="0" bIns="0" rtlCol="0"/>
          <a:lstStyle/>
          <a:p>
            <a:endParaRPr/>
          </a:p>
        </p:txBody>
      </p:sp>
      <p:sp>
        <p:nvSpPr>
          <p:cNvPr id="5" name="object 5"/>
          <p:cNvSpPr txBox="1"/>
          <p:nvPr/>
        </p:nvSpPr>
        <p:spPr>
          <a:xfrm>
            <a:off x="2239657" y="1922599"/>
            <a:ext cx="2797810" cy="207645"/>
          </a:xfrm>
          <a:prstGeom prst="rect">
            <a:avLst/>
          </a:prstGeom>
        </p:spPr>
        <p:txBody>
          <a:bodyPr vert="horz" wrap="square" lIns="0" tIns="12065" rIns="0" bIns="0" rtlCol="0">
            <a:spAutoFit/>
          </a:bodyPr>
          <a:lstStyle/>
          <a:p>
            <a:pPr marL="12700">
              <a:lnSpc>
                <a:spcPct val="100000"/>
              </a:lnSpc>
              <a:spcBef>
                <a:spcPts val="95"/>
              </a:spcBef>
            </a:pPr>
            <a:r>
              <a:rPr sz="1200" spc="-10">
                <a:solidFill>
                  <a:srgbClr val="6C757C"/>
                </a:solidFill>
                <a:latin typeface="Tahoma"/>
                <a:cs typeface="Tahoma"/>
              </a:rPr>
              <a:t>What</a:t>
            </a:r>
            <a:r>
              <a:rPr sz="1200" spc="-55">
                <a:solidFill>
                  <a:srgbClr val="6C757C"/>
                </a:solidFill>
                <a:latin typeface="Tahoma"/>
                <a:cs typeface="Tahoma"/>
              </a:rPr>
              <a:t> </a:t>
            </a:r>
            <a:r>
              <a:rPr sz="1200" spc="-40">
                <a:solidFill>
                  <a:srgbClr val="6C757C"/>
                </a:solidFill>
                <a:latin typeface="Tahoma"/>
                <a:cs typeface="Tahoma"/>
              </a:rPr>
              <a:t>the</a:t>
            </a:r>
            <a:r>
              <a:rPr sz="1200" spc="-35">
                <a:solidFill>
                  <a:srgbClr val="6C757C"/>
                </a:solidFill>
                <a:latin typeface="Tahoma"/>
                <a:cs typeface="Tahoma"/>
              </a:rPr>
              <a:t> </a:t>
            </a:r>
            <a:r>
              <a:rPr sz="1200">
                <a:solidFill>
                  <a:srgbClr val="6C757C"/>
                </a:solidFill>
                <a:latin typeface="Tahoma"/>
                <a:cs typeface="Tahoma"/>
              </a:rPr>
              <a:t>AI</a:t>
            </a:r>
            <a:r>
              <a:rPr sz="1200" spc="-35">
                <a:solidFill>
                  <a:srgbClr val="6C757C"/>
                </a:solidFill>
                <a:latin typeface="Tahoma"/>
                <a:cs typeface="Tahoma"/>
              </a:rPr>
              <a:t> </a:t>
            </a:r>
            <a:r>
              <a:rPr sz="1200" spc="-75">
                <a:solidFill>
                  <a:srgbClr val="6C757C"/>
                </a:solidFill>
                <a:latin typeface="Tahoma"/>
                <a:cs typeface="Tahoma"/>
              </a:rPr>
              <a:t>revealed</a:t>
            </a:r>
            <a:r>
              <a:rPr sz="1200" spc="-15">
                <a:solidFill>
                  <a:srgbClr val="6C757C"/>
                </a:solidFill>
                <a:latin typeface="Tahoma"/>
                <a:cs typeface="Tahoma"/>
              </a:rPr>
              <a:t> </a:t>
            </a:r>
            <a:r>
              <a:rPr sz="1200" spc="-40">
                <a:solidFill>
                  <a:srgbClr val="6C757C"/>
                </a:solidFill>
                <a:latin typeface="Tahoma"/>
                <a:cs typeface="Tahoma"/>
              </a:rPr>
              <a:t>about</a:t>
            </a:r>
            <a:r>
              <a:rPr sz="1200" spc="-35">
                <a:solidFill>
                  <a:srgbClr val="6C757C"/>
                </a:solidFill>
                <a:latin typeface="Tahoma"/>
                <a:cs typeface="Tahoma"/>
              </a:rPr>
              <a:t> </a:t>
            </a:r>
            <a:r>
              <a:rPr sz="1200" spc="-50">
                <a:solidFill>
                  <a:srgbClr val="6C757C"/>
                </a:solidFill>
                <a:latin typeface="Tahoma"/>
                <a:cs typeface="Tahoma"/>
              </a:rPr>
              <a:t>maternity</a:t>
            </a:r>
            <a:r>
              <a:rPr sz="1200" spc="-40">
                <a:solidFill>
                  <a:srgbClr val="6C757C"/>
                </a:solidFill>
                <a:latin typeface="Tahoma"/>
                <a:cs typeface="Tahoma"/>
              </a:rPr>
              <a:t> safety</a:t>
            </a:r>
            <a:endParaRPr sz="1200">
              <a:latin typeface="Tahoma"/>
              <a:cs typeface="Tahoma"/>
            </a:endParaRPr>
          </a:p>
        </p:txBody>
      </p:sp>
      <p:sp>
        <p:nvSpPr>
          <p:cNvPr id="7" name="object 2" descr="$PPTXTitle">
            <a:extLst>
              <a:ext uri="{FF2B5EF4-FFF2-40B4-BE49-F238E27FC236}">
                <a16:creationId xmlns:a16="http://schemas.microsoft.com/office/drawing/2014/main" id="{ACE3018A-3AD2-5BB2-DE98-A1B680F82ED0}"/>
              </a:ext>
            </a:extLst>
          </p:cNvPr>
          <p:cNvSpPr txBox="1">
            <a:spLocks noGrp="1"/>
          </p:cNvSpPr>
          <p:nvPr>
            <p:ph type="title"/>
          </p:nvPr>
        </p:nvSpPr>
        <p:spPr>
          <a:xfrm>
            <a:off x="368300" y="946788"/>
            <a:ext cx="990600" cy="993221"/>
          </a:xfrm>
          <a:prstGeom prst="rect">
            <a:avLst/>
          </a:prstGeom>
        </p:spPr>
        <p:txBody>
          <a:bodyPr vert="horz" wrap="square" lIns="0" tIns="15875" rIns="0" bIns="0" rtlCol="0">
            <a:spAutoFit/>
          </a:bodyPr>
          <a:lstStyle/>
          <a:p>
            <a:pPr marL="12700">
              <a:lnSpc>
                <a:spcPct val="100000"/>
              </a:lnSpc>
              <a:spcBef>
                <a:spcPts val="125"/>
              </a:spcBef>
            </a:pPr>
            <a:r>
              <a:rPr lang="en-GB" sz="6350" spc="-150">
                <a:solidFill>
                  <a:srgbClr val="FFFFFF"/>
                </a:solidFill>
              </a:rPr>
              <a:t>02</a:t>
            </a:r>
            <a:endParaRPr lang="en-GB" sz="635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774801" y="495854"/>
            <a:ext cx="4187190" cy="1395730"/>
          </a:xfrm>
          <a:prstGeom prst="rect">
            <a:avLst/>
          </a:prstGeom>
        </p:spPr>
        <p:txBody>
          <a:bodyPr vert="horz" wrap="square" lIns="0" tIns="43180" rIns="0" bIns="0" rtlCol="0">
            <a:spAutoFit/>
          </a:bodyPr>
          <a:lstStyle/>
          <a:p>
            <a:pPr marL="764540" marR="749935" algn="ctr">
              <a:lnSpc>
                <a:spcPts val="2690"/>
              </a:lnSpc>
              <a:spcBef>
                <a:spcPts val="340"/>
              </a:spcBef>
            </a:pPr>
            <a:r>
              <a:rPr sz="2400" i="1" spc="-10">
                <a:solidFill>
                  <a:srgbClr val="202429"/>
                </a:solidFill>
                <a:latin typeface="Calibri"/>
                <a:cs typeface="Calibri"/>
              </a:rPr>
              <a:t>What</a:t>
            </a:r>
            <a:r>
              <a:rPr sz="2400" i="1" spc="-35">
                <a:solidFill>
                  <a:srgbClr val="202429"/>
                </a:solidFill>
                <a:latin typeface="Calibri"/>
                <a:cs typeface="Calibri"/>
              </a:rPr>
              <a:t> </a:t>
            </a:r>
            <a:r>
              <a:rPr sz="2400" i="1" spc="-55">
                <a:solidFill>
                  <a:srgbClr val="202429"/>
                </a:solidFill>
                <a:latin typeface="Calibri"/>
                <a:cs typeface="Calibri"/>
              </a:rPr>
              <a:t>patterns</a:t>
            </a:r>
            <a:r>
              <a:rPr sz="2400" i="1" spc="-25">
                <a:solidFill>
                  <a:srgbClr val="202429"/>
                </a:solidFill>
                <a:latin typeface="Calibri"/>
                <a:cs typeface="Calibri"/>
              </a:rPr>
              <a:t> </a:t>
            </a:r>
            <a:r>
              <a:rPr sz="2400" i="1" spc="-114">
                <a:solidFill>
                  <a:srgbClr val="202429"/>
                </a:solidFill>
                <a:latin typeface="Calibri"/>
                <a:cs typeface="Calibri"/>
              </a:rPr>
              <a:t>emerge </a:t>
            </a:r>
            <a:r>
              <a:rPr sz="2400" i="1" spc="-80">
                <a:solidFill>
                  <a:srgbClr val="202429"/>
                </a:solidFill>
                <a:latin typeface="Calibri"/>
                <a:cs typeface="Calibri"/>
              </a:rPr>
              <a:t>when</a:t>
            </a:r>
            <a:r>
              <a:rPr sz="2400" i="1" spc="90">
                <a:solidFill>
                  <a:srgbClr val="202429"/>
                </a:solidFill>
                <a:latin typeface="Calibri"/>
                <a:cs typeface="Calibri"/>
              </a:rPr>
              <a:t> </a:t>
            </a:r>
            <a:r>
              <a:rPr sz="2400" i="1" spc="55">
                <a:solidFill>
                  <a:srgbClr val="202429"/>
                </a:solidFill>
                <a:latin typeface="Calibri"/>
                <a:cs typeface="Calibri"/>
              </a:rPr>
              <a:t>AI</a:t>
            </a:r>
            <a:r>
              <a:rPr sz="2400" i="1" spc="95">
                <a:solidFill>
                  <a:srgbClr val="202429"/>
                </a:solidFill>
                <a:latin typeface="Calibri"/>
                <a:cs typeface="Calibri"/>
              </a:rPr>
              <a:t> </a:t>
            </a:r>
            <a:r>
              <a:rPr sz="2400" i="1" spc="-10">
                <a:solidFill>
                  <a:srgbClr val="202429"/>
                </a:solidFill>
                <a:latin typeface="Calibri"/>
                <a:cs typeface="Calibri"/>
              </a:rPr>
              <a:t>analyses</a:t>
            </a:r>
            <a:endParaRPr sz="2400">
              <a:latin typeface="Calibri"/>
              <a:cs typeface="Calibri"/>
            </a:endParaRPr>
          </a:p>
          <a:p>
            <a:pPr algn="ctr">
              <a:lnSpc>
                <a:spcPts val="2390"/>
              </a:lnSpc>
            </a:pPr>
            <a:r>
              <a:rPr sz="2400" i="1" spc="-20">
                <a:solidFill>
                  <a:srgbClr val="202429"/>
                </a:solidFill>
                <a:latin typeface="Calibri"/>
                <a:cs typeface="Calibri"/>
              </a:rPr>
              <a:t>188</a:t>
            </a:r>
            <a:r>
              <a:rPr sz="2400" i="1" spc="5">
                <a:solidFill>
                  <a:srgbClr val="202429"/>
                </a:solidFill>
                <a:latin typeface="Calibri"/>
                <a:cs typeface="Calibri"/>
              </a:rPr>
              <a:t> </a:t>
            </a:r>
            <a:r>
              <a:rPr sz="2400" i="1" spc="-60">
                <a:solidFill>
                  <a:srgbClr val="202429"/>
                </a:solidFill>
                <a:latin typeface="Calibri"/>
                <a:cs typeface="Calibri"/>
              </a:rPr>
              <a:t>maternity</a:t>
            </a:r>
            <a:r>
              <a:rPr sz="2400" i="1" spc="5">
                <a:solidFill>
                  <a:srgbClr val="202429"/>
                </a:solidFill>
                <a:latin typeface="Calibri"/>
                <a:cs typeface="Calibri"/>
              </a:rPr>
              <a:t> </a:t>
            </a:r>
            <a:r>
              <a:rPr sz="2400" i="1" spc="-60">
                <a:solidFill>
                  <a:srgbClr val="202429"/>
                </a:solidFill>
                <a:latin typeface="Calibri"/>
                <a:cs typeface="Calibri"/>
              </a:rPr>
              <a:t>investigation</a:t>
            </a:r>
            <a:r>
              <a:rPr sz="2400" i="1" spc="5">
                <a:solidFill>
                  <a:srgbClr val="202429"/>
                </a:solidFill>
                <a:latin typeface="Calibri"/>
                <a:cs typeface="Calibri"/>
              </a:rPr>
              <a:t> </a:t>
            </a:r>
            <a:r>
              <a:rPr sz="2400" i="1" spc="-30">
                <a:solidFill>
                  <a:srgbClr val="202429"/>
                </a:solidFill>
                <a:latin typeface="Calibri"/>
                <a:cs typeface="Calibri"/>
              </a:rPr>
              <a:t>reports</a:t>
            </a:r>
            <a:endParaRPr sz="2400">
              <a:latin typeface="Calibri"/>
              <a:cs typeface="Calibri"/>
            </a:endParaRPr>
          </a:p>
          <a:p>
            <a:pPr algn="ctr">
              <a:lnSpc>
                <a:spcPts val="2785"/>
              </a:lnSpc>
            </a:pPr>
            <a:r>
              <a:rPr sz="2400" i="1" spc="-65">
                <a:solidFill>
                  <a:srgbClr val="202429"/>
                </a:solidFill>
                <a:latin typeface="Calibri"/>
                <a:cs typeface="Calibri"/>
              </a:rPr>
              <a:t>systematically</a:t>
            </a:r>
            <a:r>
              <a:rPr sz="2400" i="1" spc="20">
                <a:solidFill>
                  <a:srgbClr val="202429"/>
                </a:solidFill>
                <a:latin typeface="Calibri"/>
                <a:cs typeface="Calibri"/>
              </a:rPr>
              <a:t> </a:t>
            </a:r>
            <a:r>
              <a:rPr sz="2400" i="1" spc="-35">
                <a:solidFill>
                  <a:srgbClr val="202429"/>
                </a:solidFill>
                <a:latin typeface="Calibri"/>
                <a:cs typeface="Calibri"/>
              </a:rPr>
              <a:t>and</a:t>
            </a:r>
            <a:r>
              <a:rPr sz="2400" i="1" spc="20">
                <a:solidFill>
                  <a:srgbClr val="202429"/>
                </a:solidFill>
                <a:latin typeface="Calibri"/>
                <a:cs typeface="Calibri"/>
              </a:rPr>
              <a:t> </a:t>
            </a:r>
            <a:r>
              <a:rPr sz="2400" i="1" spc="-10">
                <a:solidFill>
                  <a:srgbClr val="202429"/>
                </a:solidFill>
                <a:latin typeface="Calibri"/>
                <a:cs typeface="Calibri"/>
              </a:rPr>
              <a:t>equitably?</a:t>
            </a:r>
            <a:endParaRPr sz="2400">
              <a:latin typeface="Calibri"/>
              <a:cs typeface="Calibri"/>
            </a:endParaRPr>
          </a:p>
        </p:txBody>
      </p:sp>
      <p:sp>
        <p:nvSpPr>
          <p:cNvPr id="3" name="object 3"/>
          <p:cNvSpPr/>
          <p:nvPr/>
        </p:nvSpPr>
        <p:spPr>
          <a:xfrm>
            <a:off x="2430005" y="2188463"/>
            <a:ext cx="900430" cy="0"/>
          </a:xfrm>
          <a:custGeom>
            <a:avLst/>
            <a:gdLst/>
            <a:ahLst/>
            <a:cxnLst/>
            <a:rect l="l" t="t" r="r" b="b"/>
            <a:pathLst>
              <a:path w="900429">
                <a:moveTo>
                  <a:pt x="0" y="0"/>
                </a:moveTo>
                <a:lnTo>
                  <a:pt x="899998" y="0"/>
                </a:lnTo>
              </a:path>
            </a:pathLst>
          </a:custGeom>
          <a:ln w="18978">
            <a:solidFill>
              <a:srgbClr val="005F73"/>
            </a:solidFill>
          </a:ln>
        </p:spPr>
        <p:txBody>
          <a:bodyPr wrap="square" lIns="0" tIns="0" rIns="0" bIns="0" rtlCol="0"/>
          <a:lstStyle/>
          <a:p>
            <a:endParaRPr/>
          </a:p>
        </p:txBody>
      </p:sp>
      <p:sp>
        <p:nvSpPr>
          <p:cNvPr id="4" name="object 4"/>
          <p:cNvSpPr/>
          <p:nvPr/>
        </p:nvSpPr>
        <p:spPr>
          <a:xfrm>
            <a:off x="0" y="3060028"/>
            <a:ext cx="5760085" cy="0"/>
          </a:xfrm>
          <a:custGeom>
            <a:avLst/>
            <a:gdLst/>
            <a:ahLst/>
            <a:cxnLst/>
            <a:rect l="l" t="t" r="r" b="b"/>
            <a:pathLst>
              <a:path w="5760085">
                <a:moveTo>
                  <a:pt x="0" y="0"/>
                </a:moveTo>
                <a:lnTo>
                  <a:pt x="5760073" y="0"/>
                </a:lnTo>
              </a:path>
            </a:pathLst>
          </a:custGeom>
          <a:ln w="6326">
            <a:solidFill>
              <a:srgbClr val="CED3DA"/>
            </a:solidFill>
          </a:ln>
        </p:spPr>
        <p:txBody>
          <a:bodyPr wrap="square" lIns="0" tIns="0" rIns="0" bIns="0" rtlCol="0"/>
          <a:lstStyle/>
          <a:p>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347294" y="72136"/>
            <a:ext cx="3663315" cy="452120"/>
          </a:xfrm>
          <a:prstGeom prst="rect">
            <a:avLst/>
          </a:prstGeom>
        </p:spPr>
        <p:txBody>
          <a:bodyPr vert="horz" wrap="square" lIns="0" tIns="50165" rIns="0" bIns="0" rtlCol="0">
            <a:spAutoFit/>
          </a:bodyPr>
          <a:lstStyle/>
          <a:p>
            <a:pPr marL="12700">
              <a:lnSpc>
                <a:spcPct val="100000"/>
              </a:lnSpc>
              <a:spcBef>
                <a:spcPts val="395"/>
              </a:spcBef>
            </a:pPr>
            <a:r>
              <a:t>Human</a:t>
            </a:r>
            <a:r>
              <a:rPr spc="30"/>
              <a:t> </a:t>
            </a:r>
            <a:r>
              <a:rPr spc="-30"/>
              <a:t>Factors</a:t>
            </a:r>
            <a:r>
              <a:rPr spc="35"/>
              <a:t> </a:t>
            </a:r>
            <a:r>
              <a:t>Distribution</a:t>
            </a:r>
            <a:r>
              <a:rPr spc="30"/>
              <a:t> </a:t>
            </a:r>
            <a:r>
              <a:rPr spc="-70"/>
              <a:t>Across</a:t>
            </a:r>
            <a:r>
              <a:rPr spc="35"/>
              <a:t> </a:t>
            </a:r>
            <a:r>
              <a:rPr spc="-10"/>
              <a:t>Reports</a:t>
            </a:r>
          </a:p>
          <a:p>
            <a:pPr marL="12700">
              <a:lnSpc>
                <a:spcPct val="100000"/>
              </a:lnSpc>
              <a:spcBef>
                <a:spcPts val="180"/>
              </a:spcBef>
            </a:pPr>
            <a:r>
              <a:rPr sz="1000" b="0" spc="-40">
                <a:solidFill>
                  <a:srgbClr val="6C757C"/>
                </a:solidFill>
                <a:latin typeface="Tahoma"/>
                <a:cs typeface="Tahoma"/>
              </a:rPr>
              <a:t>188</a:t>
            </a:r>
            <a:r>
              <a:rPr sz="1000" b="0" spc="-30">
                <a:solidFill>
                  <a:srgbClr val="6C757C"/>
                </a:solidFill>
                <a:latin typeface="Tahoma"/>
                <a:cs typeface="Tahoma"/>
              </a:rPr>
              <a:t> </a:t>
            </a:r>
            <a:r>
              <a:rPr sz="1000" b="0" spc="-35">
                <a:solidFill>
                  <a:srgbClr val="6C757C"/>
                </a:solidFill>
                <a:latin typeface="Tahoma"/>
                <a:cs typeface="Tahoma"/>
              </a:rPr>
              <a:t>reports,</a:t>
            </a:r>
            <a:r>
              <a:rPr sz="1000" b="0" spc="-25">
                <a:solidFill>
                  <a:srgbClr val="6C757C"/>
                </a:solidFill>
                <a:latin typeface="Tahoma"/>
                <a:cs typeface="Tahoma"/>
              </a:rPr>
              <a:t> </a:t>
            </a:r>
            <a:r>
              <a:rPr sz="1000" b="0" spc="-40">
                <a:solidFill>
                  <a:srgbClr val="6C757C"/>
                </a:solidFill>
                <a:latin typeface="Tahoma"/>
                <a:cs typeface="Tahoma"/>
              </a:rPr>
              <a:t>3,122</a:t>
            </a:r>
            <a:r>
              <a:rPr sz="1000" b="0" spc="-25">
                <a:solidFill>
                  <a:srgbClr val="6C757C"/>
                </a:solidFill>
                <a:latin typeface="Tahoma"/>
                <a:cs typeface="Tahoma"/>
              </a:rPr>
              <a:t> </a:t>
            </a:r>
            <a:r>
              <a:rPr sz="1000" b="0" spc="-35">
                <a:solidFill>
                  <a:srgbClr val="6C757C"/>
                </a:solidFill>
                <a:latin typeface="Tahoma"/>
                <a:cs typeface="Tahoma"/>
              </a:rPr>
              <a:t>annotated</a:t>
            </a:r>
            <a:r>
              <a:rPr sz="1000" b="0" spc="-30">
                <a:solidFill>
                  <a:srgbClr val="6C757C"/>
                </a:solidFill>
                <a:latin typeface="Tahoma"/>
                <a:cs typeface="Tahoma"/>
              </a:rPr>
              <a:t> </a:t>
            </a:r>
            <a:r>
              <a:rPr sz="1000" b="0" spc="-10">
                <a:solidFill>
                  <a:srgbClr val="6C757C"/>
                </a:solidFill>
                <a:latin typeface="Tahoma"/>
                <a:cs typeface="Tahoma"/>
              </a:rPr>
              <a:t>sentences</a:t>
            </a:r>
            <a:endParaRPr sz="1000">
              <a:latin typeface="Tahoma"/>
              <a:cs typeface="Tahoma"/>
            </a:endParaRPr>
          </a:p>
        </p:txBody>
      </p:sp>
      <p:grpSp>
        <p:nvGrpSpPr>
          <p:cNvPr id="3" name="object 3"/>
          <p:cNvGrpSpPr/>
          <p:nvPr/>
        </p:nvGrpSpPr>
        <p:grpSpPr>
          <a:xfrm>
            <a:off x="217830" y="611760"/>
            <a:ext cx="3275965" cy="2127250"/>
            <a:chOff x="217830" y="611760"/>
            <a:chExt cx="3275965" cy="2127250"/>
          </a:xfrm>
        </p:grpSpPr>
        <p:sp>
          <p:nvSpPr>
            <p:cNvPr id="4" name="object 4"/>
            <p:cNvSpPr/>
            <p:nvPr/>
          </p:nvSpPr>
          <p:spPr>
            <a:xfrm>
              <a:off x="359994" y="676325"/>
              <a:ext cx="900430" cy="0"/>
            </a:xfrm>
            <a:custGeom>
              <a:avLst/>
              <a:gdLst/>
              <a:ahLst/>
              <a:cxnLst/>
              <a:rect l="l" t="t" r="r" b="b"/>
              <a:pathLst>
                <a:path w="900430">
                  <a:moveTo>
                    <a:pt x="0" y="0"/>
                  </a:moveTo>
                  <a:lnTo>
                    <a:pt x="900010" y="0"/>
                  </a:lnTo>
                </a:path>
              </a:pathLst>
            </a:custGeom>
            <a:ln w="18978">
              <a:solidFill>
                <a:srgbClr val="005F73"/>
              </a:solidFill>
            </a:ln>
          </p:spPr>
          <p:txBody>
            <a:bodyPr wrap="square" lIns="0" tIns="0" rIns="0" bIns="0" rtlCol="0"/>
            <a:lstStyle/>
            <a:p>
              <a:endParaRPr/>
            </a:p>
          </p:txBody>
        </p:sp>
        <p:pic>
          <p:nvPicPr>
            <p:cNvPr id="5" name="object 5"/>
            <p:cNvPicPr/>
            <p:nvPr/>
          </p:nvPicPr>
          <p:blipFill>
            <a:blip r:embed="rId3" cstate="print"/>
            <a:stretch>
              <a:fillRect/>
            </a:stretch>
          </p:blipFill>
          <p:spPr>
            <a:xfrm>
              <a:off x="217830" y="611760"/>
              <a:ext cx="3275920" cy="2126651"/>
            </a:xfrm>
            <a:prstGeom prst="rect">
              <a:avLst/>
            </a:prstGeom>
          </p:spPr>
        </p:pic>
      </p:grpSp>
      <p:sp>
        <p:nvSpPr>
          <p:cNvPr id="6" name="object 6"/>
          <p:cNvSpPr/>
          <p:nvPr/>
        </p:nvSpPr>
        <p:spPr>
          <a:xfrm>
            <a:off x="3568700" y="594950"/>
            <a:ext cx="0" cy="2160270"/>
          </a:xfrm>
          <a:custGeom>
            <a:avLst/>
            <a:gdLst/>
            <a:ahLst/>
            <a:cxnLst/>
            <a:rect l="l" t="t" r="r" b="b"/>
            <a:pathLst>
              <a:path h="2160270">
                <a:moveTo>
                  <a:pt x="0" y="2160003"/>
                </a:moveTo>
                <a:lnTo>
                  <a:pt x="0" y="0"/>
                </a:lnTo>
              </a:path>
            </a:pathLst>
          </a:custGeom>
          <a:ln w="6325">
            <a:solidFill>
              <a:srgbClr val="CED3DA"/>
            </a:solidFill>
          </a:ln>
        </p:spPr>
        <p:txBody>
          <a:bodyPr wrap="square" lIns="0" tIns="0" rIns="0" bIns="0" rtlCol="0"/>
          <a:lstStyle/>
          <a:p>
            <a:endParaRPr/>
          </a:p>
        </p:txBody>
      </p:sp>
      <p:sp>
        <p:nvSpPr>
          <p:cNvPr id="7" name="object 7"/>
          <p:cNvSpPr txBox="1"/>
          <p:nvPr/>
        </p:nvSpPr>
        <p:spPr>
          <a:xfrm>
            <a:off x="4017479" y="411353"/>
            <a:ext cx="1484630" cy="866904"/>
          </a:xfrm>
          <a:prstGeom prst="rect">
            <a:avLst/>
          </a:prstGeom>
        </p:spPr>
        <p:txBody>
          <a:bodyPr vert="horz" wrap="square" lIns="0" tIns="12700" rIns="0" bIns="0" rtlCol="0">
            <a:spAutoFit/>
          </a:bodyPr>
          <a:lstStyle/>
          <a:p>
            <a:pPr>
              <a:lnSpc>
                <a:spcPct val="100000"/>
              </a:lnSpc>
              <a:spcBef>
                <a:spcPts val="145"/>
              </a:spcBef>
            </a:pPr>
            <a:endParaRPr sz="800">
              <a:latin typeface="Arial"/>
              <a:cs typeface="Arial"/>
            </a:endParaRPr>
          </a:p>
          <a:p>
            <a:pPr marL="12700">
              <a:lnSpc>
                <a:spcPct val="100000"/>
              </a:lnSpc>
            </a:pPr>
            <a:r>
              <a:rPr sz="1000" b="1" spc="-45">
                <a:solidFill>
                  <a:srgbClr val="D65F2C"/>
                </a:solidFill>
                <a:latin typeface="Arial"/>
                <a:cs typeface="Arial"/>
              </a:rPr>
              <a:t>Adverse</a:t>
            </a:r>
            <a:r>
              <a:rPr sz="1000" b="1" spc="15">
                <a:solidFill>
                  <a:srgbClr val="D65F2C"/>
                </a:solidFill>
                <a:latin typeface="Arial"/>
                <a:cs typeface="Arial"/>
              </a:rPr>
              <a:t> </a:t>
            </a:r>
            <a:r>
              <a:rPr sz="1000" b="1" spc="-10">
                <a:solidFill>
                  <a:srgbClr val="D65F2C"/>
                </a:solidFill>
                <a:latin typeface="Arial"/>
                <a:cs typeface="Arial"/>
              </a:rPr>
              <a:t>Outcomes:</a:t>
            </a:r>
            <a:endParaRPr sz="1000">
              <a:latin typeface="Arial"/>
              <a:cs typeface="Arial"/>
            </a:endParaRPr>
          </a:p>
          <a:p>
            <a:pPr marL="117475" indent="-104775">
              <a:lnSpc>
                <a:spcPct val="100000"/>
              </a:lnSpc>
              <a:spcBef>
                <a:spcPts val="325"/>
              </a:spcBef>
              <a:buClr>
                <a:srgbClr val="005F73"/>
              </a:buClr>
              <a:buFont typeface="Times New Roman"/>
              <a:buChar char="•"/>
              <a:tabLst>
                <a:tab pos="117475" algn="l"/>
              </a:tabLst>
            </a:pPr>
            <a:r>
              <a:rPr sz="1000" spc="-25">
                <a:solidFill>
                  <a:srgbClr val="202429"/>
                </a:solidFill>
                <a:latin typeface="Tahoma"/>
                <a:cs typeface="Tahoma"/>
              </a:rPr>
              <a:t>Therapeutic</a:t>
            </a:r>
            <a:r>
              <a:rPr sz="1000" spc="10">
                <a:solidFill>
                  <a:srgbClr val="202429"/>
                </a:solidFill>
                <a:latin typeface="Tahoma"/>
                <a:cs typeface="Tahoma"/>
              </a:rPr>
              <a:t> </a:t>
            </a:r>
            <a:r>
              <a:rPr sz="1000" spc="-10">
                <a:solidFill>
                  <a:srgbClr val="202429"/>
                </a:solidFill>
                <a:latin typeface="Tahoma"/>
                <a:cs typeface="Tahoma"/>
              </a:rPr>
              <a:t>hypothermia</a:t>
            </a:r>
            <a:endParaRPr sz="1000">
              <a:latin typeface="Tahoma"/>
              <a:cs typeface="Tahoma"/>
            </a:endParaRPr>
          </a:p>
          <a:p>
            <a:pPr marL="117475" indent="-104775">
              <a:lnSpc>
                <a:spcPct val="100000"/>
              </a:lnSpc>
              <a:spcBef>
                <a:spcPts val="195"/>
              </a:spcBef>
              <a:buClr>
                <a:srgbClr val="005F73"/>
              </a:buClr>
              <a:buFont typeface="Times New Roman"/>
              <a:buChar char="•"/>
              <a:tabLst>
                <a:tab pos="117475" algn="l"/>
              </a:tabLst>
            </a:pPr>
            <a:r>
              <a:rPr sz="1000" spc="-10">
                <a:solidFill>
                  <a:srgbClr val="202429"/>
                </a:solidFill>
                <a:latin typeface="Tahoma"/>
                <a:cs typeface="Tahoma"/>
              </a:rPr>
              <a:t>Maternal</a:t>
            </a:r>
            <a:r>
              <a:rPr sz="1000" spc="-60">
                <a:solidFill>
                  <a:srgbClr val="202429"/>
                </a:solidFill>
                <a:latin typeface="Tahoma"/>
                <a:cs typeface="Tahoma"/>
              </a:rPr>
              <a:t> </a:t>
            </a:r>
            <a:r>
              <a:rPr sz="1000" spc="-10">
                <a:solidFill>
                  <a:srgbClr val="202429"/>
                </a:solidFill>
                <a:latin typeface="Tahoma"/>
                <a:cs typeface="Tahoma"/>
              </a:rPr>
              <a:t>death</a:t>
            </a:r>
            <a:endParaRPr sz="1000">
              <a:latin typeface="Tahoma"/>
              <a:cs typeface="Tahoma"/>
            </a:endParaRPr>
          </a:p>
          <a:p>
            <a:pPr marL="117475" indent="-104775">
              <a:lnSpc>
                <a:spcPct val="100000"/>
              </a:lnSpc>
              <a:spcBef>
                <a:spcPts val="355"/>
              </a:spcBef>
              <a:buClr>
                <a:srgbClr val="005F73"/>
              </a:buClr>
              <a:buFont typeface="Times New Roman"/>
              <a:buChar char="•"/>
              <a:tabLst>
                <a:tab pos="117475" algn="l"/>
              </a:tabLst>
            </a:pPr>
            <a:r>
              <a:rPr sz="1000" spc="-10">
                <a:solidFill>
                  <a:srgbClr val="202429"/>
                </a:solidFill>
                <a:latin typeface="Tahoma"/>
                <a:cs typeface="Tahoma"/>
              </a:rPr>
              <a:t>Stillbirth</a:t>
            </a:r>
            <a:endParaRPr sz="1000">
              <a:latin typeface="Tahoma"/>
              <a:cs typeface="Tahoma"/>
            </a:endParaRPr>
          </a:p>
        </p:txBody>
      </p:sp>
      <p:sp>
        <p:nvSpPr>
          <p:cNvPr id="8" name="object 8"/>
          <p:cNvSpPr/>
          <p:nvPr/>
        </p:nvSpPr>
        <p:spPr>
          <a:xfrm>
            <a:off x="0" y="3060028"/>
            <a:ext cx="5760085" cy="0"/>
          </a:xfrm>
          <a:custGeom>
            <a:avLst/>
            <a:gdLst/>
            <a:ahLst/>
            <a:cxnLst/>
            <a:rect l="l" t="t" r="r" b="b"/>
            <a:pathLst>
              <a:path w="5760085">
                <a:moveTo>
                  <a:pt x="0" y="0"/>
                </a:moveTo>
                <a:lnTo>
                  <a:pt x="5760073" y="0"/>
                </a:lnTo>
              </a:path>
            </a:pathLst>
          </a:custGeom>
          <a:ln w="6326">
            <a:solidFill>
              <a:srgbClr val="CED3DA"/>
            </a:solidFill>
          </a:ln>
        </p:spPr>
        <p:txBody>
          <a:bodyPr wrap="square" lIns="0" tIns="0" rIns="0" bIns="0" rtlCol="0"/>
          <a:lstStyle/>
          <a:p>
            <a:endParaRPr/>
          </a:p>
        </p:txBody>
      </p:sp>
      <p:sp>
        <p:nvSpPr>
          <p:cNvPr id="12" name="TextBox 11">
            <a:extLst>
              <a:ext uri="{FF2B5EF4-FFF2-40B4-BE49-F238E27FC236}">
                <a16:creationId xmlns:a16="http://schemas.microsoft.com/office/drawing/2014/main" id="{AC1614B2-F6C9-B256-B026-468A8F33161C}"/>
              </a:ext>
            </a:extLst>
          </p:cNvPr>
          <p:cNvSpPr txBox="1"/>
          <p:nvPr/>
        </p:nvSpPr>
        <p:spPr>
          <a:xfrm>
            <a:off x="3550285" y="1583065"/>
            <a:ext cx="2209800" cy="461665"/>
          </a:xfrm>
          <a:prstGeom prst="rect">
            <a:avLst/>
          </a:prstGeom>
          <a:noFill/>
        </p:spPr>
        <p:txBody>
          <a:bodyPr wrap="square">
            <a:spAutoFit/>
          </a:bodyPr>
          <a:lstStyle/>
          <a:p>
            <a:pPr>
              <a:buNone/>
            </a:pPr>
            <a:r>
              <a:rPr lang="en-GB" sz="600"/>
              <a:t>The three green bars highlight the most common factors:</a:t>
            </a:r>
          </a:p>
          <a:p>
            <a:pPr marL="171450" indent="-171450">
              <a:buFont typeface="Arial" panose="020B0604020202020204" pitchFamily="34" charset="0"/>
              <a:buChar char="•"/>
            </a:pPr>
            <a:r>
              <a:rPr lang="en-GB" sz="600" b="1"/>
              <a:t>Communication</a:t>
            </a:r>
            <a:r>
              <a:rPr lang="en-GB" sz="600"/>
              <a:t>: 159 reports</a:t>
            </a:r>
          </a:p>
          <a:p>
            <a:pPr marL="171450" indent="-171450">
              <a:buFont typeface="Arial" panose="020B0604020202020204" pitchFamily="34" charset="0"/>
              <a:buChar char="•"/>
            </a:pPr>
            <a:r>
              <a:rPr lang="en-GB" sz="600" b="1"/>
              <a:t>Teamworking</a:t>
            </a:r>
            <a:r>
              <a:rPr lang="en-GB" sz="600"/>
              <a:t>: 155 reports</a:t>
            </a:r>
          </a:p>
          <a:p>
            <a:pPr marL="171450" indent="-171450">
              <a:buFont typeface="Arial" panose="020B0604020202020204" pitchFamily="34" charset="0"/>
              <a:buChar char="•"/>
            </a:pPr>
            <a:r>
              <a:rPr lang="en-GB" sz="600" b="1"/>
              <a:t>Assessment/investigation/screening</a:t>
            </a:r>
            <a:r>
              <a:rPr lang="en-GB" sz="600"/>
              <a:t>: 150 reports</a:t>
            </a:r>
          </a:p>
        </p:txBody>
      </p:sp>
      <p:sp>
        <p:nvSpPr>
          <p:cNvPr id="13" name="Rectangle 1">
            <a:extLst>
              <a:ext uri="{FF2B5EF4-FFF2-40B4-BE49-F238E27FC236}">
                <a16:creationId xmlns:a16="http://schemas.microsoft.com/office/drawing/2014/main" id="{C8994933-CB50-7D53-3646-FCC7F8D31616}"/>
              </a:ext>
            </a:extLst>
          </p:cNvPr>
          <p:cNvSpPr>
            <a:spLocks noChangeArrowheads="1"/>
          </p:cNvSpPr>
          <p:nvPr/>
        </p:nvSpPr>
        <p:spPr bwMode="auto">
          <a:xfrm>
            <a:off x="139700" y="2811946"/>
            <a:ext cx="535114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700" b="0" i="0" u="none" strike="noStrike" cap="none" normalizeH="0" baseline="0">
                <a:ln>
                  <a:noFill/>
                </a:ln>
                <a:solidFill>
                  <a:schemeClr val="bg1">
                    <a:lumMod val="50000"/>
                  </a:schemeClr>
                </a:solidFill>
                <a:effectLst/>
                <a:latin typeface="Arial" panose="020B0604020202020204" pitchFamily="34" charset="0"/>
              </a:rPr>
              <a:t>Each bar shows the number of reports where that human factor appeared, e.g. Communication appeared in 159 out of 188 reports.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700" b="0" i="0" u="none" strike="noStrike" cap="none" normalizeH="0" baseline="0">
              <a:ln>
                <a:noFill/>
              </a:ln>
              <a:solidFill>
                <a:schemeClr val="bg1">
                  <a:lumMod val="50000"/>
                </a:schemeClr>
              </a:solidFill>
              <a:effectLst/>
              <a:latin typeface="Arial" panose="020B0604020202020204" pitchFamily="34" charset="0"/>
            </a:endParaRPr>
          </a:p>
        </p:txBody>
      </p:sp>
      <p:sp>
        <p:nvSpPr>
          <p:cNvPr id="14" name="Slide Number Placeholder 13">
            <a:extLst>
              <a:ext uri="{FF2B5EF4-FFF2-40B4-BE49-F238E27FC236}">
                <a16:creationId xmlns:a16="http://schemas.microsoft.com/office/drawing/2014/main" id="{12BD684F-9668-A46C-F31C-335E722DA9E0}"/>
              </a:ext>
            </a:extLst>
          </p:cNvPr>
          <p:cNvSpPr>
            <a:spLocks noGrp="1"/>
          </p:cNvSpPr>
          <p:nvPr>
            <p:ph type="sldNum" sz="quarter" idx="7"/>
          </p:nvPr>
        </p:nvSpPr>
        <p:spPr>
          <a:xfrm>
            <a:off x="5301576" y="3060028"/>
            <a:ext cx="464224" cy="173989"/>
          </a:xfrm>
        </p:spPr>
        <p:txBody>
          <a:bodyPr/>
          <a:lstStyle/>
          <a:p>
            <a:pPr marL="39370">
              <a:lnSpc>
                <a:spcPct val="100000"/>
              </a:lnSpc>
              <a:spcBef>
                <a:spcPts val="219"/>
              </a:spcBef>
            </a:pPr>
            <a:fld id="{81D60167-4931-47E6-BA6A-407CBD079E47}" type="slidenum">
              <a:rPr lang="en-GB" smtClean="0"/>
              <a:t>18</a:t>
            </a:fld>
            <a:r>
              <a:rPr lang="en-GB" spc="20"/>
              <a:t> </a:t>
            </a:r>
            <a:r>
              <a:rPr lang="en-GB" spc="120"/>
              <a:t>/</a:t>
            </a:r>
            <a:r>
              <a:rPr lang="en-GB" spc="25"/>
              <a:t> </a:t>
            </a:r>
            <a:r>
              <a:rPr lang="en-GB" spc="-25"/>
              <a:t>41</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260908" y="304302"/>
            <a:ext cx="1328420" cy="244475"/>
          </a:xfrm>
          <a:prstGeom prst="rect">
            <a:avLst/>
          </a:prstGeom>
        </p:spPr>
        <p:txBody>
          <a:bodyPr vert="horz" wrap="square" lIns="0" tIns="17145" rIns="0" bIns="0" rtlCol="0">
            <a:spAutoFit/>
          </a:bodyPr>
          <a:lstStyle/>
          <a:p>
            <a:pPr marL="12700">
              <a:lnSpc>
                <a:spcPct val="100000"/>
              </a:lnSpc>
              <a:spcBef>
                <a:spcPts val="135"/>
              </a:spcBef>
            </a:pPr>
            <a:r>
              <a:rPr spc="-25">
                <a:solidFill>
                  <a:srgbClr val="005F73"/>
                </a:solidFill>
              </a:rPr>
              <a:t>Communication</a:t>
            </a:r>
          </a:p>
        </p:txBody>
      </p:sp>
      <p:pic>
        <p:nvPicPr>
          <p:cNvPr id="3" name="object 3"/>
          <p:cNvPicPr/>
          <p:nvPr/>
        </p:nvPicPr>
        <p:blipFill>
          <a:blip r:embed="rId3" cstate="print"/>
          <a:stretch>
            <a:fillRect/>
          </a:stretch>
        </p:blipFill>
        <p:spPr>
          <a:xfrm>
            <a:off x="3067215" y="594212"/>
            <a:ext cx="1919975" cy="2159972"/>
          </a:xfrm>
          <a:prstGeom prst="rect">
            <a:avLst/>
          </a:prstGeom>
        </p:spPr>
      </p:pic>
      <p:sp>
        <p:nvSpPr>
          <p:cNvPr id="4" name="object 4"/>
          <p:cNvSpPr/>
          <p:nvPr/>
        </p:nvSpPr>
        <p:spPr>
          <a:xfrm>
            <a:off x="0" y="3060028"/>
            <a:ext cx="5760085" cy="0"/>
          </a:xfrm>
          <a:custGeom>
            <a:avLst/>
            <a:gdLst/>
            <a:ahLst/>
            <a:cxnLst/>
            <a:rect l="l" t="t" r="r" b="b"/>
            <a:pathLst>
              <a:path w="5760085">
                <a:moveTo>
                  <a:pt x="0" y="0"/>
                </a:moveTo>
                <a:lnTo>
                  <a:pt x="5760073" y="0"/>
                </a:lnTo>
              </a:path>
            </a:pathLst>
          </a:custGeom>
          <a:ln w="6326">
            <a:solidFill>
              <a:srgbClr val="CED3DA"/>
            </a:solidFill>
          </a:ln>
        </p:spPr>
        <p:txBody>
          <a:bodyPr wrap="square" lIns="0" tIns="0" rIns="0" bIns="0" rtlCol="0"/>
          <a:lstStyle/>
          <a:p>
            <a:endParaRPr/>
          </a:p>
        </p:txBody>
      </p:sp>
      <p:sp>
        <p:nvSpPr>
          <p:cNvPr id="5" name="object 5"/>
          <p:cNvSpPr txBox="1"/>
          <p:nvPr/>
        </p:nvSpPr>
        <p:spPr>
          <a:xfrm>
            <a:off x="70497" y="617585"/>
            <a:ext cx="2629535" cy="2643672"/>
          </a:xfrm>
          <a:prstGeom prst="rect">
            <a:avLst/>
          </a:prstGeom>
        </p:spPr>
        <p:txBody>
          <a:bodyPr vert="horz" wrap="square" lIns="0" tIns="27305" rIns="0" bIns="0" rtlCol="0">
            <a:spAutoFit/>
          </a:bodyPr>
          <a:lstStyle/>
          <a:p>
            <a:pPr marL="202565" marR="29845">
              <a:lnSpc>
                <a:spcPts val="1350"/>
              </a:lnSpc>
              <a:spcBef>
                <a:spcPts val="215"/>
              </a:spcBef>
            </a:pPr>
            <a:r>
              <a:rPr sz="1200">
                <a:solidFill>
                  <a:srgbClr val="202429"/>
                </a:solidFill>
                <a:latin typeface="Tahoma"/>
                <a:cs typeface="Tahoma"/>
              </a:rPr>
              <a:t>Not</a:t>
            </a:r>
            <a:r>
              <a:rPr sz="1200" spc="-25">
                <a:solidFill>
                  <a:srgbClr val="202429"/>
                </a:solidFill>
                <a:latin typeface="Tahoma"/>
                <a:cs typeface="Tahoma"/>
              </a:rPr>
              <a:t> </a:t>
            </a:r>
            <a:r>
              <a:rPr sz="1200" spc="-50">
                <a:solidFill>
                  <a:srgbClr val="202429"/>
                </a:solidFill>
                <a:latin typeface="Tahoma"/>
                <a:cs typeface="Tahoma"/>
              </a:rPr>
              <a:t>listen</a:t>
            </a:r>
            <a:r>
              <a:rPr lang="en-GB" sz="1200" spc="-50">
                <a:solidFill>
                  <a:srgbClr val="202429"/>
                </a:solidFill>
                <a:latin typeface="Tahoma"/>
                <a:cs typeface="Tahoma"/>
              </a:rPr>
              <a:t>ed</a:t>
            </a:r>
            <a:r>
              <a:rPr sz="1200" spc="-25">
                <a:solidFill>
                  <a:srgbClr val="202429"/>
                </a:solidFill>
                <a:latin typeface="Tahoma"/>
                <a:cs typeface="Tahoma"/>
              </a:rPr>
              <a:t> </a:t>
            </a:r>
            <a:r>
              <a:rPr sz="1200">
                <a:solidFill>
                  <a:srgbClr val="202429"/>
                </a:solidFill>
                <a:latin typeface="Tahoma"/>
                <a:cs typeface="Tahoma"/>
              </a:rPr>
              <a:t>to,</a:t>
            </a:r>
            <a:r>
              <a:rPr sz="1200" spc="-20">
                <a:solidFill>
                  <a:srgbClr val="202429"/>
                </a:solidFill>
                <a:latin typeface="Tahoma"/>
                <a:cs typeface="Tahoma"/>
              </a:rPr>
              <a:t> </a:t>
            </a:r>
            <a:r>
              <a:rPr sz="1200" spc="-70">
                <a:solidFill>
                  <a:srgbClr val="202429"/>
                </a:solidFill>
                <a:latin typeface="Tahoma"/>
                <a:cs typeface="Tahoma"/>
              </a:rPr>
              <a:t>dismissing</a:t>
            </a:r>
            <a:r>
              <a:rPr sz="1200" spc="-25">
                <a:solidFill>
                  <a:srgbClr val="202429"/>
                </a:solidFill>
                <a:latin typeface="Tahoma"/>
                <a:cs typeface="Tahoma"/>
              </a:rPr>
              <a:t> </a:t>
            </a:r>
            <a:r>
              <a:rPr sz="1200" spc="-40">
                <a:solidFill>
                  <a:srgbClr val="202429"/>
                </a:solidFill>
                <a:latin typeface="Tahoma"/>
                <a:cs typeface="Tahoma"/>
              </a:rPr>
              <a:t>or</a:t>
            </a:r>
            <a:r>
              <a:rPr sz="1200" spc="-25">
                <a:solidFill>
                  <a:srgbClr val="202429"/>
                </a:solidFill>
                <a:latin typeface="Tahoma"/>
                <a:cs typeface="Tahoma"/>
              </a:rPr>
              <a:t> </a:t>
            </a:r>
            <a:r>
              <a:rPr sz="1200" spc="-40">
                <a:solidFill>
                  <a:srgbClr val="202429"/>
                </a:solidFill>
                <a:latin typeface="Tahoma"/>
                <a:cs typeface="Tahoma"/>
              </a:rPr>
              <a:t>ignoring </a:t>
            </a:r>
            <a:r>
              <a:rPr sz="1200" spc="-75">
                <a:solidFill>
                  <a:srgbClr val="202429"/>
                </a:solidFill>
                <a:latin typeface="Tahoma"/>
                <a:cs typeface="Tahoma"/>
              </a:rPr>
              <a:t>women’s</a:t>
            </a:r>
            <a:r>
              <a:rPr sz="1200" spc="10">
                <a:solidFill>
                  <a:srgbClr val="202429"/>
                </a:solidFill>
                <a:latin typeface="Tahoma"/>
                <a:cs typeface="Tahoma"/>
              </a:rPr>
              <a:t> </a:t>
            </a:r>
            <a:r>
              <a:rPr sz="1200" spc="-60">
                <a:solidFill>
                  <a:srgbClr val="202429"/>
                </a:solidFill>
                <a:latin typeface="Tahoma"/>
                <a:cs typeface="Tahoma"/>
              </a:rPr>
              <a:t>concerns,</a:t>
            </a:r>
            <a:r>
              <a:rPr sz="1200" spc="10">
                <a:solidFill>
                  <a:srgbClr val="202429"/>
                </a:solidFill>
                <a:latin typeface="Tahoma"/>
                <a:cs typeface="Tahoma"/>
              </a:rPr>
              <a:t> </a:t>
            </a:r>
            <a:r>
              <a:rPr sz="1200" spc="-80">
                <a:solidFill>
                  <a:srgbClr val="202429"/>
                </a:solidFill>
                <a:latin typeface="Tahoma"/>
                <a:cs typeface="Tahoma"/>
              </a:rPr>
              <a:t>preferences</a:t>
            </a:r>
            <a:r>
              <a:rPr sz="1200" spc="10">
                <a:solidFill>
                  <a:srgbClr val="202429"/>
                </a:solidFill>
                <a:latin typeface="Tahoma"/>
                <a:cs typeface="Tahoma"/>
              </a:rPr>
              <a:t> </a:t>
            </a:r>
            <a:r>
              <a:rPr sz="1200" spc="-25">
                <a:solidFill>
                  <a:srgbClr val="202429"/>
                </a:solidFill>
                <a:latin typeface="Tahoma"/>
                <a:cs typeface="Tahoma"/>
              </a:rPr>
              <a:t>and</a:t>
            </a:r>
            <a:endParaRPr sz="1200">
              <a:latin typeface="Tahoma"/>
              <a:cs typeface="Tahoma"/>
            </a:endParaRPr>
          </a:p>
          <a:p>
            <a:pPr marL="202565">
              <a:lnSpc>
                <a:spcPts val="1330"/>
              </a:lnSpc>
            </a:pPr>
            <a:r>
              <a:rPr sz="1200" spc="-10">
                <a:solidFill>
                  <a:srgbClr val="202429"/>
                </a:solidFill>
                <a:latin typeface="Tahoma"/>
                <a:cs typeface="Tahoma"/>
              </a:rPr>
              <a:t>requests</a:t>
            </a:r>
            <a:endParaRPr sz="1200">
              <a:latin typeface="Tahoma"/>
              <a:cs typeface="Tahoma"/>
            </a:endParaRPr>
          </a:p>
          <a:p>
            <a:pPr marL="202565" marR="5080">
              <a:lnSpc>
                <a:spcPts val="1350"/>
              </a:lnSpc>
              <a:spcBef>
                <a:spcPts val="905"/>
              </a:spcBef>
            </a:pPr>
            <a:r>
              <a:rPr sz="1200">
                <a:solidFill>
                  <a:srgbClr val="202429"/>
                </a:solidFill>
                <a:latin typeface="Tahoma"/>
                <a:cs typeface="Tahoma"/>
              </a:rPr>
              <a:t>Not</a:t>
            </a:r>
            <a:r>
              <a:rPr sz="1200" spc="-5">
                <a:solidFill>
                  <a:srgbClr val="202429"/>
                </a:solidFill>
                <a:latin typeface="Tahoma"/>
                <a:cs typeface="Tahoma"/>
              </a:rPr>
              <a:t> </a:t>
            </a:r>
            <a:r>
              <a:rPr sz="1200" spc="-60">
                <a:solidFill>
                  <a:srgbClr val="202429"/>
                </a:solidFill>
                <a:latin typeface="Tahoma"/>
                <a:cs typeface="Tahoma"/>
              </a:rPr>
              <a:t>providing</a:t>
            </a:r>
            <a:r>
              <a:rPr sz="1200" spc="-5">
                <a:solidFill>
                  <a:srgbClr val="202429"/>
                </a:solidFill>
                <a:latin typeface="Tahoma"/>
                <a:cs typeface="Tahoma"/>
              </a:rPr>
              <a:t> </a:t>
            </a:r>
            <a:r>
              <a:rPr sz="1200" spc="-60">
                <a:solidFill>
                  <a:srgbClr val="202429"/>
                </a:solidFill>
                <a:latin typeface="Tahoma"/>
                <a:cs typeface="Tahoma"/>
              </a:rPr>
              <a:t>suﬃcient</a:t>
            </a:r>
            <a:r>
              <a:rPr sz="1200">
                <a:solidFill>
                  <a:srgbClr val="202429"/>
                </a:solidFill>
                <a:latin typeface="Tahoma"/>
                <a:cs typeface="Tahoma"/>
              </a:rPr>
              <a:t> </a:t>
            </a:r>
            <a:r>
              <a:rPr sz="1200" spc="-50">
                <a:solidFill>
                  <a:srgbClr val="202429"/>
                </a:solidFill>
                <a:latin typeface="Tahoma"/>
                <a:cs typeface="Tahoma"/>
              </a:rPr>
              <a:t>information</a:t>
            </a:r>
            <a:r>
              <a:rPr sz="1200">
                <a:solidFill>
                  <a:srgbClr val="202429"/>
                </a:solidFill>
                <a:latin typeface="Tahoma"/>
                <a:cs typeface="Tahoma"/>
              </a:rPr>
              <a:t> </a:t>
            </a:r>
            <a:r>
              <a:rPr sz="1200" spc="-25">
                <a:solidFill>
                  <a:srgbClr val="202429"/>
                </a:solidFill>
                <a:latin typeface="Tahoma"/>
                <a:cs typeface="Tahoma"/>
              </a:rPr>
              <a:t>for </a:t>
            </a:r>
            <a:r>
              <a:rPr sz="1200" spc="-65">
                <a:solidFill>
                  <a:srgbClr val="202429"/>
                </a:solidFill>
                <a:latin typeface="Tahoma"/>
                <a:cs typeface="Tahoma"/>
              </a:rPr>
              <a:t>informed</a:t>
            </a:r>
            <a:r>
              <a:rPr sz="1200" spc="-25">
                <a:solidFill>
                  <a:srgbClr val="202429"/>
                </a:solidFill>
                <a:latin typeface="Tahoma"/>
                <a:cs typeface="Tahoma"/>
              </a:rPr>
              <a:t> </a:t>
            </a:r>
            <a:r>
              <a:rPr sz="1200" spc="-10">
                <a:solidFill>
                  <a:srgbClr val="202429"/>
                </a:solidFill>
                <a:latin typeface="Tahoma"/>
                <a:cs typeface="Tahoma"/>
              </a:rPr>
              <a:t>decisions</a:t>
            </a:r>
            <a:endParaRPr sz="1200">
              <a:latin typeface="Tahoma"/>
              <a:cs typeface="Tahoma"/>
            </a:endParaRPr>
          </a:p>
          <a:p>
            <a:pPr marL="202565">
              <a:lnSpc>
                <a:spcPct val="100000"/>
              </a:lnSpc>
              <a:spcBef>
                <a:spcPts val="765"/>
              </a:spcBef>
            </a:pPr>
            <a:r>
              <a:rPr sz="1200" spc="-35">
                <a:solidFill>
                  <a:srgbClr val="202429"/>
                </a:solidFill>
                <a:latin typeface="Tahoma"/>
                <a:cs typeface="Tahoma"/>
              </a:rPr>
              <a:t>Conﬂicting </a:t>
            </a:r>
            <a:r>
              <a:rPr sz="1200" spc="-50">
                <a:solidFill>
                  <a:srgbClr val="202429"/>
                </a:solidFill>
                <a:latin typeface="Tahoma"/>
                <a:cs typeface="Tahoma"/>
              </a:rPr>
              <a:t>recollections</a:t>
            </a:r>
            <a:r>
              <a:rPr sz="1200" spc="-30">
                <a:solidFill>
                  <a:srgbClr val="202429"/>
                </a:solidFill>
                <a:latin typeface="Tahoma"/>
                <a:cs typeface="Tahoma"/>
              </a:rPr>
              <a:t> </a:t>
            </a:r>
            <a:r>
              <a:rPr sz="1200">
                <a:solidFill>
                  <a:srgbClr val="202429"/>
                </a:solidFill>
                <a:latin typeface="Tahoma"/>
                <a:cs typeface="Tahoma"/>
              </a:rPr>
              <a:t>of</a:t>
            </a:r>
            <a:r>
              <a:rPr sz="1200" spc="-35">
                <a:solidFill>
                  <a:srgbClr val="202429"/>
                </a:solidFill>
                <a:latin typeface="Tahoma"/>
                <a:cs typeface="Tahoma"/>
              </a:rPr>
              <a:t> </a:t>
            </a:r>
            <a:r>
              <a:rPr sz="1200" spc="-10">
                <a:solidFill>
                  <a:srgbClr val="202429"/>
                </a:solidFill>
                <a:latin typeface="Tahoma"/>
                <a:cs typeface="Tahoma"/>
              </a:rPr>
              <a:t>discussions</a:t>
            </a:r>
            <a:endParaRPr sz="1200">
              <a:latin typeface="Tahoma"/>
              <a:cs typeface="Tahoma"/>
            </a:endParaRPr>
          </a:p>
          <a:p>
            <a:pPr marL="202565" marR="278765">
              <a:lnSpc>
                <a:spcPts val="1350"/>
              </a:lnSpc>
              <a:spcBef>
                <a:spcPts val="905"/>
              </a:spcBef>
            </a:pPr>
            <a:r>
              <a:rPr sz="1200" spc="-30">
                <a:solidFill>
                  <a:srgbClr val="202429"/>
                </a:solidFill>
                <a:latin typeface="Tahoma"/>
                <a:cs typeface="Tahoma"/>
              </a:rPr>
              <a:t>Problematic</a:t>
            </a:r>
            <a:r>
              <a:rPr sz="1200" spc="-20">
                <a:solidFill>
                  <a:srgbClr val="202429"/>
                </a:solidFill>
                <a:latin typeface="Tahoma"/>
                <a:cs typeface="Tahoma"/>
              </a:rPr>
              <a:t> </a:t>
            </a:r>
            <a:r>
              <a:rPr sz="1200" spc="-40">
                <a:solidFill>
                  <a:srgbClr val="202429"/>
                </a:solidFill>
                <a:latin typeface="Tahoma"/>
                <a:cs typeface="Tahoma"/>
              </a:rPr>
              <a:t>staﬀ</a:t>
            </a:r>
            <a:r>
              <a:rPr sz="1200" spc="-20">
                <a:solidFill>
                  <a:srgbClr val="202429"/>
                </a:solidFill>
                <a:latin typeface="Tahoma"/>
                <a:cs typeface="Tahoma"/>
              </a:rPr>
              <a:t> </a:t>
            </a:r>
            <a:r>
              <a:rPr sz="1200" spc="-45">
                <a:solidFill>
                  <a:srgbClr val="202429"/>
                </a:solidFill>
                <a:latin typeface="Tahoma"/>
                <a:cs typeface="Tahoma"/>
              </a:rPr>
              <a:t>interactions</a:t>
            </a:r>
            <a:r>
              <a:rPr sz="1200" spc="-20">
                <a:solidFill>
                  <a:srgbClr val="202429"/>
                </a:solidFill>
                <a:latin typeface="Tahoma"/>
                <a:cs typeface="Tahoma"/>
              </a:rPr>
              <a:t> </a:t>
            </a:r>
            <a:r>
              <a:rPr sz="1200" spc="-30">
                <a:solidFill>
                  <a:srgbClr val="202429"/>
                </a:solidFill>
                <a:latin typeface="Tahoma"/>
                <a:cs typeface="Tahoma"/>
              </a:rPr>
              <a:t>with </a:t>
            </a:r>
            <a:r>
              <a:rPr sz="1200" spc="-100">
                <a:solidFill>
                  <a:srgbClr val="202429"/>
                </a:solidFill>
                <a:latin typeface="Tahoma"/>
                <a:cs typeface="Tahoma"/>
              </a:rPr>
              <a:t>women</a:t>
            </a:r>
            <a:r>
              <a:rPr sz="1200" spc="5">
                <a:solidFill>
                  <a:srgbClr val="202429"/>
                </a:solidFill>
                <a:latin typeface="Tahoma"/>
                <a:cs typeface="Tahoma"/>
              </a:rPr>
              <a:t> </a:t>
            </a:r>
            <a:r>
              <a:rPr sz="1200" spc="-55">
                <a:solidFill>
                  <a:srgbClr val="202429"/>
                </a:solidFill>
                <a:latin typeface="Tahoma"/>
                <a:cs typeface="Tahoma"/>
              </a:rPr>
              <a:t>and</a:t>
            </a:r>
            <a:r>
              <a:rPr sz="1200" spc="-40">
                <a:solidFill>
                  <a:srgbClr val="202429"/>
                </a:solidFill>
                <a:latin typeface="Tahoma"/>
                <a:cs typeface="Tahoma"/>
              </a:rPr>
              <a:t> </a:t>
            </a:r>
            <a:r>
              <a:rPr sz="1200" spc="-35">
                <a:solidFill>
                  <a:srgbClr val="202429"/>
                </a:solidFill>
                <a:latin typeface="Tahoma"/>
                <a:cs typeface="Tahoma"/>
              </a:rPr>
              <a:t>their</a:t>
            </a:r>
            <a:r>
              <a:rPr sz="1200" spc="-30">
                <a:solidFill>
                  <a:srgbClr val="202429"/>
                </a:solidFill>
                <a:latin typeface="Tahoma"/>
                <a:cs typeface="Tahoma"/>
              </a:rPr>
              <a:t> </a:t>
            </a:r>
            <a:r>
              <a:rPr sz="1200" spc="-10">
                <a:solidFill>
                  <a:srgbClr val="202429"/>
                </a:solidFill>
                <a:latin typeface="Tahoma"/>
                <a:cs typeface="Tahoma"/>
              </a:rPr>
              <a:t>families</a:t>
            </a:r>
            <a:endParaRPr sz="1200">
              <a:latin typeface="Tahoma"/>
              <a:cs typeface="Tahoma"/>
            </a:endParaRPr>
          </a:p>
          <a:p>
            <a:pPr marL="202565" marR="94615">
              <a:lnSpc>
                <a:spcPts val="1350"/>
              </a:lnSpc>
              <a:spcBef>
                <a:spcPts val="885"/>
              </a:spcBef>
            </a:pPr>
            <a:r>
              <a:rPr sz="1200">
                <a:solidFill>
                  <a:srgbClr val="202429"/>
                </a:solidFill>
                <a:latin typeface="Tahoma"/>
                <a:cs typeface="Tahoma"/>
              </a:rPr>
              <a:t>Lack</a:t>
            </a:r>
            <a:r>
              <a:rPr sz="1200" spc="-50">
                <a:solidFill>
                  <a:srgbClr val="202429"/>
                </a:solidFill>
                <a:latin typeface="Tahoma"/>
                <a:cs typeface="Tahoma"/>
              </a:rPr>
              <a:t> </a:t>
            </a:r>
            <a:r>
              <a:rPr sz="1200">
                <a:solidFill>
                  <a:srgbClr val="202429"/>
                </a:solidFill>
                <a:latin typeface="Tahoma"/>
                <a:cs typeface="Tahoma"/>
              </a:rPr>
              <a:t>of</a:t>
            </a:r>
            <a:r>
              <a:rPr sz="1200" spc="-35">
                <a:solidFill>
                  <a:srgbClr val="202429"/>
                </a:solidFill>
                <a:latin typeface="Tahoma"/>
                <a:cs typeface="Tahoma"/>
              </a:rPr>
              <a:t> </a:t>
            </a:r>
            <a:r>
              <a:rPr sz="1200" spc="-40">
                <a:solidFill>
                  <a:srgbClr val="202429"/>
                </a:solidFill>
                <a:latin typeface="Tahoma"/>
                <a:cs typeface="Tahoma"/>
              </a:rPr>
              <a:t>translation</a:t>
            </a:r>
            <a:r>
              <a:rPr sz="1200" spc="-30">
                <a:solidFill>
                  <a:srgbClr val="202429"/>
                </a:solidFill>
                <a:latin typeface="Tahoma"/>
                <a:cs typeface="Tahoma"/>
              </a:rPr>
              <a:t> </a:t>
            </a:r>
            <a:r>
              <a:rPr sz="1200" spc="-70">
                <a:solidFill>
                  <a:srgbClr val="202429"/>
                </a:solidFill>
                <a:latin typeface="Tahoma"/>
                <a:cs typeface="Tahoma"/>
              </a:rPr>
              <a:t>services</a:t>
            </a:r>
            <a:r>
              <a:rPr sz="1200" spc="-25">
                <a:solidFill>
                  <a:srgbClr val="202429"/>
                </a:solidFill>
                <a:latin typeface="Tahoma"/>
                <a:cs typeface="Tahoma"/>
              </a:rPr>
              <a:t> </a:t>
            </a:r>
            <a:r>
              <a:rPr sz="1200" spc="-80">
                <a:solidFill>
                  <a:srgbClr val="202429"/>
                </a:solidFill>
                <a:latin typeface="Tahoma"/>
                <a:cs typeface="Tahoma"/>
              </a:rPr>
              <a:t>prevented </a:t>
            </a:r>
            <a:r>
              <a:rPr sz="1200" spc="-70">
                <a:solidFill>
                  <a:srgbClr val="202429"/>
                </a:solidFill>
                <a:latin typeface="Tahoma"/>
                <a:cs typeface="Tahoma"/>
              </a:rPr>
              <a:t>understanding</a:t>
            </a:r>
            <a:r>
              <a:rPr sz="1200" spc="-20">
                <a:solidFill>
                  <a:srgbClr val="202429"/>
                </a:solidFill>
                <a:latin typeface="Tahoma"/>
                <a:cs typeface="Tahoma"/>
              </a:rPr>
              <a:t> </a:t>
            </a:r>
            <a:r>
              <a:rPr sz="1200">
                <a:solidFill>
                  <a:srgbClr val="202429"/>
                </a:solidFill>
                <a:latin typeface="Tahoma"/>
                <a:cs typeface="Tahoma"/>
              </a:rPr>
              <a:t>of</a:t>
            </a:r>
            <a:r>
              <a:rPr sz="1200" spc="-10">
                <a:solidFill>
                  <a:srgbClr val="202429"/>
                </a:solidFill>
                <a:latin typeface="Tahoma"/>
                <a:cs typeface="Tahoma"/>
              </a:rPr>
              <a:t> </a:t>
            </a:r>
            <a:r>
              <a:rPr sz="1200" spc="-75">
                <a:solidFill>
                  <a:srgbClr val="202429"/>
                </a:solidFill>
                <a:latin typeface="Tahoma"/>
                <a:cs typeface="Tahoma"/>
              </a:rPr>
              <a:t>concerns</a:t>
            </a:r>
            <a:r>
              <a:rPr sz="1200" spc="-10">
                <a:solidFill>
                  <a:srgbClr val="202429"/>
                </a:solidFill>
                <a:latin typeface="Tahoma"/>
                <a:cs typeface="Tahoma"/>
              </a:rPr>
              <a:t> </a:t>
            </a:r>
            <a:r>
              <a:rPr sz="1200" spc="-55">
                <a:solidFill>
                  <a:srgbClr val="202429"/>
                </a:solidFill>
                <a:latin typeface="Tahoma"/>
                <a:cs typeface="Tahoma"/>
              </a:rPr>
              <a:t>and</a:t>
            </a:r>
            <a:r>
              <a:rPr sz="1200" spc="-15">
                <a:solidFill>
                  <a:srgbClr val="202429"/>
                </a:solidFill>
                <a:latin typeface="Tahoma"/>
                <a:cs typeface="Tahoma"/>
              </a:rPr>
              <a:t> </a:t>
            </a:r>
            <a:r>
              <a:rPr sz="1200" spc="-20">
                <a:solidFill>
                  <a:srgbClr val="202429"/>
                </a:solidFill>
                <a:latin typeface="Tahoma"/>
                <a:cs typeface="Tahoma"/>
              </a:rPr>
              <a:t>care</a:t>
            </a:r>
            <a:endParaRPr sz="1200">
              <a:latin typeface="Tahoma"/>
              <a:cs typeface="Tahoma"/>
            </a:endParaRPr>
          </a:p>
          <a:p>
            <a:pPr marL="202565">
              <a:lnSpc>
                <a:spcPts val="1330"/>
              </a:lnSpc>
            </a:pPr>
            <a:r>
              <a:rPr sz="1200" spc="-10">
                <a:solidFill>
                  <a:srgbClr val="202429"/>
                </a:solidFill>
                <a:latin typeface="Tahoma"/>
                <a:cs typeface="Tahoma"/>
              </a:rPr>
              <a:t>options</a:t>
            </a:r>
            <a:endParaRPr sz="1200">
              <a:latin typeface="Tahoma"/>
              <a:cs typeface="Tahoma"/>
            </a:endParaRPr>
          </a:p>
          <a:p>
            <a:pPr marL="12700">
              <a:lnSpc>
                <a:spcPct val="100000"/>
              </a:lnSpc>
              <a:spcBef>
                <a:spcPts val="675"/>
              </a:spcBef>
            </a:pPr>
            <a:r>
              <a:rPr sz="800" spc="-10">
                <a:solidFill>
                  <a:srgbClr val="6C757C"/>
                </a:solidFill>
                <a:latin typeface="Tahoma"/>
                <a:cs typeface="Tahoma"/>
              </a:rPr>
              <a:t>Responsible</a:t>
            </a:r>
            <a:r>
              <a:rPr sz="800" spc="20">
                <a:solidFill>
                  <a:srgbClr val="6C757C"/>
                </a:solidFill>
                <a:latin typeface="Tahoma"/>
                <a:cs typeface="Tahoma"/>
              </a:rPr>
              <a:t> </a:t>
            </a:r>
            <a:r>
              <a:rPr sz="800">
                <a:solidFill>
                  <a:srgbClr val="6C757C"/>
                </a:solidFill>
                <a:latin typeface="Tahoma"/>
                <a:cs typeface="Tahoma"/>
              </a:rPr>
              <a:t>AI</a:t>
            </a:r>
            <a:r>
              <a:rPr sz="800" spc="25">
                <a:solidFill>
                  <a:srgbClr val="6C757C"/>
                </a:solidFill>
                <a:latin typeface="Tahoma"/>
                <a:cs typeface="Tahoma"/>
              </a:rPr>
              <a:t> </a:t>
            </a:r>
            <a:r>
              <a:rPr sz="800">
                <a:solidFill>
                  <a:srgbClr val="6C757C"/>
                </a:solidFill>
                <a:latin typeface="Tahoma"/>
                <a:cs typeface="Tahoma"/>
              </a:rPr>
              <a:t>in</a:t>
            </a:r>
            <a:r>
              <a:rPr sz="800" spc="25">
                <a:solidFill>
                  <a:srgbClr val="6C757C"/>
                </a:solidFill>
                <a:latin typeface="Tahoma"/>
                <a:cs typeface="Tahoma"/>
              </a:rPr>
              <a:t> </a:t>
            </a:r>
            <a:r>
              <a:rPr sz="800" spc="-10">
                <a:solidFill>
                  <a:srgbClr val="6C757C"/>
                </a:solidFill>
                <a:latin typeface="Tahoma"/>
                <a:cs typeface="Tahoma"/>
              </a:rPr>
              <a:t>Healthcare</a:t>
            </a:r>
            <a:endParaRPr sz="800">
              <a:latin typeface="Tahoma"/>
              <a:cs typeface="Tahoma"/>
            </a:endParaRPr>
          </a:p>
        </p:txBody>
      </p:sp>
      <p:sp>
        <p:nvSpPr>
          <p:cNvPr id="6" name="object 6"/>
          <p:cNvSpPr txBox="1"/>
          <p:nvPr/>
        </p:nvSpPr>
        <p:spPr>
          <a:xfrm>
            <a:off x="2880042" y="2882228"/>
            <a:ext cx="2629535" cy="166071"/>
          </a:xfrm>
          <a:prstGeom prst="rect">
            <a:avLst/>
          </a:prstGeom>
        </p:spPr>
        <p:txBody>
          <a:bodyPr vert="horz" wrap="square" lIns="0" tIns="12065" rIns="0" bIns="0" rtlCol="0">
            <a:spAutoFit/>
          </a:bodyPr>
          <a:lstStyle/>
          <a:p>
            <a:pPr marL="38100">
              <a:lnSpc>
                <a:spcPct val="100000"/>
              </a:lnSpc>
              <a:spcBef>
                <a:spcPts val="95"/>
              </a:spcBef>
            </a:pPr>
            <a:r>
              <a:rPr sz="1500" spc="-67" baseline="5555">
                <a:solidFill>
                  <a:srgbClr val="6C757C"/>
                </a:solidFill>
                <a:latin typeface="Tahoma"/>
                <a:cs typeface="Tahoma"/>
              </a:rPr>
              <a:t>Identiﬁed</a:t>
            </a:r>
            <a:r>
              <a:rPr sz="1500" spc="-30" baseline="5555">
                <a:solidFill>
                  <a:srgbClr val="6C757C"/>
                </a:solidFill>
                <a:latin typeface="Tahoma"/>
                <a:cs typeface="Tahoma"/>
              </a:rPr>
              <a:t> </a:t>
            </a:r>
            <a:r>
              <a:rPr sz="1500" baseline="5555">
                <a:solidFill>
                  <a:srgbClr val="6C757C"/>
                </a:solidFill>
                <a:latin typeface="Tahoma"/>
                <a:cs typeface="Tahoma"/>
              </a:rPr>
              <a:t>in</a:t>
            </a:r>
            <a:r>
              <a:rPr sz="1500" spc="-15" baseline="5555">
                <a:solidFill>
                  <a:srgbClr val="6C757C"/>
                </a:solidFill>
                <a:latin typeface="Tahoma"/>
                <a:cs typeface="Tahoma"/>
              </a:rPr>
              <a:t> </a:t>
            </a:r>
            <a:r>
              <a:rPr sz="1500" b="1" baseline="5555">
                <a:solidFill>
                  <a:srgbClr val="6C757C"/>
                </a:solidFill>
                <a:latin typeface="Arial"/>
                <a:cs typeface="Arial"/>
              </a:rPr>
              <a:t>159</a:t>
            </a:r>
            <a:r>
              <a:rPr sz="1500" b="1" spc="75" baseline="5555">
                <a:solidFill>
                  <a:srgbClr val="6C757C"/>
                </a:solidFill>
                <a:latin typeface="Arial"/>
                <a:cs typeface="Arial"/>
              </a:rPr>
              <a:t> </a:t>
            </a:r>
            <a:r>
              <a:rPr sz="1500" b="1" baseline="5555">
                <a:solidFill>
                  <a:srgbClr val="6C757C"/>
                </a:solidFill>
                <a:latin typeface="Arial"/>
                <a:cs typeface="Arial"/>
              </a:rPr>
              <a:t>of</a:t>
            </a:r>
            <a:r>
              <a:rPr sz="1500" b="1" spc="75" baseline="5555">
                <a:solidFill>
                  <a:srgbClr val="6C757C"/>
                </a:solidFill>
                <a:latin typeface="Arial"/>
                <a:cs typeface="Arial"/>
              </a:rPr>
              <a:t> </a:t>
            </a:r>
            <a:r>
              <a:rPr sz="1500" b="1" baseline="5555">
                <a:solidFill>
                  <a:srgbClr val="6C757C"/>
                </a:solidFill>
                <a:latin typeface="Arial"/>
                <a:cs typeface="Arial"/>
              </a:rPr>
              <a:t>188</a:t>
            </a:r>
            <a:r>
              <a:rPr sz="1500" b="1" spc="22" baseline="5555">
                <a:solidFill>
                  <a:srgbClr val="6C757C"/>
                </a:solidFill>
                <a:latin typeface="Arial"/>
                <a:cs typeface="Arial"/>
              </a:rPr>
              <a:t> </a:t>
            </a:r>
            <a:r>
              <a:rPr sz="1500" spc="-15" baseline="5555">
                <a:solidFill>
                  <a:srgbClr val="6C757C"/>
                </a:solidFill>
                <a:latin typeface="Tahoma"/>
                <a:cs typeface="Tahoma"/>
              </a:rPr>
              <a:t>investigation</a:t>
            </a:r>
            <a:r>
              <a:rPr lang="en-GB" sz="1500" spc="44" baseline="5555">
                <a:solidFill>
                  <a:srgbClr val="6C757C"/>
                </a:solidFill>
                <a:latin typeface="Tahoma"/>
                <a:cs typeface="Tahoma"/>
              </a:rPr>
              <a:t> reports</a:t>
            </a:r>
            <a:endParaRPr sz="1500" baseline="5555">
              <a:latin typeface="Tahoma"/>
              <a:cs typeface="Tahoma"/>
            </a:endParaRPr>
          </a:p>
        </p:txBody>
      </p:sp>
      <p:sp>
        <p:nvSpPr>
          <p:cNvPr id="7" name="Slide Number Placeholder 6">
            <a:extLst>
              <a:ext uri="{FF2B5EF4-FFF2-40B4-BE49-F238E27FC236}">
                <a16:creationId xmlns:a16="http://schemas.microsoft.com/office/drawing/2014/main" id="{C83D5246-1182-6A11-09CE-C52221C3A512}"/>
              </a:ext>
            </a:extLst>
          </p:cNvPr>
          <p:cNvSpPr>
            <a:spLocks noGrp="1"/>
          </p:cNvSpPr>
          <p:nvPr>
            <p:ph type="sldNum" sz="quarter" idx="7"/>
          </p:nvPr>
        </p:nvSpPr>
        <p:spPr>
          <a:xfrm>
            <a:off x="5372061" y="3071758"/>
            <a:ext cx="388024" cy="173989"/>
          </a:xfrm>
        </p:spPr>
        <p:txBody>
          <a:bodyPr/>
          <a:lstStyle/>
          <a:p>
            <a:pPr marL="39370">
              <a:lnSpc>
                <a:spcPct val="100000"/>
              </a:lnSpc>
              <a:spcBef>
                <a:spcPts val="219"/>
              </a:spcBef>
            </a:pPr>
            <a:fld id="{81D60167-4931-47E6-BA6A-407CBD079E47}" type="slidenum">
              <a:rPr lang="en-GB" smtClean="0"/>
              <a:t>19</a:t>
            </a:fld>
            <a:r>
              <a:rPr lang="en-GB" spc="20"/>
              <a:t> </a:t>
            </a:r>
            <a:r>
              <a:rPr lang="en-GB" spc="120"/>
              <a:t>/</a:t>
            </a:r>
            <a:r>
              <a:rPr lang="en-GB" spc="25"/>
              <a:t> </a:t>
            </a:r>
            <a:r>
              <a:rPr lang="en-GB" spc="-25"/>
              <a:t>41</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410995" rIns="0" bIns="0" rtlCol="0">
            <a:spAutoFit/>
          </a:bodyPr>
          <a:lstStyle/>
          <a:p>
            <a:pPr marL="12700">
              <a:lnSpc>
                <a:spcPct val="100000"/>
              </a:lnSpc>
              <a:spcBef>
                <a:spcPts val="135"/>
              </a:spcBef>
            </a:pPr>
            <a:r>
              <a:rPr spc="-30">
                <a:solidFill>
                  <a:srgbClr val="005F73"/>
                </a:solidFill>
              </a:rPr>
              <a:t>Teamworking</a:t>
            </a:r>
          </a:p>
        </p:txBody>
      </p:sp>
      <p:pic>
        <p:nvPicPr>
          <p:cNvPr id="3" name="object 3"/>
          <p:cNvPicPr/>
          <p:nvPr/>
        </p:nvPicPr>
        <p:blipFill>
          <a:blip r:embed="rId3" cstate="print"/>
          <a:stretch>
            <a:fillRect/>
          </a:stretch>
        </p:blipFill>
        <p:spPr>
          <a:xfrm>
            <a:off x="3067215" y="442422"/>
            <a:ext cx="1703978" cy="2159972"/>
          </a:xfrm>
          <a:prstGeom prst="rect">
            <a:avLst/>
          </a:prstGeom>
        </p:spPr>
      </p:pic>
      <p:sp>
        <p:nvSpPr>
          <p:cNvPr id="4" name="object 4"/>
          <p:cNvSpPr txBox="1"/>
          <p:nvPr/>
        </p:nvSpPr>
        <p:spPr>
          <a:xfrm>
            <a:off x="260908" y="693290"/>
            <a:ext cx="5025390" cy="2117090"/>
          </a:xfrm>
          <a:prstGeom prst="rect">
            <a:avLst/>
          </a:prstGeom>
        </p:spPr>
        <p:txBody>
          <a:bodyPr vert="horz" wrap="square" lIns="0" tIns="27305" rIns="0" bIns="0" rtlCol="0">
            <a:spAutoFit/>
          </a:bodyPr>
          <a:lstStyle/>
          <a:p>
            <a:pPr marL="12700" marR="2555240">
              <a:lnSpc>
                <a:spcPts val="1350"/>
              </a:lnSpc>
              <a:spcBef>
                <a:spcPts val="215"/>
              </a:spcBef>
            </a:pPr>
            <a:r>
              <a:rPr sz="1200" spc="-60">
                <a:solidFill>
                  <a:srgbClr val="202429"/>
                </a:solidFill>
                <a:latin typeface="Tahoma"/>
                <a:cs typeface="Tahoma"/>
              </a:rPr>
              <a:t>Fragmented</a:t>
            </a:r>
            <a:r>
              <a:rPr sz="1200" spc="-35">
                <a:solidFill>
                  <a:srgbClr val="202429"/>
                </a:solidFill>
                <a:latin typeface="Tahoma"/>
                <a:cs typeface="Tahoma"/>
              </a:rPr>
              <a:t> </a:t>
            </a:r>
            <a:r>
              <a:rPr sz="1200" spc="-40">
                <a:solidFill>
                  <a:srgbClr val="202429"/>
                </a:solidFill>
                <a:latin typeface="Tahoma"/>
                <a:cs typeface="Tahoma"/>
              </a:rPr>
              <a:t>triage</a:t>
            </a:r>
            <a:r>
              <a:rPr sz="1200" spc="-50">
                <a:solidFill>
                  <a:srgbClr val="202429"/>
                </a:solidFill>
                <a:latin typeface="Tahoma"/>
                <a:cs typeface="Tahoma"/>
              </a:rPr>
              <a:t> </a:t>
            </a:r>
            <a:r>
              <a:rPr sz="1200" spc="-70">
                <a:solidFill>
                  <a:srgbClr val="202429"/>
                </a:solidFill>
                <a:latin typeface="Tahoma"/>
                <a:cs typeface="Tahoma"/>
              </a:rPr>
              <a:t>care</a:t>
            </a:r>
            <a:r>
              <a:rPr sz="1200" spc="-20">
                <a:solidFill>
                  <a:srgbClr val="202429"/>
                </a:solidFill>
                <a:latin typeface="Tahoma"/>
                <a:cs typeface="Tahoma"/>
              </a:rPr>
              <a:t> with</a:t>
            </a:r>
            <a:r>
              <a:rPr sz="1200" spc="-30">
                <a:solidFill>
                  <a:srgbClr val="202429"/>
                </a:solidFill>
                <a:latin typeface="Tahoma"/>
                <a:cs typeface="Tahoma"/>
              </a:rPr>
              <a:t> </a:t>
            </a:r>
            <a:r>
              <a:rPr sz="1200" spc="-70">
                <a:solidFill>
                  <a:srgbClr val="202429"/>
                </a:solidFill>
                <a:latin typeface="Tahoma"/>
                <a:cs typeface="Tahoma"/>
              </a:rPr>
              <a:t>many</a:t>
            </a:r>
            <a:r>
              <a:rPr sz="1200" spc="-25">
                <a:solidFill>
                  <a:srgbClr val="202429"/>
                </a:solidFill>
                <a:latin typeface="Tahoma"/>
                <a:cs typeface="Tahoma"/>
              </a:rPr>
              <a:t> </a:t>
            </a:r>
            <a:r>
              <a:rPr sz="1200" spc="-30">
                <a:solidFill>
                  <a:srgbClr val="202429"/>
                </a:solidFill>
                <a:latin typeface="Tahoma"/>
                <a:cs typeface="Tahoma"/>
              </a:rPr>
              <a:t>staﬀ </a:t>
            </a:r>
            <a:r>
              <a:rPr sz="1200" spc="-55">
                <a:solidFill>
                  <a:srgbClr val="202429"/>
                </a:solidFill>
                <a:latin typeface="Tahoma"/>
                <a:cs typeface="Tahoma"/>
              </a:rPr>
              <a:t>and</a:t>
            </a:r>
            <a:r>
              <a:rPr sz="1200" spc="-25">
                <a:solidFill>
                  <a:srgbClr val="202429"/>
                </a:solidFill>
                <a:latin typeface="Tahoma"/>
                <a:cs typeface="Tahoma"/>
              </a:rPr>
              <a:t> </a:t>
            </a:r>
            <a:r>
              <a:rPr sz="1200" spc="-55">
                <a:solidFill>
                  <a:srgbClr val="202429"/>
                </a:solidFill>
                <a:latin typeface="Tahoma"/>
                <a:cs typeface="Tahoma"/>
              </a:rPr>
              <a:t>inconsistent</a:t>
            </a:r>
            <a:r>
              <a:rPr sz="1200" spc="-25">
                <a:solidFill>
                  <a:srgbClr val="202429"/>
                </a:solidFill>
                <a:latin typeface="Tahoma"/>
                <a:cs typeface="Tahoma"/>
              </a:rPr>
              <a:t> </a:t>
            </a:r>
            <a:r>
              <a:rPr sz="1200" spc="-10">
                <a:solidFill>
                  <a:srgbClr val="202429"/>
                </a:solidFill>
                <a:latin typeface="Tahoma"/>
                <a:cs typeface="Tahoma"/>
              </a:rPr>
              <a:t>handovers</a:t>
            </a:r>
            <a:endParaRPr sz="1200">
              <a:latin typeface="Tahoma"/>
              <a:cs typeface="Tahoma"/>
            </a:endParaRPr>
          </a:p>
          <a:p>
            <a:pPr marL="12700" marR="2755900">
              <a:lnSpc>
                <a:spcPts val="1350"/>
              </a:lnSpc>
              <a:spcBef>
                <a:spcPts val="880"/>
              </a:spcBef>
            </a:pPr>
            <a:r>
              <a:rPr sz="1200" spc="-50">
                <a:solidFill>
                  <a:srgbClr val="202429"/>
                </a:solidFill>
                <a:latin typeface="Tahoma"/>
                <a:cs typeface="Tahoma"/>
              </a:rPr>
              <a:t>Communication</a:t>
            </a:r>
            <a:r>
              <a:rPr sz="1200" spc="-15">
                <a:solidFill>
                  <a:srgbClr val="202429"/>
                </a:solidFill>
                <a:latin typeface="Tahoma"/>
                <a:cs typeface="Tahoma"/>
              </a:rPr>
              <a:t> </a:t>
            </a:r>
            <a:r>
              <a:rPr sz="1200" spc="-55">
                <a:solidFill>
                  <a:srgbClr val="202429"/>
                </a:solidFill>
                <a:latin typeface="Tahoma"/>
                <a:cs typeface="Tahoma"/>
              </a:rPr>
              <a:t>and</a:t>
            </a:r>
            <a:r>
              <a:rPr sz="1200" spc="-15">
                <a:solidFill>
                  <a:srgbClr val="202429"/>
                </a:solidFill>
                <a:latin typeface="Tahoma"/>
                <a:cs typeface="Tahoma"/>
              </a:rPr>
              <a:t> </a:t>
            </a:r>
            <a:r>
              <a:rPr sz="1200" spc="-75">
                <a:solidFill>
                  <a:srgbClr val="202429"/>
                </a:solidFill>
                <a:latin typeface="Tahoma"/>
                <a:cs typeface="Tahoma"/>
              </a:rPr>
              <a:t>handover</a:t>
            </a:r>
            <a:r>
              <a:rPr sz="1200" spc="-15">
                <a:solidFill>
                  <a:srgbClr val="202429"/>
                </a:solidFill>
                <a:latin typeface="Tahoma"/>
                <a:cs typeface="Tahoma"/>
              </a:rPr>
              <a:t> </a:t>
            </a:r>
            <a:r>
              <a:rPr sz="1200" spc="-60">
                <a:solidFill>
                  <a:srgbClr val="202429"/>
                </a:solidFill>
                <a:latin typeface="Tahoma"/>
                <a:cs typeface="Tahoma"/>
              </a:rPr>
              <a:t>issues </a:t>
            </a:r>
            <a:r>
              <a:rPr sz="1200" spc="-90">
                <a:solidFill>
                  <a:srgbClr val="202429"/>
                </a:solidFill>
                <a:latin typeface="Tahoma"/>
                <a:cs typeface="Tahoma"/>
              </a:rPr>
              <a:t>between</a:t>
            </a:r>
            <a:r>
              <a:rPr sz="1200" spc="20">
                <a:solidFill>
                  <a:srgbClr val="202429"/>
                </a:solidFill>
                <a:latin typeface="Tahoma"/>
                <a:cs typeface="Tahoma"/>
              </a:rPr>
              <a:t> </a:t>
            </a:r>
            <a:r>
              <a:rPr sz="1200" spc="-10">
                <a:solidFill>
                  <a:srgbClr val="202429"/>
                </a:solidFill>
                <a:latin typeface="Tahoma"/>
                <a:cs typeface="Tahoma"/>
              </a:rPr>
              <a:t>teams</a:t>
            </a:r>
            <a:endParaRPr sz="1200">
              <a:latin typeface="Tahoma"/>
              <a:cs typeface="Tahoma"/>
            </a:endParaRPr>
          </a:p>
          <a:p>
            <a:pPr marL="12700">
              <a:lnSpc>
                <a:spcPts val="1395"/>
              </a:lnSpc>
              <a:spcBef>
                <a:spcPts val="765"/>
              </a:spcBef>
            </a:pPr>
            <a:r>
              <a:rPr sz="1200" spc="-55">
                <a:solidFill>
                  <a:srgbClr val="202429"/>
                </a:solidFill>
                <a:latin typeface="Tahoma"/>
                <a:cs typeface="Tahoma"/>
              </a:rPr>
              <a:t>Hierarchy</a:t>
            </a:r>
            <a:r>
              <a:rPr sz="1200" spc="-20">
                <a:solidFill>
                  <a:srgbClr val="202429"/>
                </a:solidFill>
                <a:latin typeface="Tahoma"/>
                <a:cs typeface="Tahoma"/>
              </a:rPr>
              <a:t> </a:t>
            </a:r>
            <a:r>
              <a:rPr sz="1200" spc="-55">
                <a:solidFill>
                  <a:srgbClr val="202429"/>
                </a:solidFill>
                <a:latin typeface="Tahoma"/>
                <a:cs typeface="Tahoma"/>
              </a:rPr>
              <a:t>perceptions</a:t>
            </a:r>
            <a:r>
              <a:rPr sz="1200" spc="-15">
                <a:solidFill>
                  <a:srgbClr val="202429"/>
                </a:solidFill>
                <a:latin typeface="Tahoma"/>
                <a:cs typeface="Tahoma"/>
              </a:rPr>
              <a:t> </a:t>
            </a:r>
            <a:r>
              <a:rPr sz="1200" spc="-25">
                <a:solidFill>
                  <a:srgbClr val="202429"/>
                </a:solidFill>
                <a:latin typeface="Tahoma"/>
                <a:cs typeface="Tahoma"/>
              </a:rPr>
              <a:t>and</a:t>
            </a:r>
            <a:endParaRPr sz="1200">
              <a:latin typeface="Tahoma"/>
              <a:cs typeface="Tahoma"/>
            </a:endParaRPr>
          </a:p>
          <a:p>
            <a:pPr marL="12700" marR="3058795">
              <a:lnSpc>
                <a:spcPts val="1350"/>
              </a:lnSpc>
              <a:spcBef>
                <a:spcPts val="75"/>
              </a:spcBef>
            </a:pPr>
            <a:r>
              <a:rPr sz="1200" spc="-50">
                <a:solidFill>
                  <a:srgbClr val="202429"/>
                </a:solidFill>
                <a:latin typeface="Tahoma"/>
                <a:cs typeface="Tahoma"/>
              </a:rPr>
              <a:t>communication</a:t>
            </a:r>
            <a:r>
              <a:rPr sz="1200" spc="-15">
                <a:solidFill>
                  <a:srgbClr val="202429"/>
                </a:solidFill>
                <a:latin typeface="Tahoma"/>
                <a:cs typeface="Tahoma"/>
              </a:rPr>
              <a:t> </a:t>
            </a:r>
            <a:r>
              <a:rPr sz="1200" spc="-65">
                <a:solidFill>
                  <a:srgbClr val="202429"/>
                </a:solidFill>
                <a:latin typeface="Tahoma"/>
                <a:cs typeface="Tahoma"/>
              </a:rPr>
              <a:t>gaps</a:t>
            </a:r>
            <a:r>
              <a:rPr sz="1200" spc="-15">
                <a:solidFill>
                  <a:srgbClr val="202429"/>
                </a:solidFill>
                <a:latin typeface="Tahoma"/>
                <a:cs typeface="Tahoma"/>
              </a:rPr>
              <a:t> </a:t>
            </a:r>
            <a:r>
              <a:rPr sz="1200" spc="-45">
                <a:solidFill>
                  <a:srgbClr val="202429"/>
                </a:solidFill>
                <a:latin typeface="Tahoma"/>
                <a:cs typeface="Tahoma"/>
              </a:rPr>
              <a:t>on</a:t>
            </a:r>
            <a:r>
              <a:rPr sz="1200" spc="-15">
                <a:solidFill>
                  <a:srgbClr val="202429"/>
                </a:solidFill>
                <a:latin typeface="Tahoma"/>
                <a:cs typeface="Tahoma"/>
              </a:rPr>
              <a:t> </a:t>
            </a:r>
            <a:r>
              <a:rPr sz="1200" spc="-100">
                <a:solidFill>
                  <a:srgbClr val="202429"/>
                </a:solidFill>
                <a:latin typeface="Tahoma"/>
                <a:cs typeface="Tahoma"/>
              </a:rPr>
              <a:t>needed </a:t>
            </a:r>
            <a:r>
              <a:rPr sz="1200" spc="-10">
                <a:solidFill>
                  <a:srgbClr val="202429"/>
                </a:solidFill>
                <a:latin typeface="Tahoma"/>
                <a:cs typeface="Tahoma"/>
              </a:rPr>
              <a:t>interventions</a:t>
            </a:r>
            <a:endParaRPr sz="1200">
              <a:latin typeface="Tahoma"/>
              <a:cs typeface="Tahoma"/>
            </a:endParaRPr>
          </a:p>
          <a:p>
            <a:pPr marL="12700" marR="2546350">
              <a:lnSpc>
                <a:spcPts val="1350"/>
              </a:lnSpc>
              <a:spcBef>
                <a:spcPts val="885"/>
              </a:spcBef>
            </a:pPr>
            <a:r>
              <a:rPr sz="1200" spc="-45">
                <a:solidFill>
                  <a:srgbClr val="202429"/>
                </a:solidFill>
                <a:latin typeface="Tahoma"/>
                <a:cs typeface="Tahoma"/>
              </a:rPr>
              <a:t>Ambulance</a:t>
            </a:r>
            <a:r>
              <a:rPr sz="1200" spc="-15">
                <a:solidFill>
                  <a:srgbClr val="202429"/>
                </a:solidFill>
                <a:latin typeface="Tahoma"/>
                <a:cs typeface="Tahoma"/>
              </a:rPr>
              <a:t> </a:t>
            </a:r>
            <a:r>
              <a:rPr sz="1200" spc="-80">
                <a:solidFill>
                  <a:srgbClr val="202429"/>
                </a:solidFill>
                <a:latin typeface="Tahoma"/>
                <a:cs typeface="Tahoma"/>
              </a:rPr>
              <a:t>delays</a:t>
            </a:r>
            <a:r>
              <a:rPr sz="1200" spc="-10">
                <a:solidFill>
                  <a:srgbClr val="202429"/>
                </a:solidFill>
                <a:latin typeface="Tahoma"/>
                <a:cs typeface="Tahoma"/>
              </a:rPr>
              <a:t> </a:t>
            </a:r>
            <a:r>
              <a:rPr sz="1200" spc="-55">
                <a:solidFill>
                  <a:srgbClr val="202429"/>
                </a:solidFill>
                <a:latin typeface="Tahoma"/>
                <a:cs typeface="Tahoma"/>
              </a:rPr>
              <a:t>and</a:t>
            </a:r>
            <a:r>
              <a:rPr sz="1200" spc="-10">
                <a:solidFill>
                  <a:srgbClr val="202429"/>
                </a:solidFill>
                <a:latin typeface="Tahoma"/>
                <a:cs typeface="Tahoma"/>
              </a:rPr>
              <a:t> </a:t>
            </a:r>
            <a:r>
              <a:rPr sz="1200" spc="-90">
                <a:solidFill>
                  <a:srgbClr val="202429"/>
                </a:solidFill>
                <a:latin typeface="Tahoma"/>
                <a:cs typeface="Tahoma"/>
              </a:rPr>
              <a:t>excess</a:t>
            </a:r>
            <a:r>
              <a:rPr sz="1200" spc="-5">
                <a:solidFill>
                  <a:srgbClr val="202429"/>
                </a:solidFill>
                <a:latin typeface="Tahoma"/>
                <a:cs typeface="Tahoma"/>
              </a:rPr>
              <a:t> </a:t>
            </a:r>
            <a:r>
              <a:rPr sz="1200" spc="-65">
                <a:solidFill>
                  <a:srgbClr val="202429"/>
                </a:solidFill>
                <a:latin typeface="Tahoma"/>
                <a:cs typeface="Tahoma"/>
              </a:rPr>
              <a:t>workloads </a:t>
            </a:r>
            <a:r>
              <a:rPr sz="1200" spc="-35">
                <a:solidFill>
                  <a:srgbClr val="202429"/>
                </a:solidFill>
                <a:latin typeface="Tahoma"/>
                <a:cs typeface="Tahoma"/>
              </a:rPr>
              <a:t>without</a:t>
            </a:r>
            <a:r>
              <a:rPr sz="1200" spc="-15">
                <a:solidFill>
                  <a:srgbClr val="202429"/>
                </a:solidFill>
                <a:latin typeface="Tahoma"/>
                <a:cs typeface="Tahoma"/>
              </a:rPr>
              <a:t> </a:t>
            </a:r>
            <a:r>
              <a:rPr sz="1200" spc="-70">
                <a:solidFill>
                  <a:srgbClr val="202429"/>
                </a:solidFill>
                <a:latin typeface="Tahoma"/>
                <a:cs typeface="Tahoma"/>
              </a:rPr>
              <a:t>adequate</a:t>
            </a:r>
            <a:r>
              <a:rPr sz="1200" spc="-5">
                <a:solidFill>
                  <a:srgbClr val="202429"/>
                </a:solidFill>
                <a:latin typeface="Tahoma"/>
                <a:cs typeface="Tahoma"/>
              </a:rPr>
              <a:t> </a:t>
            </a:r>
            <a:r>
              <a:rPr sz="1200" spc="-10">
                <a:solidFill>
                  <a:srgbClr val="202429"/>
                </a:solidFill>
                <a:latin typeface="Tahoma"/>
                <a:cs typeface="Tahoma"/>
              </a:rPr>
              <a:t>cover</a:t>
            </a:r>
            <a:endParaRPr sz="1200">
              <a:latin typeface="Tahoma"/>
              <a:cs typeface="Tahoma"/>
            </a:endParaRPr>
          </a:p>
          <a:p>
            <a:pPr marL="2609215">
              <a:lnSpc>
                <a:spcPct val="100000"/>
              </a:lnSpc>
              <a:spcBef>
                <a:spcPts val="350"/>
              </a:spcBef>
            </a:pPr>
            <a:r>
              <a:rPr sz="1000" spc="-45">
                <a:solidFill>
                  <a:srgbClr val="6C757C"/>
                </a:solidFill>
                <a:latin typeface="Tahoma"/>
                <a:cs typeface="Tahoma"/>
              </a:rPr>
              <a:t>Identiﬁed</a:t>
            </a:r>
            <a:r>
              <a:rPr sz="1000" spc="-15">
                <a:solidFill>
                  <a:srgbClr val="6C757C"/>
                </a:solidFill>
                <a:latin typeface="Tahoma"/>
                <a:cs typeface="Tahoma"/>
              </a:rPr>
              <a:t> </a:t>
            </a:r>
            <a:r>
              <a:rPr sz="1000">
                <a:solidFill>
                  <a:srgbClr val="6C757C"/>
                </a:solidFill>
                <a:latin typeface="Tahoma"/>
                <a:cs typeface="Tahoma"/>
              </a:rPr>
              <a:t>in</a:t>
            </a:r>
            <a:r>
              <a:rPr sz="1000" spc="-5">
                <a:solidFill>
                  <a:srgbClr val="6C757C"/>
                </a:solidFill>
                <a:latin typeface="Tahoma"/>
                <a:cs typeface="Tahoma"/>
              </a:rPr>
              <a:t> </a:t>
            </a:r>
            <a:r>
              <a:rPr sz="1000" b="1">
                <a:solidFill>
                  <a:srgbClr val="6C757C"/>
                </a:solidFill>
                <a:latin typeface="Arial"/>
                <a:cs typeface="Arial"/>
              </a:rPr>
              <a:t>155</a:t>
            </a:r>
            <a:r>
              <a:rPr sz="1000" b="1" spc="55">
                <a:solidFill>
                  <a:srgbClr val="6C757C"/>
                </a:solidFill>
                <a:latin typeface="Arial"/>
                <a:cs typeface="Arial"/>
              </a:rPr>
              <a:t> </a:t>
            </a:r>
            <a:r>
              <a:rPr sz="1000" b="1">
                <a:solidFill>
                  <a:srgbClr val="6C757C"/>
                </a:solidFill>
                <a:latin typeface="Arial"/>
                <a:cs typeface="Arial"/>
              </a:rPr>
              <a:t>of</a:t>
            </a:r>
            <a:r>
              <a:rPr sz="1000" b="1" spc="60">
                <a:solidFill>
                  <a:srgbClr val="6C757C"/>
                </a:solidFill>
                <a:latin typeface="Arial"/>
                <a:cs typeface="Arial"/>
              </a:rPr>
              <a:t> </a:t>
            </a:r>
            <a:r>
              <a:rPr sz="1000" b="1">
                <a:solidFill>
                  <a:srgbClr val="6C757C"/>
                </a:solidFill>
                <a:latin typeface="Arial"/>
                <a:cs typeface="Arial"/>
              </a:rPr>
              <a:t>188</a:t>
            </a:r>
            <a:r>
              <a:rPr sz="1000" b="1" spc="25">
                <a:solidFill>
                  <a:srgbClr val="6C757C"/>
                </a:solidFill>
                <a:latin typeface="Arial"/>
                <a:cs typeface="Arial"/>
              </a:rPr>
              <a:t> </a:t>
            </a:r>
            <a:r>
              <a:rPr sz="1000" spc="-35">
                <a:solidFill>
                  <a:srgbClr val="6C757C"/>
                </a:solidFill>
                <a:latin typeface="Tahoma"/>
                <a:cs typeface="Tahoma"/>
              </a:rPr>
              <a:t>investigation</a:t>
            </a:r>
            <a:r>
              <a:rPr sz="1000" spc="-10">
                <a:solidFill>
                  <a:srgbClr val="6C757C"/>
                </a:solidFill>
                <a:latin typeface="Tahoma"/>
                <a:cs typeface="Tahoma"/>
              </a:rPr>
              <a:t> reports</a:t>
            </a:r>
            <a:endParaRPr sz="1000">
              <a:latin typeface="Tahoma"/>
              <a:cs typeface="Tahoma"/>
            </a:endParaRPr>
          </a:p>
        </p:txBody>
      </p:sp>
      <p:sp>
        <p:nvSpPr>
          <p:cNvPr id="5" name="object 5"/>
          <p:cNvSpPr/>
          <p:nvPr/>
        </p:nvSpPr>
        <p:spPr>
          <a:xfrm>
            <a:off x="0" y="3060028"/>
            <a:ext cx="5760085" cy="0"/>
          </a:xfrm>
          <a:custGeom>
            <a:avLst/>
            <a:gdLst/>
            <a:ahLst/>
            <a:cxnLst/>
            <a:rect l="l" t="t" r="r" b="b"/>
            <a:pathLst>
              <a:path w="5760085">
                <a:moveTo>
                  <a:pt x="0" y="0"/>
                </a:moveTo>
                <a:lnTo>
                  <a:pt x="5760073" y="0"/>
                </a:lnTo>
              </a:path>
            </a:pathLst>
          </a:custGeom>
          <a:ln w="6326">
            <a:solidFill>
              <a:srgbClr val="CED3DA"/>
            </a:solidFill>
          </a:ln>
        </p:spPr>
        <p:txBody>
          <a:bodyPr wrap="square" lIns="0" tIns="0" rIns="0" bIns="0" rtlCol="0"/>
          <a:lstStyle/>
          <a:p>
            <a:endParaRPr/>
          </a:p>
        </p:txBody>
      </p:sp>
      <p:sp>
        <p:nvSpPr>
          <p:cNvPr id="6" name="object 6"/>
          <p:cNvSpPr txBox="1"/>
          <p:nvPr/>
        </p:nvSpPr>
        <p:spPr>
          <a:xfrm>
            <a:off x="70497" y="3049903"/>
            <a:ext cx="1315085" cy="147320"/>
          </a:xfrm>
          <a:prstGeom prst="rect">
            <a:avLst/>
          </a:prstGeom>
        </p:spPr>
        <p:txBody>
          <a:bodyPr vert="horz" wrap="square" lIns="0" tIns="12065" rIns="0" bIns="0" rtlCol="0">
            <a:spAutoFit/>
          </a:bodyPr>
          <a:lstStyle/>
          <a:p>
            <a:pPr marL="12700">
              <a:lnSpc>
                <a:spcPct val="100000"/>
              </a:lnSpc>
              <a:spcBef>
                <a:spcPts val="95"/>
              </a:spcBef>
            </a:pPr>
            <a:r>
              <a:rPr sz="800" spc="-10">
                <a:solidFill>
                  <a:srgbClr val="6C757C"/>
                </a:solidFill>
                <a:latin typeface="Tahoma"/>
                <a:cs typeface="Tahoma"/>
              </a:rPr>
              <a:t>Responsible</a:t>
            </a:r>
            <a:r>
              <a:rPr sz="800" spc="20">
                <a:solidFill>
                  <a:srgbClr val="6C757C"/>
                </a:solidFill>
                <a:latin typeface="Tahoma"/>
                <a:cs typeface="Tahoma"/>
              </a:rPr>
              <a:t> </a:t>
            </a:r>
            <a:r>
              <a:rPr sz="800">
                <a:solidFill>
                  <a:srgbClr val="6C757C"/>
                </a:solidFill>
                <a:latin typeface="Tahoma"/>
                <a:cs typeface="Tahoma"/>
              </a:rPr>
              <a:t>AI</a:t>
            </a:r>
            <a:r>
              <a:rPr sz="800" spc="25">
                <a:solidFill>
                  <a:srgbClr val="6C757C"/>
                </a:solidFill>
                <a:latin typeface="Tahoma"/>
                <a:cs typeface="Tahoma"/>
              </a:rPr>
              <a:t> </a:t>
            </a:r>
            <a:r>
              <a:rPr sz="800">
                <a:solidFill>
                  <a:srgbClr val="6C757C"/>
                </a:solidFill>
                <a:latin typeface="Tahoma"/>
                <a:cs typeface="Tahoma"/>
              </a:rPr>
              <a:t>in</a:t>
            </a:r>
            <a:r>
              <a:rPr sz="800" spc="25">
                <a:solidFill>
                  <a:srgbClr val="6C757C"/>
                </a:solidFill>
                <a:latin typeface="Tahoma"/>
                <a:cs typeface="Tahoma"/>
              </a:rPr>
              <a:t> </a:t>
            </a:r>
            <a:r>
              <a:rPr sz="800" spc="-10">
                <a:solidFill>
                  <a:srgbClr val="6C757C"/>
                </a:solidFill>
                <a:latin typeface="Tahoma"/>
                <a:cs typeface="Tahoma"/>
              </a:rPr>
              <a:t>Healthcare</a:t>
            </a:r>
            <a:endParaRPr sz="800">
              <a:latin typeface="Tahoma"/>
              <a:cs typeface="Tahoma"/>
            </a:endParaRPr>
          </a:p>
        </p:txBody>
      </p:sp>
      <p:sp>
        <p:nvSpPr>
          <p:cNvPr id="8" name="Slide Number Placeholder 7">
            <a:extLst>
              <a:ext uri="{FF2B5EF4-FFF2-40B4-BE49-F238E27FC236}">
                <a16:creationId xmlns:a16="http://schemas.microsoft.com/office/drawing/2014/main" id="{CA222B07-A348-C84B-7568-F778E6F07C93}"/>
              </a:ext>
            </a:extLst>
          </p:cNvPr>
          <p:cNvSpPr>
            <a:spLocks noGrp="1"/>
          </p:cNvSpPr>
          <p:nvPr>
            <p:ph type="sldNum" sz="quarter" idx="7"/>
          </p:nvPr>
        </p:nvSpPr>
        <p:spPr>
          <a:xfrm>
            <a:off x="5336578" y="3070861"/>
            <a:ext cx="429222" cy="173989"/>
          </a:xfrm>
        </p:spPr>
        <p:txBody>
          <a:bodyPr/>
          <a:lstStyle/>
          <a:p>
            <a:pPr marL="39370">
              <a:lnSpc>
                <a:spcPct val="100000"/>
              </a:lnSpc>
              <a:spcBef>
                <a:spcPts val="219"/>
              </a:spcBef>
            </a:pPr>
            <a:fld id="{81D60167-4931-47E6-BA6A-407CBD079E47}" type="slidenum">
              <a:rPr lang="en-GB" smtClean="0"/>
              <a:t>20</a:t>
            </a:fld>
            <a:r>
              <a:rPr lang="en-GB" spc="20"/>
              <a:t> </a:t>
            </a:r>
            <a:r>
              <a:rPr lang="en-GB" spc="120"/>
              <a:t>/</a:t>
            </a:r>
            <a:r>
              <a:rPr lang="en-GB" spc="25"/>
              <a:t> </a:t>
            </a:r>
            <a:r>
              <a:rPr lang="en-GB" spc="-25"/>
              <a:t>41</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260908" y="304302"/>
            <a:ext cx="987425" cy="244475"/>
          </a:xfrm>
          <a:prstGeom prst="rect">
            <a:avLst/>
          </a:prstGeom>
        </p:spPr>
        <p:txBody>
          <a:bodyPr vert="horz" wrap="square" lIns="0" tIns="17145" rIns="0" bIns="0" rtlCol="0">
            <a:spAutoFit/>
          </a:bodyPr>
          <a:lstStyle/>
          <a:p>
            <a:pPr marL="12700">
              <a:lnSpc>
                <a:spcPct val="100000"/>
              </a:lnSpc>
              <a:spcBef>
                <a:spcPts val="135"/>
              </a:spcBef>
            </a:pPr>
            <a:r>
              <a:rPr spc="-70">
                <a:solidFill>
                  <a:srgbClr val="005F73"/>
                </a:solidFill>
              </a:rPr>
              <a:t>Assessment</a:t>
            </a:r>
          </a:p>
        </p:txBody>
      </p:sp>
      <p:pic>
        <p:nvPicPr>
          <p:cNvPr id="3" name="object 3"/>
          <p:cNvPicPr/>
          <p:nvPr/>
        </p:nvPicPr>
        <p:blipFill>
          <a:blip r:embed="rId3" cstate="print"/>
          <a:stretch>
            <a:fillRect/>
          </a:stretch>
        </p:blipFill>
        <p:spPr>
          <a:xfrm>
            <a:off x="3067215" y="579455"/>
            <a:ext cx="1703978" cy="2159972"/>
          </a:xfrm>
          <a:prstGeom prst="rect">
            <a:avLst/>
          </a:prstGeom>
        </p:spPr>
      </p:pic>
      <p:sp>
        <p:nvSpPr>
          <p:cNvPr id="4" name="object 4"/>
          <p:cNvSpPr/>
          <p:nvPr/>
        </p:nvSpPr>
        <p:spPr>
          <a:xfrm>
            <a:off x="0" y="3060028"/>
            <a:ext cx="5760085" cy="0"/>
          </a:xfrm>
          <a:custGeom>
            <a:avLst/>
            <a:gdLst/>
            <a:ahLst/>
            <a:cxnLst/>
            <a:rect l="l" t="t" r="r" b="b"/>
            <a:pathLst>
              <a:path w="5760085">
                <a:moveTo>
                  <a:pt x="0" y="0"/>
                </a:moveTo>
                <a:lnTo>
                  <a:pt x="5760073" y="0"/>
                </a:lnTo>
              </a:path>
            </a:pathLst>
          </a:custGeom>
          <a:ln w="6326">
            <a:solidFill>
              <a:srgbClr val="CED3DA"/>
            </a:solidFill>
          </a:ln>
        </p:spPr>
        <p:txBody>
          <a:bodyPr wrap="square" lIns="0" tIns="0" rIns="0" bIns="0" rtlCol="0"/>
          <a:lstStyle/>
          <a:p>
            <a:endParaRPr/>
          </a:p>
        </p:txBody>
      </p:sp>
      <p:sp>
        <p:nvSpPr>
          <p:cNvPr id="5" name="object 5"/>
          <p:cNvSpPr txBox="1"/>
          <p:nvPr/>
        </p:nvSpPr>
        <p:spPr>
          <a:xfrm>
            <a:off x="70497" y="617585"/>
            <a:ext cx="2628265" cy="2579370"/>
          </a:xfrm>
          <a:prstGeom prst="rect">
            <a:avLst/>
          </a:prstGeom>
        </p:spPr>
        <p:txBody>
          <a:bodyPr vert="horz" wrap="square" lIns="0" tIns="27305" rIns="0" bIns="0" rtlCol="0">
            <a:spAutoFit/>
          </a:bodyPr>
          <a:lstStyle/>
          <a:p>
            <a:pPr marL="202565" marR="170815">
              <a:lnSpc>
                <a:spcPts val="1350"/>
              </a:lnSpc>
              <a:spcBef>
                <a:spcPts val="215"/>
              </a:spcBef>
            </a:pPr>
            <a:r>
              <a:rPr sz="1200" spc="-50">
                <a:solidFill>
                  <a:srgbClr val="202429"/>
                </a:solidFill>
                <a:latin typeface="Tahoma"/>
                <a:cs typeface="Tahoma"/>
              </a:rPr>
              <a:t>Gaps</a:t>
            </a:r>
            <a:r>
              <a:rPr sz="1200" spc="-40">
                <a:solidFill>
                  <a:srgbClr val="202429"/>
                </a:solidFill>
                <a:latin typeface="Tahoma"/>
                <a:cs typeface="Tahoma"/>
              </a:rPr>
              <a:t> </a:t>
            </a:r>
            <a:r>
              <a:rPr sz="1200">
                <a:solidFill>
                  <a:srgbClr val="202429"/>
                </a:solidFill>
                <a:latin typeface="Tahoma"/>
                <a:cs typeface="Tahoma"/>
              </a:rPr>
              <a:t>in</a:t>
            </a:r>
            <a:r>
              <a:rPr sz="1200" spc="-20">
                <a:solidFill>
                  <a:srgbClr val="202429"/>
                </a:solidFill>
                <a:latin typeface="Tahoma"/>
                <a:cs typeface="Tahoma"/>
              </a:rPr>
              <a:t> </a:t>
            </a:r>
            <a:r>
              <a:rPr sz="1200" spc="-85">
                <a:solidFill>
                  <a:srgbClr val="202429"/>
                </a:solidFill>
                <a:latin typeface="Tahoma"/>
                <a:cs typeface="Tahoma"/>
              </a:rPr>
              <a:t>assessments</a:t>
            </a:r>
            <a:r>
              <a:rPr sz="1200" spc="-10">
                <a:solidFill>
                  <a:srgbClr val="202429"/>
                </a:solidFill>
                <a:latin typeface="Tahoma"/>
                <a:cs typeface="Tahoma"/>
              </a:rPr>
              <a:t> </a:t>
            </a:r>
            <a:r>
              <a:rPr sz="1200" spc="-25">
                <a:solidFill>
                  <a:srgbClr val="202429"/>
                </a:solidFill>
                <a:latin typeface="Tahoma"/>
                <a:cs typeface="Tahoma"/>
              </a:rPr>
              <a:t>and </a:t>
            </a:r>
            <a:r>
              <a:rPr sz="1200" spc="-50">
                <a:solidFill>
                  <a:srgbClr val="202429"/>
                </a:solidFill>
                <a:latin typeface="Tahoma"/>
                <a:cs typeface="Tahoma"/>
              </a:rPr>
              <a:t>documentation,</a:t>
            </a:r>
            <a:r>
              <a:rPr sz="1200" spc="-45">
                <a:solidFill>
                  <a:srgbClr val="202429"/>
                </a:solidFill>
                <a:latin typeface="Tahoma"/>
                <a:cs typeface="Tahoma"/>
              </a:rPr>
              <a:t> </a:t>
            </a:r>
            <a:r>
              <a:rPr sz="1200" spc="-20">
                <a:solidFill>
                  <a:srgbClr val="202429"/>
                </a:solidFill>
                <a:latin typeface="Tahoma"/>
                <a:cs typeface="Tahoma"/>
              </a:rPr>
              <a:t>lack</a:t>
            </a:r>
            <a:r>
              <a:rPr sz="1200" spc="-75">
                <a:solidFill>
                  <a:srgbClr val="202429"/>
                </a:solidFill>
                <a:latin typeface="Tahoma"/>
                <a:cs typeface="Tahoma"/>
              </a:rPr>
              <a:t> </a:t>
            </a:r>
            <a:r>
              <a:rPr sz="1200">
                <a:solidFill>
                  <a:srgbClr val="202429"/>
                </a:solidFill>
                <a:latin typeface="Tahoma"/>
                <a:cs typeface="Tahoma"/>
              </a:rPr>
              <a:t>of</a:t>
            </a:r>
            <a:r>
              <a:rPr sz="1200" spc="-50">
                <a:solidFill>
                  <a:srgbClr val="202429"/>
                </a:solidFill>
                <a:latin typeface="Tahoma"/>
                <a:cs typeface="Tahoma"/>
              </a:rPr>
              <a:t> </a:t>
            </a:r>
            <a:r>
              <a:rPr sz="1200" spc="-85">
                <a:solidFill>
                  <a:srgbClr val="202429"/>
                </a:solidFill>
                <a:latin typeface="Tahoma"/>
                <a:cs typeface="Tahoma"/>
              </a:rPr>
              <a:t>key</a:t>
            </a:r>
            <a:r>
              <a:rPr sz="1200" spc="-10">
                <a:solidFill>
                  <a:srgbClr val="202429"/>
                </a:solidFill>
                <a:latin typeface="Tahoma"/>
                <a:cs typeface="Tahoma"/>
              </a:rPr>
              <a:t> </a:t>
            </a:r>
            <a:r>
              <a:rPr sz="1200" spc="-20">
                <a:solidFill>
                  <a:srgbClr val="202429"/>
                </a:solidFill>
                <a:latin typeface="Tahoma"/>
                <a:cs typeface="Tahoma"/>
              </a:rPr>
              <a:t>lab</a:t>
            </a:r>
            <a:r>
              <a:rPr sz="1200" spc="-45">
                <a:solidFill>
                  <a:srgbClr val="202429"/>
                </a:solidFill>
                <a:latin typeface="Tahoma"/>
                <a:cs typeface="Tahoma"/>
              </a:rPr>
              <a:t> </a:t>
            </a:r>
            <a:r>
              <a:rPr sz="1200" spc="-40">
                <a:solidFill>
                  <a:srgbClr val="202429"/>
                </a:solidFill>
                <a:latin typeface="Tahoma"/>
                <a:cs typeface="Tahoma"/>
              </a:rPr>
              <a:t>tests</a:t>
            </a:r>
            <a:endParaRPr sz="1200">
              <a:latin typeface="Tahoma"/>
              <a:cs typeface="Tahoma"/>
            </a:endParaRPr>
          </a:p>
          <a:p>
            <a:pPr marL="202565" marR="243204">
              <a:lnSpc>
                <a:spcPts val="1350"/>
              </a:lnSpc>
              <a:spcBef>
                <a:spcPts val="880"/>
              </a:spcBef>
            </a:pPr>
            <a:r>
              <a:rPr sz="1200" spc="-40">
                <a:solidFill>
                  <a:srgbClr val="202429"/>
                </a:solidFill>
                <a:latin typeface="Tahoma"/>
                <a:cs typeface="Tahoma"/>
              </a:rPr>
              <a:t>Failure</a:t>
            </a:r>
            <a:r>
              <a:rPr sz="1200" spc="-55">
                <a:solidFill>
                  <a:srgbClr val="202429"/>
                </a:solidFill>
                <a:latin typeface="Tahoma"/>
                <a:cs typeface="Tahoma"/>
              </a:rPr>
              <a:t> </a:t>
            </a:r>
            <a:r>
              <a:rPr sz="1200">
                <a:solidFill>
                  <a:srgbClr val="202429"/>
                </a:solidFill>
                <a:latin typeface="Tahoma"/>
                <a:cs typeface="Tahoma"/>
              </a:rPr>
              <a:t>to</a:t>
            </a:r>
            <a:r>
              <a:rPr sz="1200" spc="-50">
                <a:solidFill>
                  <a:srgbClr val="202429"/>
                </a:solidFill>
                <a:latin typeface="Tahoma"/>
                <a:cs typeface="Tahoma"/>
              </a:rPr>
              <a:t> </a:t>
            </a:r>
            <a:r>
              <a:rPr sz="1200" spc="-70">
                <a:solidFill>
                  <a:srgbClr val="202429"/>
                </a:solidFill>
                <a:latin typeface="Tahoma"/>
                <a:cs typeface="Tahoma"/>
              </a:rPr>
              <a:t>recognise</a:t>
            </a:r>
            <a:r>
              <a:rPr sz="1200" spc="-25">
                <a:solidFill>
                  <a:srgbClr val="202429"/>
                </a:solidFill>
                <a:latin typeface="Tahoma"/>
                <a:cs typeface="Tahoma"/>
              </a:rPr>
              <a:t> </a:t>
            </a:r>
            <a:r>
              <a:rPr sz="1200" spc="-30">
                <a:solidFill>
                  <a:srgbClr val="202429"/>
                </a:solidFill>
                <a:latin typeface="Tahoma"/>
                <a:cs typeface="Tahoma"/>
              </a:rPr>
              <a:t>start</a:t>
            </a:r>
            <a:r>
              <a:rPr sz="1200" spc="-45">
                <a:solidFill>
                  <a:srgbClr val="202429"/>
                </a:solidFill>
                <a:latin typeface="Tahoma"/>
                <a:cs typeface="Tahoma"/>
              </a:rPr>
              <a:t> </a:t>
            </a:r>
            <a:r>
              <a:rPr sz="1200">
                <a:solidFill>
                  <a:srgbClr val="202429"/>
                </a:solidFill>
                <a:latin typeface="Tahoma"/>
                <a:cs typeface="Tahoma"/>
              </a:rPr>
              <a:t>of</a:t>
            </a:r>
            <a:r>
              <a:rPr sz="1200" spc="-40">
                <a:solidFill>
                  <a:srgbClr val="202429"/>
                </a:solidFill>
                <a:latin typeface="Tahoma"/>
                <a:cs typeface="Tahoma"/>
              </a:rPr>
              <a:t> </a:t>
            </a:r>
            <a:r>
              <a:rPr sz="1200" spc="-65">
                <a:solidFill>
                  <a:srgbClr val="202429"/>
                </a:solidFill>
                <a:latin typeface="Tahoma"/>
                <a:cs typeface="Tahoma"/>
              </a:rPr>
              <a:t>second stage</a:t>
            </a:r>
            <a:r>
              <a:rPr sz="1200" spc="-30">
                <a:solidFill>
                  <a:srgbClr val="202429"/>
                </a:solidFill>
                <a:latin typeface="Tahoma"/>
                <a:cs typeface="Tahoma"/>
              </a:rPr>
              <a:t> </a:t>
            </a:r>
            <a:r>
              <a:rPr sz="1200">
                <a:solidFill>
                  <a:srgbClr val="202429"/>
                </a:solidFill>
                <a:latin typeface="Tahoma"/>
                <a:cs typeface="Tahoma"/>
              </a:rPr>
              <a:t>of</a:t>
            </a:r>
            <a:r>
              <a:rPr sz="1200" spc="-65">
                <a:solidFill>
                  <a:srgbClr val="202429"/>
                </a:solidFill>
                <a:latin typeface="Tahoma"/>
                <a:cs typeface="Tahoma"/>
              </a:rPr>
              <a:t> </a:t>
            </a:r>
            <a:r>
              <a:rPr sz="1200" spc="-10">
                <a:solidFill>
                  <a:srgbClr val="202429"/>
                </a:solidFill>
                <a:latin typeface="Tahoma"/>
                <a:cs typeface="Tahoma"/>
              </a:rPr>
              <a:t>labour</a:t>
            </a:r>
            <a:endParaRPr sz="1200">
              <a:latin typeface="Tahoma"/>
              <a:cs typeface="Tahoma"/>
            </a:endParaRPr>
          </a:p>
          <a:p>
            <a:pPr marL="202565">
              <a:lnSpc>
                <a:spcPts val="1400"/>
              </a:lnSpc>
              <a:spcBef>
                <a:spcPts val="765"/>
              </a:spcBef>
            </a:pPr>
            <a:r>
              <a:rPr sz="1200" spc="-45">
                <a:solidFill>
                  <a:srgbClr val="202429"/>
                </a:solidFill>
                <a:latin typeface="Tahoma"/>
                <a:cs typeface="Tahoma"/>
              </a:rPr>
              <a:t>Failures </a:t>
            </a:r>
            <a:r>
              <a:rPr sz="1200">
                <a:solidFill>
                  <a:srgbClr val="202429"/>
                </a:solidFill>
                <a:latin typeface="Tahoma"/>
                <a:cs typeface="Tahoma"/>
              </a:rPr>
              <a:t>to</a:t>
            </a:r>
            <a:r>
              <a:rPr sz="1200" spc="-40">
                <a:solidFill>
                  <a:srgbClr val="202429"/>
                </a:solidFill>
                <a:latin typeface="Tahoma"/>
                <a:cs typeface="Tahoma"/>
              </a:rPr>
              <a:t> </a:t>
            </a:r>
            <a:r>
              <a:rPr sz="1200" spc="-55">
                <a:solidFill>
                  <a:srgbClr val="202429"/>
                </a:solidFill>
                <a:latin typeface="Tahoma"/>
                <a:cs typeface="Tahoma"/>
              </a:rPr>
              <a:t>appreciate</a:t>
            </a:r>
            <a:r>
              <a:rPr sz="1200" spc="-40">
                <a:solidFill>
                  <a:srgbClr val="202429"/>
                </a:solidFill>
                <a:latin typeface="Tahoma"/>
                <a:cs typeface="Tahoma"/>
              </a:rPr>
              <a:t> </a:t>
            </a:r>
            <a:r>
              <a:rPr sz="1200" spc="-10">
                <a:solidFill>
                  <a:srgbClr val="202429"/>
                </a:solidFill>
                <a:latin typeface="Tahoma"/>
                <a:cs typeface="Tahoma"/>
              </a:rPr>
              <a:t>full</a:t>
            </a:r>
            <a:r>
              <a:rPr sz="1200" spc="-35">
                <a:solidFill>
                  <a:srgbClr val="202429"/>
                </a:solidFill>
                <a:latin typeface="Tahoma"/>
                <a:cs typeface="Tahoma"/>
              </a:rPr>
              <a:t> </a:t>
            </a:r>
            <a:r>
              <a:rPr sz="1200" spc="-10">
                <a:solidFill>
                  <a:srgbClr val="202429"/>
                </a:solidFill>
                <a:latin typeface="Tahoma"/>
                <a:cs typeface="Tahoma"/>
              </a:rPr>
              <a:t>clinical</a:t>
            </a:r>
            <a:endParaRPr sz="1200">
              <a:latin typeface="Tahoma"/>
              <a:cs typeface="Tahoma"/>
            </a:endParaRPr>
          </a:p>
          <a:p>
            <a:pPr marL="202565">
              <a:lnSpc>
                <a:spcPts val="1400"/>
              </a:lnSpc>
            </a:pPr>
            <a:r>
              <a:rPr sz="1200" spc="-45">
                <a:solidFill>
                  <a:srgbClr val="202429"/>
                </a:solidFill>
                <a:latin typeface="Tahoma"/>
                <a:cs typeface="Tahoma"/>
              </a:rPr>
              <a:t>pictures</a:t>
            </a:r>
            <a:r>
              <a:rPr sz="1200" spc="-15">
                <a:solidFill>
                  <a:srgbClr val="202429"/>
                </a:solidFill>
                <a:latin typeface="Tahoma"/>
                <a:cs typeface="Tahoma"/>
              </a:rPr>
              <a:t> </a:t>
            </a:r>
            <a:r>
              <a:rPr sz="1200" spc="-55">
                <a:solidFill>
                  <a:srgbClr val="202429"/>
                </a:solidFill>
                <a:latin typeface="Tahoma"/>
                <a:cs typeface="Tahoma"/>
              </a:rPr>
              <a:t>and</a:t>
            </a:r>
            <a:r>
              <a:rPr sz="1200" spc="-10">
                <a:solidFill>
                  <a:srgbClr val="202429"/>
                </a:solidFill>
                <a:latin typeface="Tahoma"/>
                <a:cs typeface="Tahoma"/>
              </a:rPr>
              <a:t> </a:t>
            </a:r>
            <a:r>
              <a:rPr sz="1200" spc="-70">
                <a:solidFill>
                  <a:srgbClr val="202429"/>
                </a:solidFill>
                <a:latin typeface="Tahoma"/>
                <a:cs typeface="Tahoma"/>
              </a:rPr>
              <a:t>perform</a:t>
            </a:r>
            <a:r>
              <a:rPr sz="1200" spc="-10">
                <a:solidFill>
                  <a:srgbClr val="202429"/>
                </a:solidFill>
                <a:latin typeface="Tahoma"/>
                <a:cs typeface="Tahoma"/>
              </a:rPr>
              <a:t> </a:t>
            </a:r>
            <a:r>
              <a:rPr sz="1200" spc="-85">
                <a:solidFill>
                  <a:srgbClr val="202429"/>
                </a:solidFill>
                <a:latin typeface="Tahoma"/>
                <a:cs typeface="Tahoma"/>
              </a:rPr>
              <a:t>key</a:t>
            </a:r>
            <a:r>
              <a:rPr sz="1200" spc="-10">
                <a:solidFill>
                  <a:srgbClr val="202429"/>
                </a:solidFill>
                <a:latin typeface="Tahoma"/>
                <a:cs typeface="Tahoma"/>
              </a:rPr>
              <a:t> </a:t>
            </a:r>
            <a:r>
              <a:rPr sz="1200" spc="-35">
                <a:solidFill>
                  <a:srgbClr val="202429"/>
                </a:solidFill>
                <a:latin typeface="Tahoma"/>
                <a:cs typeface="Tahoma"/>
              </a:rPr>
              <a:t>examinations</a:t>
            </a:r>
            <a:endParaRPr sz="1200">
              <a:latin typeface="Tahoma"/>
              <a:cs typeface="Tahoma"/>
            </a:endParaRPr>
          </a:p>
          <a:p>
            <a:pPr marL="202565" marR="309245" algn="just">
              <a:lnSpc>
                <a:spcPts val="1350"/>
              </a:lnSpc>
              <a:spcBef>
                <a:spcPts val="905"/>
              </a:spcBef>
            </a:pPr>
            <a:r>
              <a:rPr sz="1200" spc="-30">
                <a:solidFill>
                  <a:srgbClr val="202429"/>
                </a:solidFill>
                <a:latin typeface="Tahoma"/>
                <a:cs typeface="Tahoma"/>
              </a:rPr>
              <a:t>Busy</a:t>
            </a:r>
            <a:r>
              <a:rPr sz="1200" spc="-10">
                <a:solidFill>
                  <a:srgbClr val="202429"/>
                </a:solidFill>
                <a:latin typeface="Tahoma"/>
                <a:cs typeface="Tahoma"/>
              </a:rPr>
              <a:t> </a:t>
            </a:r>
            <a:r>
              <a:rPr sz="1200" spc="-40">
                <a:solidFill>
                  <a:srgbClr val="202429"/>
                </a:solidFill>
                <a:latin typeface="Tahoma"/>
                <a:cs typeface="Tahoma"/>
              </a:rPr>
              <a:t>units</a:t>
            </a:r>
            <a:r>
              <a:rPr sz="1200">
                <a:solidFill>
                  <a:srgbClr val="202429"/>
                </a:solidFill>
                <a:latin typeface="Tahoma"/>
                <a:cs typeface="Tahoma"/>
              </a:rPr>
              <a:t> </a:t>
            </a:r>
            <a:r>
              <a:rPr sz="1200" spc="-85">
                <a:solidFill>
                  <a:srgbClr val="202429"/>
                </a:solidFill>
                <a:latin typeface="Tahoma"/>
                <a:cs typeface="Tahoma"/>
              </a:rPr>
              <a:t>prevented</a:t>
            </a:r>
            <a:r>
              <a:rPr sz="1200" spc="-5">
                <a:solidFill>
                  <a:srgbClr val="202429"/>
                </a:solidFill>
                <a:latin typeface="Tahoma"/>
                <a:cs typeface="Tahoma"/>
              </a:rPr>
              <a:t> </a:t>
            </a:r>
            <a:r>
              <a:rPr sz="1200" spc="-40">
                <a:solidFill>
                  <a:srgbClr val="202429"/>
                </a:solidFill>
                <a:latin typeface="Tahoma"/>
                <a:cs typeface="Tahoma"/>
              </a:rPr>
              <a:t>appreciating </a:t>
            </a:r>
            <a:r>
              <a:rPr sz="1200" spc="-45">
                <a:solidFill>
                  <a:srgbClr val="202429"/>
                </a:solidFill>
                <a:latin typeface="Tahoma"/>
                <a:cs typeface="Tahoma"/>
              </a:rPr>
              <a:t>mothers’</a:t>
            </a:r>
            <a:r>
              <a:rPr sz="1200" spc="-15">
                <a:solidFill>
                  <a:srgbClr val="202429"/>
                </a:solidFill>
                <a:latin typeface="Tahoma"/>
                <a:cs typeface="Tahoma"/>
              </a:rPr>
              <a:t> </a:t>
            </a:r>
            <a:r>
              <a:rPr sz="1200" spc="-75">
                <a:solidFill>
                  <a:srgbClr val="202429"/>
                </a:solidFill>
                <a:latin typeface="Tahoma"/>
                <a:cs typeface="Tahoma"/>
              </a:rPr>
              <a:t>concerns</a:t>
            </a:r>
            <a:r>
              <a:rPr sz="1200" spc="-10">
                <a:solidFill>
                  <a:srgbClr val="202429"/>
                </a:solidFill>
                <a:latin typeface="Tahoma"/>
                <a:cs typeface="Tahoma"/>
              </a:rPr>
              <a:t> </a:t>
            </a:r>
            <a:r>
              <a:rPr sz="1200" spc="-55">
                <a:solidFill>
                  <a:srgbClr val="202429"/>
                </a:solidFill>
                <a:latin typeface="Tahoma"/>
                <a:cs typeface="Tahoma"/>
              </a:rPr>
              <a:t>and</a:t>
            </a:r>
            <a:r>
              <a:rPr sz="1200" spc="-10">
                <a:solidFill>
                  <a:srgbClr val="202429"/>
                </a:solidFill>
                <a:latin typeface="Tahoma"/>
                <a:cs typeface="Tahoma"/>
              </a:rPr>
              <a:t> </a:t>
            </a:r>
            <a:r>
              <a:rPr sz="1200" spc="-60">
                <a:solidFill>
                  <a:srgbClr val="202429"/>
                </a:solidFill>
                <a:latin typeface="Tahoma"/>
                <a:cs typeface="Tahoma"/>
              </a:rPr>
              <a:t>performing </a:t>
            </a:r>
            <a:r>
              <a:rPr sz="1200" spc="-100">
                <a:solidFill>
                  <a:srgbClr val="202429"/>
                </a:solidFill>
                <a:latin typeface="Tahoma"/>
                <a:cs typeface="Tahoma"/>
              </a:rPr>
              <a:t>needed</a:t>
            </a:r>
            <a:r>
              <a:rPr sz="1200" spc="25">
                <a:solidFill>
                  <a:srgbClr val="202429"/>
                </a:solidFill>
                <a:latin typeface="Tahoma"/>
                <a:cs typeface="Tahoma"/>
              </a:rPr>
              <a:t> </a:t>
            </a:r>
            <a:r>
              <a:rPr sz="1200" spc="-10">
                <a:solidFill>
                  <a:srgbClr val="202429"/>
                </a:solidFill>
                <a:latin typeface="Tahoma"/>
                <a:cs typeface="Tahoma"/>
              </a:rPr>
              <a:t>assessments</a:t>
            </a:r>
            <a:endParaRPr sz="1200">
              <a:latin typeface="Tahoma"/>
              <a:cs typeface="Tahoma"/>
            </a:endParaRPr>
          </a:p>
          <a:p>
            <a:pPr marL="202565" marR="5080">
              <a:lnSpc>
                <a:spcPts val="1350"/>
              </a:lnSpc>
              <a:spcBef>
                <a:spcPts val="890"/>
              </a:spcBef>
            </a:pPr>
            <a:r>
              <a:rPr sz="1200" spc="-45">
                <a:solidFill>
                  <a:srgbClr val="202429"/>
                </a:solidFill>
                <a:latin typeface="Tahoma"/>
                <a:cs typeface="Tahoma"/>
              </a:rPr>
              <a:t>Missed</a:t>
            </a:r>
            <a:r>
              <a:rPr sz="1200" spc="30">
                <a:solidFill>
                  <a:srgbClr val="202429"/>
                </a:solidFill>
                <a:latin typeface="Tahoma"/>
                <a:cs typeface="Tahoma"/>
              </a:rPr>
              <a:t> </a:t>
            </a:r>
            <a:r>
              <a:rPr sz="1200" spc="-90">
                <a:solidFill>
                  <a:srgbClr val="202429"/>
                </a:solidFill>
                <a:latin typeface="Tahoma"/>
                <a:cs typeface="Tahoma"/>
              </a:rPr>
              <a:t>assessments,</a:t>
            </a:r>
            <a:r>
              <a:rPr sz="1200" spc="30">
                <a:solidFill>
                  <a:srgbClr val="202429"/>
                </a:solidFill>
                <a:latin typeface="Tahoma"/>
                <a:cs typeface="Tahoma"/>
              </a:rPr>
              <a:t> </a:t>
            </a:r>
            <a:r>
              <a:rPr sz="1200" spc="-55">
                <a:solidFill>
                  <a:srgbClr val="202429"/>
                </a:solidFill>
                <a:latin typeface="Tahoma"/>
                <a:cs typeface="Tahoma"/>
              </a:rPr>
              <a:t>examinations,</a:t>
            </a:r>
            <a:r>
              <a:rPr sz="1200" spc="35">
                <a:solidFill>
                  <a:srgbClr val="202429"/>
                </a:solidFill>
                <a:latin typeface="Tahoma"/>
                <a:cs typeface="Tahoma"/>
              </a:rPr>
              <a:t> </a:t>
            </a:r>
            <a:r>
              <a:rPr sz="1200" spc="-50">
                <a:solidFill>
                  <a:srgbClr val="202429"/>
                </a:solidFill>
                <a:latin typeface="Tahoma"/>
                <a:cs typeface="Tahoma"/>
              </a:rPr>
              <a:t>and </a:t>
            </a:r>
            <a:r>
              <a:rPr sz="1200" spc="-10">
                <a:solidFill>
                  <a:srgbClr val="202429"/>
                </a:solidFill>
                <a:latin typeface="Tahoma"/>
                <a:cs typeface="Tahoma"/>
              </a:rPr>
              <a:t>reviews</a:t>
            </a:r>
            <a:endParaRPr sz="1200">
              <a:latin typeface="Tahoma"/>
              <a:cs typeface="Tahoma"/>
            </a:endParaRPr>
          </a:p>
          <a:p>
            <a:pPr marL="12700">
              <a:lnSpc>
                <a:spcPct val="100000"/>
              </a:lnSpc>
              <a:spcBef>
                <a:spcPts val="650"/>
              </a:spcBef>
            </a:pPr>
            <a:r>
              <a:rPr sz="800" spc="-10">
                <a:solidFill>
                  <a:srgbClr val="6C757C"/>
                </a:solidFill>
                <a:latin typeface="Tahoma"/>
                <a:cs typeface="Tahoma"/>
              </a:rPr>
              <a:t>Responsible</a:t>
            </a:r>
            <a:r>
              <a:rPr sz="800" spc="20">
                <a:solidFill>
                  <a:srgbClr val="6C757C"/>
                </a:solidFill>
                <a:latin typeface="Tahoma"/>
                <a:cs typeface="Tahoma"/>
              </a:rPr>
              <a:t> </a:t>
            </a:r>
            <a:r>
              <a:rPr sz="800">
                <a:solidFill>
                  <a:srgbClr val="6C757C"/>
                </a:solidFill>
                <a:latin typeface="Tahoma"/>
                <a:cs typeface="Tahoma"/>
              </a:rPr>
              <a:t>AI</a:t>
            </a:r>
            <a:r>
              <a:rPr sz="800" spc="25">
                <a:solidFill>
                  <a:srgbClr val="6C757C"/>
                </a:solidFill>
                <a:latin typeface="Tahoma"/>
                <a:cs typeface="Tahoma"/>
              </a:rPr>
              <a:t> </a:t>
            </a:r>
            <a:r>
              <a:rPr sz="800">
                <a:solidFill>
                  <a:srgbClr val="6C757C"/>
                </a:solidFill>
                <a:latin typeface="Tahoma"/>
                <a:cs typeface="Tahoma"/>
              </a:rPr>
              <a:t>in</a:t>
            </a:r>
            <a:r>
              <a:rPr sz="800" spc="25">
                <a:solidFill>
                  <a:srgbClr val="6C757C"/>
                </a:solidFill>
                <a:latin typeface="Tahoma"/>
                <a:cs typeface="Tahoma"/>
              </a:rPr>
              <a:t> </a:t>
            </a:r>
            <a:r>
              <a:rPr sz="800" spc="-10">
                <a:solidFill>
                  <a:srgbClr val="6C757C"/>
                </a:solidFill>
                <a:latin typeface="Tahoma"/>
                <a:cs typeface="Tahoma"/>
              </a:rPr>
              <a:t>Healthcare</a:t>
            </a:r>
            <a:endParaRPr sz="800">
              <a:latin typeface="Tahoma"/>
              <a:cs typeface="Tahoma"/>
            </a:endParaRPr>
          </a:p>
        </p:txBody>
      </p:sp>
      <p:sp>
        <p:nvSpPr>
          <p:cNvPr id="6" name="object 6"/>
          <p:cNvSpPr txBox="1"/>
          <p:nvPr/>
        </p:nvSpPr>
        <p:spPr>
          <a:xfrm>
            <a:off x="2785134" y="2840066"/>
            <a:ext cx="2667000" cy="166071"/>
          </a:xfrm>
          <a:prstGeom prst="rect">
            <a:avLst/>
          </a:prstGeom>
        </p:spPr>
        <p:txBody>
          <a:bodyPr vert="horz" wrap="square" lIns="0" tIns="12065" rIns="0" bIns="0" rtlCol="0">
            <a:spAutoFit/>
          </a:bodyPr>
          <a:lstStyle/>
          <a:p>
            <a:pPr marL="38100">
              <a:lnSpc>
                <a:spcPct val="100000"/>
              </a:lnSpc>
              <a:spcBef>
                <a:spcPts val="95"/>
              </a:spcBef>
            </a:pPr>
            <a:r>
              <a:rPr sz="1000" spc="-45">
                <a:solidFill>
                  <a:srgbClr val="6C757C"/>
                </a:solidFill>
                <a:latin typeface="Tahoma"/>
                <a:cs typeface="Tahoma"/>
              </a:rPr>
              <a:t>Identiﬁed</a:t>
            </a:r>
            <a:r>
              <a:rPr sz="1000" spc="-20">
                <a:solidFill>
                  <a:srgbClr val="6C757C"/>
                </a:solidFill>
                <a:latin typeface="Tahoma"/>
                <a:cs typeface="Tahoma"/>
              </a:rPr>
              <a:t> </a:t>
            </a:r>
            <a:r>
              <a:rPr sz="1000">
                <a:solidFill>
                  <a:srgbClr val="6C757C"/>
                </a:solidFill>
                <a:latin typeface="Tahoma"/>
                <a:cs typeface="Tahoma"/>
              </a:rPr>
              <a:t>in</a:t>
            </a:r>
            <a:r>
              <a:rPr sz="1000" spc="-10">
                <a:solidFill>
                  <a:srgbClr val="6C757C"/>
                </a:solidFill>
                <a:latin typeface="Tahoma"/>
                <a:cs typeface="Tahoma"/>
              </a:rPr>
              <a:t> </a:t>
            </a:r>
            <a:r>
              <a:rPr sz="1000" b="1">
                <a:solidFill>
                  <a:srgbClr val="6C757C"/>
                </a:solidFill>
                <a:latin typeface="Arial"/>
                <a:cs typeface="Arial"/>
              </a:rPr>
              <a:t>150</a:t>
            </a:r>
            <a:r>
              <a:rPr sz="1000" b="1" spc="50">
                <a:solidFill>
                  <a:srgbClr val="6C757C"/>
                </a:solidFill>
                <a:latin typeface="Arial"/>
                <a:cs typeface="Arial"/>
              </a:rPr>
              <a:t> </a:t>
            </a:r>
            <a:r>
              <a:rPr sz="1000" b="1">
                <a:solidFill>
                  <a:srgbClr val="6C757C"/>
                </a:solidFill>
                <a:latin typeface="Arial"/>
                <a:cs typeface="Arial"/>
              </a:rPr>
              <a:t>of</a:t>
            </a:r>
            <a:r>
              <a:rPr sz="1000" b="1" spc="50">
                <a:solidFill>
                  <a:srgbClr val="6C757C"/>
                </a:solidFill>
                <a:latin typeface="Arial"/>
                <a:cs typeface="Arial"/>
              </a:rPr>
              <a:t> </a:t>
            </a:r>
            <a:r>
              <a:rPr sz="1000" b="1">
                <a:solidFill>
                  <a:srgbClr val="6C757C"/>
                </a:solidFill>
                <a:latin typeface="Arial"/>
                <a:cs typeface="Arial"/>
              </a:rPr>
              <a:t>188</a:t>
            </a:r>
            <a:r>
              <a:rPr sz="1000" b="1" spc="15">
                <a:solidFill>
                  <a:srgbClr val="6C757C"/>
                </a:solidFill>
                <a:latin typeface="Arial"/>
                <a:cs typeface="Arial"/>
              </a:rPr>
              <a:t> </a:t>
            </a:r>
            <a:r>
              <a:rPr sz="1000" spc="-10" err="1">
                <a:solidFill>
                  <a:srgbClr val="6C757C"/>
                </a:solidFill>
                <a:latin typeface="Tahoma"/>
                <a:cs typeface="Tahoma"/>
              </a:rPr>
              <a:t>investigatio</a:t>
            </a:r>
            <a:r>
              <a:rPr lang="en-GB" sz="1000" spc="30">
                <a:solidFill>
                  <a:srgbClr val="6C757C"/>
                </a:solidFill>
                <a:latin typeface="Tahoma"/>
                <a:cs typeface="Tahoma"/>
              </a:rPr>
              <a:t>n reports</a:t>
            </a:r>
            <a:endParaRPr sz="1000">
              <a:latin typeface="Tahoma"/>
              <a:cs typeface="Tahoma"/>
            </a:endParaRPr>
          </a:p>
        </p:txBody>
      </p:sp>
      <p:sp>
        <p:nvSpPr>
          <p:cNvPr id="7" name="Slide Number Placeholder 6">
            <a:extLst>
              <a:ext uri="{FF2B5EF4-FFF2-40B4-BE49-F238E27FC236}">
                <a16:creationId xmlns:a16="http://schemas.microsoft.com/office/drawing/2014/main" id="{1B18A172-18FD-F3E8-78BA-E93E35B11A9A}"/>
              </a:ext>
            </a:extLst>
          </p:cNvPr>
          <p:cNvSpPr>
            <a:spLocks noGrp="1"/>
          </p:cNvSpPr>
          <p:nvPr>
            <p:ph type="sldNum" sz="quarter" idx="7"/>
          </p:nvPr>
        </p:nvSpPr>
        <p:spPr>
          <a:xfrm>
            <a:off x="5377776" y="3070861"/>
            <a:ext cx="388024" cy="173989"/>
          </a:xfrm>
        </p:spPr>
        <p:txBody>
          <a:bodyPr/>
          <a:lstStyle/>
          <a:p>
            <a:pPr marL="39370">
              <a:lnSpc>
                <a:spcPct val="100000"/>
              </a:lnSpc>
              <a:spcBef>
                <a:spcPts val="219"/>
              </a:spcBef>
            </a:pPr>
            <a:fld id="{81D60167-4931-47E6-BA6A-407CBD079E47}" type="slidenum">
              <a:rPr lang="en-GB" smtClean="0"/>
              <a:t>21</a:t>
            </a:fld>
            <a:r>
              <a:rPr lang="en-GB" spc="20"/>
              <a:t> </a:t>
            </a:r>
            <a:r>
              <a:rPr lang="en-GB" spc="120"/>
              <a:t>/</a:t>
            </a:r>
            <a:r>
              <a:rPr lang="en-GB" spc="25"/>
              <a:t> </a:t>
            </a:r>
            <a:r>
              <a:rPr lang="en-GB" spc="-25"/>
              <a:t>41</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301773" y="925014"/>
            <a:ext cx="900430" cy="993221"/>
          </a:xfrm>
          <a:prstGeom prst="rect">
            <a:avLst/>
          </a:prstGeom>
        </p:spPr>
        <p:txBody>
          <a:bodyPr vert="horz" wrap="square" lIns="0" tIns="15875" rIns="0" bIns="0" rtlCol="0">
            <a:spAutoFit/>
          </a:bodyPr>
          <a:lstStyle/>
          <a:p>
            <a:pPr marL="12700">
              <a:lnSpc>
                <a:spcPct val="100000"/>
              </a:lnSpc>
              <a:spcBef>
                <a:spcPts val="125"/>
              </a:spcBef>
            </a:pPr>
            <a:r>
              <a:rPr lang="en-GB" sz="6350" spc="-150">
                <a:solidFill>
                  <a:srgbClr val="FFFFFF"/>
                </a:solidFill>
              </a:rPr>
              <a:t>03</a:t>
            </a:r>
            <a:endParaRPr lang="en-GB" sz="6350"/>
          </a:p>
        </p:txBody>
      </p:sp>
      <p:sp>
        <p:nvSpPr>
          <p:cNvPr id="3" name="object 3"/>
          <p:cNvSpPr txBox="1"/>
          <p:nvPr/>
        </p:nvSpPr>
        <p:spPr>
          <a:xfrm>
            <a:off x="2239657" y="1131437"/>
            <a:ext cx="2757805" cy="511809"/>
          </a:xfrm>
          <a:prstGeom prst="rect">
            <a:avLst/>
          </a:prstGeom>
        </p:spPr>
        <p:txBody>
          <a:bodyPr vert="horz" wrap="square" lIns="0" tIns="17145" rIns="0" bIns="0" rtlCol="0">
            <a:spAutoFit/>
          </a:bodyPr>
          <a:lstStyle/>
          <a:p>
            <a:pPr marL="12700">
              <a:lnSpc>
                <a:spcPct val="100000"/>
              </a:lnSpc>
              <a:spcBef>
                <a:spcPts val="135"/>
              </a:spcBef>
            </a:pPr>
            <a:r>
              <a:rPr sz="3150" b="1" spc="-100">
                <a:solidFill>
                  <a:srgbClr val="202429"/>
                </a:solidFill>
                <a:latin typeface="Arial"/>
                <a:cs typeface="Arial"/>
              </a:rPr>
              <a:t>Summarisation</a:t>
            </a:r>
            <a:endParaRPr sz="3150">
              <a:latin typeface="Arial"/>
              <a:cs typeface="Arial"/>
            </a:endParaRPr>
          </a:p>
        </p:txBody>
      </p:sp>
      <p:sp>
        <p:nvSpPr>
          <p:cNvPr id="4" name="object 4"/>
          <p:cNvSpPr/>
          <p:nvPr/>
        </p:nvSpPr>
        <p:spPr>
          <a:xfrm>
            <a:off x="2252357" y="1794738"/>
            <a:ext cx="900430" cy="0"/>
          </a:xfrm>
          <a:custGeom>
            <a:avLst/>
            <a:gdLst/>
            <a:ahLst/>
            <a:cxnLst/>
            <a:rect l="l" t="t" r="r" b="b"/>
            <a:pathLst>
              <a:path w="900430">
                <a:moveTo>
                  <a:pt x="0" y="0"/>
                </a:moveTo>
                <a:lnTo>
                  <a:pt x="900010" y="0"/>
                </a:lnTo>
              </a:path>
            </a:pathLst>
          </a:custGeom>
          <a:ln w="18978">
            <a:solidFill>
              <a:srgbClr val="005F73"/>
            </a:solidFill>
          </a:ln>
        </p:spPr>
        <p:txBody>
          <a:bodyPr wrap="square" lIns="0" tIns="0" rIns="0" bIns="0" rtlCol="0"/>
          <a:lstStyle/>
          <a:p>
            <a:endParaRPr/>
          </a:p>
        </p:txBody>
      </p:sp>
      <p:sp>
        <p:nvSpPr>
          <p:cNvPr id="5" name="object 5"/>
          <p:cNvSpPr txBox="1"/>
          <p:nvPr/>
        </p:nvSpPr>
        <p:spPr>
          <a:xfrm>
            <a:off x="2239657" y="1922599"/>
            <a:ext cx="2673350" cy="207645"/>
          </a:xfrm>
          <a:prstGeom prst="rect">
            <a:avLst/>
          </a:prstGeom>
        </p:spPr>
        <p:txBody>
          <a:bodyPr vert="horz" wrap="square" lIns="0" tIns="12065" rIns="0" bIns="0" rtlCol="0">
            <a:spAutoFit/>
          </a:bodyPr>
          <a:lstStyle/>
          <a:p>
            <a:pPr marL="12700">
              <a:lnSpc>
                <a:spcPct val="100000"/>
              </a:lnSpc>
              <a:spcBef>
                <a:spcPts val="95"/>
              </a:spcBef>
            </a:pPr>
            <a:r>
              <a:rPr sz="1200" spc="-30">
                <a:solidFill>
                  <a:srgbClr val="6C757C"/>
                </a:solidFill>
                <a:latin typeface="Tahoma"/>
                <a:cs typeface="Tahoma"/>
              </a:rPr>
              <a:t>Multi-</a:t>
            </a:r>
            <a:r>
              <a:rPr sz="1200" spc="-50">
                <a:solidFill>
                  <a:srgbClr val="6C757C"/>
                </a:solidFill>
                <a:latin typeface="Tahoma"/>
                <a:cs typeface="Tahoma"/>
              </a:rPr>
              <a:t>document</a:t>
            </a:r>
            <a:r>
              <a:rPr sz="1200" spc="-25">
                <a:solidFill>
                  <a:srgbClr val="6C757C"/>
                </a:solidFill>
                <a:latin typeface="Tahoma"/>
                <a:cs typeface="Tahoma"/>
              </a:rPr>
              <a:t> </a:t>
            </a:r>
            <a:r>
              <a:rPr sz="1200" spc="-60">
                <a:solidFill>
                  <a:srgbClr val="6C757C"/>
                </a:solidFill>
                <a:latin typeface="Tahoma"/>
                <a:cs typeface="Tahoma"/>
              </a:rPr>
              <a:t>synthesis</a:t>
            </a:r>
            <a:r>
              <a:rPr sz="1200" spc="-15">
                <a:solidFill>
                  <a:srgbClr val="6C757C"/>
                </a:solidFill>
                <a:latin typeface="Tahoma"/>
                <a:cs typeface="Tahoma"/>
              </a:rPr>
              <a:t> </a:t>
            </a:r>
            <a:r>
              <a:rPr sz="1200" spc="-65">
                <a:solidFill>
                  <a:srgbClr val="6C757C"/>
                </a:solidFill>
                <a:latin typeface="Tahoma"/>
                <a:cs typeface="Tahoma"/>
              </a:rPr>
              <a:t>by</a:t>
            </a:r>
            <a:r>
              <a:rPr sz="1200" spc="-25">
                <a:solidFill>
                  <a:srgbClr val="6C757C"/>
                </a:solidFill>
                <a:latin typeface="Tahoma"/>
                <a:cs typeface="Tahoma"/>
              </a:rPr>
              <a:t> </a:t>
            </a:r>
            <a:r>
              <a:rPr sz="1200" spc="-75">
                <a:solidFill>
                  <a:srgbClr val="6C757C"/>
                </a:solidFill>
                <a:latin typeface="Tahoma"/>
                <a:cs typeface="Tahoma"/>
              </a:rPr>
              <a:t>human</a:t>
            </a:r>
            <a:r>
              <a:rPr sz="1200" spc="-15">
                <a:solidFill>
                  <a:srgbClr val="6C757C"/>
                </a:solidFill>
                <a:latin typeface="Tahoma"/>
                <a:cs typeface="Tahoma"/>
              </a:rPr>
              <a:t> </a:t>
            </a:r>
            <a:r>
              <a:rPr sz="1200" spc="-10">
                <a:solidFill>
                  <a:srgbClr val="6C757C"/>
                </a:solidFill>
                <a:latin typeface="Tahoma"/>
                <a:cs typeface="Tahoma"/>
              </a:rPr>
              <a:t>factor</a:t>
            </a:r>
            <a:endParaRPr sz="1200">
              <a:latin typeface="Tahoma"/>
              <a:cs typeface="Tahoma"/>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40231" y="514308"/>
            <a:ext cx="3862070" cy="1354455"/>
          </a:xfrm>
          <a:prstGeom prst="rect">
            <a:avLst/>
          </a:prstGeom>
        </p:spPr>
        <p:txBody>
          <a:bodyPr vert="horz" wrap="square" lIns="0" tIns="43180" rIns="0" bIns="0" rtlCol="0">
            <a:spAutoFit/>
          </a:bodyPr>
          <a:lstStyle/>
          <a:p>
            <a:pPr marL="12065" marR="5080" algn="ctr">
              <a:lnSpc>
                <a:spcPts val="2690"/>
              </a:lnSpc>
              <a:spcBef>
                <a:spcPts val="340"/>
              </a:spcBef>
            </a:pPr>
            <a:r>
              <a:rPr sz="2400" i="1">
                <a:solidFill>
                  <a:srgbClr val="202429"/>
                </a:solidFill>
                <a:latin typeface="Calibri"/>
                <a:cs typeface="Calibri"/>
              </a:rPr>
              <a:t>Can</a:t>
            </a:r>
            <a:r>
              <a:rPr sz="2400" i="1" spc="40">
                <a:solidFill>
                  <a:srgbClr val="202429"/>
                </a:solidFill>
                <a:latin typeface="Calibri"/>
                <a:cs typeface="Calibri"/>
              </a:rPr>
              <a:t> </a:t>
            </a:r>
            <a:r>
              <a:rPr sz="2400" i="1" spc="-85">
                <a:solidFill>
                  <a:srgbClr val="202429"/>
                </a:solidFill>
                <a:latin typeface="Calibri"/>
                <a:cs typeface="Calibri"/>
              </a:rPr>
              <a:t>we</a:t>
            </a:r>
            <a:r>
              <a:rPr sz="2400" i="1" spc="40">
                <a:solidFill>
                  <a:srgbClr val="202429"/>
                </a:solidFill>
                <a:latin typeface="Calibri"/>
                <a:cs typeface="Calibri"/>
              </a:rPr>
              <a:t> </a:t>
            </a:r>
            <a:r>
              <a:rPr sz="2400" i="1" spc="-65">
                <a:solidFill>
                  <a:srgbClr val="202429"/>
                </a:solidFill>
                <a:latin typeface="Calibri"/>
                <a:cs typeface="Calibri"/>
              </a:rPr>
              <a:t>automatically</a:t>
            </a:r>
            <a:r>
              <a:rPr sz="2400" i="1" spc="45">
                <a:solidFill>
                  <a:srgbClr val="202429"/>
                </a:solidFill>
                <a:latin typeface="Calibri"/>
                <a:cs typeface="Calibri"/>
              </a:rPr>
              <a:t> </a:t>
            </a:r>
            <a:r>
              <a:rPr sz="2400" i="1" spc="-65">
                <a:solidFill>
                  <a:srgbClr val="202429"/>
                </a:solidFill>
                <a:latin typeface="Calibri"/>
                <a:cs typeface="Calibri"/>
              </a:rPr>
              <a:t>synthesise </a:t>
            </a:r>
            <a:r>
              <a:rPr sz="2400" i="1" spc="-40">
                <a:solidFill>
                  <a:srgbClr val="202429"/>
                </a:solidFill>
                <a:latin typeface="Calibri"/>
                <a:cs typeface="Calibri"/>
              </a:rPr>
              <a:t>ﬁndings</a:t>
            </a:r>
            <a:r>
              <a:rPr sz="2400" i="1" spc="-35">
                <a:solidFill>
                  <a:srgbClr val="202429"/>
                </a:solidFill>
                <a:latin typeface="Calibri"/>
                <a:cs typeface="Calibri"/>
              </a:rPr>
              <a:t> </a:t>
            </a:r>
            <a:r>
              <a:rPr sz="2400" i="1" spc="-45">
                <a:solidFill>
                  <a:srgbClr val="202429"/>
                </a:solidFill>
                <a:latin typeface="Calibri"/>
                <a:cs typeface="Calibri"/>
              </a:rPr>
              <a:t>across</a:t>
            </a:r>
            <a:r>
              <a:rPr sz="2400" i="1" spc="-35">
                <a:solidFill>
                  <a:srgbClr val="202429"/>
                </a:solidFill>
                <a:latin typeface="Calibri"/>
                <a:cs typeface="Calibri"/>
              </a:rPr>
              <a:t> </a:t>
            </a:r>
            <a:r>
              <a:rPr sz="2400" i="1" spc="-20">
                <a:solidFill>
                  <a:srgbClr val="202429"/>
                </a:solidFill>
                <a:latin typeface="Calibri"/>
                <a:cs typeface="Calibri"/>
              </a:rPr>
              <a:t>188</a:t>
            </a:r>
            <a:r>
              <a:rPr sz="2400" i="1" spc="-30">
                <a:solidFill>
                  <a:srgbClr val="202429"/>
                </a:solidFill>
                <a:latin typeface="Calibri"/>
                <a:cs typeface="Calibri"/>
              </a:rPr>
              <a:t> </a:t>
            </a:r>
            <a:r>
              <a:rPr sz="2400" i="1" spc="-10">
                <a:solidFill>
                  <a:srgbClr val="202429"/>
                </a:solidFill>
                <a:latin typeface="Calibri"/>
                <a:cs typeface="Calibri"/>
              </a:rPr>
              <a:t>reports</a:t>
            </a:r>
            <a:endParaRPr sz="2400">
              <a:latin typeface="Calibri"/>
              <a:cs typeface="Calibri"/>
            </a:endParaRPr>
          </a:p>
          <a:p>
            <a:pPr marL="473709" marR="471805" algn="ctr">
              <a:lnSpc>
                <a:spcPct val="77100"/>
              </a:lnSpc>
              <a:spcBef>
                <a:spcPts val="400"/>
              </a:spcBef>
            </a:pPr>
            <a:r>
              <a:rPr sz="2400" i="1">
                <a:solidFill>
                  <a:srgbClr val="202429"/>
                </a:solidFill>
                <a:latin typeface="Calibri"/>
                <a:cs typeface="Calibri"/>
              </a:rPr>
              <a:t>into</a:t>
            </a:r>
            <a:r>
              <a:rPr sz="2400" i="1" spc="-15">
                <a:solidFill>
                  <a:srgbClr val="202429"/>
                </a:solidFill>
                <a:latin typeface="Calibri"/>
                <a:cs typeface="Calibri"/>
              </a:rPr>
              <a:t> </a:t>
            </a:r>
            <a:r>
              <a:rPr sz="2400" i="1" spc="-65">
                <a:solidFill>
                  <a:srgbClr val="202429"/>
                </a:solidFill>
                <a:latin typeface="Calibri"/>
                <a:cs typeface="Calibri"/>
              </a:rPr>
              <a:t>coherent</a:t>
            </a:r>
            <a:r>
              <a:rPr sz="2400" i="1" spc="-20">
                <a:solidFill>
                  <a:srgbClr val="202429"/>
                </a:solidFill>
                <a:latin typeface="Calibri"/>
                <a:cs typeface="Calibri"/>
              </a:rPr>
              <a:t> </a:t>
            </a:r>
            <a:r>
              <a:rPr sz="2400" i="1" spc="-95">
                <a:solidFill>
                  <a:srgbClr val="202429"/>
                </a:solidFill>
                <a:latin typeface="Calibri"/>
                <a:cs typeface="Calibri"/>
              </a:rPr>
              <a:t>summaries </a:t>
            </a:r>
            <a:r>
              <a:rPr sz="2400" i="1" spc="-25">
                <a:solidFill>
                  <a:srgbClr val="202429"/>
                </a:solidFill>
                <a:latin typeface="Calibri"/>
                <a:cs typeface="Calibri"/>
              </a:rPr>
              <a:t>for </a:t>
            </a:r>
            <a:r>
              <a:rPr sz="2400" i="1" spc="-50">
                <a:solidFill>
                  <a:srgbClr val="202429"/>
                </a:solidFill>
                <a:latin typeface="Calibri"/>
                <a:cs typeface="Calibri"/>
              </a:rPr>
              <a:t>each</a:t>
            </a:r>
            <a:r>
              <a:rPr sz="2400" i="1" spc="-25">
                <a:solidFill>
                  <a:srgbClr val="202429"/>
                </a:solidFill>
                <a:latin typeface="Calibri"/>
                <a:cs typeface="Calibri"/>
              </a:rPr>
              <a:t> </a:t>
            </a:r>
            <a:r>
              <a:rPr sz="2400" i="1" spc="-70">
                <a:solidFill>
                  <a:srgbClr val="202429"/>
                </a:solidFill>
                <a:latin typeface="Calibri"/>
                <a:cs typeface="Calibri"/>
              </a:rPr>
              <a:t>human</a:t>
            </a:r>
            <a:r>
              <a:rPr sz="2400" i="1" spc="-20">
                <a:solidFill>
                  <a:srgbClr val="202429"/>
                </a:solidFill>
                <a:latin typeface="Calibri"/>
                <a:cs typeface="Calibri"/>
              </a:rPr>
              <a:t> </a:t>
            </a:r>
            <a:r>
              <a:rPr sz="2400" i="1" spc="-10">
                <a:solidFill>
                  <a:srgbClr val="202429"/>
                </a:solidFill>
                <a:latin typeface="Calibri"/>
                <a:cs typeface="Calibri"/>
              </a:rPr>
              <a:t>factor?</a:t>
            </a:r>
            <a:endParaRPr sz="2400">
              <a:latin typeface="Calibri"/>
              <a:cs typeface="Calibri"/>
            </a:endParaRPr>
          </a:p>
        </p:txBody>
      </p:sp>
      <p:sp>
        <p:nvSpPr>
          <p:cNvPr id="3" name="object 3"/>
          <p:cNvSpPr/>
          <p:nvPr/>
        </p:nvSpPr>
        <p:spPr>
          <a:xfrm>
            <a:off x="2430005" y="2165400"/>
            <a:ext cx="900430" cy="0"/>
          </a:xfrm>
          <a:custGeom>
            <a:avLst/>
            <a:gdLst/>
            <a:ahLst/>
            <a:cxnLst/>
            <a:rect l="l" t="t" r="r" b="b"/>
            <a:pathLst>
              <a:path w="900429">
                <a:moveTo>
                  <a:pt x="0" y="0"/>
                </a:moveTo>
                <a:lnTo>
                  <a:pt x="899998" y="0"/>
                </a:lnTo>
              </a:path>
            </a:pathLst>
          </a:custGeom>
          <a:ln w="18978">
            <a:solidFill>
              <a:srgbClr val="005F73"/>
            </a:solidFill>
          </a:ln>
        </p:spPr>
        <p:txBody>
          <a:bodyPr wrap="square" lIns="0" tIns="0" rIns="0" bIns="0" rtlCol="0"/>
          <a:lstStyle/>
          <a:p>
            <a:endParaRPr/>
          </a:p>
        </p:txBody>
      </p:sp>
      <p:sp>
        <p:nvSpPr>
          <p:cNvPr id="4" name="object 4"/>
          <p:cNvSpPr/>
          <p:nvPr/>
        </p:nvSpPr>
        <p:spPr>
          <a:xfrm>
            <a:off x="0" y="3060028"/>
            <a:ext cx="5760085" cy="0"/>
          </a:xfrm>
          <a:custGeom>
            <a:avLst/>
            <a:gdLst/>
            <a:ahLst/>
            <a:cxnLst/>
            <a:rect l="l" t="t" r="r" b="b"/>
            <a:pathLst>
              <a:path w="5760085">
                <a:moveTo>
                  <a:pt x="0" y="0"/>
                </a:moveTo>
                <a:lnTo>
                  <a:pt x="5760073" y="0"/>
                </a:lnTo>
              </a:path>
            </a:pathLst>
          </a:custGeom>
          <a:ln w="6326">
            <a:solidFill>
              <a:srgbClr val="CED3DA"/>
            </a:solidFill>
          </a:ln>
        </p:spPr>
        <p:txBody>
          <a:bodyPr wrap="square" lIns="0" tIns="0" rIns="0" bIns="0" rtlCol="0"/>
          <a:lstStyle/>
          <a:p>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74218" rIns="0" bIns="0" rtlCol="0">
            <a:spAutoFit/>
          </a:bodyPr>
          <a:lstStyle/>
          <a:p>
            <a:pPr marL="99060">
              <a:lnSpc>
                <a:spcPct val="100000"/>
              </a:lnSpc>
              <a:spcBef>
                <a:spcPts val="390"/>
              </a:spcBef>
            </a:pPr>
            <a:r>
              <a:t>Method</a:t>
            </a:r>
            <a:r>
              <a:rPr spc="285"/>
              <a:t> </a:t>
            </a:r>
            <a:r>
              <a:t>2:</a:t>
            </a:r>
            <a:r>
              <a:rPr spc="60"/>
              <a:t>  </a:t>
            </a:r>
            <a:r>
              <a:t>Multi-Document</a:t>
            </a:r>
            <a:r>
              <a:rPr spc="290"/>
              <a:t> </a:t>
            </a:r>
            <a:r>
              <a:rPr spc="-30"/>
              <a:t>Summarisation</a:t>
            </a:r>
          </a:p>
          <a:p>
            <a:pPr marL="99060">
              <a:lnSpc>
                <a:spcPct val="100000"/>
              </a:lnSpc>
              <a:spcBef>
                <a:spcPts val="195"/>
              </a:spcBef>
            </a:pPr>
            <a:r>
              <a:rPr sz="1100" b="0" spc="-85">
                <a:solidFill>
                  <a:srgbClr val="6C757C"/>
                </a:solidFill>
                <a:latin typeface="Tahoma"/>
                <a:cs typeface="Tahoma"/>
              </a:rPr>
              <a:t>I-</a:t>
            </a:r>
            <a:r>
              <a:rPr sz="1100" b="0" spc="-35">
                <a:solidFill>
                  <a:srgbClr val="6C757C"/>
                </a:solidFill>
                <a:latin typeface="Tahoma"/>
                <a:cs typeface="Tahoma"/>
              </a:rPr>
              <a:t>SIRch:CS</a:t>
            </a:r>
            <a:r>
              <a:rPr sz="1100" b="0">
                <a:solidFill>
                  <a:srgbClr val="6C757C"/>
                </a:solidFill>
                <a:latin typeface="Tahoma"/>
                <a:cs typeface="Tahoma"/>
              </a:rPr>
              <a:t> </a:t>
            </a:r>
            <a:r>
              <a:rPr sz="1100" b="0" spc="-10">
                <a:solidFill>
                  <a:srgbClr val="6C757C"/>
                </a:solidFill>
                <a:latin typeface="Tahoma"/>
                <a:cs typeface="Tahoma"/>
              </a:rPr>
              <a:t>Framework</a:t>
            </a:r>
            <a:endParaRPr sz="1100">
              <a:latin typeface="Tahoma"/>
              <a:cs typeface="Tahoma"/>
            </a:endParaRPr>
          </a:p>
        </p:txBody>
      </p:sp>
      <p:sp>
        <p:nvSpPr>
          <p:cNvPr id="3" name="object 3"/>
          <p:cNvSpPr/>
          <p:nvPr/>
        </p:nvSpPr>
        <p:spPr>
          <a:xfrm>
            <a:off x="359994" y="728433"/>
            <a:ext cx="900430" cy="0"/>
          </a:xfrm>
          <a:custGeom>
            <a:avLst/>
            <a:gdLst/>
            <a:ahLst/>
            <a:cxnLst/>
            <a:rect l="l" t="t" r="r" b="b"/>
            <a:pathLst>
              <a:path w="900430">
                <a:moveTo>
                  <a:pt x="0" y="0"/>
                </a:moveTo>
                <a:lnTo>
                  <a:pt x="900010" y="0"/>
                </a:lnTo>
              </a:path>
            </a:pathLst>
          </a:custGeom>
          <a:ln w="18978">
            <a:solidFill>
              <a:srgbClr val="005F73"/>
            </a:solidFill>
          </a:ln>
        </p:spPr>
        <p:txBody>
          <a:bodyPr wrap="square" lIns="0" tIns="0" rIns="0" bIns="0" rtlCol="0"/>
          <a:lstStyle/>
          <a:p>
            <a:endParaRPr/>
          </a:p>
        </p:txBody>
      </p:sp>
      <p:grpSp>
        <p:nvGrpSpPr>
          <p:cNvPr id="4" name="object 4"/>
          <p:cNvGrpSpPr/>
          <p:nvPr/>
        </p:nvGrpSpPr>
        <p:grpSpPr>
          <a:xfrm>
            <a:off x="779338" y="1029327"/>
            <a:ext cx="725170" cy="307975"/>
            <a:chOff x="779338" y="1029327"/>
            <a:chExt cx="725170" cy="307975"/>
          </a:xfrm>
        </p:grpSpPr>
        <p:sp>
          <p:nvSpPr>
            <p:cNvPr id="5" name="object 5"/>
            <p:cNvSpPr/>
            <p:nvPr/>
          </p:nvSpPr>
          <p:spPr>
            <a:xfrm>
              <a:off x="781878" y="1031867"/>
              <a:ext cx="720090" cy="302895"/>
            </a:xfrm>
            <a:custGeom>
              <a:avLst/>
              <a:gdLst/>
              <a:ahLst/>
              <a:cxnLst/>
              <a:rect l="l" t="t" r="r" b="b"/>
              <a:pathLst>
                <a:path w="720090" h="302894">
                  <a:moveTo>
                    <a:pt x="669397" y="0"/>
                  </a:moveTo>
                  <a:lnTo>
                    <a:pt x="50610" y="0"/>
                  </a:lnTo>
                  <a:lnTo>
                    <a:pt x="30910" y="3977"/>
                  </a:lnTo>
                  <a:lnTo>
                    <a:pt x="14823" y="14823"/>
                  </a:lnTo>
                  <a:lnTo>
                    <a:pt x="3977" y="30910"/>
                  </a:lnTo>
                  <a:lnTo>
                    <a:pt x="0" y="50610"/>
                  </a:lnTo>
                  <a:lnTo>
                    <a:pt x="0" y="251917"/>
                  </a:lnTo>
                  <a:lnTo>
                    <a:pt x="3977" y="271617"/>
                  </a:lnTo>
                  <a:lnTo>
                    <a:pt x="14823" y="287705"/>
                  </a:lnTo>
                  <a:lnTo>
                    <a:pt x="30910" y="298551"/>
                  </a:lnTo>
                  <a:lnTo>
                    <a:pt x="50610" y="302528"/>
                  </a:lnTo>
                  <a:lnTo>
                    <a:pt x="669397" y="302528"/>
                  </a:lnTo>
                  <a:lnTo>
                    <a:pt x="689098" y="298551"/>
                  </a:lnTo>
                  <a:lnTo>
                    <a:pt x="705185" y="287705"/>
                  </a:lnTo>
                  <a:lnTo>
                    <a:pt x="716031" y="271617"/>
                  </a:lnTo>
                  <a:lnTo>
                    <a:pt x="720008" y="251917"/>
                  </a:lnTo>
                  <a:lnTo>
                    <a:pt x="720008" y="50610"/>
                  </a:lnTo>
                  <a:lnTo>
                    <a:pt x="716031" y="30910"/>
                  </a:lnTo>
                  <a:lnTo>
                    <a:pt x="705185" y="14823"/>
                  </a:lnTo>
                  <a:lnTo>
                    <a:pt x="689098" y="3977"/>
                  </a:lnTo>
                  <a:lnTo>
                    <a:pt x="669397" y="0"/>
                  </a:lnTo>
                  <a:close/>
                </a:path>
              </a:pathLst>
            </a:custGeom>
            <a:solidFill>
              <a:srgbClr val="FFF2EB"/>
            </a:solidFill>
          </p:spPr>
          <p:txBody>
            <a:bodyPr wrap="square" lIns="0" tIns="0" rIns="0" bIns="0" rtlCol="0"/>
            <a:lstStyle/>
            <a:p>
              <a:endParaRPr/>
            </a:p>
          </p:txBody>
        </p:sp>
        <p:sp>
          <p:nvSpPr>
            <p:cNvPr id="6" name="object 6"/>
            <p:cNvSpPr/>
            <p:nvPr/>
          </p:nvSpPr>
          <p:spPr>
            <a:xfrm>
              <a:off x="781878" y="1031867"/>
              <a:ext cx="720090" cy="302895"/>
            </a:xfrm>
            <a:custGeom>
              <a:avLst/>
              <a:gdLst/>
              <a:ahLst/>
              <a:cxnLst/>
              <a:rect l="l" t="t" r="r" b="b"/>
              <a:pathLst>
                <a:path w="720090" h="302894">
                  <a:moveTo>
                    <a:pt x="669397" y="0"/>
                  </a:moveTo>
                  <a:lnTo>
                    <a:pt x="50610" y="0"/>
                  </a:lnTo>
                  <a:lnTo>
                    <a:pt x="30910" y="3977"/>
                  </a:lnTo>
                  <a:lnTo>
                    <a:pt x="14823" y="14823"/>
                  </a:lnTo>
                  <a:lnTo>
                    <a:pt x="3977" y="30910"/>
                  </a:lnTo>
                  <a:lnTo>
                    <a:pt x="0" y="50610"/>
                  </a:lnTo>
                  <a:lnTo>
                    <a:pt x="0" y="251917"/>
                  </a:lnTo>
                  <a:lnTo>
                    <a:pt x="3977" y="271617"/>
                  </a:lnTo>
                  <a:lnTo>
                    <a:pt x="14823" y="287705"/>
                  </a:lnTo>
                  <a:lnTo>
                    <a:pt x="30910" y="298551"/>
                  </a:lnTo>
                  <a:lnTo>
                    <a:pt x="50610" y="302528"/>
                  </a:lnTo>
                  <a:lnTo>
                    <a:pt x="669397" y="302528"/>
                  </a:lnTo>
                  <a:lnTo>
                    <a:pt x="689098" y="298551"/>
                  </a:lnTo>
                  <a:lnTo>
                    <a:pt x="705185" y="287705"/>
                  </a:lnTo>
                  <a:lnTo>
                    <a:pt x="716031" y="271617"/>
                  </a:lnTo>
                  <a:lnTo>
                    <a:pt x="720008" y="251917"/>
                  </a:lnTo>
                  <a:lnTo>
                    <a:pt x="720008" y="50610"/>
                  </a:lnTo>
                  <a:lnTo>
                    <a:pt x="716031" y="30910"/>
                  </a:lnTo>
                  <a:lnTo>
                    <a:pt x="705185" y="14823"/>
                  </a:lnTo>
                  <a:lnTo>
                    <a:pt x="689098" y="3977"/>
                  </a:lnTo>
                  <a:lnTo>
                    <a:pt x="669397" y="0"/>
                  </a:lnTo>
                  <a:close/>
                </a:path>
              </a:pathLst>
            </a:custGeom>
            <a:ln w="5060">
              <a:solidFill>
                <a:srgbClr val="D75F2C"/>
              </a:solidFill>
            </a:ln>
          </p:spPr>
          <p:txBody>
            <a:bodyPr wrap="square" lIns="0" tIns="0" rIns="0" bIns="0" rtlCol="0"/>
            <a:lstStyle/>
            <a:p>
              <a:endParaRPr/>
            </a:p>
          </p:txBody>
        </p:sp>
      </p:grpSp>
      <p:sp>
        <p:nvSpPr>
          <p:cNvPr id="7" name="object 7"/>
          <p:cNvSpPr txBox="1"/>
          <p:nvPr/>
        </p:nvSpPr>
        <p:spPr>
          <a:xfrm>
            <a:off x="950899" y="1034413"/>
            <a:ext cx="382270" cy="267335"/>
          </a:xfrm>
          <a:prstGeom prst="rect">
            <a:avLst/>
          </a:prstGeom>
        </p:spPr>
        <p:txBody>
          <a:bodyPr vert="horz" wrap="square" lIns="0" tIns="17145" rIns="0" bIns="0" rtlCol="0">
            <a:spAutoFit/>
          </a:bodyPr>
          <a:lstStyle/>
          <a:p>
            <a:pPr marL="19050" marR="5080" indent="-6985">
              <a:lnSpc>
                <a:spcPts val="950"/>
              </a:lnSpc>
              <a:spcBef>
                <a:spcPts val="135"/>
              </a:spcBef>
            </a:pPr>
            <a:r>
              <a:rPr sz="800" spc="-20">
                <a:solidFill>
                  <a:srgbClr val="202528"/>
                </a:solidFill>
                <a:latin typeface="Tahoma"/>
                <a:cs typeface="Tahoma"/>
              </a:rPr>
              <a:t>Incident </a:t>
            </a:r>
            <a:r>
              <a:rPr sz="800" spc="-10">
                <a:solidFill>
                  <a:srgbClr val="202528"/>
                </a:solidFill>
                <a:latin typeface="Tahoma"/>
                <a:cs typeface="Tahoma"/>
              </a:rPr>
              <a:t>Reports</a:t>
            </a:r>
            <a:endParaRPr sz="800">
              <a:latin typeface="Tahoma"/>
              <a:cs typeface="Tahoma"/>
            </a:endParaRPr>
          </a:p>
        </p:txBody>
      </p:sp>
      <p:grpSp>
        <p:nvGrpSpPr>
          <p:cNvPr id="8" name="object 8"/>
          <p:cNvGrpSpPr/>
          <p:nvPr/>
        </p:nvGrpSpPr>
        <p:grpSpPr>
          <a:xfrm>
            <a:off x="1648407" y="1036589"/>
            <a:ext cx="725170" cy="293370"/>
            <a:chOff x="1648407" y="1036589"/>
            <a:chExt cx="725170" cy="293370"/>
          </a:xfrm>
        </p:grpSpPr>
        <p:sp>
          <p:nvSpPr>
            <p:cNvPr id="9" name="object 9"/>
            <p:cNvSpPr/>
            <p:nvPr/>
          </p:nvSpPr>
          <p:spPr>
            <a:xfrm>
              <a:off x="1650947" y="1039129"/>
              <a:ext cx="720090" cy="288290"/>
            </a:xfrm>
            <a:custGeom>
              <a:avLst/>
              <a:gdLst/>
              <a:ahLst/>
              <a:cxnLst/>
              <a:rect l="l" t="t" r="r" b="b"/>
              <a:pathLst>
                <a:path w="720089" h="288290">
                  <a:moveTo>
                    <a:pt x="669398" y="0"/>
                  </a:moveTo>
                  <a:lnTo>
                    <a:pt x="50610" y="0"/>
                  </a:lnTo>
                  <a:lnTo>
                    <a:pt x="30910" y="3977"/>
                  </a:lnTo>
                  <a:lnTo>
                    <a:pt x="14823" y="14823"/>
                  </a:lnTo>
                  <a:lnTo>
                    <a:pt x="3977" y="30910"/>
                  </a:lnTo>
                  <a:lnTo>
                    <a:pt x="0" y="50610"/>
                  </a:lnTo>
                  <a:lnTo>
                    <a:pt x="0" y="237393"/>
                  </a:lnTo>
                  <a:lnTo>
                    <a:pt x="3977" y="257093"/>
                  </a:lnTo>
                  <a:lnTo>
                    <a:pt x="14823" y="273180"/>
                  </a:lnTo>
                  <a:lnTo>
                    <a:pt x="30910" y="284027"/>
                  </a:lnTo>
                  <a:lnTo>
                    <a:pt x="50610" y="288004"/>
                  </a:lnTo>
                  <a:lnTo>
                    <a:pt x="669398" y="288004"/>
                  </a:lnTo>
                  <a:lnTo>
                    <a:pt x="689098" y="284027"/>
                  </a:lnTo>
                  <a:lnTo>
                    <a:pt x="705185" y="273180"/>
                  </a:lnTo>
                  <a:lnTo>
                    <a:pt x="716031" y="257093"/>
                  </a:lnTo>
                  <a:lnTo>
                    <a:pt x="720009" y="237393"/>
                  </a:lnTo>
                  <a:lnTo>
                    <a:pt x="720009" y="50610"/>
                  </a:lnTo>
                  <a:lnTo>
                    <a:pt x="716031" y="30910"/>
                  </a:lnTo>
                  <a:lnTo>
                    <a:pt x="705185" y="14823"/>
                  </a:lnTo>
                  <a:lnTo>
                    <a:pt x="689098" y="3977"/>
                  </a:lnTo>
                  <a:lnTo>
                    <a:pt x="669398" y="0"/>
                  </a:lnTo>
                  <a:close/>
                </a:path>
              </a:pathLst>
            </a:custGeom>
            <a:solidFill>
              <a:srgbClr val="F8F8FA"/>
            </a:solidFill>
          </p:spPr>
          <p:txBody>
            <a:bodyPr wrap="square" lIns="0" tIns="0" rIns="0" bIns="0" rtlCol="0"/>
            <a:lstStyle/>
            <a:p>
              <a:endParaRPr/>
            </a:p>
          </p:txBody>
        </p:sp>
        <p:sp>
          <p:nvSpPr>
            <p:cNvPr id="10" name="object 10"/>
            <p:cNvSpPr/>
            <p:nvPr/>
          </p:nvSpPr>
          <p:spPr>
            <a:xfrm>
              <a:off x="1650947" y="1039129"/>
              <a:ext cx="720090" cy="288290"/>
            </a:xfrm>
            <a:custGeom>
              <a:avLst/>
              <a:gdLst/>
              <a:ahLst/>
              <a:cxnLst/>
              <a:rect l="l" t="t" r="r" b="b"/>
              <a:pathLst>
                <a:path w="720089" h="288290">
                  <a:moveTo>
                    <a:pt x="669398" y="0"/>
                  </a:moveTo>
                  <a:lnTo>
                    <a:pt x="50610" y="0"/>
                  </a:lnTo>
                  <a:lnTo>
                    <a:pt x="30910" y="3977"/>
                  </a:lnTo>
                  <a:lnTo>
                    <a:pt x="14823" y="14823"/>
                  </a:lnTo>
                  <a:lnTo>
                    <a:pt x="3977" y="30910"/>
                  </a:lnTo>
                  <a:lnTo>
                    <a:pt x="0" y="50610"/>
                  </a:lnTo>
                  <a:lnTo>
                    <a:pt x="0" y="237393"/>
                  </a:lnTo>
                  <a:lnTo>
                    <a:pt x="3977" y="257093"/>
                  </a:lnTo>
                  <a:lnTo>
                    <a:pt x="14823" y="273180"/>
                  </a:lnTo>
                  <a:lnTo>
                    <a:pt x="30910" y="284027"/>
                  </a:lnTo>
                  <a:lnTo>
                    <a:pt x="50610" y="288004"/>
                  </a:lnTo>
                  <a:lnTo>
                    <a:pt x="669398" y="288004"/>
                  </a:lnTo>
                  <a:lnTo>
                    <a:pt x="689098" y="284027"/>
                  </a:lnTo>
                  <a:lnTo>
                    <a:pt x="705185" y="273180"/>
                  </a:lnTo>
                  <a:lnTo>
                    <a:pt x="716031" y="257093"/>
                  </a:lnTo>
                  <a:lnTo>
                    <a:pt x="720009" y="237393"/>
                  </a:lnTo>
                  <a:lnTo>
                    <a:pt x="720009" y="50610"/>
                  </a:lnTo>
                  <a:lnTo>
                    <a:pt x="716031" y="30910"/>
                  </a:lnTo>
                  <a:lnTo>
                    <a:pt x="705185" y="14823"/>
                  </a:lnTo>
                  <a:lnTo>
                    <a:pt x="689098" y="3977"/>
                  </a:lnTo>
                  <a:lnTo>
                    <a:pt x="669398" y="0"/>
                  </a:lnTo>
                  <a:close/>
                </a:path>
              </a:pathLst>
            </a:custGeom>
            <a:ln w="5060">
              <a:solidFill>
                <a:srgbClr val="CED4D9"/>
              </a:solidFill>
            </a:ln>
          </p:spPr>
          <p:txBody>
            <a:bodyPr wrap="square" lIns="0" tIns="0" rIns="0" bIns="0" rtlCol="0"/>
            <a:lstStyle/>
            <a:p>
              <a:endParaRPr/>
            </a:p>
          </p:txBody>
        </p:sp>
      </p:grpSp>
      <p:sp>
        <p:nvSpPr>
          <p:cNvPr id="11" name="object 11"/>
          <p:cNvSpPr txBox="1"/>
          <p:nvPr/>
        </p:nvSpPr>
        <p:spPr>
          <a:xfrm>
            <a:off x="1834108" y="1044256"/>
            <a:ext cx="353695" cy="267335"/>
          </a:xfrm>
          <a:prstGeom prst="rect">
            <a:avLst/>
          </a:prstGeom>
        </p:spPr>
        <p:txBody>
          <a:bodyPr vert="horz" wrap="square" lIns="0" tIns="12065" rIns="0" bIns="0" rtlCol="0">
            <a:spAutoFit/>
          </a:bodyPr>
          <a:lstStyle/>
          <a:p>
            <a:pPr marL="12700">
              <a:lnSpc>
                <a:spcPts val="955"/>
              </a:lnSpc>
              <a:spcBef>
                <a:spcPts val="95"/>
              </a:spcBef>
            </a:pPr>
            <a:r>
              <a:rPr sz="800" spc="-50">
                <a:solidFill>
                  <a:srgbClr val="202528"/>
                </a:solidFill>
                <a:latin typeface="Tahoma"/>
                <a:cs typeface="Tahoma"/>
              </a:rPr>
              <a:t>I-</a:t>
            </a:r>
            <a:r>
              <a:rPr sz="800" spc="-10">
                <a:solidFill>
                  <a:srgbClr val="202528"/>
                </a:solidFill>
                <a:latin typeface="Tahoma"/>
                <a:cs typeface="Tahoma"/>
              </a:rPr>
              <a:t>SIRch</a:t>
            </a:r>
            <a:endParaRPr sz="800">
              <a:latin typeface="Tahoma"/>
              <a:cs typeface="Tahoma"/>
            </a:endParaRPr>
          </a:p>
          <a:p>
            <a:pPr marL="76200">
              <a:lnSpc>
                <a:spcPts val="955"/>
              </a:lnSpc>
            </a:pPr>
            <a:r>
              <a:rPr sz="800" spc="-20">
                <a:solidFill>
                  <a:srgbClr val="202528"/>
                </a:solidFill>
                <a:latin typeface="Tahoma"/>
                <a:cs typeface="Tahoma"/>
              </a:rPr>
              <a:t>Tool</a:t>
            </a:r>
            <a:endParaRPr sz="800">
              <a:latin typeface="Tahoma"/>
              <a:cs typeface="Tahoma"/>
            </a:endParaRPr>
          </a:p>
        </p:txBody>
      </p:sp>
      <p:grpSp>
        <p:nvGrpSpPr>
          <p:cNvPr id="12" name="object 12"/>
          <p:cNvGrpSpPr/>
          <p:nvPr/>
        </p:nvGrpSpPr>
        <p:grpSpPr>
          <a:xfrm>
            <a:off x="2517476" y="1036589"/>
            <a:ext cx="725170" cy="293370"/>
            <a:chOff x="2517476" y="1036589"/>
            <a:chExt cx="725170" cy="293370"/>
          </a:xfrm>
        </p:grpSpPr>
        <p:sp>
          <p:nvSpPr>
            <p:cNvPr id="13" name="object 13"/>
            <p:cNvSpPr/>
            <p:nvPr/>
          </p:nvSpPr>
          <p:spPr>
            <a:xfrm>
              <a:off x="2520016" y="1039129"/>
              <a:ext cx="720090" cy="288290"/>
            </a:xfrm>
            <a:custGeom>
              <a:avLst/>
              <a:gdLst/>
              <a:ahLst/>
              <a:cxnLst/>
              <a:rect l="l" t="t" r="r" b="b"/>
              <a:pathLst>
                <a:path w="720089" h="288290">
                  <a:moveTo>
                    <a:pt x="669398" y="0"/>
                  </a:moveTo>
                  <a:lnTo>
                    <a:pt x="50610" y="0"/>
                  </a:lnTo>
                  <a:lnTo>
                    <a:pt x="30910" y="3977"/>
                  </a:lnTo>
                  <a:lnTo>
                    <a:pt x="14823" y="14823"/>
                  </a:lnTo>
                  <a:lnTo>
                    <a:pt x="3977" y="30910"/>
                  </a:lnTo>
                  <a:lnTo>
                    <a:pt x="0" y="50610"/>
                  </a:lnTo>
                  <a:lnTo>
                    <a:pt x="0" y="237393"/>
                  </a:lnTo>
                  <a:lnTo>
                    <a:pt x="3977" y="257093"/>
                  </a:lnTo>
                  <a:lnTo>
                    <a:pt x="14823" y="273180"/>
                  </a:lnTo>
                  <a:lnTo>
                    <a:pt x="30910" y="284027"/>
                  </a:lnTo>
                  <a:lnTo>
                    <a:pt x="50610" y="288004"/>
                  </a:lnTo>
                  <a:lnTo>
                    <a:pt x="669398" y="288004"/>
                  </a:lnTo>
                  <a:lnTo>
                    <a:pt x="689098" y="284027"/>
                  </a:lnTo>
                  <a:lnTo>
                    <a:pt x="705185" y="273180"/>
                  </a:lnTo>
                  <a:lnTo>
                    <a:pt x="716031" y="257093"/>
                  </a:lnTo>
                  <a:lnTo>
                    <a:pt x="720008" y="237393"/>
                  </a:lnTo>
                  <a:lnTo>
                    <a:pt x="720008" y="50610"/>
                  </a:lnTo>
                  <a:lnTo>
                    <a:pt x="716031" y="30910"/>
                  </a:lnTo>
                  <a:lnTo>
                    <a:pt x="705185" y="14823"/>
                  </a:lnTo>
                  <a:lnTo>
                    <a:pt x="689098" y="3977"/>
                  </a:lnTo>
                  <a:lnTo>
                    <a:pt x="669398" y="0"/>
                  </a:lnTo>
                  <a:close/>
                </a:path>
              </a:pathLst>
            </a:custGeom>
            <a:solidFill>
              <a:srgbClr val="F8F8FA"/>
            </a:solidFill>
          </p:spPr>
          <p:txBody>
            <a:bodyPr wrap="square" lIns="0" tIns="0" rIns="0" bIns="0" rtlCol="0"/>
            <a:lstStyle/>
            <a:p>
              <a:endParaRPr/>
            </a:p>
          </p:txBody>
        </p:sp>
        <p:sp>
          <p:nvSpPr>
            <p:cNvPr id="14" name="object 14"/>
            <p:cNvSpPr/>
            <p:nvPr/>
          </p:nvSpPr>
          <p:spPr>
            <a:xfrm>
              <a:off x="2520016" y="1039129"/>
              <a:ext cx="720090" cy="288290"/>
            </a:xfrm>
            <a:custGeom>
              <a:avLst/>
              <a:gdLst/>
              <a:ahLst/>
              <a:cxnLst/>
              <a:rect l="l" t="t" r="r" b="b"/>
              <a:pathLst>
                <a:path w="720089" h="288290">
                  <a:moveTo>
                    <a:pt x="669398" y="0"/>
                  </a:moveTo>
                  <a:lnTo>
                    <a:pt x="50610" y="0"/>
                  </a:lnTo>
                  <a:lnTo>
                    <a:pt x="30910" y="3977"/>
                  </a:lnTo>
                  <a:lnTo>
                    <a:pt x="14823" y="14823"/>
                  </a:lnTo>
                  <a:lnTo>
                    <a:pt x="3977" y="30910"/>
                  </a:lnTo>
                  <a:lnTo>
                    <a:pt x="0" y="50610"/>
                  </a:lnTo>
                  <a:lnTo>
                    <a:pt x="0" y="237393"/>
                  </a:lnTo>
                  <a:lnTo>
                    <a:pt x="3977" y="257093"/>
                  </a:lnTo>
                  <a:lnTo>
                    <a:pt x="14823" y="273180"/>
                  </a:lnTo>
                  <a:lnTo>
                    <a:pt x="30910" y="284027"/>
                  </a:lnTo>
                  <a:lnTo>
                    <a:pt x="50610" y="288004"/>
                  </a:lnTo>
                  <a:lnTo>
                    <a:pt x="669398" y="288004"/>
                  </a:lnTo>
                  <a:lnTo>
                    <a:pt x="689098" y="284027"/>
                  </a:lnTo>
                  <a:lnTo>
                    <a:pt x="705185" y="273180"/>
                  </a:lnTo>
                  <a:lnTo>
                    <a:pt x="716031" y="257093"/>
                  </a:lnTo>
                  <a:lnTo>
                    <a:pt x="720008" y="237393"/>
                  </a:lnTo>
                  <a:lnTo>
                    <a:pt x="720008" y="50610"/>
                  </a:lnTo>
                  <a:lnTo>
                    <a:pt x="716031" y="30910"/>
                  </a:lnTo>
                  <a:lnTo>
                    <a:pt x="705185" y="14823"/>
                  </a:lnTo>
                  <a:lnTo>
                    <a:pt x="689098" y="3977"/>
                  </a:lnTo>
                  <a:lnTo>
                    <a:pt x="669398" y="0"/>
                  </a:lnTo>
                  <a:close/>
                </a:path>
              </a:pathLst>
            </a:custGeom>
            <a:ln w="5060">
              <a:solidFill>
                <a:srgbClr val="CED4D9"/>
              </a:solidFill>
            </a:ln>
          </p:spPr>
          <p:txBody>
            <a:bodyPr wrap="square" lIns="0" tIns="0" rIns="0" bIns="0" rtlCol="0"/>
            <a:lstStyle/>
            <a:p>
              <a:endParaRPr/>
            </a:p>
          </p:txBody>
        </p:sp>
      </p:grpSp>
      <p:sp>
        <p:nvSpPr>
          <p:cNvPr id="15" name="object 15"/>
          <p:cNvSpPr txBox="1"/>
          <p:nvPr/>
        </p:nvSpPr>
        <p:spPr>
          <a:xfrm>
            <a:off x="2614028" y="1044256"/>
            <a:ext cx="532765" cy="267335"/>
          </a:xfrm>
          <a:prstGeom prst="rect">
            <a:avLst/>
          </a:prstGeom>
        </p:spPr>
        <p:txBody>
          <a:bodyPr vert="horz" wrap="square" lIns="0" tIns="17145" rIns="0" bIns="0" rtlCol="0">
            <a:spAutoFit/>
          </a:bodyPr>
          <a:lstStyle/>
          <a:p>
            <a:pPr marL="12700" marR="5080" indent="18415">
              <a:lnSpc>
                <a:spcPts val="950"/>
              </a:lnSpc>
              <a:spcBef>
                <a:spcPts val="135"/>
              </a:spcBef>
            </a:pPr>
            <a:r>
              <a:rPr sz="800" spc="-10">
                <a:solidFill>
                  <a:srgbClr val="202528"/>
                </a:solidFill>
                <a:latin typeface="Tahoma"/>
                <a:cs typeface="Tahoma"/>
              </a:rPr>
              <a:t>Annotated Documents</a:t>
            </a:r>
            <a:endParaRPr sz="800">
              <a:latin typeface="Tahoma"/>
              <a:cs typeface="Tahoma"/>
            </a:endParaRPr>
          </a:p>
        </p:txBody>
      </p:sp>
      <p:grpSp>
        <p:nvGrpSpPr>
          <p:cNvPr id="16" name="object 16"/>
          <p:cNvGrpSpPr/>
          <p:nvPr/>
        </p:nvGrpSpPr>
        <p:grpSpPr>
          <a:xfrm>
            <a:off x="3386546" y="1029327"/>
            <a:ext cx="725170" cy="307975"/>
            <a:chOff x="3386546" y="1029327"/>
            <a:chExt cx="725170" cy="307975"/>
          </a:xfrm>
        </p:grpSpPr>
        <p:sp>
          <p:nvSpPr>
            <p:cNvPr id="17" name="object 17"/>
            <p:cNvSpPr/>
            <p:nvPr/>
          </p:nvSpPr>
          <p:spPr>
            <a:xfrm>
              <a:off x="3389086" y="1031867"/>
              <a:ext cx="720090" cy="302895"/>
            </a:xfrm>
            <a:custGeom>
              <a:avLst/>
              <a:gdLst/>
              <a:ahLst/>
              <a:cxnLst/>
              <a:rect l="l" t="t" r="r" b="b"/>
              <a:pathLst>
                <a:path w="720089" h="302894">
                  <a:moveTo>
                    <a:pt x="669398" y="0"/>
                  </a:moveTo>
                  <a:lnTo>
                    <a:pt x="50610" y="0"/>
                  </a:lnTo>
                  <a:lnTo>
                    <a:pt x="30910" y="3977"/>
                  </a:lnTo>
                  <a:lnTo>
                    <a:pt x="14823" y="14823"/>
                  </a:lnTo>
                  <a:lnTo>
                    <a:pt x="3977" y="30910"/>
                  </a:lnTo>
                  <a:lnTo>
                    <a:pt x="0" y="50610"/>
                  </a:lnTo>
                  <a:lnTo>
                    <a:pt x="0" y="251918"/>
                  </a:lnTo>
                  <a:lnTo>
                    <a:pt x="3977" y="271618"/>
                  </a:lnTo>
                  <a:lnTo>
                    <a:pt x="14823" y="287705"/>
                  </a:lnTo>
                  <a:lnTo>
                    <a:pt x="30910" y="298552"/>
                  </a:lnTo>
                  <a:lnTo>
                    <a:pt x="50610" y="302529"/>
                  </a:lnTo>
                  <a:lnTo>
                    <a:pt x="669398" y="302529"/>
                  </a:lnTo>
                  <a:lnTo>
                    <a:pt x="689098" y="298552"/>
                  </a:lnTo>
                  <a:lnTo>
                    <a:pt x="705185" y="287705"/>
                  </a:lnTo>
                  <a:lnTo>
                    <a:pt x="716031" y="271618"/>
                  </a:lnTo>
                  <a:lnTo>
                    <a:pt x="720008" y="251918"/>
                  </a:lnTo>
                  <a:lnTo>
                    <a:pt x="720008" y="50610"/>
                  </a:lnTo>
                  <a:lnTo>
                    <a:pt x="716031" y="30910"/>
                  </a:lnTo>
                  <a:lnTo>
                    <a:pt x="705185" y="14823"/>
                  </a:lnTo>
                  <a:lnTo>
                    <a:pt x="689098" y="3977"/>
                  </a:lnTo>
                  <a:lnTo>
                    <a:pt x="669398" y="0"/>
                  </a:lnTo>
                  <a:close/>
                </a:path>
              </a:pathLst>
            </a:custGeom>
            <a:solidFill>
              <a:srgbClr val="F8F8FA"/>
            </a:solidFill>
          </p:spPr>
          <p:txBody>
            <a:bodyPr wrap="square" lIns="0" tIns="0" rIns="0" bIns="0" rtlCol="0"/>
            <a:lstStyle/>
            <a:p>
              <a:endParaRPr/>
            </a:p>
          </p:txBody>
        </p:sp>
        <p:sp>
          <p:nvSpPr>
            <p:cNvPr id="18" name="object 18"/>
            <p:cNvSpPr/>
            <p:nvPr/>
          </p:nvSpPr>
          <p:spPr>
            <a:xfrm>
              <a:off x="3389086" y="1031867"/>
              <a:ext cx="720090" cy="302895"/>
            </a:xfrm>
            <a:custGeom>
              <a:avLst/>
              <a:gdLst/>
              <a:ahLst/>
              <a:cxnLst/>
              <a:rect l="l" t="t" r="r" b="b"/>
              <a:pathLst>
                <a:path w="720089" h="302894">
                  <a:moveTo>
                    <a:pt x="669398" y="0"/>
                  </a:moveTo>
                  <a:lnTo>
                    <a:pt x="50610" y="0"/>
                  </a:lnTo>
                  <a:lnTo>
                    <a:pt x="30910" y="3977"/>
                  </a:lnTo>
                  <a:lnTo>
                    <a:pt x="14823" y="14823"/>
                  </a:lnTo>
                  <a:lnTo>
                    <a:pt x="3977" y="30910"/>
                  </a:lnTo>
                  <a:lnTo>
                    <a:pt x="0" y="50610"/>
                  </a:lnTo>
                  <a:lnTo>
                    <a:pt x="0" y="251918"/>
                  </a:lnTo>
                  <a:lnTo>
                    <a:pt x="3977" y="271618"/>
                  </a:lnTo>
                  <a:lnTo>
                    <a:pt x="14823" y="287705"/>
                  </a:lnTo>
                  <a:lnTo>
                    <a:pt x="30910" y="298552"/>
                  </a:lnTo>
                  <a:lnTo>
                    <a:pt x="50610" y="302529"/>
                  </a:lnTo>
                  <a:lnTo>
                    <a:pt x="669398" y="302529"/>
                  </a:lnTo>
                  <a:lnTo>
                    <a:pt x="689098" y="298552"/>
                  </a:lnTo>
                  <a:lnTo>
                    <a:pt x="705185" y="287705"/>
                  </a:lnTo>
                  <a:lnTo>
                    <a:pt x="716031" y="271618"/>
                  </a:lnTo>
                  <a:lnTo>
                    <a:pt x="720008" y="251918"/>
                  </a:lnTo>
                  <a:lnTo>
                    <a:pt x="720008" y="50610"/>
                  </a:lnTo>
                  <a:lnTo>
                    <a:pt x="716031" y="30910"/>
                  </a:lnTo>
                  <a:lnTo>
                    <a:pt x="705185" y="14823"/>
                  </a:lnTo>
                  <a:lnTo>
                    <a:pt x="689098" y="3977"/>
                  </a:lnTo>
                  <a:lnTo>
                    <a:pt x="669398" y="0"/>
                  </a:lnTo>
                  <a:close/>
                </a:path>
              </a:pathLst>
            </a:custGeom>
            <a:ln w="5060">
              <a:solidFill>
                <a:srgbClr val="CED4D9"/>
              </a:solidFill>
            </a:ln>
          </p:spPr>
          <p:txBody>
            <a:bodyPr wrap="square" lIns="0" tIns="0" rIns="0" bIns="0" rtlCol="0"/>
            <a:lstStyle/>
            <a:p>
              <a:endParaRPr/>
            </a:p>
          </p:txBody>
        </p:sp>
      </p:grpSp>
      <p:sp>
        <p:nvSpPr>
          <p:cNvPr id="19" name="object 19"/>
          <p:cNvSpPr txBox="1"/>
          <p:nvPr/>
        </p:nvSpPr>
        <p:spPr>
          <a:xfrm>
            <a:off x="3532568" y="1034413"/>
            <a:ext cx="433705" cy="267335"/>
          </a:xfrm>
          <a:prstGeom prst="rect">
            <a:avLst/>
          </a:prstGeom>
        </p:spPr>
        <p:txBody>
          <a:bodyPr vert="horz" wrap="square" lIns="0" tIns="17145" rIns="0" bIns="0" rtlCol="0">
            <a:spAutoFit/>
          </a:bodyPr>
          <a:lstStyle/>
          <a:p>
            <a:pPr marL="64769" marR="5080" indent="-52705">
              <a:lnSpc>
                <a:spcPts val="950"/>
              </a:lnSpc>
              <a:spcBef>
                <a:spcPts val="135"/>
              </a:spcBef>
            </a:pPr>
            <a:r>
              <a:rPr sz="800" spc="-10">
                <a:solidFill>
                  <a:srgbClr val="202528"/>
                </a:solidFill>
                <a:latin typeface="Tahoma"/>
                <a:cs typeface="Tahoma"/>
              </a:rPr>
              <a:t>Analytics Engine</a:t>
            </a:r>
            <a:endParaRPr sz="800">
              <a:latin typeface="Tahoma"/>
              <a:cs typeface="Tahoma"/>
            </a:endParaRPr>
          </a:p>
        </p:txBody>
      </p:sp>
      <p:grpSp>
        <p:nvGrpSpPr>
          <p:cNvPr id="20" name="object 20"/>
          <p:cNvGrpSpPr/>
          <p:nvPr/>
        </p:nvGrpSpPr>
        <p:grpSpPr>
          <a:xfrm>
            <a:off x="4255615" y="856587"/>
            <a:ext cx="725170" cy="653415"/>
            <a:chOff x="4255615" y="856587"/>
            <a:chExt cx="725170" cy="653415"/>
          </a:xfrm>
        </p:grpSpPr>
        <p:sp>
          <p:nvSpPr>
            <p:cNvPr id="21" name="object 21"/>
            <p:cNvSpPr/>
            <p:nvPr/>
          </p:nvSpPr>
          <p:spPr>
            <a:xfrm>
              <a:off x="4258155" y="859127"/>
              <a:ext cx="720090" cy="288290"/>
            </a:xfrm>
            <a:custGeom>
              <a:avLst/>
              <a:gdLst/>
              <a:ahLst/>
              <a:cxnLst/>
              <a:rect l="l" t="t" r="r" b="b"/>
              <a:pathLst>
                <a:path w="720089" h="288290">
                  <a:moveTo>
                    <a:pt x="669398" y="0"/>
                  </a:moveTo>
                  <a:lnTo>
                    <a:pt x="50610" y="0"/>
                  </a:lnTo>
                  <a:lnTo>
                    <a:pt x="30910" y="3977"/>
                  </a:lnTo>
                  <a:lnTo>
                    <a:pt x="14823" y="14823"/>
                  </a:lnTo>
                  <a:lnTo>
                    <a:pt x="3977" y="30910"/>
                  </a:lnTo>
                  <a:lnTo>
                    <a:pt x="0" y="50610"/>
                  </a:lnTo>
                  <a:lnTo>
                    <a:pt x="0" y="237393"/>
                  </a:lnTo>
                  <a:lnTo>
                    <a:pt x="3977" y="257093"/>
                  </a:lnTo>
                  <a:lnTo>
                    <a:pt x="14823" y="273181"/>
                  </a:lnTo>
                  <a:lnTo>
                    <a:pt x="30910" y="284027"/>
                  </a:lnTo>
                  <a:lnTo>
                    <a:pt x="50610" y="288004"/>
                  </a:lnTo>
                  <a:lnTo>
                    <a:pt x="669398" y="288004"/>
                  </a:lnTo>
                  <a:lnTo>
                    <a:pt x="689098" y="284027"/>
                  </a:lnTo>
                  <a:lnTo>
                    <a:pt x="705185" y="273181"/>
                  </a:lnTo>
                  <a:lnTo>
                    <a:pt x="716031" y="257093"/>
                  </a:lnTo>
                  <a:lnTo>
                    <a:pt x="720008" y="237393"/>
                  </a:lnTo>
                  <a:lnTo>
                    <a:pt x="720008" y="50610"/>
                  </a:lnTo>
                  <a:lnTo>
                    <a:pt x="716031" y="30910"/>
                  </a:lnTo>
                  <a:lnTo>
                    <a:pt x="705185" y="14823"/>
                  </a:lnTo>
                  <a:lnTo>
                    <a:pt x="689098" y="3977"/>
                  </a:lnTo>
                  <a:lnTo>
                    <a:pt x="669398" y="0"/>
                  </a:lnTo>
                  <a:close/>
                </a:path>
              </a:pathLst>
            </a:custGeom>
            <a:solidFill>
              <a:srgbClr val="E7F3F8"/>
            </a:solidFill>
          </p:spPr>
          <p:txBody>
            <a:bodyPr wrap="square" lIns="0" tIns="0" rIns="0" bIns="0" rtlCol="0"/>
            <a:lstStyle/>
            <a:p>
              <a:endParaRPr/>
            </a:p>
          </p:txBody>
        </p:sp>
        <p:sp>
          <p:nvSpPr>
            <p:cNvPr id="22" name="object 22"/>
            <p:cNvSpPr/>
            <p:nvPr/>
          </p:nvSpPr>
          <p:spPr>
            <a:xfrm>
              <a:off x="4258155" y="859127"/>
              <a:ext cx="720090" cy="288290"/>
            </a:xfrm>
            <a:custGeom>
              <a:avLst/>
              <a:gdLst/>
              <a:ahLst/>
              <a:cxnLst/>
              <a:rect l="l" t="t" r="r" b="b"/>
              <a:pathLst>
                <a:path w="720089" h="288290">
                  <a:moveTo>
                    <a:pt x="669398" y="0"/>
                  </a:moveTo>
                  <a:lnTo>
                    <a:pt x="50610" y="0"/>
                  </a:lnTo>
                  <a:lnTo>
                    <a:pt x="30910" y="3977"/>
                  </a:lnTo>
                  <a:lnTo>
                    <a:pt x="14823" y="14823"/>
                  </a:lnTo>
                  <a:lnTo>
                    <a:pt x="3977" y="30910"/>
                  </a:lnTo>
                  <a:lnTo>
                    <a:pt x="0" y="50610"/>
                  </a:lnTo>
                  <a:lnTo>
                    <a:pt x="0" y="237393"/>
                  </a:lnTo>
                  <a:lnTo>
                    <a:pt x="3977" y="257093"/>
                  </a:lnTo>
                  <a:lnTo>
                    <a:pt x="14823" y="273181"/>
                  </a:lnTo>
                  <a:lnTo>
                    <a:pt x="30910" y="284027"/>
                  </a:lnTo>
                  <a:lnTo>
                    <a:pt x="50610" y="288004"/>
                  </a:lnTo>
                  <a:lnTo>
                    <a:pt x="669398" y="288004"/>
                  </a:lnTo>
                  <a:lnTo>
                    <a:pt x="689098" y="284027"/>
                  </a:lnTo>
                  <a:lnTo>
                    <a:pt x="705185" y="273181"/>
                  </a:lnTo>
                  <a:lnTo>
                    <a:pt x="716031" y="257093"/>
                  </a:lnTo>
                  <a:lnTo>
                    <a:pt x="720008" y="237393"/>
                  </a:lnTo>
                  <a:lnTo>
                    <a:pt x="720008" y="50610"/>
                  </a:lnTo>
                  <a:lnTo>
                    <a:pt x="716031" y="30910"/>
                  </a:lnTo>
                  <a:lnTo>
                    <a:pt x="705185" y="14823"/>
                  </a:lnTo>
                  <a:lnTo>
                    <a:pt x="689098" y="3977"/>
                  </a:lnTo>
                  <a:lnTo>
                    <a:pt x="669398" y="0"/>
                  </a:lnTo>
                  <a:close/>
                </a:path>
              </a:pathLst>
            </a:custGeom>
            <a:ln w="5060">
              <a:solidFill>
                <a:srgbClr val="005F72"/>
              </a:solidFill>
            </a:ln>
          </p:spPr>
          <p:txBody>
            <a:bodyPr wrap="square" lIns="0" tIns="0" rIns="0" bIns="0" rtlCol="0"/>
            <a:lstStyle/>
            <a:p>
              <a:endParaRPr/>
            </a:p>
          </p:txBody>
        </p:sp>
        <p:sp>
          <p:nvSpPr>
            <p:cNvPr id="23" name="object 23"/>
            <p:cNvSpPr/>
            <p:nvPr/>
          </p:nvSpPr>
          <p:spPr>
            <a:xfrm>
              <a:off x="4258155" y="1219131"/>
              <a:ext cx="720090" cy="288290"/>
            </a:xfrm>
            <a:custGeom>
              <a:avLst/>
              <a:gdLst/>
              <a:ahLst/>
              <a:cxnLst/>
              <a:rect l="l" t="t" r="r" b="b"/>
              <a:pathLst>
                <a:path w="720089" h="288290">
                  <a:moveTo>
                    <a:pt x="669398" y="0"/>
                  </a:moveTo>
                  <a:lnTo>
                    <a:pt x="50610" y="0"/>
                  </a:lnTo>
                  <a:lnTo>
                    <a:pt x="30910" y="3977"/>
                  </a:lnTo>
                  <a:lnTo>
                    <a:pt x="14823" y="14823"/>
                  </a:lnTo>
                  <a:lnTo>
                    <a:pt x="3977" y="30910"/>
                  </a:lnTo>
                  <a:lnTo>
                    <a:pt x="0" y="50610"/>
                  </a:lnTo>
                  <a:lnTo>
                    <a:pt x="0" y="237393"/>
                  </a:lnTo>
                  <a:lnTo>
                    <a:pt x="3977" y="257093"/>
                  </a:lnTo>
                  <a:lnTo>
                    <a:pt x="14823" y="273181"/>
                  </a:lnTo>
                  <a:lnTo>
                    <a:pt x="30910" y="284027"/>
                  </a:lnTo>
                  <a:lnTo>
                    <a:pt x="50610" y="288004"/>
                  </a:lnTo>
                  <a:lnTo>
                    <a:pt x="669398" y="288004"/>
                  </a:lnTo>
                  <a:lnTo>
                    <a:pt x="689098" y="284027"/>
                  </a:lnTo>
                  <a:lnTo>
                    <a:pt x="705185" y="273181"/>
                  </a:lnTo>
                  <a:lnTo>
                    <a:pt x="716031" y="257093"/>
                  </a:lnTo>
                  <a:lnTo>
                    <a:pt x="720008" y="237393"/>
                  </a:lnTo>
                  <a:lnTo>
                    <a:pt x="720008" y="50610"/>
                  </a:lnTo>
                  <a:lnTo>
                    <a:pt x="716031" y="30910"/>
                  </a:lnTo>
                  <a:lnTo>
                    <a:pt x="705185" y="14823"/>
                  </a:lnTo>
                  <a:lnTo>
                    <a:pt x="689098" y="3977"/>
                  </a:lnTo>
                  <a:lnTo>
                    <a:pt x="669398" y="0"/>
                  </a:lnTo>
                  <a:close/>
                </a:path>
              </a:pathLst>
            </a:custGeom>
            <a:solidFill>
              <a:srgbClr val="F8F8FA"/>
            </a:solidFill>
          </p:spPr>
          <p:txBody>
            <a:bodyPr wrap="square" lIns="0" tIns="0" rIns="0" bIns="0" rtlCol="0"/>
            <a:lstStyle/>
            <a:p>
              <a:endParaRPr/>
            </a:p>
          </p:txBody>
        </p:sp>
        <p:sp>
          <p:nvSpPr>
            <p:cNvPr id="24" name="object 24"/>
            <p:cNvSpPr/>
            <p:nvPr/>
          </p:nvSpPr>
          <p:spPr>
            <a:xfrm>
              <a:off x="4258155" y="1219131"/>
              <a:ext cx="720090" cy="288290"/>
            </a:xfrm>
            <a:custGeom>
              <a:avLst/>
              <a:gdLst/>
              <a:ahLst/>
              <a:cxnLst/>
              <a:rect l="l" t="t" r="r" b="b"/>
              <a:pathLst>
                <a:path w="720089" h="288290">
                  <a:moveTo>
                    <a:pt x="669398" y="0"/>
                  </a:moveTo>
                  <a:lnTo>
                    <a:pt x="50610" y="0"/>
                  </a:lnTo>
                  <a:lnTo>
                    <a:pt x="30910" y="3977"/>
                  </a:lnTo>
                  <a:lnTo>
                    <a:pt x="14823" y="14823"/>
                  </a:lnTo>
                  <a:lnTo>
                    <a:pt x="3977" y="30910"/>
                  </a:lnTo>
                  <a:lnTo>
                    <a:pt x="0" y="50610"/>
                  </a:lnTo>
                  <a:lnTo>
                    <a:pt x="0" y="237393"/>
                  </a:lnTo>
                  <a:lnTo>
                    <a:pt x="3977" y="257093"/>
                  </a:lnTo>
                  <a:lnTo>
                    <a:pt x="14823" y="273181"/>
                  </a:lnTo>
                  <a:lnTo>
                    <a:pt x="30910" y="284027"/>
                  </a:lnTo>
                  <a:lnTo>
                    <a:pt x="50610" y="288004"/>
                  </a:lnTo>
                  <a:lnTo>
                    <a:pt x="669398" y="288004"/>
                  </a:lnTo>
                  <a:lnTo>
                    <a:pt x="689098" y="284027"/>
                  </a:lnTo>
                  <a:lnTo>
                    <a:pt x="705185" y="273181"/>
                  </a:lnTo>
                  <a:lnTo>
                    <a:pt x="716031" y="257093"/>
                  </a:lnTo>
                  <a:lnTo>
                    <a:pt x="720008" y="237393"/>
                  </a:lnTo>
                  <a:lnTo>
                    <a:pt x="720008" y="50610"/>
                  </a:lnTo>
                  <a:lnTo>
                    <a:pt x="716031" y="30910"/>
                  </a:lnTo>
                  <a:lnTo>
                    <a:pt x="705185" y="14823"/>
                  </a:lnTo>
                  <a:lnTo>
                    <a:pt x="689098" y="3977"/>
                  </a:lnTo>
                  <a:lnTo>
                    <a:pt x="669398" y="0"/>
                  </a:lnTo>
                  <a:close/>
                </a:path>
              </a:pathLst>
            </a:custGeom>
            <a:ln w="5060">
              <a:solidFill>
                <a:srgbClr val="CED4D9"/>
              </a:solidFill>
            </a:ln>
          </p:spPr>
          <p:txBody>
            <a:bodyPr wrap="square" lIns="0" tIns="0" rIns="0" bIns="0" rtlCol="0"/>
            <a:lstStyle/>
            <a:p>
              <a:endParaRPr/>
            </a:p>
          </p:txBody>
        </p:sp>
      </p:grpSp>
      <p:sp>
        <p:nvSpPr>
          <p:cNvPr id="25" name="object 25"/>
          <p:cNvSpPr txBox="1"/>
          <p:nvPr/>
        </p:nvSpPr>
        <p:spPr>
          <a:xfrm>
            <a:off x="4325950" y="864246"/>
            <a:ext cx="584835" cy="627380"/>
          </a:xfrm>
          <a:prstGeom prst="rect">
            <a:avLst/>
          </a:prstGeom>
        </p:spPr>
        <p:txBody>
          <a:bodyPr vert="horz" wrap="square" lIns="0" tIns="17145" rIns="0" bIns="0" rtlCol="0">
            <a:spAutoFit/>
          </a:bodyPr>
          <a:lstStyle/>
          <a:p>
            <a:pPr marL="132080" marR="5080" indent="-120014">
              <a:lnSpc>
                <a:spcPts val="950"/>
              </a:lnSpc>
              <a:spcBef>
                <a:spcPts val="135"/>
              </a:spcBef>
            </a:pPr>
            <a:r>
              <a:rPr sz="800" spc="-10">
                <a:solidFill>
                  <a:srgbClr val="202528"/>
                </a:solidFill>
                <a:latin typeface="Tahoma"/>
                <a:cs typeface="Tahoma"/>
              </a:rPr>
              <a:t>Quantitative Results</a:t>
            </a:r>
            <a:endParaRPr sz="800">
              <a:latin typeface="Tahoma"/>
              <a:cs typeface="Tahoma"/>
            </a:endParaRPr>
          </a:p>
          <a:p>
            <a:pPr marL="132080" marR="39370" indent="-85725">
              <a:lnSpc>
                <a:spcPts val="950"/>
              </a:lnSpc>
              <a:spcBef>
                <a:spcPts val="935"/>
              </a:spcBef>
            </a:pPr>
            <a:r>
              <a:rPr sz="800" spc="-10">
                <a:solidFill>
                  <a:srgbClr val="202528"/>
                </a:solidFill>
                <a:latin typeface="Tahoma"/>
                <a:cs typeface="Tahoma"/>
              </a:rPr>
              <a:t>Qualitative Results</a:t>
            </a:r>
            <a:endParaRPr sz="800">
              <a:latin typeface="Tahoma"/>
              <a:cs typeface="Tahoma"/>
            </a:endParaRPr>
          </a:p>
        </p:txBody>
      </p:sp>
      <p:grpSp>
        <p:nvGrpSpPr>
          <p:cNvPr id="26" name="object 26"/>
          <p:cNvGrpSpPr/>
          <p:nvPr/>
        </p:nvGrpSpPr>
        <p:grpSpPr>
          <a:xfrm>
            <a:off x="1648407" y="1581657"/>
            <a:ext cx="725170" cy="307975"/>
            <a:chOff x="1648407" y="1581657"/>
            <a:chExt cx="725170" cy="307975"/>
          </a:xfrm>
        </p:grpSpPr>
        <p:sp>
          <p:nvSpPr>
            <p:cNvPr id="27" name="object 27"/>
            <p:cNvSpPr/>
            <p:nvPr/>
          </p:nvSpPr>
          <p:spPr>
            <a:xfrm>
              <a:off x="1650947" y="1584197"/>
              <a:ext cx="720090" cy="302895"/>
            </a:xfrm>
            <a:custGeom>
              <a:avLst/>
              <a:gdLst/>
              <a:ahLst/>
              <a:cxnLst/>
              <a:rect l="l" t="t" r="r" b="b"/>
              <a:pathLst>
                <a:path w="720089" h="302894">
                  <a:moveTo>
                    <a:pt x="669398" y="0"/>
                  </a:moveTo>
                  <a:lnTo>
                    <a:pt x="50610" y="0"/>
                  </a:lnTo>
                  <a:lnTo>
                    <a:pt x="30910" y="3977"/>
                  </a:lnTo>
                  <a:lnTo>
                    <a:pt x="14823" y="14823"/>
                  </a:lnTo>
                  <a:lnTo>
                    <a:pt x="3977" y="30910"/>
                  </a:lnTo>
                  <a:lnTo>
                    <a:pt x="0" y="50610"/>
                  </a:lnTo>
                  <a:lnTo>
                    <a:pt x="0" y="251918"/>
                  </a:lnTo>
                  <a:lnTo>
                    <a:pt x="3977" y="271618"/>
                  </a:lnTo>
                  <a:lnTo>
                    <a:pt x="14823" y="287706"/>
                  </a:lnTo>
                  <a:lnTo>
                    <a:pt x="30910" y="298552"/>
                  </a:lnTo>
                  <a:lnTo>
                    <a:pt x="50610" y="302529"/>
                  </a:lnTo>
                  <a:lnTo>
                    <a:pt x="669398" y="302529"/>
                  </a:lnTo>
                  <a:lnTo>
                    <a:pt x="689098" y="298552"/>
                  </a:lnTo>
                  <a:lnTo>
                    <a:pt x="705185" y="287706"/>
                  </a:lnTo>
                  <a:lnTo>
                    <a:pt x="716031" y="271618"/>
                  </a:lnTo>
                  <a:lnTo>
                    <a:pt x="720009" y="251918"/>
                  </a:lnTo>
                  <a:lnTo>
                    <a:pt x="720009" y="50610"/>
                  </a:lnTo>
                  <a:lnTo>
                    <a:pt x="716031" y="30910"/>
                  </a:lnTo>
                  <a:lnTo>
                    <a:pt x="705185" y="14823"/>
                  </a:lnTo>
                  <a:lnTo>
                    <a:pt x="689098" y="3977"/>
                  </a:lnTo>
                  <a:lnTo>
                    <a:pt x="669398" y="0"/>
                  </a:lnTo>
                  <a:close/>
                </a:path>
              </a:pathLst>
            </a:custGeom>
            <a:solidFill>
              <a:srgbClr val="FFF2EB"/>
            </a:solidFill>
          </p:spPr>
          <p:txBody>
            <a:bodyPr wrap="square" lIns="0" tIns="0" rIns="0" bIns="0" rtlCol="0"/>
            <a:lstStyle/>
            <a:p>
              <a:endParaRPr/>
            </a:p>
          </p:txBody>
        </p:sp>
        <p:sp>
          <p:nvSpPr>
            <p:cNvPr id="28" name="object 28"/>
            <p:cNvSpPr/>
            <p:nvPr/>
          </p:nvSpPr>
          <p:spPr>
            <a:xfrm>
              <a:off x="1650947" y="1584197"/>
              <a:ext cx="720090" cy="302895"/>
            </a:xfrm>
            <a:custGeom>
              <a:avLst/>
              <a:gdLst/>
              <a:ahLst/>
              <a:cxnLst/>
              <a:rect l="l" t="t" r="r" b="b"/>
              <a:pathLst>
                <a:path w="720089" h="302894">
                  <a:moveTo>
                    <a:pt x="669398" y="0"/>
                  </a:moveTo>
                  <a:lnTo>
                    <a:pt x="50610" y="0"/>
                  </a:lnTo>
                  <a:lnTo>
                    <a:pt x="30910" y="3977"/>
                  </a:lnTo>
                  <a:lnTo>
                    <a:pt x="14823" y="14823"/>
                  </a:lnTo>
                  <a:lnTo>
                    <a:pt x="3977" y="30910"/>
                  </a:lnTo>
                  <a:lnTo>
                    <a:pt x="0" y="50610"/>
                  </a:lnTo>
                  <a:lnTo>
                    <a:pt x="0" y="251918"/>
                  </a:lnTo>
                  <a:lnTo>
                    <a:pt x="3977" y="271618"/>
                  </a:lnTo>
                  <a:lnTo>
                    <a:pt x="14823" y="287706"/>
                  </a:lnTo>
                  <a:lnTo>
                    <a:pt x="30910" y="298552"/>
                  </a:lnTo>
                  <a:lnTo>
                    <a:pt x="50610" y="302529"/>
                  </a:lnTo>
                  <a:lnTo>
                    <a:pt x="669398" y="302529"/>
                  </a:lnTo>
                  <a:lnTo>
                    <a:pt x="689098" y="298552"/>
                  </a:lnTo>
                  <a:lnTo>
                    <a:pt x="705185" y="287706"/>
                  </a:lnTo>
                  <a:lnTo>
                    <a:pt x="716031" y="271618"/>
                  </a:lnTo>
                  <a:lnTo>
                    <a:pt x="720009" y="251918"/>
                  </a:lnTo>
                  <a:lnTo>
                    <a:pt x="720009" y="50610"/>
                  </a:lnTo>
                  <a:lnTo>
                    <a:pt x="716031" y="30910"/>
                  </a:lnTo>
                  <a:lnTo>
                    <a:pt x="705185" y="14823"/>
                  </a:lnTo>
                  <a:lnTo>
                    <a:pt x="689098" y="3977"/>
                  </a:lnTo>
                  <a:lnTo>
                    <a:pt x="669398" y="0"/>
                  </a:lnTo>
                  <a:close/>
                </a:path>
              </a:pathLst>
            </a:custGeom>
            <a:ln w="5060">
              <a:solidFill>
                <a:srgbClr val="D75F2C"/>
              </a:solidFill>
            </a:ln>
          </p:spPr>
          <p:txBody>
            <a:bodyPr wrap="square" lIns="0" tIns="0" rIns="0" bIns="0" rtlCol="0"/>
            <a:lstStyle/>
            <a:p>
              <a:endParaRPr/>
            </a:p>
          </p:txBody>
        </p:sp>
      </p:grpSp>
      <p:sp>
        <p:nvSpPr>
          <p:cNvPr id="29" name="object 29"/>
          <p:cNvSpPr txBox="1"/>
          <p:nvPr/>
        </p:nvSpPr>
        <p:spPr>
          <a:xfrm>
            <a:off x="1773516" y="1586736"/>
            <a:ext cx="475615" cy="267335"/>
          </a:xfrm>
          <a:prstGeom prst="rect">
            <a:avLst/>
          </a:prstGeom>
        </p:spPr>
        <p:txBody>
          <a:bodyPr vert="horz" wrap="square" lIns="0" tIns="17145" rIns="0" bIns="0" rtlCol="0">
            <a:spAutoFit/>
          </a:bodyPr>
          <a:lstStyle/>
          <a:p>
            <a:pPr marL="12700" marR="5080" indent="27940">
              <a:lnSpc>
                <a:spcPts val="950"/>
              </a:lnSpc>
              <a:spcBef>
                <a:spcPts val="135"/>
              </a:spcBef>
            </a:pPr>
            <a:r>
              <a:rPr sz="800" spc="-10">
                <a:solidFill>
                  <a:srgbClr val="202528"/>
                </a:solidFill>
                <a:latin typeface="Tahoma"/>
                <a:cs typeface="Tahoma"/>
              </a:rPr>
              <a:t>Dynamic Clustering</a:t>
            </a:r>
            <a:endParaRPr sz="800">
              <a:latin typeface="Tahoma"/>
              <a:cs typeface="Tahoma"/>
            </a:endParaRPr>
          </a:p>
        </p:txBody>
      </p:sp>
      <p:grpSp>
        <p:nvGrpSpPr>
          <p:cNvPr id="30" name="object 30"/>
          <p:cNvGrpSpPr/>
          <p:nvPr/>
        </p:nvGrpSpPr>
        <p:grpSpPr>
          <a:xfrm>
            <a:off x="2517476" y="1588919"/>
            <a:ext cx="761365" cy="293370"/>
            <a:chOff x="2517476" y="1588919"/>
            <a:chExt cx="761365" cy="293370"/>
          </a:xfrm>
        </p:grpSpPr>
        <p:sp>
          <p:nvSpPr>
            <p:cNvPr id="31" name="object 31"/>
            <p:cNvSpPr/>
            <p:nvPr/>
          </p:nvSpPr>
          <p:spPr>
            <a:xfrm>
              <a:off x="2520016" y="1591459"/>
              <a:ext cx="756285" cy="288290"/>
            </a:xfrm>
            <a:custGeom>
              <a:avLst/>
              <a:gdLst/>
              <a:ahLst/>
              <a:cxnLst/>
              <a:rect l="l" t="t" r="r" b="b"/>
              <a:pathLst>
                <a:path w="756285" h="288289">
                  <a:moveTo>
                    <a:pt x="705596" y="0"/>
                  </a:moveTo>
                  <a:lnTo>
                    <a:pt x="50610" y="0"/>
                  </a:lnTo>
                  <a:lnTo>
                    <a:pt x="30910" y="3977"/>
                  </a:lnTo>
                  <a:lnTo>
                    <a:pt x="14823" y="14823"/>
                  </a:lnTo>
                  <a:lnTo>
                    <a:pt x="3977" y="30910"/>
                  </a:lnTo>
                  <a:lnTo>
                    <a:pt x="0" y="50610"/>
                  </a:lnTo>
                  <a:lnTo>
                    <a:pt x="0" y="237393"/>
                  </a:lnTo>
                  <a:lnTo>
                    <a:pt x="3977" y="257093"/>
                  </a:lnTo>
                  <a:lnTo>
                    <a:pt x="14823" y="273181"/>
                  </a:lnTo>
                  <a:lnTo>
                    <a:pt x="30910" y="284027"/>
                  </a:lnTo>
                  <a:lnTo>
                    <a:pt x="50610" y="288004"/>
                  </a:lnTo>
                  <a:lnTo>
                    <a:pt x="705596" y="288004"/>
                  </a:lnTo>
                  <a:lnTo>
                    <a:pt x="725296" y="284027"/>
                  </a:lnTo>
                  <a:lnTo>
                    <a:pt x="741383" y="273181"/>
                  </a:lnTo>
                  <a:lnTo>
                    <a:pt x="752229" y="257093"/>
                  </a:lnTo>
                  <a:lnTo>
                    <a:pt x="756207" y="237393"/>
                  </a:lnTo>
                  <a:lnTo>
                    <a:pt x="756207" y="50610"/>
                  </a:lnTo>
                  <a:lnTo>
                    <a:pt x="752229" y="30910"/>
                  </a:lnTo>
                  <a:lnTo>
                    <a:pt x="741383" y="14823"/>
                  </a:lnTo>
                  <a:lnTo>
                    <a:pt x="725296" y="3977"/>
                  </a:lnTo>
                  <a:lnTo>
                    <a:pt x="705596" y="0"/>
                  </a:lnTo>
                  <a:close/>
                </a:path>
              </a:pathLst>
            </a:custGeom>
            <a:solidFill>
              <a:srgbClr val="F8F8FA"/>
            </a:solidFill>
          </p:spPr>
          <p:txBody>
            <a:bodyPr wrap="square" lIns="0" tIns="0" rIns="0" bIns="0" rtlCol="0"/>
            <a:lstStyle/>
            <a:p>
              <a:endParaRPr/>
            </a:p>
          </p:txBody>
        </p:sp>
        <p:sp>
          <p:nvSpPr>
            <p:cNvPr id="32" name="object 32"/>
            <p:cNvSpPr/>
            <p:nvPr/>
          </p:nvSpPr>
          <p:spPr>
            <a:xfrm>
              <a:off x="2520016" y="1591459"/>
              <a:ext cx="756285" cy="288290"/>
            </a:xfrm>
            <a:custGeom>
              <a:avLst/>
              <a:gdLst/>
              <a:ahLst/>
              <a:cxnLst/>
              <a:rect l="l" t="t" r="r" b="b"/>
              <a:pathLst>
                <a:path w="756285" h="288289">
                  <a:moveTo>
                    <a:pt x="705596" y="0"/>
                  </a:moveTo>
                  <a:lnTo>
                    <a:pt x="50610" y="0"/>
                  </a:lnTo>
                  <a:lnTo>
                    <a:pt x="30910" y="3977"/>
                  </a:lnTo>
                  <a:lnTo>
                    <a:pt x="14823" y="14823"/>
                  </a:lnTo>
                  <a:lnTo>
                    <a:pt x="3977" y="30910"/>
                  </a:lnTo>
                  <a:lnTo>
                    <a:pt x="0" y="50610"/>
                  </a:lnTo>
                  <a:lnTo>
                    <a:pt x="0" y="237393"/>
                  </a:lnTo>
                  <a:lnTo>
                    <a:pt x="3977" y="257093"/>
                  </a:lnTo>
                  <a:lnTo>
                    <a:pt x="14823" y="273181"/>
                  </a:lnTo>
                  <a:lnTo>
                    <a:pt x="30910" y="284027"/>
                  </a:lnTo>
                  <a:lnTo>
                    <a:pt x="50610" y="288004"/>
                  </a:lnTo>
                  <a:lnTo>
                    <a:pt x="705596" y="288004"/>
                  </a:lnTo>
                  <a:lnTo>
                    <a:pt x="725296" y="284027"/>
                  </a:lnTo>
                  <a:lnTo>
                    <a:pt x="741383" y="273181"/>
                  </a:lnTo>
                  <a:lnTo>
                    <a:pt x="752229" y="257093"/>
                  </a:lnTo>
                  <a:lnTo>
                    <a:pt x="756207" y="237393"/>
                  </a:lnTo>
                  <a:lnTo>
                    <a:pt x="756207" y="50610"/>
                  </a:lnTo>
                  <a:lnTo>
                    <a:pt x="752229" y="30910"/>
                  </a:lnTo>
                  <a:lnTo>
                    <a:pt x="741383" y="14823"/>
                  </a:lnTo>
                  <a:lnTo>
                    <a:pt x="725296" y="3977"/>
                  </a:lnTo>
                  <a:lnTo>
                    <a:pt x="705596" y="0"/>
                  </a:lnTo>
                  <a:close/>
                </a:path>
              </a:pathLst>
            </a:custGeom>
            <a:ln w="5060">
              <a:solidFill>
                <a:srgbClr val="CED4D9"/>
              </a:solidFill>
            </a:ln>
          </p:spPr>
          <p:txBody>
            <a:bodyPr wrap="square" lIns="0" tIns="0" rIns="0" bIns="0" rtlCol="0"/>
            <a:lstStyle/>
            <a:p>
              <a:endParaRPr/>
            </a:p>
          </p:txBody>
        </p:sp>
      </p:grpSp>
      <p:sp>
        <p:nvSpPr>
          <p:cNvPr id="33" name="object 33"/>
          <p:cNvSpPr txBox="1"/>
          <p:nvPr/>
        </p:nvSpPr>
        <p:spPr>
          <a:xfrm>
            <a:off x="2553500" y="1596579"/>
            <a:ext cx="689610" cy="267335"/>
          </a:xfrm>
          <a:prstGeom prst="rect">
            <a:avLst/>
          </a:prstGeom>
        </p:spPr>
        <p:txBody>
          <a:bodyPr vert="horz" wrap="square" lIns="0" tIns="12065" rIns="0" bIns="0" rtlCol="0">
            <a:spAutoFit/>
          </a:bodyPr>
          <a:lstStyle/>
          <a:p>
            <a:pPr algn="ctr">
              <a:lnSpc>
                <a:spcPts val="955"/>
              </a:lnSpc>
              <a:spcBef>
                <a:spcPts val="95"/>
              </a:spcBef>
            </a:pPr>
            <a:r>
              <a:rPr sz="800" spc="-10">
                <a:solidFill>
                  <a:srgbClr val="202528"/>
                </a:solidFill>
                <a:latin typeface="Tahoma"/>
                <a:cs typeface="Tahoma"/>
              </a:rPr>
              <a:t>Generative</a:t>
            </a:r>
            <a:endParaRPr sz="800">
              <a:latin typeface="Tahoma"/>
              <a:cs typeface="Tahoma"/>
            </a:endParaRPr>
          </a:p>
          <a:p>
            <a:pPr algn="ctr">
              <a:lnSpc>
                <a:spcPts val="955"/>
              </a:lnSpc>
            </a:pPr>
            <a:r>
              <a:rPr sz="800" spc="-10">
                <a:solidFill>
                  <a:srgbClr val="202528"/>
                </a:solidFill>
                <a:latin typeface="Tahoma"/>
                <a:cs typeface="Tahoma"/>
              </a:rPr>
              <a:t>Summarisation</a:t>
            </a:r>
            <a:endParaRPr sz="800">
              <a:latin typeface="Tahoma"/>
              <a:cs typeface="Tahoma"/>
            </a:endParaRPr>
          </a:p>
        </p:txBody>
      </p:sp>
      <p:grpSp>
        <p:nvGrpSpPr>
          <p:cNvPr id="34" name="object 34"/>
          <p:cNvGrpSpPr/>
          <p:nvPr/>
        </p:nvGrpSpPr>
        <p:grpSpPr>
          <a:xfrm>
            <a:off x="1504417" y="1069125"/>
            <a:ext cx="2742565" cy="687070"/>
            <a:chOff x="1504417" y="1069125"/>
            <a:chExt cx="2742565" cy="687070"/>
          </a:xfrm>
        </p:grpSpPr>
        <p:sp>
          <p:nvSpPr>
            <p:cNvPr id="35" name="object 35"/>
            <p:cNvSpPr/>
            <p:nvPr/>
          </p:nvSpPr>
          <p:spPr>
            <a:xfrm>
              <a:off x="1504417" y="1183131"/>
              <a:ext cx="99695" cy="0"/>
            </a:xfrm>
            <a:custGeom>
              <a:avLst/>
              <a:gdLst/>
              <a:ahLst/>
              <a:cxnLst/>
              <a:rect l="l" t="t" r="r" b="b"/>
              <a:pathLst>
                <a:path w="99694">
                  <a:moveTo>
                    <a:pt x="0" y="0"/>
                  </a:moveTo>
                  <a:lnTo>
                    <a:pt x="99565" y="0"/>
                  </a:lnTo>
                </a:path>
              </a:pathLst>
            </a:custGeom>
            <a:ln w="10122">
              <a:solidFill>
                <a:srgbClr val="005F73"/>
              </a:solidFill>
            </a:ln>
          </p:spPr>
          <p:txBody>
            <a:bodyPr wrap="square" lIns="0" tIns="0" rIns="0" bIns="0" rtlCol="0"/>
            <a:lstStyle/>
            <a:p>
              <a:endParaRPr/>
            </a:p>
          </p:txBody>
        </p:sp>
        <p:sp>
          <p:nvSpPr>
            <p:cNvPr id="36" name="object 36"/>
            <p:cNvSpPr/>
            <p:nvPr/>
          </p:nvSpPr>
          <p:spPr>
            <a:xfrm>
              <a:off x="1592759" y="1167500"/>
              <a:ext cx="41275" cy="31750"/>
            </a:xfrm>
            <a:custGeom>
              <a:avLst/>
              <a:gdLst/>
              <a:ahLst/>
              <a:cxnLst/>
              <a:rect l="l" t="t" r="r" b="b"/>
              <a:pathLst>
                <a:path w="41275" h="31750">
                  <a:moveTo>
                    <a:pt x="0" y="0"/>
                  </a:moveTo>
                  <a:lnTo>
                    <a:pt x="13753" y="15631"/>
                  </a:lnTo>
                  <a:lnTo>
                    <a:pt x="0" y="31263"/>
                  </a:lnTo>
                  <a:lnTo>
                    <a:pt x="41243" y="15631"/>
                  </a:lnTo>
                  <a:lnTo>
                    <a:pt x="0" y="0"/>
                  </a:lnTo>
                  <a:close/>
                </a:path>
              </a:pathLst>
            </a:custGeom>
            <a:solidFill>
              <a:srgbClr val="005F73"/>
            </a:solidFill>
          </p:spPr>
          <p:txBody>
            <a:bodyPr wrap="square" lIns="0" tIns="0" rIns="0" bIns="0" rtlCol="0"/>
            <a:lstStyle/>
            <a:p>
              <a:endParaRPr/>
            </a:p>
          </p:txBody>
        </p:sp>
        <p:sp>
          <p:nvSpPr>
            <p:cNvPr id="37" name="object 37"/>
            <p:cNvSpPr/>
            <p:nvPr/>
          </p:nvSpPr>
          <p:spPr>
            <a:xfrm>
              <a:off x="1592759" y="1167500"/>
              <a:ext cx="41275" cy="31750"/>
            </a:xfrm>
            <a:custGeom>
              <a:avLst/>
              <a:gdLst/>
              <a:ahLst/>
              <a:cxnLst/>
              <a:rect l="l" t="t" r="r" b="b"/>
              <a:pathLst>
                <a:path w="41275" h="31750">
                  <a:moveTo>
                    <a:pt x="41243" y="15631"/>
                  </a:moveTo>
                  <a:lnTo>
                    <a:pt x="0" y="0"/>
                  </a:lnTo>
                  <a:lnTo>
                    <a:pt x="13753" y="15631"/>
                  </a:lnTo>
                  <a:lnTo>
                    <a:pt x="0" y="31263"/>
                  </a:lnTo>
                  <a:lnTo>
                    <a:pt x="41243" y="15631"/>
                  </a:lnTo>
                  <a:close/>
                </a:path>
              </a:pathLst>
            </a:custGeom>
            <a:ln w="10122">
              <a:solidFill>
                <a:srgbClr val="005F73"/>
              </a:solidFill>
            </a:ln>
          </p:spPr>
          <p:txBody>
            <a:bodyPr wrap="square" lIns="0" tIns="0" rIns="0" bIns="0" rtlCol="0"/>
            <a:lstStyle/>
            <a:p>
              <a:endParaRPr/>
            </a:p>
          </p:txBody>
        </p:sp>
        <p:sp>
          <p:nvSpPr>
            <p:cNvPr id="38" name="object 38"/>
            <p:cNvSpPr/>
            <p:nvPr/>
          </p:nvSpPr>
          <p:spPr>
            <a:xfrm>
              <a:off x="2373486" y="1183131"/>
              <a:ext cx="99695" cy="0"/>
            </a:xfrm>
            <a:custGeom>
              <a:avLst/>
              <a:gdLst/>
              <a:ahLst/>
              <a:cxnLst/>
              <a:rect l="l" t="t" r="r" b="b"/>
              <a:pathLst>
                <a:path w="99694">
                  <a:moveTo>
                    <a:pt x="0" y="0"/>
                  </a:moveTo>
                  <a:lnTo>
                    <a:pt x="99565" y="0"/>
                  </a:lnTo>
                </a:path>
              </a:pathLst>
            </a:custGeom>
            <a:ln w="10122">
              <a:solidFill>
                <a:srgbClr val="005F73"/>
              </a:solidFill>
            </a:ln>
          </p:spPr>
          <p:txBody>
            <a:bodyPr wrap="square" lIns="0" tIns="0" rIns="0" bIns="0" rtlCol="0"/>
            <a:lstStyle/>
            <a:p>
              <a:endParaRPr/>
            </a:p>
          </p:txBody>
        </p:sp>
        <p:sp>
          <p:nvSpPr>
            <p:cNvPr id="39" name="object 39"/>
            <p:cNvSpPr/>
            <p:nvPr/>
          </p:nvSpPr>
          <p:spPr>
            <a:xfrm>
              <a:off x="2461829" y="1167500"/>
              <a:ext cx="41275" cy="31750"/>
            </a:xfrm>
            <a:custGeom>
              <a:avLst/>
              <a:gdLst/>
              <a:ahLst/>
              <a:cxnLst/>
              <a:rect l="l" t="t" r="r" b="b"/>
              <a:pathLst>
                <a:path w="41275" h="31750">
                  <a:moveTo>
                    <a:pt x="0" y="0"/>
                  </a:moveTo>
                  <a:lnTo>
                    <a:pt x="13753" y="15631"/>
                  </a:lnTo>
                  <a:lnTo>
                    <a:pt x="0" y="31263"/>
                  </a:lnTo>
                  <a:lnTo>
                    <a:pt x="41243" y="15631"/>
                  </a:lnTo>
                  <a:lnTo>
                    <a:pt x="0" y="0"/>
                  </a:lnTo>
                  <a:close/>
                </a:path>
              </a:pathLst>
            </a:custGeom>
            <a:solidFill>
              <a:srgbClr val="005F73"/>
            </a:solidFill>
          </p:spPr>
          <p:txBody>
            <a:bodyPr wrap="square" lIns="0" tIns="0" rIns="0" bIns="0" rtlCol="0"/>
            <a:lstStyle/>
            <a:p>
              <a:endParaRPr/>
            </a:p>
          </p:txBody>
        </p:sp>
        <p:sp>
          <p:nvSpPr>
            <p:cNvPr id="40" name="object 40"/>
            <p:cNvSpPr/>
            <p:nvPr/>
          </p:nvSpPr>
          <p:spPr>
            <a:xfrm>
              <a:off x="2461829" y="1167500"/>
              <a:ext cx="41275" cy="31750"/>
            </a:xfrm>
            <a:custGeom>
              <a:avLst/>
              <a:gdLst/>
              <a:ahLst/>
              <a:cxnLst/>
              <a:rect l="l" t="t" r="r" b="b"/>
              <a:pathLst>
                <a:path w="41275" h="31750">
                  <a:moveTo>
                    <a:pt x="41243" y="15631"/>
                  </a:moveTo>
                  <a:lnTo>
                    <a:pt x="0" y="0"/>
                  </a:lnTo>
                  <a:lnTo>
                    <a:pt x="13753" y="15631"/>
                  </a:lnTo>
                  <a:lnTo>
                    <a:pt x="0" y="31263"/>
                  </a:lnTo>
                  <a:lnTo>
                    <a:pt x="41243" y="15631"/>
                  </a:lnTo>
                  <a:close/>
                </a:path>
              </a:pathLst>
            </a:custGeom>
            <a:ln w="10122">
              <a:solidFill>
                <a:srgbClr val="005F73"/>
              </a:solidFill>
            </a:ln>
          </p:spPr>
          <p:txBody>
            <a:bodyPr wrap="square" lIns="0" tIns="0" rIns="0" bIns="0" rtlCol="0"/>
            <a:lstStyle/>
            <a:p>
              <a:endParaRPr/>
            </a:p>
          </p:txBody>
        </p:sp>
        <p:sp>
          <p:nvSpPr>
            <p:cNvPr id="41" name="object 41"/>
            <p:cNvSpPr/>
            <p:nvPr/>
          </p:nvSpPr>
          <p:spPr>
            <a:xfrm>
              <a:off x="3242556" y="1183131"/>
              <a:ext cx="99695" cy="0"/>
            </a:xfrm>
            <a:custGeom>
              <a:avLst/>
              <a:gdLst/>
              <a:ahLst/>
              <a:cxnLst/>
              <a:rect l="l" t="t" r="r" b="b"/>
              <a:pathLst>
                <a:path w="99695">
                  <a:moveTo>
                    <a:pt x="0" y="0"/>
                  </a:moveTo>
                  <a:lnTo>
                    <a:pt x="99565" y="0"/>
                  </a:lnTo>
                </a:path>
              </a:pathLst>
            </a:custGeom>
            <a:ln w="10122">
              <a:solidFill>
                <a:srgbClr val="005F73"/>
              </a:solidFill>
            </a:ln>
          </p:spPr>
          <p:txBody>
            <a:bodyPr wrap="square" lIns="0" tIns="0" rIns="0" bIns="0" rtlCol="0"/>
            <a:lstStyle/>
            <a:p>
              <a:endParaRPr/>
            </a:p>
          </p:txBody>
        </p:sp>
        <p:sp>
          <p:nvSpPr>
            <p:cNvPr id="42" name="object 42"/>
            <p:cNvSpPr/>
            <p:nvPr/>
          </p:nvSpPr>
          <p:spPr>
            <a:xfrm>
              <a:off x="3330898" y="1167500"/>
              <a:ext cx="41275" cy="31750"/>
            </a:xfrm>
            <a:custGeom>
              <a:avLst/>
              <a:gdLst/>
              <a:ahLst/>
              <a:cxnLst/>
              <a:rect l="l" t="t" r="r" b="b"/>
              <a:pathLst>
                <a:path w="41275" h="31750">
                  <a:moveTo>
                    <a:pt x="0" y="0"/>
                  </a:moveTo>
                  <a:lnTo>
                    <a:pt x="13753" y="15631"/>
                  </a:lnTo>
                  <a:lnTo>
                    <a:pt x="0" y="31263"/>
                  </a:lnTo>
                  <a:lnTo>
                    <a:pt x="41243" y="15631"/>
                  </a:lnTo>
                  <a:lnTo>
                    <a:pt x="0" y="0"/>
                  </a:lnTo>
                  <a:close/>
                </a:path>
              </a:pathLst>
            </a:custGeom>
            <a:solidFill>
              <a:srgbClr val="005F73"/>
            </a:solidFill>
          </p:spPr>
          <p:txBody>
            <a:bodyPr wrap="square" lIns="0" tIns="0" rIns="0" bIns="0" rtlCol="0"/>
            <a:lstStyle/>
            <a:p>
              <a:endParaRPr/>
            </a:p>
          </p:txBody>
        </p:sp>
        <p:sp>
          <p:nvSpPr>
            <p:cNvPr id="43" name="object 43"/>
            <p:cNvSpPr/>
            <p:nvPr/>
          </p:nvSpPr>
          <p:spPr>
            <a:xfrm>
              <a:off x="3330898" y="1167500"/>
              <a:ext cx="41275" cy="31750"/>
            </a:xfrm>
            <a:custGeom>
              <a:avLst/>
              <a:gdLst/>
              <a:ahLst/>
              <a:cxnLst/>
              <a:rect l="l" t="t" r="r" b="b"/>
              <a:pathLst>
                <a:path w="41275" h="31750">
                  <a:moveTo>
                    <a:pt x="41243" y="15631"/>
                  </a:moveTo>
                  <a:lnTo>
                    <a:pt x="0" y="0"/>
                  </a:lnTo>
                  <a:lnTo>
                    <a:pt x="13753" y="15631"/>
                  </a:lnTo>
                  <a:lnTo>
                    <a:pt x="0" y="31263"/>
                  </a:lnTo>
                  <a:lnTo>
                    <a:pt x="41243" y="15631"/>
                  </a:lnTo>
                  <a:close/>
                </a:path>
              </a:pathLst>
            </a:custGeom>
            <a:ln w="10122">
              <a:solidFill>
                <a:srgbClr val="005F73"/>
              </a:solidFill>
            </a:ln>
          </p:spPr>
          <p:txBody>
            <a:bodyPr wrap="square" lIns="0" tIns="0" rIns="0" bIns="0" rtlCol="0"/>
            <a:lstStyle/>
            <a:p>
              <a:endParaRPr/>
            </a:p>
          </p:txBody>
        </p:sp>
        <p:sp>
          <p:nvSpPr>
            <p:cNvPr id="44" name="object 44"/>
            <p:cNvSpPr/>
            <p:nvPr/>
          </p:nvSpPr>
          <p:spPr>
            <a:xfrm>
              <a:off x="4111625" y="1087215"/>
              <a:ext cx="100965" cy="20955"/>
            </a:xfrm>
            <a:custGeom>
              <a:avLst/>
              <a:gdLst/>
              <a:ahLst/>
              <a:cxnLst/>
              <a:rect l="l" t="t" r="r" b="b"/>
              <a:pathLst>
                <a:path w="100964" h="20955">
                  <a:moveTo>
                    <a:pt x="0" y="20821"/>
                  </a:moveTo>
                  <a:lnTo>
                    <a:pt x="100491" y="0"/>
                  </a:lnTo>
                </a:path>
              </a:pathLst>
            </a:custGeom>
            <a:ln w="10122">
              <a:solidFill>
                <a:srgbClr val="005F73"/>
              </a:solidFill>
            </a:ln>
          </p:spPr>
          <p:txBody>
            <a:bodyPr wrap="square" lIns="0" tIns="0" rIns="0" bIns="0" rtlCol="0"/>
            <a:lstStyle/>
            <a:p>
              <a:endParaRPr/>
            </a:p>
          </p:txBody>
        </p:sp>
        <p:sp>
          <p:nvSpPr>
            <p:cNvPr id="45" name="object 45"/>
            <p:cNvSpPr/>
            <p:nvPr/>
          </p:nvSpPr>
          <p:spPr>
            <a:xfrm>
              <a:off x="4197957" y="1074186"/>
              <a:ext cx="43815" cy="31115"/>
            </a:xfrm>
            <a:custGeom>
              <a:avLst/>
              <a:gdLst/>
              <a:ahLst/>
              <a:cxnLst/>
              <a:rect l="l" t="t" r="r" b="b"/>
              <a:pathLst>
                <a:path w="43814" h="31115">
                  <a:moveTo>
                    <a:pt x="0" y="0"/>
                  </a:moveTo>
                  <a:lnTo>
                    <a:pt x="16637" y="12515"/>
                  </a:lnTo>
                  <a:lnTo>
                    <a:pt x="6341" y="30611"/>
                  </a:lnTo>
                  <a:lnTo>
                    <a:pt x="43554" y="6939"/>
                  </a:lnTo>
                  <a:lnTo>
                    <a:pt x="0" y="0"/>
                  </a:lnTo>
                  <a:close/>
                </a:path>
              </a:pathLst>
            </a:custGeom>
            <a:solidFill>
              <a:srgbClr val="005F73"/>
            </a:solidFill>
          </p:spPr>
          <p:txBody>
            <a:bodyPr wrap="square" lIns="0" tIns="0" rIns="0" bIns="0" rtlCol="0"/>
            <a:lstStyle/>
            <a:p>
              <a:endParaRPr/>
            </a:p>
          </p:txBody>
        </p:sp>
        <p:sp>
          <p:nvSpPr>
            <p:cNvPr id="46" name="object 46"/>
            <p:cNvSpPr/>
            <p:nvPr/>
          </p:nvSpPr>
          <p:spPr>
            <a:xfrm>
              <a:off x="4197957" y="1074186"/>
              <a:ext cx="43815" cy="31115"/>
            </a:xfrm>
            <a:custGeom>
              <a:avLst/>
              <a:gdLst/>
              <a:ahLst/>
              <a:cxnLst/>
              <a:rect l="l" t="t" r="r" b="b"/>
              <a:pathLst>
                <a:path w="43814" h="31115">
                  <a:moveTo>
                    <a:pt x="43554" y="6939"/>
                  </a:moveTo>
                  <a:lnTo>
                    <a:pt x="0" y="0"/>
                  </a:lnTo>
                  <a:lnTo>
                    <a:pt x="16637" y="12515"/>
                  </a:lnTo>
                  <a:lnTo>
                    <a:pt x="6341" y="30611"/>
                  </a:lnTo>
                  <a:lnTo>
                    <a:pt x="43554" y="6939"/>
                  </a:lnTo>
                  <a:close/>
                </a:path>
              </a:pathLst>
            </a:custGeom>
            <a:ln w="10121">
              <a:solidFill>
                <a:srgbClr val="005F73"/>
              </a:solidFill>
            </a:ln>
          </p:spPr>
          <p:txBody>
            <a:bodyPr wrap="square" lIns="0" tIns="0" rIns="0" bIns="0" rtlCol="0"/>
            <a:lstStyle/>
            <a:p>
              <a:endParaRPr/>
            </a:p>
          </p:txBody>
        </p:sp>
        <p:sp>
          <p:nvSpPr>
            <p:cNvPr id="47" name="object 47"/>
            <p:cNvSpPr/>
            <p:nvPr/>
          </p:nvSpPr>
          <p:spPr>
            <a:xfrm>
              <a:off x="4111625" y="1258226"/>
              <a:ext cx="100965" cy="20955"/>
            </a:xfrm>
            <a:custGeom>
              <a:avLst/>
              <a:gdLst/>
              <a:ahLst/>
              <a:cxnLst/>
              <a:rect l="l" t="t" r="r" b="b"/>
              <a:pathLst>
                <a:path w="100964" h="20955">
                  <a:moveTo>
                    <a:pt x="0" y="0"/>
                  </a:moveTo>
                  <a:lnTo>
                    <a:pt x="100491" y="20821"/>
                  </a:lnTo>
                </a:path>
              </a:pathLst>
            </a:custGeom>
            <a:ln w="10122">
              <a:solidFill>
                <a:srgbClr val="005F73"/>
              </a:solidFill>
            </a:ln>
          </p:spPr>
          <p:txBody>
            <a:bodyPr wrap="square" lIns="0" tIns="0" rIns="0" bIns="0" rtlCol="0"/>
            <a:lstStyle/>
            <a:p>
              <a:endParaRPr/>
            </a:p>
          </p:txBody>
        </p:sp>
        <p:sp>
          <p:nvSpPr>
            <p:cNvPr id="48" name="object 48"/>
            <p:cNvSpPr/>
            <p:nvPr/>
          </p:nvSpPr>
          <p:spPr>
            <a:xfrm>
              <a:off x="4197957" y="1261465"/>
              <a:ext cx="43815" cy="31115"/>
            </a:xfrm>
            <a:custGeom>
              <a:avLst/>
              <a:gdLst/>
              <a:ahLst/>
              <a:cxnLst/>
              <a:rect l="l" t="t" r="r" b="b"/>
              <a:pathLst>
                <a:path w="43814" h="31115">
                  <a:moveTo>
                    <a:pt x="6341" y="0"/>
                  </a:moveTo>
                  <a:lnTo>
                    <a:pt x="16637" y="18095"/>
                  </a:lnTo>
                  <a:lnTo>
                    <a:pt x="0" y="30611"/>
                  </a:lnTo>
                  <a:lnTo>
                    <a:pt x="43554" y="23671"/>
                  </a:lnTo>
                  <a:lnTo>
                    <a:pt x="6341" y="0"/>
                  </a:lnTo>
                  <a:close/>
                </a:path>
              </a:pathLst>
            </a:custGeom>
            <a:solidFill>
              <a:srgbClr val="005F73"/>
            </a:solidFill>
          </p:spPr>
          <p:txBody>
            <a:bodyPr wrap="square" lIns="0" tIns="0" rIns="0" bIns="0" rtlCol="0"/>
            <a:lstStyle/>
            <a:p>
              <a:endParaRPr/>
            </a:p>
          </p:txBody>
        </p:sp>
        <p:sp>
          <p:nvSpPr>
            <p:cNvPr id="49" name="object 49"/>
            <p:cNvSpPr/>
            <p:nvPr/>
          </p:nvSpPr>
          <p:spPr>
            <a:xfrm>
              <a:off x="4197957" y="1261465"/>
              <a:ext cx="43815" cy="31115"/>
            </a:xfrm>
            <a:custGeom>
              <a:avLst/>
              <a:gdLst/>
              <a:ahLst/>
              <a:cxnLst/>
              <a:rect l="l" t="t" r="r" b="b"/>
              <a:pathLst>
                <a:path w="43814" h="31115">
                  <a:moveTo>
                    <a:pt x="43554" y="23671"/>
                  </a:moveTo>
                  <a:lnTo>
                    <a:pt x="6341" y="0"/>
                  </a:lnTo>
                  <a:lnTo>
                    <a:pt x="16637" y="18095"/>
                  </a:lnTo>
                  <a:lnTo>
                    <a:pt x="0" y="30611"/>
                  </a:lnTo>
                  <a:lnTo>
                    <a:pt x="43554" y="23671"/>
                  </a:lnTo>
                  <a:close/>
                </a:path>
              </a:pathLst>
            </a:custGeom>
            <a:ln w="10121">
              <a:solidFill>
                <a:srgbClr val="005F73"/>
              </a:solidFill>
            </a:ln>
          </p:spPr>
          <p:txBody>
            <a:bodyPr wrap="square" lIns="0" tIns="0" rIns="0" bIns="0" rtlCol="0"/>
            <a:lstStyle/>
            <a:p>
              <a:endParaRPr/>
            </a:p>
          </p:txBody>
        </p:sp>
        <p:sp>
          <p:nvSpPr>
            <p:cNvPr id="50" name="object 50"/>
            <p:cNvSpPr/>
            <p:nvPr/>
          </p:nvSpPr>
          <p:spPr>
            <a:xfrm>
              <a:off x="2010951" y="1329664"/>
              <a:ext cx="869315" cy="207645"/>
            </a:xfrm>
            <a:custGeom>
              <a:avLst/>
              <a:gdLst/>
              <a:ahLst/>
              <a:cxnLst/>
              <a:rect l="l" t="t" r="r" b="b"/>
              <a:pathLst>
                <a:path w="869314" h="207644">
                  <a:moveTo>
                    <a:pt x="869069" y="0"/>
                  </a:moveTo>
                  <a:lnTo>
                    <a:pt x="869069" y="126003"/>
                  </a:lnTo>
                  <a:lnTo>
                    <a:pt x="0" y="126003"/>
                  </a:lnTo>
                  <a:lnTo>
                    <a:pt x="0" y="207567"/>
                  </a:lnTo>
                </a:path>
              </a:pathLst>
            </a:custGeom>
            <a:ln w="10122">
              <a:solidFill>
                <a:srgbClr val="005F73"/>
              </a:solidFill>
            </a:ln>
          </p:spPr>
          <p:txBody>
            <a:bodyPr wrap="square" lIns="0" tIns="0" rIns="0" bIns="0" rtlCol="0"/>
            <a:lstStyle/>
            <a:p>
              <a:endParaRPr/>
            </a:p>
          </p:txBody>
        </p:sp>
        <p:sp>
          <p:nvSpPr>
            <p:cNvPr id="51" name="object 51"/>
            <p:cNvSpPr/>
            <p:nvPr/>
          </p:nvSpPr>
          <p:spPr>
            <a:xfrm>
              <a:off x="1995320" y="1526009"/>
              <a:ext cx="31750" cy="41275"/>
            </a:xfrm>
            <a:custGeom>
              <a:avLst/>
              <a:gdLst/>
              <a:ahLst/>
              <a:cxnLst/>
              <a:rect l="l" t="t" r="r" b="b"/>
              <a:pathLst>
                <a:path w="31750" h="41275">
                  <a:moveTo>
                    <a:pt x="31263" y="0"/>
                  </a:moveTo>
                  <a:lnTo>
                    <a:pt x="15631" y="13753"/>
                  </a:lnTo>
                  <a:lnTo>
                    <a:pt x="0" y="0"/>
                  </a:lnTo>
                  <a:lnTo>
                    <a:pt x="15631" y="41243"/>
                  </a:lnTo>
                  <a:lnTo>
                    <a:pt x="31263" y="0"/>
                  </a:lnTo>
                  <a:close/>
                </a:path>
              </a:pathLst>
            </a:custGeom>
            <a:solidFill>
              <a:srgbClr val="005F73"/>
            </a:solidFill>
          </p:spPr>
          <p:txBody>
            <a:bodyPr wrap="square" lIns="0" tIns="0" rIns="0" bIns="0" rtlCol="0"/>
            <a:lstStyle/>
            <a:p>
              <a:endParaRPr/>
            </a:p>
          </p:txBody>
        </p:sp>
        <p:sp>
          <p:nvSpPr>
            <p:cNvPr id="52" name="object 52"/>
            <p:cNvSpPr/>
            <p:nvPr/>
          </p:nvSpPr>
          <p:spPr>
            <a:xfrm>
              <a:off x="1995320" y="1526009"/>
              <a:ext cx="31750" cy="41275"/>
            </a:xfrm>
            <a:custGeom>
              <a:avLst/>
              <a:gdLst/>
              <a:ahLst/>
              <a:cxnLst/>
              <a:rect l="l" t="t" r="r" b="b"/>
              <a:pathLst>
                <a:path w="31750" h="41275">
                  <a:moveTo>
                    <a:pt x="15631" y="41243"/>
                  </a:moveTo>
                  <a:lnTo>
                    <a:pt x="31263" y="0"/>
                  </a:lnTo>
                  <a:lnTo>
                    <a:pt x="15631" y="13753"/>
                  </a:lnTo>
                  <a:lnTo>
                    <a:pt x="0" y="0"/>
                  </a:lnTo>
                  <a:lnTo>
                    <a:pt x="15631" y="41243"/>
                  </a:lnTo>
                  <a:close/>
                </a:path>
              </a:pathLst>
            </a:custGeom>
            <a:ln w="10122">
              <a:solidFill>
                <a:srgbClr val="005F73"/>
              </a:solidFill>
            </a:ln>
          </p:spPr>
          <p:txBody>
            <a:bodyPr wrap="square" lIns="0" tIns="0" rIns="0" bIns="0" rtlCol="0"/>
            <a:lstStyle/>
            <a:p>
              <a:endParaRPr/>
            </a:p>
          </p:txBody>
        </p:sp>
        <p:sp>
          <p:nvSpPr>
            <p:cNvPr id="53" name="object 53"/>
            <p:cNvSpPr/>
            <p:nvPr/>
          </p:nvSpPr>
          <p:spPr>
            <a:xfrm>
              <a:off x="2373486" y="1735461"/>
              <a:ext cx="99695" cy="0"/>
            </a:xfrm>
            <a:custGeom>
              <a:avLst/>
              <a:gdLst/>
              <a:ahLst/>
              <a:cxnLst/>
              <a:rect l="l" t="t" r="r" b="b"/>
              <a:pathLst>
                <a:path w="99694">
                  <a:moveTo>
                    <a:pt x="0" y="0"/>
                  </a:moveTo>
                  <a:lnTo>
                    <a:pt x="99565" y="0"/>
                  </a:lnTo>
                </a:path>
              </a:pathLst>
            </a:custGeom>
            <a:ln w="10122">
              <a:solidFill>
                <a:srgbClr val="005F73"/>
              </a:solidFill>
            </a:ln>
          </p:spPr>
          <p:txBody>
            <a:bodyPr wrap="square" lIns="0" tIns="0" rIns="0" bIns="0" rtlCol="0"/>
            <a:lstStyle/>
            <a:p>
              <a:endParaRPr/>
            </a:p>
          </p:txBody>
        </p:sp>
        <p:sp>
          <p:nvSpPr>
            <p:cNvPr id="54" name="object 54"/>
            <p:cNvSpPr/>
            <p:nvPr/>
          </p:nvSpPr>
          <p:spPr>
            <a:xfrm>
              <a:off x="2461829" y="1719830"/>
              <a:ext cx="41275" cy="31750"/>
            </a:xfrm>
            <a:custGeom>
              <a:avLst/>
              <a:gdLst/>
              <a:ahLst/>
              <a:cxnLst/>
              <a:rect l="l" t="t" r="r" b="b"/>
              <a:pathLst>
                <a:path w="41275" h="31750">
                  <a:moveTo>
                    <a:pt x="0" y="0"/>
                  </a:moveTo>
                  <a:lnTo>
                    <a:pt x="13753" y="15631"/>
                  </a:lnTo>
                  <a:lnTo>
                    <a:pt x="0" y="31263"/>
                  </a:lnTo>
                  <a:lnTo>
                    <a:pt x="41243" y="15631"/>
                  </a:lnTo>
                  <a:lnTo>
                    <a:pt x="0" y="0"/>
                  </a:lnTo>
                  <a:close/>
                </a:path>
              </a:pathLst>
            </a:custGeom>
            <a:solidFill>
              <a:srgbClr val="005F73"/>
            </a:solidFill>
          </p:spPr>
          <p:txBody>
            <a:bodyPr wrap="square" lIns="0" tIns="0" rIns="0" bIns="0" rtlCol="0"/>
            <a:lstStyle/>
            <a:p>
              <a:endParaRPr/>
            </a:p>
          </p:txBody>
        </p:sp>
        <p:sp>
          <p:nvSpPr>
            <p:cNvPr id="55" name="object 55"/>
            <p:cNvSpPr/>
            <p:nvPr/>
          </p:nvSpPr>
          <p:spPr>
            <a:xfrm>
              <a:off x="2461829" y="1719830"/>
              <a:ext cx="41275" cy="31750"/>
            </a:xfrm>
            <a:custGeom>
              <a:avLst/>
              <a:gdLst/>
              <a:ahLst/>
              <a:cxnLst/>
              <a:rect l="l" t="t" r="r" b="b"/>
              <a:pathLst>
                <a:path w="41275" h="31750">
                  <a:moveTo>
                    <a:pt x="41243" y="15631"/>
                  </a:moveTo>
                  <a:lnTo>
                    <a:pt x="0" y="0"/>
                  </a:lnTo>
                  <a:lnTo>
                    <a:pt x="13753" y="15631"/>
                  </a:lnTo>
                  <a:lnTo>
                    <a:pt x="0" y="31263"/>
                  </a:lnTo>
                  <a:lnTo>
                    <a:pt x="41243" y="15631"/>
                  </a:lnTo>
                  <a:close/>
                </a:path>
              </a:pathLst>
            </a:custGeom>
            <a:ln w="10122">
              <a:solidFill>
                <a:srgbClr val="005F73"/>
              </a:solidFill>
            </a:ln>
          </p:spPr>
          <p:txBody>
            <a:bodyPr wrap="square" lIns="0" tIns="0" rIns="0" bIns="0" rtlCol="0"/>
            <a:lstStyle/>
            <a:p>
              <a:endParaRPr/>
            </a:p>
          </p:txBody>
        </p:sp>
        <p:sp>
          <p:nvSpPr>
            <p:cNvPr id="56" name="object 56"/>
            <p:cNvSpPr/>
            <p:nvPr/>
          </p:nvSpPr>
          <p:spPr>
            <a:xfrm>
              <a:off x="3077650" y="1365013"/>
              <a:ext cx="274955" cy="224154"/>
            </a:xfrm>
            <a:custGeom>
              <a:avLst/>
              <a:gdLst/>
              <a:ahLst/>
              <a:cxnLst/>
              <a:rect l="l" t="t" r="r" b="b"/>
              <a:pathLst>
                <a:path w="274954" h="224155">
                  <a:moveTo>
                    <a:pt x="0" y="223915"/>
                  </a:moveTo>
                  <a:lnTo>
                    <a:pt x="274475" y="0"/>
                  </a:lnTo>
                </a:path>
              </a:pathLst>
            </a:custGeom>
            <a:ln w="10122">
              <a:solidFill>
                <a:srgbClr val="005F73"/>
              </a:solidFill>
            </a:ln>
          </p:spPr>
          <p:txBody>
            <a:bodyPr wrap="square" lIns="0" tIns="0" rIns="0" bIns="0" rtlCol="0"/>
            <a:lstStyle/>
            <a:p>
              <a:endParaRPr/>
            </a:p>
          </p:txBody>
        </p:sp>
        <p:sp>
          <p:nvSpPr>
            <p:cNvPr id="57" name="object 57"/>
            <p:cNvSpPr/>
            <p:nvPr/>
          </p:nvSpPr>
          <p:spPr>
            <a:xfrm>
              <a:off x="3333549" y="1346037"/>
              <a:ext cx="41910" cy="38735"/>
            </a:xfrm>
            <a:custGeom>
              <a:avLst/>
              <a:gdLst/>
              <a:ahLst/>
              <a:cxnLst/>
              <a:rect l="l" t="t" r="r" b="b"/>
              <a:pathLst>
                <a:path w="41910" h="38734">
                  <a:moveTo>
                    <a:pt x="0" y="13957"/>
                  </a:moveTo>
                  <a:lnTo>
                    <a:pt x="20537" y="17376"/>
                  </a:lnTo>
                  <a:lnTo>
                    <a:pt x="19761" y="38181"/>
                  </a:lnTo>
                  <a:lnTo>
                    <a:pt x="41837" y="0"/>
                  </a:lnTo>
                  <a:lnTo>
                    <a:pt x="0" y="13957"/>
                  </a:lnTo>
                  <a:close/>
                </a:path>
              </a:pathLst>
            </a:custGeom>
            <a:solidFill>
              <a:srgbClr val="005F73"/>
            </a:solidFill>
          </p:spPr>
          <p:txBody>
            <a:bodyPr wrap="square" lIns="0" tIns="0" rIns="0" bIns="0" rtlCol="0"/>
            <a:lstStyle/>
            <a:p>
              <a:endParaRPr/>
            </a:p>
          </p:txBody>
        </p:sp>
        <p:sp>
          <p:nvSpPr>
            <p:cNvPr id="58" name="object 58"/>
            <p:cNvSpPr/>
            <p:nvPr/>
          </p:nvSpPr>
          <p:spPr>
            <a:xfrm>
              <a:off x="3333549" y="1346037"/>
              <a:ext cx="41910" cy="38735"/>
            </a:xfrm>
            <a:custGeom>
              <a:avLst/>
              <a:gdLst/>
              <a:ahLst/>
              <a:cxnLst/>
              <a:rect l="l" t="t" r="r" b="b"/>
              <a:pathLst>
                <a:path w="41910" h="38734">
                  <a:moveTo>
                    <a:pt x="41837" y="0"/>
                  </a:moveTo>
                  <a:lnTo>
                    <a:pt x="0" y="13957"/>
                  </a:lnTo>
                  <a:lnTo>
                    <a:pt x="20537" y="17376"/>
                  </a:lnTo>
                  <a:lnTo>
                    <a:pt x="19761" y="38181"/>
                  </a:lnTo>
                  <a:lnTo>
                    <a:pt x="41837" y="0"/>
                  </a:lnTo>
                  <a:close/>
                </a:path>
              </a:pathLst>
            </a:custGeom>
            <a:ln w="10121">
              <a:solidFill>
                <a:srgbClr val="005F73"/>
              </a:solidFill>
            </a:ln>
          </p:spPr>
          <p:txBody>
            <a:bodyPr wrap="square" lIns="0" tIns="0" rIns="0" bIns="0" rtlCol="0"/>
            <a:lstStyle/>
            <a:p>
              <a:endParaRPr/>
            </a:p>
          </p:txBody>
        </p:sp>
      </p:grpSp>
      <p:sp>
        <p:nvSpPr>
          <p:cNvPr id="59" name="object 59"/>
          <p:cNvSpPr txBox="1"/>
          <p:nvPr/>
        </p:nvSpPr>
        <p:spPr>
          <a:xfrm>
            <a:off x="294513" y="2000866"/>
            <a:ext cx="2385695" cy="996950"/>
          </a:xfrm>
          <a:prstGeom prst="rect">
            <a:avLst/>
          </a:prstGeom>
        </p:spPr>
        <p:txBody>
          <a:bodyPr vert="horz" wrap="square" lIns="0" tIns="60960" rIns="0" bIns="0" rtlCol="0">
            <a:spAutoFit/>
          </a:bodyPr>
          <a:lstStyle/>
          <a:p>
            <a:pPr marL="12700">
              <a:lnSpc>
                <a:spcPct val="100000"/>
              </a:lnSpc>
              <a:spcBef>
                <a:spcPts val="480"/>
              </a:spcBef>
            </a:pPr>
            <a:r>
              <a:rPr sz="1100" b="1" spc="-45">
                <a:solidFill>
                  <a:srgbClr val="202429"/>
                </a:solidFill>
                <a:latin typeface="Arial"/>
                <a:cs typeface="Arial"/>
              </a:rPr>
              <a:t>Technical</a:t>
            </a:r>
            <a:r>
              <a:rPr sz="1100" b="1" spc="40">
                <a:solidFill>
                  <a:srgbClr val="202429"/>
                </a:solidFill>
                <a:latin typeface="Arial"/>
                <a:cs typeface="Arial"/>
              </a:rPr>
              <a:t> </a:t>
            </a:r>
            <a:r>
              <a:rPr sz="1100" b="1" spc="-10">
                <a:solidFill>
                  <a:srgbClr val="202429"/>
                </a:solidFill>
                <a:latin typeface="Arial"/>
                <a:cs typeface="Arial"/>
              </a:rPr>
              <a:t>approach:</a:t>
            </a:r>
            <a:endParaRPr sz="1100">
              <a:latin typeface="Arial"/>
              <a:cs typeface="Arial"/>
            </a:endParaRPr>
          </a:p>
          <a:p>
            <a:pPr marL="12700" marR="5080">
              <a:lnSpc>
                <a:spcPct val="112900"/>
              </a:lnSpc>
              <a:spcBef>
                <a:spcPts val="200"/>
              </a:spcBef>
            </a:pPr>
            <a:r>
              <a:rPr sz="1000" spc="-40">
                <a:solidFill>
                  <a:srgbClr val="202429"/>
                </a:solidFill>
                <a:latin typeface="Tahoma"/>
                <a:cs typeface="Tahoma"/>
              </a:rPr>
              <a:t>Sentence</a:t>
            </a:r>
            <a:r>
              <a:rPr sz="1000" spc="-5">
                <a:solidFill>
                  <a:srgbClr val="202429"/>
                </a:solidFill>
                <a:latin typeface="Tahoma"/>
                <a:cs typeface="Tahoma"/>
              </a:rPr>
              <a:t> </a:t>
            </a:r>
            <a:r>
              <a:rPr sz="1000" spc="-50">
                <a:solidFill>
                  <a:srgbClr val="202429"/>
                </a:solidFill>
                <a:latin typeface="Tahoma"/>
                <a:cs typeface="Tahoma"/>
              </a:rPr>
              <a:t>embeddings</a:t>
            </a:r>
            <a:r>
              <a:rPr sz="1000" spc="-5">
                <a:solidFill>
                  <a:srgbClr val="202429"/>
                </a:solidFill>
                <a:latin typeface="Tahoma"/>
                <a:cs typeface="Tahoma"/>
              </a:rPr>
              <a:t> </a:t>
            </a:r>
            <a:r>
              <a:rPr sz="1000" spc="-10">
                <a:solidFill>
                  <a:srgbClr val="202429"/>
                </a:solidFill>
                <a:latin typeface="Tahoma"/>
                <a:cs typeface="Tahoma"/>
              </a:rPr>
              <a:t>(all-MiniLM-L6-</a:t>
            </a:r>
            <a:r>
              <a:rPr sz="1000">
                <a:solidFill>
                  <a:srgbClr val="202429"/>
                </a:solidFill>
                <a:latin typeface="Tahoma"/>
                <a:cs typeface="Tahoma"/>
              </a:rPr>
              <a:t>v2)</a:t>
            </a:r>
            <a:r>
              <a:rPr sz="1000" spc="-5">
                <a:solidFill>
                  <a:srgbClr val="202429"/>
                </a:solidFill>
                <a:latin typeface="Tahoma"/>
                <a:cs typeface="Tahoma"/>
              </a:rPr>
              <a:t> </a:t>
            </a:r>
            <a:r>
              <a:rPr sz="1000" i="1" spc="-50">
                <a:solidFill>
                  <a:srgbClr val="202429"/>
                </a:solidFill>
                <a:latin typeface="Times New Roman"/>
                <a:cs typeface="Times New Roman"/>
              </a:rPr>
              <a:t>→</a:t>
            </a:r>
            <a:r>
              <a:rPr sz="1000" i="1" spc="-35">
                <a:solidFill>
                  <a:srgbClr val="202429"/>
                </a:solidFill>
                <a:latin typeface="Times New Roman"/>
                <a:cs typeface="Times New Roman"/>
              </a:rPr>
              <a:t> </a:t>
            </a:r>
            <a:r>
              <a:rPr sz="1000" spc="-35">
                <a:solidFill>
                  <a:srgbClr val="202429"/>
                </a:solidFill>
                <a:latin typeface="Tahoma"/>
                <a:cs typeface="Tahoma"/>
              </a:rPr>
              <a:t>K-</a:t>
            </a:r>
            <a:r>
              <a:rPr sz="1000" spc="-25">
                <a:solidFill>
                  <a:srgbClr val="202429"/>
                </a:solidFill>
                <a:latin typeface="Tahoma"/>
                <a:cs typeface="Tahoma"/>
              </a:rPr>
              <a:t>means</a:t>
            </a:r>
            <a:r>
              <a:rPr sz="1000">
                <a:solidFill>
                  <a:srgbClr val="202429"/>
                </a:solidFill>
                <a:latin typeface="Tahoma"/>
                <a:cs typeface="Tahoma"/>
              </a:rPr>
              <a:t> </a:t>
            </a:r>
            <a:r>
              <a:rPr sz="1000" spc="-30">
                <a:solidFill>
                  <a:srgbClr val="202429"/>
                </a:solidFill>
                <a:latin typeface="Tahoma"/>
                <a:cs typeface="Tahoma"/>
              </a:rPr>
              <a:t>clustering</a:t>
            </a:r>
            <a:r>
              <a:rPr sz="1000">
                <a:solidFill>
                  <a:srgbClr val="202429"/>
                </a:solidFill>
                <a:latin typeface="Tahoma"/>
                <a:cs typeface="Tahoma"/>
              </a:rPr>
              <a:t> </a:t>
            </a:r>
            <a:r>
              <a:rPr sz="1000" i="1">
                <a:solidFill>
                  <a:srgbClr val="202429"/>
                </a:solidFill>
                <a:latin typeface="Times New Roman"/>
                <a:cs typeface="Times New Roman"/>
              </a:rPr>
              <a:t>→</a:t>
            </a:r>
            <a:r>
              <a:rPr sz="1000" i="1" spc="65">
                <a:solidFill>
                  <a:srgbClr val="202429"/>
                </a:solidFill>
                <a:latin typeface="Times New Roman"/>
                <a:cs typeface="Times New Roman"/>
              </a:rPr>
              <a:t> </a:t>
            </a:r>
            <a:r>
              <a:rPr sz="1000" spc="-10">
                <a:solidFill>
                  <a:srgbClr val="202429"/>
                </a:solidFill>
                <a:latin typeface="Tahoma"/>
                <a:cs typeface="Tahoma"/>
              </a:rPr>
              <a:t>Abstractive </a:t>
            </a:r>
            <a:r>
              <a:rPr sz="1000" spc="-40">
                <a:solidFill>
                  <a:srgbClr val="202429"/>
                </a:solidFill>
                <a:latin typeface="Tahoma"/>
                <a:cs typeface="Tahoma"/>
              </a:rPr>
              <a:t>summarisation </a:t>
            </a:r>
            <a:r>
              <a:rPr sz="1000">
                <a:solidFill>
                  <a:srgbClr val="202429"/>
                </a:solidFill>
                <a:latin typeface="Tahoma"/>
                <a:cs typeface="Tahoma"/>
              </a:rPr>
              <a:t>with</a:t>
            </a:r>
            <a:r>
              <a:rPr sz="1000" spc="-25">
                <a:solidFill>
                  <a:srgbClr val="202429"/>
                </a:solidFill>
                <a:latin typeface="Tahoma"/>
                <a:cs typeface="Tahoma"/>
              </a:rPr>
              <a:t> </a:t>
            </a:r>
            <a:r>
              <a:rPr sz="1000" b="1" spc="-20">
                <a:solidFill>
                  <a:srgbClr val="202429"/>
                </a:solidFill>
                <a:latin typeface="Arial"/>
                <a:cs typeface="Arial"/>
              </a:rPr>
              <a:t>BART</a:t>
            </a:r>
            <a:endParaRPr sz="1000">
              <a:latin typeface="Arial"/>
              <a:cs typeface="Arial"/>
            </a:endParaRPr>
          </a:p>
          <a:p>
            <a:pPr marL="12700">
              <a:lnSpc>
                <a:spcPct val="100000"/>
              </a:lnSpc>
              <a:spcBef>
                <a:spcPts val="484"/>
              </a:spcBef>
            </a:pPr>
            <a:r>
              <a:rPr sz="1000" spc="-10">
                <a:solidFill>
                  <a:srgbClr val="6C757C"/>
                </a:solidFill>
                <a:latin typeface="Tahoma"/>
                <a:cs typeface="Tahoma"/>
              </a:rPr>
              <a:t>Oﬄine</a:t>
            </a:r>
            <a:r>
              <a:rPr sz="1000" spc="20">
                <a:solidFill>
                  <a:srgbClr val="6C757C"/>
                </a:solidFill>
                <a:latin typeface="Tahoma"/>
                <a:cs typeface="Tahoma"/>
              </a:rPr>
              <a:t> </a:t>
            </a:r>
            <a:r>
              <a:rPr sz="1000" spc="-35">
                <a:solidFill>
                  <a:srgbClr val="6C757C"/>
                </a:solidFill>
                <a:latin typeface="Tahoma"/>
                <a:cs typeface="Tahoma"/>
              </a:rPr>
              <a:t>models</a:t>
            </a:r>
            <a:r>
              <a:rPr sz="1000" spc="25">
                <a:solidFill>
                  <a:srgbClr val="6C757C"/>
                </a:solidFill>
                <a:latin typeface="Tahoma"/>
                <a:cs typeface="Tahoma"/>
              </a:rPr>
              <a:t> </a:t>
            </a:r>
            <a:r>
              <a:rPr sz="1000" spc="-60">
                <a:solidFill>
                  <a:srgbClr val="6C757C"/>
                </a:solidFill>
                <a:latin typeface="Tahoma"/>
                <a:cs typeface="Tahoma"/>
              </a:rPr>
              <a:t>ensure</a:t>
            </a:r>
            <a:r>
              <a:rPr sz="1000" spc="25">
                <a:solidFill>
                  <a:srgbClr val="6C757C"/>
                </a:solidFill>
                <a:latin typeface="Tahoma"/>
                <a:cs typeface="Tahoma"/>
              </a:rPr>
              <a:t> </a:t>
            </a:r>
            <a:r>
              <a:rPr sz="1000">
                <a:solidFill>
                  <a:srgbClr val="6C757C"/>
                </a:solidFill>
                <a:latin typeface="Tahoma"/>
                <a:cs typeface="Tahoma"/>
              </a:rPr>
              <a:t>GDPR</a:t>
            </a:r>
            <a:r>
              <a:rPr sz="1000" spc="30">
                <a:solidFill>
                  <a:srgbClr val="6C757C"/>
                </a:solidFill>
                <a:latin typeface="Tahoma"/>
                <a:cs typeface="Tahoma"/>
              </a:rPr>
              <a:t> </a:t>
            </a:r>
            <a:r>
              <a:rPr sz="1000" spc="-10">
                <a:solidFill>
                  <a:srgbClr val="6C757C"/>
                </a:solidFill>
                <a:latin typeface="Tahoma"/>
                <a:cs typeface="Tahoma"/>
              </a:rPr>
              <a:t>compliance</a:t>
            </a:r>
            <a:endParaRPr sz="1000">
              <a:latin typeface="Tahoma"/>
              <a:cs typeface="Tahoma"/>
            </a:endParaRPr>
          </a:p>
        </p:txBody>
      </p:sp>
      <p:sp>
        <p:nvSpPr>
          <p:cNvPr id="60" name="object 60"/>
          <p:cNvSpPr txBox="1"/>
          <p:nvPr/>
        </p:nvSpPr>
        <p:spPr>
          <a:xfrm>
            <a:off x="3020910" y="2006683"/>
            <a:ext cx="2195195" cy="996950"/>
          </a:xfrm>
          <a:prstGeom prst="rect">
            <a:avLst/>
          </a:prstGeom>
        </p:spPr>
        <p:txBody>
          <a:bodyPr vert="horz" wrap="square" lIns="0" tIns="60960" rIns="0" bIns="0" rtlCol="0">
            <a:spAutoFit/>
          </a:bodyPr>
          <a:lstStyle/>
          <a:p>
            <a:pPr marL="12700">
              <a:lnSpc>
                <a:spcPct val="100000"/>
              </a:lnSpc>
              <a:spcBef>
                <a:spcPts val="480"/>
              </a:spcBef>
            </a:pPr>
            <a:r>
              <a:rPr sz="1100" b="1" spc="-10">
                <a:solidFill>
                  <a:srgbClr val="202429"/>
                </a:solidFill>
                <a:latin typeface="Arial"/>
                <a:cs typeface="Arial"/>
              </a:rPr>
              <a:t>Best</a:t>
            </a:r>
            <a:r>
              <a:rPr sz="1100" b="1" spc="105">
                <a:solidFill>
                  <a:srgbClr val="202429"/>
                </a:solidFill>
                <a:latin typeface="Arial"/>
                <a:cs typeface="Arial"/>
              </a:rPr>
              <a:t> </a:t>
            </a:r>
            <a:r>
              <a:rPr sz="1100" b="1" spc="-30">
                <a:solidFill>
                  <a:srgbClr val="202429"/>
                </a:solidFill>
                <a:latin typeface="Arial"/>
                <a:cs typeface="Arial"/>
              </a:rPr>
              <a:t>model</a:t>
            </a:r>
            <a:r>
              <a:rPr sz="1100" b="1" spc="105">
                <a:solidFill>
                  <a:srgbClr val="202429"/>
                </a:solidFill>
                <a:latin typeface="Arial"/>
                <a:cs typeface="Arial"/>
              </a:rPr>
              <a:t> </a:t>
            </a:r>
            <a:r>
              <a:rPr sz="1100" b="1">
                <a:solidFill>
                  <a:srgbClr val="202429"/>
                </a:solidFill>
                <a:latin typeface="Arial"/>
                <a:cs typeface="Arial"/>
              </a:rPr>
              <a:t>(BART)</a:t>
            </a:r>
            <a:r>
              <a:rPr sz="1100" b="1" spc="105">
                <a:solidFill>
                  <a:srgbClr val="202429"/>
                </a:solidFill>
                <a:latin typeface="Arial"/>
                <a:cs typeface="Arial"/>
              </a:rPr>
              <a:t> </a:t>
            </a:r>
            <a:r>
              <a:rPr sz="1100" b="1" spc="-35">
                <a:solidFill>
                  <a:srgbClr val="202429"/>
                </a:solidFill>
                <a:latin typeface="Arial"/>
                <a:cs typeface="Arial"/>
              </a:rPr>
              <a:t>performance:</a:t>
            </a:r>
            <a:endParaRPr sz="1100">
              <a:latin typeface="Arial"/>
              <a:cs typeface="Arial"/>
            </a:endParaRPr>
          </a:p>
          <a:p>
            <a:pPr marL="12700">
              <a:lnSpc>
                <a:spcPct val="100000"/>
              </a:lnSpc>
              <a:spcBef>
                <a:spcPts val="355"/>
              </a:spcBef>
            </a:pPr>
            <a:r>
              <a:rPr sz="1000" spc="-45">
                <a:solidFill>
                  <a:srgbClr val="202429"/>
                </a:solidFill>
                <a:latin typeface="Tahoma"/>
                <a:cs typeface="Tahoma"/>
              </a:rPr>
              <a:t>Relevance:</a:t>
            </a:r>
            <a:r>
              <a:rPr sz="1000" spc="55">
                <a:solidFill>
                  <a:srgbClr val="202429"/>
                </a:solidFill>
                <a:latin typeface="Tahoma"/>
                <a:cs typeface="Tahoma"/>
              </a:rPr>
              <a:t> </a:t>
            </a:r>
            <a:r>
              <a:rPr sz="1000" b="1">
                <a:solidFill>
                  <a:srgbClr val="202429"/>
                </a:solidFill>
                <a:latin typeface="Arial"/>
                <a:cs typeface="Arial"/>
              </a:rPr>
              <a:t>0.922</a:t>
            </a:r>
            <a:r>
              <a:rPr sz="1000" b="1" spc="20">
                <a:solidFill>
                  <a:srgbClr val="202429"/>
                </a:solidFill>
                <a:latin typeface="Arial"/>
                <a:cs typeface="Arial"/>
              </a:rPr>
              <a:t> </a:t>
            </a:r>
            <a:r>
              <a:rPr sz="1000" spc="-114">
                <a:solidFill>
                  <a:srgbClr val="202429"/>
                </a:solidFill>
                <a:latin typeface="Tahoma"/>
                <a:cs typeface="Tahoma"/>
              </a:rPr>
              <a:t>|</a:t>
            </a:r>
            <a:r>
              <a:rPr sz="1000" spc="15">
                <a:solidFill>
                  <a:srgbClr val="202429"/>
                </a:solidFill>
                <a:latin typeface="Tahoma"/>
                <a:cs typeface="Tahoma"/>
              </a:rPr>
              <a:t> </a:t>
            </a:r>
            <a:r>
              <a:rPr sz="1000" spc="-45">
                <a:solidFill>
                  <a:srgbClr val="202429"/>
                </a:solidFill>
                <a:latin typeface="Tahoma"/>
                <a:cs typeface="Tahoma"/>
              </a:rPr>
              <a:t>Coherence:</a:t>
            </a:r>
            <a:r>
              <a:rPr sz="1000" spc="90">
                <a:solidFill>
                  <a:srgbClr val="202429"/>
                </a:solidFill>
                <a:latin typeface="Tahoma"/>
                <a:cs typeface="Tahoma"/>
              </a:rPr>
              <a:t> </a:t>
            </a:r>
            <a:r>
              <a:rPr sz="1000" b="1">
                <a:solidFill>
                  <a:srgbClr val="202429"/>
                </a:solidFill>
                <a:latin typeface="Arial"/>
                <a:cs typeface="Arial"/>
              </a:rPr>
              <a:t>0.794</a:t>
            </a:r>
            <a:r>
              <a:rPr sz="1000" b="1" spc="20">
                <a:solidFill>
                  <a:srgbClr val="202429"/>
                </a:solidFill>
                <a:latin typeface="Arial"/>
                <a:cs typeface="Arial"/>
              </a:rPr>
              <a:t> </a:t>
            </a:r>
            <a:r>
              <a:rPr sz="1000" spc="-50">
                <a:solidFill>
                  <a:srgbClr val="202429"/>
                </a:solidFill>
                <a:latin typeface="Tahoma"/>
                <a:cs typeface="Tahoma"/>
              </a:rPr>
              <a:t>|</a:t>
            </a:r>
            <a:endParaRPr sz="1000">
              <a:latin typeface="Tahoma"/>
              <a:cs typeface="Tahoma"/>
            </a:endParaRPr>
          </a:p>
          <a:p>
            <a:pPr marL="12700">
              <a:lnSpc>
                <a:spcPct val="100000"/>
              </a:lnSpc>
              <a:spcBef>
                <a:spcPts val="155"/>
              </a:spcBef>
            </a:pPr>
            <a:r>
              <a:rPr sz="1000" spc="-20">
                <a:solidFill>
                  <a:srgbClr val="202429"/>
                </a:solidFill>
                <a:latin typeface="Tahoma"/>
                <a:cs typeface="Tahoma"/>
              </a:rPr>
              <a:t>Diversity:</a:t>
            </a:r>
            <a:r>
              <a:rPr sz="1000" spc="35">
                <a:solidFill>
                  <a:srgbClr val="202429"/>
                </a:solidFill>
                <a:latin typeface="Tahoma"/>
                <a:cs typeface="Tahoma"/>
              </a:rPr>
              <a:t> </a:t>
            </a:r>
            <a:r>
              <a:rPr sz="1000" b="1" spc="-10">
                <a:solidFill>
                  <a:srgbClr val="202429"/>
                </a:solidFill>
                <a:latin typeface="Arial"/>
                <a:cs typeface="Arial"/>
              </a:rPr>
              <a:t>0.806</a:t>
            </a:r>
            <a:endParaRPr sz="1000">
              <a:latin typeface="Arial"/>
              <a:cs typeface="Arial"/>
            </a:endParaRPr>
          </a:p>
          <a:p>
            <a:pPr marL="12700" marR="140970">
              <a:lnSpc>
                <a:spcPct val="112900"/>
              </a:lnSpc>
              <a:spcBef>
                <a:spcPts val="330"/>
              </a:spcBef>
            </a:pPr>
            <a:r>
              <a:rPr sz="1000" spc="-25">
                <a:solidFill>
                  <a:srgbClr val="6C757C"/>
                </a:solidFill>
                <a:latin typeface="Tahoma"/>
                <a:cs typeface="Tahoma"/>
              </a:rPr>
              <a:t>Dataset:</a:t>
            </a:r>
            <a:r>
              <a:rPr sz="1000" spc="50">
                <a:solidFill>
                  <a:srgbClr val="6C757C"/>
                </a:solidFill>
                <a:latin typeface="Tahoma"/>
                <a:cs typeface="Tahoma"/>
              </a:rPr>
              <a:t> </a:t>
            </a:r>
            <a:r>
              <a:rPr sz="1000" spc="-40">
                <a:solidFill>
                  <a:srgbClr val="6C757C"/>
                </a:solidFill>
                <a:latin typeface="Tahoma"/>
                <a:cs typeface="Tahoma"/>
              </a:rPr>
              <a:t>188</a:t>
            </a:r>
            <a:r>
              <a:rPr sz="1000" spc="-35">
                <a:solidFill>
                  <a:srgbClr val="6C757C"/>
                </a:solidFill>
                <a:latin typeface="Tahoma"/>
                <a:cs typeface="Tahoma"/>
              </a:rPr>
              <a:t> reports,</a:t>
            </a:r>
            <a:r>
              <a:rPr sz="1000" spc="-40">
                <a:solidFill>
                  <a:srgbClr val="6C757C"/>
                </a:solidFill>
                <a:latin typeface="Tahoma"/>
                <a:cs typeface="Tahoma"/>
              </a:rPr>
              <a:t> 3,760</a:t>
            </a:r>
            <a:r>
              <a:rPr sz="1000" spc="-35">
                <a:solidFill>
                  <a:srgbClr val="6C757C"/>
                </a:solidFill>
                <a:latin typeface="Tahoma"/>
                <a:cs typeface="Tahoma"/>
              </a:rPr>
              <a:t> </a:t>
            </a:r>
            <a:r>
              <a:rPr sz="1000" spc="-25">
                <a:solidFill>
                  <a:srgbClr val="6C757C"/>
                </a:solidFill>
                <a:latin typeface="Tahoma"/>
                <a:cs typeface="Tahoma"/>
              </a:rPr>
              <a:t>annotated </a:t>
            </a:r>
            <a:r>
              <a:rPr sz="1000" spc="-50">
                <a:solidFill>
                  <a:srgbClr val="6C757C"/>
                </a:solidFill>
                <a:latin typeface="Tahoma"/>
                <a:cs typeface="Tahoma"/>
              </a:rPr>
              <a:t>sentences</a:t>
            </a:r>
            <a:r>
              <a:rPr sz="1000" spc="-30">
                <a:solidFill>
                  <a:srgbClr val="6C757C"/>
                </a:solidFill>
                <a:latin typeface="Tahoma"/>
                <a:cs typeface="Tahoma"/>
              </a:rPr>
              <a:t> </a:t>
            </a:r>
            <a:r>
              <a:rPr sz="1000" spc="-40">
                <a:solidFill>
                  <a:srgbClr val="6C757C"/>
                </a:solidFill>
                <a:latin typeface="Tahoma"/>
                <a:cs typeface="Tahoma"/>
              </a:rPr>
              <a:t>across </a:t>
            </a:r>
            <a:r>
              <a:rPr sz="1000" spc="-20">
                <a:solidFill>
                  <a:srgbClr val="6C757C"/>
                </a:solidFill>
                <a:latin typeface="Tahoma"/>
                <a:cs typeface="Tahoma"/>
              </a:rPr>
              <a:t>27</a:t>
            </a:r>
            <a:r>
              <a:rPr sz="1000" spc="-30">
                <a:solidFill>
                  <a:srgbClr val="6C757C"/>
                </a:solidFill>
                <a:latin typeface="Tahoma"/>
                <a:cs typeface="Tahoma"/>
              </a:rPr>
              <a:t> </a:t>
            </a:r>
            <a:r>
              <a:rPr sz="1000" spc="-10">
                <a:solidFill>
                  <a:srgbClr val="6C757C"/>
                </a:solidFill>
                <a:latin typeface="Tahoma"/>
                <a:cs typeface="Tahoma"/>
              </a:rPr>
              <a:t>concepts</a:t>
            </a:r>
            <a:endParaRPr sz="1000">
              <a:latin typeface="Tahoma"/>
              <a:cs typeface="Tahoma"/>
            </a:endParaRPr>
          </a:p>
        </p:txBody>
      </p:sp>
      <p:sp>
        <p:nvSpPr>
          <p:cNvPr id="61" name="object 61"/>
          <p:cNvSpPr/>
          <p:nvPr/>
        </p:nvSpPr>
        <p:spPr>
          <a:xfrm>
            <a:off x="0" y="3060028"/>
            <a:ext cx="5760085" cy="0"/>
          </a:xfrm>
          <a:custGeom>
            <a:avLst/>
            <a:gdLst/>
            <a:ahLst/>
            <a:cxnLst/>
            <a:rect l="l" t="t" r="r" b="b"/>
            <a:pathLst>
              <a:path w="5760085">
                <a:moveTo>
                  <a:pt x="0" y="0"/>
                </a:moveTo>
                <a:lnTo>
                  <a:pt x="5760073" y="0"/>
                </a:lnTo>
              </a:path>
            </a:pathLst>
          </a:custGeom>
          <a:ln w="6326">
            <a:solidFill>
              <a:srgbClr val="CED3DA"/>
            </a:solidFill>
          </a:ln>
        </p:spPr>
        <p:txBody>
          <a:bodyPr wrap="square" lIns="0" tIns="0" rIns="0" bIns="0" rtlCol="0"/>
          <a:lstStyle/>
          <a:p>
            <a:endParaRPr/>
          </a:p>
        </p:txBody>
      </p:sp>
      <p:sp>
        <p:nvSpPr>
          <p:cNvPr id="66" name="Slide Number Placeholder 65">
            <a:extLst>
              <a:ext uri="{FF2B5EF4-FFF2-40B4-BE49-F238E27FC236}">
                <a16:creationId xmlns:a16="http://schemas.microsoft.com/office/drawing/2014/main" id="{2141B512-FB96-796B-7D0F-35B740B36837}"/>
              </a:ext>
            </a:extLst>
          </p:cNvPr>
          <p:cNvSpPr>
            <a:spLocks noGrp="1"/>
          </p:cNvSpPr>
          <p:nvPr>
            <p:ph type="sldNum" sz="quarter" idx="7"/>
          </p:nvPr>
        </p:nvSpPr>
        <p:spPr>
          <a:xfrm>
            <a:off x="5368886" y="3070861"/>
            <a:ext cx="388024" cy="173989"/>
          </a:xfrm>
        </p:spPr>
        <p:txBody>
          <a:bodyPr/>
          <a:lstStyle/>
          <a:p>
            <a:pPr marL="39370">
              <a:lnSpc>
                <a:spcPct val="100000"/>
              </a:lnSpc>
              <a:spcBef>
                <a:spcPts val="219"/>
              </a:spcBef>
            </a:pPr>
            <a:fld id="{81D60167-4931-47E6-BA6A-407CBD079E47}" type="slidenum">
              <a:rPr lang="en-GB" smtClean="0"/>
              <a:t>24</a:t>
            </a:fld>
            <a:r>
              <a:rPr lang="en-GB" spc="20"/>
              <a:t> </a:t>
            </a:r>
            <a:r>
              <a:rPr lang="en-GB" spc="120"/>
              <a:t>/</a:t>
            </a:r>
            <a:r>
              <a:rPr lang="en-GB" spc="25"/>
              <a:t> </a:t>
            </a:r>
            <a:r>
              <a:rPr lang="en-GB" spc="-25"/>
              <a:t>41</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49530" rIns="0" bIns="0" rtlCol="0">
            <a:spAutoFit/>
          </a:bodyPr>
          <a:lstStyle/>
          <a:p>
            <a:pPr marL="99060">
              <a:lnSpc>
                <a:spcPct val="100000"/>
              </a:lnSpc>
              <a:spcBef>
                <a:spcPts val="390"/>
              </a:spcBef>
            </a:pPr>
            <a:r>
              <a:rPr spc="-30"/>
              <a:t>Summarisation</a:t>
            </a:r>
            <a:r>
              <a:rPr spc="155"/>
              <a:t> </a:t>
            </a:r>
            <a:r>
              <a:t>Dataset</a:t>
            </a:r>
            <a:r>
              <a:rPr spc="155"/>
              <a:t> </a:t>
            </a:r>
            <a:r>
              <a:rPr spc="-10"/>
              <a:t>Composition</a:t>
            </a:r>
          </a:p>
          <a:p>
            <a:pPr marL="99060">
              <a:lnSpc>
                <a:spcPct val="100000"/>
              </a:lnSpc>
              <a:spcBef>
                <a:spcPts val="195"/>
              </a:spcBef>
            </a:pPr>
            <a:r>
              <a:rPr sz="1100" b="0" spc="-50">
                <a:solidFill>
                  <a:srgbClr val="6C757C"/>
                </a:solidFill>
                <a:latin typeface="Tahoma"/>
                <a:cs typeface="Tahoma"/>
              </a:rPr>
              <a:t>3,760</a:t>
            </a:r>
            <a:r>
              <a:rPr sz="1100" b="0" spc="-25">
                <a:solidFill>
                  <a:srgbClr val="6C757C"/>
                </a:solidFill>
                <a:latin typeface="Tahoma"/>
                <a:cs typeface="Tahoma"/>
              </a:rPr>
              <a:t> </a:t>
            </a:r>
            <a:r>
              <a:rPr sz="1100" b="0" spc="-40">
                <a:solidFill>
                  <a:srgbClr val="6C757C"/>
                </a:solidFill>
                <a:latin typeface="Tahoma"/>
                <a:cs typeface="Tahoma"/>
              </a:rPr>
              <a:t>annotated</a:t>
            </a:r>
            <a:r>
              <a:rPr sz="1100" b="0" spc="-25">
                <a:solidFill>
                  <a:srgbClr val="6C757C"/>
                </a:solidFill>
                <a:latin typeface="Tahoma"/>
                <a:cs typeface="Tahoma"/>
              </a:rPr>
              <a:t> </a:t>
            </a:r>
            <a:r>
              <a:rPr sz="1100" b="0" spc="-55">
                <a:solidFill>
                  <a:srgbClr val="6C757C"/>
                </a:solidFill>
                <a:latin typeface="Tahoma"/>
                <a:cs typeface="Tahoma"/>
              </a:rPr>
              <a:t>sentences</a:t>
            </a:r>
            <a:r>
              <a:rPr sz="1100" b="0" spc="-15">
                <a:solidFill>
                  <a:srgbClr val="6C757C"/>
                </a:solidFill>
                <a:latin typeface="Tahoma"/>
                <a:cs typeface="Tahoma"/>
              </a:rPr>
              <a:t> </a:t>
            </a:r>
            <a:r>
              <a:rPr sz="1100" b="0" spc="-50">
                <a:solidFill>
                  <a:srgbClr val="6C757C"/>
                </a:solidFill>
                <a:latin typeface="Tahoma"/>
                <a:cs typeface="Tahoma"/>
              </a:rPr>
              <a:t>across</a:t>
            </a:r>
            <a:r>
              <a:rPr sz="1100" b="0" spc="-25">
                <a:solidFill>
                  <a:srgbClr val="6C757C"/>
                </a:solidFill>
                <a:latin typeface="Tahoma"/>
                <a:cs typeface="Tahoma"/>
              </a:rPr>
              <a:t> </a:t>
            </a:r>
            <a:r>
              <a:rPr sz="1100" b="0" spc="-20">
                <a:solidFill>
                  <a:srgbClr val="6C757C"/>
                </a:solidFill>
                <a:latin typeface="Tahoma"/>
                <a:cs typeface="Tahoma"/>
              </a:rPr>
              <a:t>27 </a:t>
            </a:r>
            <a:r>
              <a:rPr sz="1100" b="0" spc="-45">
                <a:solidFill>
                  <a:srgbClr val="6C757C"/>
                </a:solidFill>
                <a:latin typeface="Tahoma"/>
                <a:cs typeface="Tahoma"/>
              </a:rPr>
              <a:t>human</a:t>
            </a:r>
            <a:r>
              <a:rPr sz="1100" b="0" spc="-20">
                <a:solidFill>
                  <a:srgbClr val="6C757C"/>
                </a:solidFill>
                <a:latin typeface="Tahoma"/>
                <a:cs typeface="Tahoma"/>
              </a:rPr>
              <a:t> </a:t>
            </a:r>
            <a:r>
              <a:rPr sz="1100" b="0" spc="-30">
                <a:solidFill>
                  <a:srgbClr val="6C757C"/>
                </a:solidFill>
                <a:latin typeface="Tahoma"/>
                <a:cs typeface="Tahoma"/>
              </a:rPr>
              <a:t>factors</a:t>
            </a:r>
            <a:r>
              <a:rPr sz="1100" b="0" spc="-20">
                <a:solidFill>
                  <a:srgbClr val="6C757C"/>
                </a:solidFill>
                <a:latin typeface="Tahoma"/>
                <a:cs typeface="Tahoma"/>
              </a:rPr>
              <a:t> </a:t>
            </a:r>
            <a:r>
              <a:rPr sz="1100" b="0" spc="-25">
                <a:solidFill>
                  <a:srgbClr val="6C757C"/>
                </a:solidFill>
                <a:latin typeface="Tahoma"/>
                <a:cs typeface="Tahoma"/>
              </a:rPr>
              <a:t>concepts</a:t>
            </a:r>
            <a:endParaRPr sz="1100">
              <a:latin typeface="Tahoma"/>
              <a:cs typeface="Tahoma"/>
            </a:endParaRPr>
          </a:p>
        </p:txBody>
      </p:sp>
      <p:sp>
        <p:nvSpPr>
          <p:cNvPr id="3" name="object 3"/>
          <p:cNvSpPr/>
          <p:nvPr/>
        </p:nvSpPr>
        <p:spPr>
          <a:xfrm>
            <a:off x="359994" y="631443"/>
            <a:ext cx="900430" cy="0"/>
          </a:xfrm>
          <a:custGeom>
            <a:avLst/>
            <a:gdLst/>
            <a:ahLst/>
            <a:cxnLst/>
            <a:rect l="l" t="t" r="r" b="b"/>
            <a:pathLst>
              <a:path w="900430">
                <a:moveTo>
                  <a:pt x="0" y="0"/>
                </a:moveTo>
                <a:lnTo>
                  <a:pt x="900010" y="0"/>
                </a:lnTo>
              </a:path>
            </a:pathLst>
          </a:custGeom>
          <a:ln w="18978">
            <a:solidFill>
              <a:srgbClr val="005F73"/>
            </a:solidFill>
          </a:ln>
        </p:spPr>
        <p:txBody>
          <a:bodyPr wrap="square" lIns="0" tIns="0" rIns="0" bIns="0" rtlCol="0"/>
          <a:lstStyle/>
          <a:p>
            <a:endParaRPr/>
          </a:p>
        </p:txBody>
      </p:sp>
      <p:sp>
        <p:nvSpPr>
          <p:cNvPr id="4" name="object 4"/>
          <p:cNvSpPr/>
          <p:nvPr/>
        </p:nvSpPr>
        <p:spPr>
          <a:xfrm>
            <a:off x="565810" y="773950"/>
            <a:ext cx="4628515" cy="0"/>
          </a:xfrm>
          <a:custGeom>
            <a:avLst/>
            <a:gdLst/>
            <a:ahLst/>
            <a:cxnLst/>
            <a:rect l="l" t="t" r="r" b="b"/>
            <a:pathLst>
              <a:path w="4628515">
                <a:moveTo>
                  <a:pt x="0" y="0"/>
                </a:moveTo>
                <a:lnTo>
                  <a:pt x="4628375" y="0"/>
                </a:lnTo>
              </a:path>
            </a:pathLst>
          </a:custGeom>
          <a:ln w="11083">
            <a:solidFill>
              <a:srgbClr val="202429"/>
            </a:solidFill>
          </a:ln>
        </p:spPr>
        <p:txBody>
          <a:bodyPr wrap="square" lIns="0" tIns="0" rIns="0" bIns="0" rtlCol="0"/>
          <a:lstStyle/>
          <a:p>
            <a:endParaRPr/>
          </a:p>
        </p:txBody>
      </p:sp>
      <p:sp>
        <p:nvSpPr>
          <p:cNvPr id="5" name="object 5"/>
          <p:cNvSpPr txBox="1"/>
          <p:nvPr/>
        </p:nvSpPr>
        <p:spPr>
          <a:xfrm>
            <a:off x="629030" y="789684"/>
            <a:ext cx="674370" cy="147320"/>
          </a:xfrm>
          <a:prstGeom prst="rect">
            <a:avLst/>
          </a:prstGeom>
        </p:spPr>
        <p:txBody>
          <a:bodyPr vert="horz" wrap="square" lIns="0" tIns="12065" rIns="0" bIns="0" rtlCol="0">
            <a:spAutoFit/>
          </a:bodyPr>
          <a:lstStyle/>
          <a:p>
            <a:pPr marL="12700">
              <a:lnSpc>
                <a:spcPct val="100000"/>
              </a:lnSpc>
              <a:spcBef>
                <a:spcPts val="95"/>
              </a:spcBef>
              <a:tabLst>
                <a:tab pos="278130" algn="l"/>
              </a:tabLst>
            </a:pPr>
            <a:r>
              <a:rPr sz="800" b="1" spc="-25">
                <a:solidFill>
                  <a:srgbClr val="202429"/>
                </a:solidFill>
                <a:latin typeface="Arial"/>
                <a:cs typeface="Arial"/>
              </a:rPr>
              <a:t>ID</a:t>
            </a:r>
            <a:r>
              <a:rPr sz="800" b="1">
                <a:solidFill>
                  <a:srgbClr val="202429"/>
                </a:solidFill>
                <a:latin typeface="Arial"/>
                <a:cs typeface="Arial"/>
              </a:rPr>
              <a:t>	</a:t>
            </a:r>
            <a:r>
              <a:rPr sz="800" b="1" spc="-25">
                <a:solidFill>
                  <a:srgbClr val="202429"/>
                </a:solidFill>
                <a:latin typeface="Arial"/>
                <a:cs typeface="Arial"/>
              </a:rPr>
              <a:t>Concept</a:t>
            </a:r>
            <a:endParaRPr sz="800">
              <a:latin typeface="Arial"/>
              <a:cs typeface="Arial"/>
            </a:endParaRPr>
          </a:p>
        </p:txBody>
      </p:sp>
      <p:sp>
        <p:nvSpPr>
          <p:cNvPr id="6" name="object 6"/>
          <p:cNvSpPr txBox="1"/>
          <p:nvPr/>
        </p:nvSpPr>
        <p:spPr>
          <a:xfrm>
            <a:off x="2875368" y="789684"/>
            <a:ext cx="274955" cy="147320"/>
          </a:xfrm>
          <a:prstGeom prst="rect">
            <a:avLst/>
          </a:prstGeom>
        </p:spPr>
        <p:txBody>
          <a:bodyPr vert="horz" wrap="square" lIns="0" tIns="12065" rIns="0" bIns="0" rtlCol="0">
            <a:spAutoFit/>
          </a:bodyPr>
          <a:lstStyle/>
          <a:p>
            <a:pPr marL="12700">
              <a:lnSpc>
                <a:spcPct val="100000"/>
              </a:lnSpc>
              <a:spcBef>
                <a:spcPts val="95"/>
              </a:spcBef>
            </a:pPr>
            <a:r>
              <a:rPr sz="800" b="1" spc="-25">
                <a:solidFill>
                  <a:srgbClr val="202429"/>
                </a:solidFill>
                <a:latin typeface="Arial"/>
                <a:cs typeface="Arial"/>
              </a:rPr>
              <a:t>Index</a:t>
            </a:r>
            <a:endParaRPr sz="800">
              <a:latin typeface="Arial"/>
              <a:cs typeface="Arial"/>
            </a:endParaRPr>
          </a:p>
        </p:txBody>
      </p:sp>
      <p:sp>
        <p:nvSpPr>
          <p:cNvPr id="7" name="object 7"/>
          <p:cNvSpPr txBox="1"/>
          <p:nvPr/>
        </p:nvSpPr>
        <p:spPr>
          <a:xfrm>
            <a:off x="3276707" y="789684"/>
            <a:ext cx="274955" cy="147320"/>
          </a:xfrm>
          <a:prstGeom prst="rect">
            <a:avLst/>
          </a:prstGeom>
        </p:spPr>
        <p:txBody>
          <a:bodyPr vert="horz" wrap="square" lIns="0" tIns="12065" rIns="0" bIns="0" rtlCol="0">
            <a:spAutoFit/>
          </a:bodyPr>
          <a:lstStyle/>
          <a:p>
            <a:pPr marL="12700">
              <a:lnSpc>
                <a:spcPct val="100000"/>
              </a:lnSpc>
              <a:spcBef>
                <a:spcPts val="95"/>
              </a:spcBef>
            </a:pPr>
            <a:r>
              <a:rPr sz="800" b="1" spc="-25">
                <a:solidFill>
                  <a:srgbClr val="202429"/>
                </a:solidFill>
                <a:latin typeface="Arial"/>
                <a:cs typeface="Arial"/>
              </a:rPr>
              <a:t>Label</a:t>
            </a:r>
            <a:endParaRPr sz="800">
              <a:latin typeface="Arial"/>
              <a:cs typeface="Arial"/>
            </a:endParaRPr>
          </a:p>
        </p:txBody>
      </p:sp>
      <p:sp>
        <p:nvSpPr>
          <p:cNvPr id="8" name="object 8"/>
          <p:cNvSpPr/>
          <p:nvPr/>
        </p:nvSpPr>
        <p:spPr>
          <a:xfrm>
            <a:off x="565810" y="967739"/>
            <a:ext cx="4628515" cy="0"/>
          </a:xfrm>
          <a:custGeom>
            <a:avLst/>
            <a:gdLst/>
            <a:ahLst/>
            <a:cxnLst/>
            <a:rect l="l" t="t" r="r" b="b"/>
            <a:pathLst>
              <a:path w="4628515">
                <a:moveTo>
                  <a:pt x="0" y="0"/>
                </a:moveTo>
                <a:lnTo>
                  <a:pt x="4628375" y="0"/>
                </a:lnTo>
              </a:path>
            </a:pathLst>
          </a:custGeom>
          <a:ln w="6927">
            <a:solidFill>
              <a:srgbClr val="202429"/>
            </a:solidFill>
          </a:ln>
        </p:spPr>
        <p:txBody>
          <a:bodyPr wrap="square" lIns="0" tIns="0" rIns="0" bIns="0" rtlCol="0"/>
          <a:lstStyle/>
          <a:p>
            <a:endParaRPr/>
          </a:p>
        </p:txBody>
      </p:sp>
      <p:sp>
        <p:nvSpPr>
          <p:cNvPr id="9" name="object 9"/>
          <p:cNvSpPr txBox="1"/>
          <p:nvPr/>
        </p:nvSpPr>
        <p:spPr>
          <a:xfrm>
            <a:off x="2946374" y="981403"/>
            <a:ext cx="133350" cy="1710055"/>
          </a:xfrm>
          <a:prstGeom prst="rect">
            <a:avLst/>
          </a:prstGeom>
        </p:spPr>
        <p:txBody>
          <a:bodyPr vert="horz" wrap="square" lIns="0" tIns="12065" rIns="0" bIns="0" rtlCol="0">
            <a:spAutoFit/>
          </a:bodyPr>
          <a:lstStyle/>
          <a:p>
            <a:pPr marL="39370">
              <a:lnSpc>
                <a:spcPts val="955"/>
              </a:lnSpc>
              <a:spcBef>
                <a:spcPts val="95"/>
              </a:spcBef>
            </a:pPr>
            <a:r>
              <a:rPr sz="800" spc="-50">
                <a:solidFill>
                  <a:srgbClr val="202429"/>
                </a:solidFill>
                <a:latin typeface="Tahoma"/>
                <a:cs typeface="Tahoma"/>
              </a:rPr>
              <a:t>2</a:t>
            </a:r>
            <a:endParaRPr sz="800">
              <a:latin typeface="Tahoma"/>
              <a:cs typeface="Tahoma"/>
            </a:endParaRPr>
          </a:p>
          <a:p>
            <a:pPr marL="39370">
              <a:lnSpc>
                <a:spcPts val="955"/>
              </a:lnSpc>
            </a:pPr>
            <a:r>
              <a:rPr sz="800" spc="-50">
                <a:solidFill>
                  <a:srgbClr val="202429"/>
                </a:solidFill>
                <a:latin typeface="Tahoma"/>
                <a:cs typeface="Tahoma"/>
              </a:rPr>
              <a:t>4</a:t>
            </a:r>
            <a:endParaRPr sz="800">
              <a:latin typeface="Tahoma"/>
              <a:cs typeface="Tahoma"/>
            </a:endParaRPr>
          </a:p>
          <a:p>
            <a:pPr marL="39370">
              <a:lnSpc>
                <a:spcPts val="955"/>
              </a:lnSpc>
              <a:spcBef>
                <a:spcPts val="935"/>
              </a:spcBef>
            </a:pPr>
            <a:r>
              <a:rPr sz="800" spc="-50">
                <a:solidFill>
                  <a:srgbClr val="202429"/>
                </a:solidFill>
                <a:latin typeface="Tahoma"/>
                <a:cs typeface="Tahoma"/>
              </a:rPr>
              <a:t>6</a:t>
            </a:r>
            <a:endParaRPr sz="800">
              <a:latin typeface="Tahoma"/>
              <a:cs typeface="Tahoma"/>
            </a:endParaRPr>
          </a:p>
          <a:p>
            <a:pPr marL="39370">
              <a:lnSpc>
                <a:spcPts val="944"/>
              </a:lnSpc>
            </a:pPr>
            <a:r>
              <a:rPr sz="800" spc="-50">
                <a:solidFill>
                  <a:srgbClr val="202429"/>
                </a:solidFill>
                <a:latin typeface="Tahoma"/>
                <a:cs typeface="Tahoma"/>
              </a:rPr>
              <a:t>8</a:t>
            </a:r>
            <a:endParaRPr sz="800">
              <a:latin typeface="Tahoma"/>
              <a:cs typeface="Tahoma"/>
            </a:endParaRPr>
          </a:p>
          <a:p>
            <a:pPr marL="12700">
              <a:lnSpc>
                <a:spcPts val="944"/>
              </a:lnSpc>
            </a:pPr>
            <a:r>
              <a:rPr sz="800" spc="-25">
                <a:solidFill>
                  <a:srgbClr val="202429"/>
                </a:solidFill>
                <a:latin typeface="Tahoma"/>
                <a:cs typeface="Tahoma"/>
              </a:rPr>
              <a:t>10</a:t>
            </a:r>
            <a:endParaRPr sz="800">
              <a:latin typeface="Tahoma"/>
              <a:cs typeface="Tahoma"/>
            </a:endParaRPr>
          </a:p>
          <a:p>
            <a:pPr marL="12700">
              <a:lnSpc>
                <a:spcPts val="944"/>
              </a:lnSpc>
            </a:pPr>
            <a:r>
              <a:rPr sz="800" spc="-25">
                <a:solidFill>
                  <a:srgbClr val="202429"/>
                </a:solidFill>
                <a:latin typeface="Tahoma"/>
                <a:cs typeface="Tahoma"/>
              </a:rPr>
              <a:t>12</a:t>
            </a:r>
            <a:endParaRPr sz="800">
              <a:latin typeface="Tahoma"/>
              <a:cs typeface="Tahoma"/>
            </a:endParaRPr>
          </a:p>
          <a:p>
            <a:pPr marL="12700">
              <a:lnSpc>
                <a:spcPts val="944"/>
              </a:lnSpc>
            </a:pPr>
            <a:r>
              <a:rPr sz="800" spc="-25">
                <a:solidFill>
                  <a:srgbClr val="202429"/>
                </a:solidFill>
                <a:latin typeface="Tahoma"/>
                <a:cs typeface="Tahoma"/>
              </a:rPr>
              <a:t>14</a:t>
            </a:r>
            <a:endParaRPr sz="800">
              <a:latin typeface="Tahoma"/>
              <a:cs typeface="Tahoma"/>
            </a:endParaRPr>
          </a:p>
          <a:p>
            <a:pPr marL="12700">
              <a:lnSpc>
                <a:spcPts val="944"/>
              </a:lnSpc>
            </a:pPr>
            <a:r>
              <a:rPr sz="800" spc="-25">
                <a:solidFill>
                  <a:srgbClr val="202429"/>
                </a:solidFill>
                <a:latin typeface="Tahoma"/>
                <a:cs typeface="Tahoma"/>
              </a:rPr>
              <a:t>16</a:t>
            </a:r>
            <a:endParaRPr sz="800">
              <a:latin typeface="Tahoma"/>
              <a:cs typeface="Tahoma"/>
            </a:endParaRPr>
          </a:p>
          <a:p>
            <a:pPr marL="12700">
              <a:lnSpc>
                <a:spcPts val="944"/>
              </a:lnSpc>
            </a:pPr>
            <a:r>
              <a:rPr sz="800" spc="-25">
                <a:solidFill>
                  <a:srgbClr val="202429"/>
                </a:solidFill>
                <a:latin typeface="Tahoma"/>
                <a:cs typeface="Tahoma"/>
              </a:rPr>
              <a:t>18</a:t>
            </a:r>
            <a:endParaRPr sz="800">
              <a:latin typeface="Tahoma"/>
              <a:cs typeface="Tahoma"/>
            </a:endParaRPr>
          </a:p>
          <a:p>
            <a:pPr marL="12700">
              <a:lnSpc>
                <a:spcPts val="944"/>
              </a:lnSpc>
            </a:pPr>
            <a:r>
              <a:rPr sz="800" spc="-25">
                <a:solidFill>
                  <a:srgbClr val="202429"/>
                </a:solidFill>
                <a:latin typeface="Tahoma"/>
                <a:cs typeface="Tahoma"/>
              </a:rPr>
              <a:t>20</a:t>
            </a:r>
            <a:endParaRPr sz="800">
              <a:latin typeface="Tahoma"/>
              <a:cs typeface="Tahoma"/>
            </a:endParaRPr>
          </a:p>
          <a:p>
            <a:pPr marL="12700">
              <a:lnSpc>
                <a:spcPts val="944"/>
              </a:lnSpc>
            </a:pPr>
            <a:r>
              <a:rPr sz="800" spc="-25">
                <a:solidFill>
                  <a:srgbClr val="202429"/>
                </a:solidFill>
                <a:latin typeface="Tahoma"/>
                <a:cs typeface="Tahoma"/>
              </a:rPr>
              <a:t>22</a:t>
            </a:r>
            <a:endParaRPr sz="800">
              <a:latin typeface="Tahoma"/>
              <a:cs typeface="Tahoma"/>
            </a:endParaRPr>
          </a:p>
          <a:p>
            <a:pPr marL="12700">
              <a:lnSpc>
                <a:spcPts val="944"/>
              </a:lnSpc>
            </a:pPr>
            <a:r>
              <a:rPr sz="800" spc="-25">
                <a:solidFill>
                  <a:srgbClr val="202429"/>
                </a:solidFill>
                <a:latin typeface="Tahoma"/>
                <a:cs typeface="Tahoma"/>
              </a:rPr>
              <a:t>24</a:t>
            </a:r>
            <a:endParaRPr sz="800">
              <a:latin typeface="Tahoma"/>
              <a:cs typeface="Tahoma"/>
            </a:endParaRPr>
          </a:p>
          <a:p>
            <a:pPr marL="12700">
              <a:lnSpc>
                <a:spcPts val="955"/>
              </a:lnSpc>
            </a:pPr>
            <a:r>
              <a:rPr sz="800" spc="-25">
                <a:solidFill>
                  <a:srgbClr val="202429"/>
                </a:solidFill>
                <a:latin typeface="Tahoma"/>
                <a:cs typeface="Tahoma"/>
              </a:rPr>
              <a:t>26</a:t>
            </a:r>
            <a:endParaRPr sz="800">
              <a:latin typeface="Tahoma"/>
              <a:cs typeface="Tahoma"/>
            </a:endParaRPr>
          </a:p>
        </p:txBody>
      </p:sp>
      <p:sp>
        <p:nvSpPr>
          <p:cNvPr id="10" name="object 10"/>
          <p:cNvSpPr txBox="1"/>
          <p:nvPr/>
        </p:nvSpPr>
        <p:spPr>
          <a:xfrm>
            <a:off x="3276717" y="981403"/>
            <a:ext cx="1726564" cy="1710055"/>
          </a:xfrm>
          <a:prstGeom prst="rect">
            <a:avLst/>
          </a:prstGeom>
        </p:spPr>
        <p:txBody>
          <a:bodyPr vert="horz" wrap="square" lIns="0" tIns="12065" rIns="0" bIns="0" rtlCol="0">
            <a:spAutoFit/>
          </a:bodyPr>
          <a:lstStyle/>
          <a:p>
            <a:pPr marL="12700">
              <a:lnSpc>
                <a:spcPts val="955"/>
              </a:lnSpc>
              <a:spcBef>
                <a:spcPts val="95"/>
              </a:spcBef>
            </a:pPr>
            <a:r>
              <a:rPr sz="800">
                <a:solidFill>
                  <a:srgbClr val="202429"/>
                </a:solidFill>
                <a:latin typeface="Tahoma"/>
                <a:cs typeface="Tahoma"/>
              </a:rPr>
              <a:t>Antenatal</a:t>
            </a:r>
            <a:r>
              <a:rPr sz="800" spc="95">
                <a:solidFill>
                  <a:srgbClr val="202429"/>
                </a:solidFill>
                <a:latin typeface="Tahoma"/>
                <a:cs typeface="Tahoma"/>
              </a:rPr>
              <a:t> </a:t>
            </a:r>
            <a:r>
              <a:rPr sz="800" spc="-20">
                <a:solidFill>
                  <a:srgbClr val="202429"/>
                </a:solidFill>
                <a:latin typeface="Tahoma"/>
                <a:cs typeface="Tahoma"/>
              </a:rPr>
              <a:t>(69)</a:t>
            </a:r>
            <a:endParaRPr sz="800">
              <a:latin typeface="Tahoma"/>
              <a:cs typeface="Tahoma"/>
            </a:endParaRPr>
          </a:p>
          <a:p>
            <a:pPr marL="12700">
              <a:lnSpc>
                <a:spcPts val="955"/>
              </a:lnSpc>
            </a:pPr>
            <a:r>
              <a:rPr sz="800">
                <a:solidFill>
                  <a:srgbClr val="202429"/>
                </a:solidFill>
                <a:latin typeface="Tahoma"/>
                <a:cs typeface="Tahoma"/>
              </a:rPr>
              <a:t>COVID</a:t>
            </a:r>
            <a:r>
              <a:rPr sz="800" spc="215">
                <a:solidFill>
                  <a:srgbClr val="202429"/>
                </a:solidFill>
                <a:latin typeface="Tahoma"/>
                <a:cs typeface="Tahoma"/>
              </a:rPr>
              <a:t> </a:t>
            </a:r>
            <a:r>
              <a:rPr sz="800" spc="-10">
                <a:solidFill>
                  <a:srgbClr val="202429"/>
                </a:solidFill>
                <a:latin typeface="Tahoma"/>
                <a:cs typeface="Tahoma"/>
              </a:rPr>
              <a:t>(142)</a:t>
            </a:r>
            <a:endParaRPr sz="800">
              <a:latin typeface="Tahoma"/>
              <a:cs typeface="Tahoma"/>
            </a:endParaRPr>
          </a:p>
          <a:p>
            <a:pPr marL="12700">
              <a:lnSpc>
                <a:spcPts val="955"/>
              </a:lnSpc>
              <a:spcBef>
                <a:spcPts val="935"/>
              </a:spcBef>
            </a:pPr>
            <a:r>
              <a:rPr sz="800" b="1" spc="-30">
                <a:solidFill>
                  <a:srgbClr val="202429"/>
                </a:solidFill>
                <a:latin typeface="Arial"/>
                <a:cs typeface="Arial"/>
              </a:rPr>
              <a:t>Communication</a:t>
            </a:r>
            <a:r>
              <a:rPr sz="800" b="1" spc="90">
                <a:solidFill>
                  <a:srgbClr val="202429"/>
                </a:solidFill>
                <a:latin typeface="Arial"/>
                <a:cs typeface="Arial"/>
              </a:rPr>
              <a:t> </a:t>
            </a:r>
            <a:r>
              <a:rPr sz="800" b="1" spc="-10">
                <a:solidFill>
                  <a:srgbClr val="202429"/>
                </a:solidFill>
                <a:latin typeface="Arial"/>
                <a:cs typeface="Arial"/>
              </a:rPr>
              <a:t>(477)</a:t>
            </a:r>
            <a:endParaRPr sz="800">
              <a:latin typeface="Arial"/>
              <a:cs typeface="Arial"/>
            </a:endParaRPr>
          </a:p>
          <a:p>
            <a:pPr marL="12700">
              <a:lnSpc>
                <a:spcPts val="944"/>
              </a:lnSpc>
            </a:pPr>
            <a:r>
              <a:rPr sz="800">
                <a:solidFill>
                  <a:srgbClr val="202429"/>
                </a:solidFill>
                <a:latin typeface="Tahoma"/>
                <a:cs typeface="Tahoma"/>
              </a:rPr>
              <a:t>Dispensing,</a:t>
            </a:r>
            <a:r>
              <a:rPr sz="800" spc="5">
                <a:solidFill>
                  <a:srgbClr val="202429"/>
                </a:solidFill>
                <a:latin typeface="Tahoma"/>
                <a:cs typeface="Tahoma"/>
              </a:rPr>
              <a:t> </a:t>
            </a:r>
            <a:r>
              <a:rPr sz="800" spc="-10">
                <a:solidFill>
                  <a:srgbClr val="202429"/>
                </a:solidFill>
                <a:latin typeface="Tahoma"/>
                <a:cs typeface="Tahoma"/>
              </a:rPr>
              <a:t>administering</a:t>
            </a:r>
            <a:r>
              <a:rPr sz="800" spc="10">
                <a:solidFill>
                  <a:srgbClr val="202429"/>
                </a:solidFill>
                <a:latin typeface="Tahoma"/>
                <a:cs typeface="Tahoma"/>
              </a:rPr>
              <a:t> </a:t>
            </a:r>
            <a:r>
              <a:rPr sz="800" spc="-20">
                <a:solidFill>
                  <a:srgbClr val="202429"/>
                </a:solidFill>
                <a:latin typeface="Tahoma"/>
                <a:cs typeface="Tahoma"/>
              </a:rPr>
              <a:t>(62)</a:t>
            </a:r>
            <a:endParaRPr sz="800">
              <a:latin typeface="Tahoma"/>
              <a:cs typeface="Tahoma"/>
            </a:endParaRPr>
          </a:p>
          <a:p>
            <a:pPr marL="12700">
              <a:lnSpc>
                <a:spcPts val="944"/>
              </a:lnSpc>
            </a:pPr>
            <a:r>
              <a:rPr sz="800">
                <a:solidFill>
                  <a:srgbClr val="202429"/>
                </a:solidFill>
                <a:latin typeface="Tahoma"/>
                <a:cs typeface="Tahoma"/>
              </a:rPr>
              <a:t>Escalation/referral</a:t>
            </a:r>
            <a:r>
              <a:rPr sz="800" spc="55">
                <a:solidFill>
                  <a:srgbClr val="202429"/>
                </a:solidFill>
                <a:latin typeface="Tahoma"/>
                <a:cs typeface="Tahoma"/>
              </a:rPr>
              <a:t> </a:t>
            </a:r>
            <a:r>
              <a:rPr sz="800">
                <a:solidFill>
                  <a:srgbClr val="202429"/>
                </a:solidFill>
                <a:latin typeface="Tahoma"/>
                <a:cs typeface="Tahoma"/>
              </a:rPr>
              <a:t>factor</a:t>
            </a:r>
            <a:r>
              <a:rPr sz="800" spc="60">
                <a:solidFill>
                  <a:srgbClr val="202429"/>
                </a:solidFill>
                <a:latin typeface="Tahoma"/>
                <a:cs typeface="Tahoma"/>
              </a:rPr>
              <a:t> </a:t>
            </a:r>
            <a:r>
              <a:rPr sz="800" spc="-10">
                <a:solidFill>
                  <a:srgbClr val="202429"/>
                </a:solidFill>
                <a:latin typeface="Tahoma"/>
                <a:cs typeface="Tahoma"/>
              </a:rPr>
              <a:t>(158)</a:t>
            </a:r>
            <a:endParaRPr sz="800">
              <a:latin typeface="Tahoma"/>
              <a:cs typeface="Tahoma"/>
            </a:endParaRPr>
          </a:p>
          <a:p>
            <a:pPr marL="12700">
              <a:lnSpc>
                <a:spcPts val="944"/>
              </a:lnSpc>
            </a:pPr>
            <a:r>
              <a:rPr sz="800" spc="-10">
                <a:solidFill>
                  <a:srgbClr val="202429"/>
                </a:solidFill>
                <a:latin typeface="Tahoma"/>
                <a:cs typeface="Tahoma"/>
              </a:rPr>
              <a:t>Interpretation</a:t>
            </a:r>
            <a:r>
              <a:rPr sz="800" spc="-5">
                <a:solidFill>
                  <a:srgbClr val="202429"/>
                </a:solidFill>
                <a:latin typeface="Tahoma"/>
                <a:cs typeface="Tahoma"/>
              </a:rPr>
              <a:t> </a:t>
            </a:r>
            <a:r>
              <a:rPr sz="800" spc="-10">
                <a:solidFill>
                  <a:srgbClr val="202429"/>
                </a:solidFill>
                <a:latin typeface="Tahoma"/>
                <a:cs typeface="Tahoma"/>
              </a:rPr>
              <a:t>(197)</a:t>
            </a:r>
            <a:endParaRPr sz="800">
              <a:latin typeface="Tahoma"/>
              <a:cs typeface="Tahoma"/>
            </a:endParaRPr>
          </a:p>
          <a:p>
            <a:pPr marL="12700">
              <a:lnSpc>
                <a:spcPts val="944"/>
              </a:lnSpc>
            </a:pPr>
            <a:r>
              <a:rPr sz="800">
                <a:solidFill>
                  <a:srgbClr val="202429"/>
                </a:solidFill>
                <a:latin typeface="Tahoma"/>
                <a:cs typeface="Tahoma"/>
              </a:rPr>
              <a:t>Local</a:t>
            </a:r>
            <a:r>
              <a:rPr sz="800" spc="45">
                <a:solidFill>
                  <a:srgbClr val="202429"/>
                </a:solidFill>
                <a:latin typeface="Tahoma"/>
                <a:cs typeface="Tahoma"/>
              </a:rPr>
              <a:t> </a:t>
            </a:r>
            <a:r>
              <a:rPr sz="800" spc="-10">
                <a:solidFill>
                  <a:srgbClr val="202429"/>
                </a:solidFill>
                <a:latin typeface="Tahoma"/>
                <a:cs typeface="Tahoma"/>
              </a:rPr>
              <a:t>guidance</a:t>
            </a:r>
            <a:r>
              <a:rPr sz="800" spc="50">
                <a:solidFill>
                  <a:srgbClr val="202429"/>
                </a:solidFill>
                <a:latin typeface="Tahoma"/>
                <a:cs typeface="Tahoma"/>
              </a:rPr>
              <a:t> </a:t>
            </a:r>
            <a:r>
              <a:rPr sz="800" spc="-20">
                <a:solidFill>
                  <a:srgbClr val="202429"/>
                </a:solidFill>
                <a:latin typeface="Tahoma"/>
                <a:cs typeface="Tahoma"/>
              </a:rPr>
              <a:t>(88)</a:t>
            </a:r>
            <a:endParaRPr sz="800">
              <a:latin typeface="Tahoma"/>
              <a:cs typeface="Tahoma"/>
            </a:endParaRPr>
          </a:p>
          <a:p>
            <a:pPr marL="12700" marR="228600">
              <a:lnSpc>
                <a:spcPts val="950"/>
              </a:lnSpc>
              <a:spcBef>
                <a:spcPts val="30"/>
              </a:spcBef>
            </a:pPr>
            <a:r>
              <a:rPr sz="800">
                <a:solidFill>
                  <a:srgbClr val="202429"/>
                </a:solidFill>
                <a:latin typeface="Tahoma"/>
                <a:cs typeface="Tahoma"/>
              </a:rPr>
              <a:t>National</a:t>
            </a:r>
            <a:r>
              <a:rPr sz="800" spc="25">
                <a:solidFill>
                  <a:srgbClr val="202429"/>
                </a:solidFill>
                <a:latin typeface="Tahoma"/>
                <a:cs typeface="Tahoma"/>
              </a:rPr>
              <a:t> </a:t>
            </a:r>
            <a:r>
              <a:rPr sz="800">
                <a:solidFill>
                  <a:srgbClr val="202429"/>
                </a:solidFill>
                <a:latin typeface="Tahoma"/>
                <a:cs typeface="Tahoma"/>
              </a:rPr>
              <a:t>and</a:t>
            </a:r>
            <a:r>
              <a:rPr sz="800" spc="30">
                <a:solidFill>
                  <a:srgbClr val="202429"/>
                </a:solidFill>
                <a:latin typeface="Tahoma"/>
                <a:cs typeface="Tahoma"/>
              </a:rPr>
              <a:t> </a:t>
            </a:r>
            <a:r>
              <a:rPr sz="800">
                <a:solidFill>
                  <a:srgbClr val="202429"/>
                </a:solidFill>
                <a:latin typeface="Tahoma"/>
                <a:cs typeface="Tahoma"/>
              </a:rPr>
              <a:t>local</a:t>
            </a:r>
            <a:r>
              <a:rPr sz="800" spc="30">
                <a:solidFill>
                  <a:srgbClr val="202429"/>
                </a:solidFill>
                <a:latin typeface="Tahoma"/>
                <a:cs typeface="Tahoma"/>
              </a:rPr>
              <a:t> </a:t>
            </a:r>
            <a:r>
              <a:rPr sz="800" spc="-10">
                <a:solidFill>
                  <a:srgbClr val="202429"/>
                </a:solidFill>
                <a:latin typeface="Tahoma"/>
                <a:cs typeface="Tahoma"/>
              </a:rPr>
              <a:t>guidance</a:t>
            </a:r>
            <a:r>
              <a:rPr sz="800" spc="30">
                <a:solidFill>
                  <a:srgbClr val="202429"/>
                </a:solidFill>
                <a:latin typeface="Tahoma"/>
                <a:cs typeface="Tahoma"/>
              </a:rPr>
              <a:t> </a:t>
            </a:r>
            <a:r>
              <a:rPr sz="800" spc="-20">
                <a:solidFill>
                  <a:srgbClr val="202429"/>
                </a:solidFill>
                <a:latin typeface="Tahoma"/>
                <a:cs typeface="Tahoma"/>
              </a:rPr>
              <a:t>(80) </a:t>
            </a:r>
            <a:r>
              <a:rPr sz="800">
                <a:solidFill>
                  <a:srgbClr val="202429"/>
                </a:solidFill>
                <a:latin typeface="Tahoma"/>
                <a:cs typeface="Tahoma"/>
              </a:rPr>
              <a:t>Obstetric</a:t>
            </a:r>
            <a:r>
              <a:rPr sz="800" spc="20">
                <a:solidFill>
                  <a:srgbClr val="202429"/>
                </a:solidFill>
                <a:latin typeface="Tahoma"/>
                <a:cs typeface="Tahoma"/>
              </a:rPr>
              <a:t> </a:t>
            </a:r>
            <a:r>
              <a:rPr sz="800" spc="-10">
                <a:solidFill>
                  <a:srgbClr val="202429"/>
                </a:solidFill>
                <a:latin typeface="Tahoma"/>
                <a:cs typeface="Tahoma"/>
              </a:rPr>
              <a:t>review</a:t>
            </a:r>
            <a:r>
              <a:rPr sz="800" spc="20">
                <a:solidFill>
                  <a:srgbClr val="202429"/>
                </a:solidFill>
                <a:latin typeface="Tahoma"/>
                <a:cs typeface="Tahoma"/>
              </a:rPr>
              <a:t> </a:t>
            </a:r>
            <a:r>
              <a:rPr sz="800" spc="-10">
                <a:solidFill>
                  <a:srgbClr val="202429"/>
                </a:solidFill>
                <a:latin typeface="Tahoma"/>
                <a:cs typeface="Tahoma"/>
              </a:rPr>
              <a:t>(147)</a:t>
            </a:r>
            <a:endParaRPr sz="800">
              <a:latin typeface="Tahoma"/>
              <a:cs typeface="Tahoma"/>
            </a:endParaRPr>
          </a:p>
          <a:p>
            <a:pPr marL="12700">
              <a:lnSpc>
                <a:spcPts val="905"/>
              </a:lnSpc>
            </a:pPr>
            <a:r>
              <a:rPr sz="800">
                <a:solidFill>
                  <a:srgbClr val="202429"/>
                </a:solidFill>
                <a:latin typeface="Tahoma"/>
                <a:cs typeface="Tahoma"/>
              </a:rPr>
              <a:t>Physical</a:t>
            </a:r>
            <a:r>
              <a:rPr sz="800" spc="-5">
                <a:solidFill>
                  <a:srgbClr val="202429"/>
                </a:solidFill>
                <a:latin typeface="Tahoma"/>
                <a:cs typeface="Tahoma"/>
              </a:rPr>
              <a:t> </a:t>
            </a:r>
            <a:r>
              <a:rPr sz="800">
                <a:solidFill>
                  <a:srgbClr val="202429"/>
                </a:solidFill>
                <a:latin typeface="Tahoma"/>
                <a:cs typeface="Tahoma"/>
              </a:rPr>
              <a:t>layout</a:t>
            </a:r>
            <a:r>
              <a:rPr sz="800" spc="-5">
                <a:solidFill>
                  <a:srgbClr val="202429"/>
                </a:solidFill>
                <a:latin typeface="Tahoma"/>
                <a:cs typeface="Tahoma"/>
              </a:rPr>
              <a:t> </a:t>
            </a:r>
            <a:r>
              <a:rPr sz="800">
                <a:solidFill>
                  <a:srgbClr val="202429"/>
                </a:solidFill>
                <a:latin typeface="Tahoma"/>
                <a:cs typeface="Tahoma"/>
              </a:rPr>
              <a:t>and</a:t>
            </a:r>
            <a:r>
              <a:rPr sz="800" spc="-5">
                <a:solidFill>
                  <a:srgbClr val="202429"/>
                </a:solidFill>
                <a:latin typeface="Tahoma"/>
                <a:cs typeface="Tahoma"/>
              </a:rPr>
              <a:t> </a:t>
            </a:r>
            <a:r>
              <a:rPr sz="800">
                <a:solidFill>
                  <a:srgbClr val="202429"/>
                </a:solidFill>
                <a:latin typeface="Tahoma"/>
                <a:cs typeface="Tahoma"/>
              </a:rPr>
              <a:t>Environment</a:t>
            </a:r>
            <a:r>
              <a:rPr sz="800" spc="-5">
                <a:solidFill>
                  <a:srgbClr val="202429"/>
                </a:solidFill>
                <a:latin typeface="Tahoma"/>
                <a:cs typeface="Tahoma"/>
              </a:rPr>
              <a:t> </a:t>
            </a:r>
            <a:r>
              <a:rPr sz="800" spc="-20">
                <a:solidFill>
                  <a:srgbClr val="202429"/>
                </a:solidFill>
                <a:latin typeface="Tahoma"/>
                <a:cs typeface="Tahoma"/>
              </a:rPr>
              <a:t>(35)</a:t>
            </a:r>
            <a:endParaRPr sz="800">
              <a:latin typeface="Tahoma"/>
              <a:cs typeface="Tahoma"/>
            </a:endParaRPr>
          </a:p>
          <a:p>
            <a:pPr marL="12700" marR="762635">
              <a:lnSpc>
                <a:spcPts val="950"/>
              </a:lnSpc>
              <a:spcBef>
                <a:spcPts val="35"/>
              </a:spcBef>
            </a:pPr>
            <a:r>
              <a:rPr sz="800">
                <a:solidFill>
                  <a:srgbClr val="202429"/>
                </a:solidFill>
                <a:latin typeface="Tahoma"/>
                <a:cs typeface="Tahoma"/>
              </a:rPr>
              <a:t>Risk</a:t>
            </a:r>
            <a:r>
              <a:rPr sz="800" spc="20">
                <a:solidFill>
                  <a:srgbClr val="202429"/>
                </a:solidFill>
                <a:latin typeface="Tahoma"/>
                <a:cs typeface="Tahoma"/>
              </a:rPr>
              <a:t> </a:t>
            </a:r>
            <a:r>
              <a:rPr sz="800" spc="-25">
                <a:solidFill>
                  <a:srgbClr val="202429"/>
                </a:solidFill>
                <a:latin typeface="Tahoma"/>
                <a:cs typeface="Tahoma"/>
              </a:rPr>
              <a:t>assessment</a:t>
            </a:r>
            <a:r>
              <a:rPr sz="800" spc="25">
                <a:solidFill>
                  <a:srgbClr val="202429"/>
                </a:solidFill>
                <a:latin typeface="Tahoma"/>
                <a:cs typeface="Tahoma"/>
              </a:rPr>
              <a:t> </a:t>
            </a:r>
            <a:r>
              <a:rPr sz="800" spc="-20">
                <a:solidFill>
                  <a:srgbClr val="202429"/>
                </a:solidFill>
                <a:latin typeface="Tahoma"/>
                <a:cs typeface="Tahoma"/>
              </a:rPr>
              <a:t>(94) </a:t>
            </a:r>
            <a:r>
              <a:rPr sz="800">
                <a:solidFill>
                  <a:srgbClr val="202429"/>
                </a:solidFill>
                <a:latin typeface="Tahoma"/>
                <a:cs typeface="Tahoma"/>
              </a:rPr>
              <a:t>Slip</a:t>
            </a:r>
            <a:r>
              <a:rPr sz="800" spc="-10">
                <a:solidFill>
                  <a:srgbClr val="202429"/>
                </a:solidFill>
                <a:latin typeface="Tahoma"/>
                <a:cs typeface="Tahoma"/>
              </a:rPr>
              <a:t> </a:t>
            </a:r>
            <a:r>
              <a:rPr sz="800">
                <a:solidFill>
                  <a:srgbClr val="202429"/>
                </a:solidFill>
                <a:latin typeface="Tahoma"/>
                <a:cs typeface="Tahoma"/>
              </a:rPr>
              <a:t>or</a:t>
            </a:r>
            <a:r>
              <a:rPr sz="800" spc="-5">
                <a:solidFill>
                  <a:srgbClr val="202429"/>
                </a:solidFill>
                <a:latin typeface="Tahoma"/>
                <a:cs typeface="Tahoma"/>
              </a:rPr>
              <a:t> </a:t>
            </a:r>
            <a:r>
              <a:rPr sz="800">
                <a:solidFill>
                  <a:srgbClr val="202429"/>
                </a:solidFill>
                <a:latin typeface="Tahoma"/>
                <a:cs typeface="Tahoma"/>
              </a:rPr>
              <a:t>lapse</a:t>
            </a:r>
            <a:r>
              <a:rPr sz="800" spc="-10">
                <a:solidFill>
                  <a:srgbClr val="202429"/>
                </a:solidFill>
                <a:latin typeface="Tahoma"/>
                <a:cs typeface="Tahoma"/>
              </a:rPr>
              <a:t> (188)</a:t>
            </a:r>
            <a:endParaRPr sz="800">
              <a:latin typeface="Tahoma"/>
              <a:cs typeface="Tahoma"/>
            </a:endParaRPr>
          </a:p>
          <a:p>
            <a:pPr marL="12700">
              <a:lnSpc>
                <a:spcPts val="915"/>
              </a:lnSpc>
            </a:pPr>
            <a:r>
              <a:rPr sz="800" spc="-10">
                <a:solidFill>
                  <a:srgbClr val="202429"/>
                </a:solidFill>
                <a:latin typeface="Tahoma"/>
                <a:cs typeface="Tahoma"/>
              </a:rPr>
              <a:t>Technologies</a:t>
            </a:r>
            <a:r>
              <a:rPr sz="800" spc="-15">
                <a:solidFill>
                  <a:srgbClr val="202429"/>
                </a:solidFill>
                <a:latin typeface="Tahoma"/>
                <a:cs typeface="Tahoma"/>
              </a:rPr>
              <a:t> </a:t>
            </a:r>
            <a:r>
              <a:rPr sz="800">
                <a:solidFill>
                  <a:srgbClr val="202429"/>
                </a:solidFill>
                <a:latin typeface="Tahoma"/>
                <a:cs typeface="Tahoma"/>
              </a:rPr>
              <a:t>and</a:t>
            </a:r>
            <a:r>
              <a:rPr sz="800" spc="-15">
                <a:solidFill>
                  <a:srgbClr val="202429"/>
                </a:solidFill>
                <a:latin typeface="Tahoma"/>
                <a:cs typeface="Tahoma"/>
              </a:rPr>
              <a:t> </a:t>
            </a:r>
            <a:r>
              <a:rPr sz="800" spc="-10">
                <a:solidFill>
                  <a:srgbClr val="202429"/>
                </a:solidFill>
                <a:latin typeface="Tahoma"/>
                <a:cs typeface="Tahoma"/>
              </a:rPr>
              <a:t>Tools-issues</a:t>
            </a:r>
            <a:r>
              <a:rPr sz="800" spc="-15">
                <a:solidFill>
                  <a:srgbClr val="202429"/>
                </a:solidFill>
                <a:latin typeface="Tahoma"/>
                <a:cs typeface="Tahoma"/>
              </a:rPr>
              <a:t> </a:t>
            </a:r>
            <a:r>
              <a:rPr sz="800" spc="-20">
                <a:solidFill>
                  <a:srgbClr val="202429"/>
                </a:solidFill>
                <a:latin typeface="Tahoma"/>
                <a:cs typeface="Tahoma"/>
              </a:rPr>
              <a:t>(112)</a:t>
            </a:r>
            <a:endParaRPr sz="800">
              <a:latin typeface="Tahoma"/>
              <a:cs typeface="Tahoma"/>
            </a:endParaRPr>
          </a:p>
        </p:txBody>
      </p:sp>
      <p:sp>
        <p:nvSpPr>
          <p:cNvPr id="11" name="object 11"/>
          <p:cNvSpPr txBox="1"/>
          <p:nvPr/>
        </p:nvSpPr>
        <p:spPr>
          <a:xfrm>
            <a:off x="894740" y="1221802"/>
            <a:ext cx="744855" cy="147320"/>
          </a:xfrm>
          <a:prstGeom prst="rect">
            <a:avLst/>
          </a:prstGeom>
        </p:spPr>
        <p:txBody>
          <a:bodyPr vert="horz" wrap="square" lIns="0" tIns="12065" rIns="0" bIns="0" rtlCol="0">
            <a:spAutoFit/>
          </a:bodyPr>
          <a:lstStyle/>
          <a:p>
            <a:pPr marL="12700">
              <a:lnSpc>
                <a:spcPct val="100000"/>
              </a:lnSpc>
              <a:spcBef>
                <a:spcPts val="95"/>
              </a:spcBef>
            </a:pPr>
            <a:r>
              <a:rPr sz="800" b="1" spc="-45">
                <a:solidFill>
                  <a:srgbClr val="202429"/>
                </a:solidFill>
                <a:latin typeface="Arial"/>
                <a:cs typeface="Arial"/>
              </a:rPr>
              <a:t>screening</a:t>
            </a:r>
            <a:r>
              <a:rPr sz="800" b="1" spc="10">
                <a:solidFill>
                  <a:srgbClr val="202429"/>
                </a:solidFill>
                <a:latin typeface="Arial"/>
                <a:cs typeface="Arial"/>
              </a:rPr>
              <a:t> </a:t>
            </a:r>
            <a:r>
              <a:rPr sz="800" b="1" spc="-10">
                <a:solidFill>
                  <a:srgbClr val="202429"/>
                </a:solidFill>
                <a:latin typeface="Arial"/>
                <a:cs typeface="Arial"/>
              </a:rPr>
              <a:t>(381)</a:t>
            </a:r>
            <a:endParaRPr sz="800">
              <a:latin typeface="Arial"/>
              <a:cs typeface="Arial"/>
            </a:endParaRPr>
          </a:p>
        </p:txBody>
      </p:sp>
      <p:sp>
        <p:nvSpPr>
          <p:cNvPr id="12" name="object 12"/>
          <p:cNvSpPr txBox="1"/>
          <p:nvPr/>
        </p:nvSpPr>
        <p:spPr>
          <a:xfrm>
            <a:off x="632193" y="981403"/>
            <a:ext cx="2115820" cy="1830070"/>
          </a:xfrm>
          <a:prstGeom prst="rect">
            <a:avLst/>
          </a:prstGeom>
        </p:spPr>
        <p:txBody>
          <a:bodyPr vert="horz" wrap="square" lIns="0" tIns="12065" rIns="0" bIns="0" rtlCol="0">
            <a:spAutoFit/>
          </a:bodyPr>
          <a:lstStyle/>
          <a:p>
            <a:pPr marL="39370">
              <a:lnSpc>
                <a:spcPts val="955"/>
              </a:lnSpc>
              <a:spcBef>
                <a:spcPts val="95"/>
              </a:spcBef>
              <a:tabLst>
                <a:tab pos="274955" algn="l"/>
              </a:tabLst>
            </a:pPr>
            <a:r>
              <a:rPr sz="800" spc="-50">
                <a:solidFill>
                  <a:srgbClr val="202429"/>
                </a:solidFill>
                <a:latin typeface="Tahoma"/>
                <a:cs typeface="Tahoma"/>
              </a:rPr>
              <a:t>1</a:t>
            </a:r>
            <a:r>
              <a:rPr sz="800">
                <a:solidFill>
                  <a:srgbClr val="202429"/>
                </a:solidFill>
                <a:latin typeface="Tahoma"/>
                <a:cs typeface="Tahoma"/>
              </a:rPr>
              <a:t>	Acuity</a:t>
            </a:r>
            <a:r>
              <a:rPr sz="800" spc="75">
                <a:solidFill>
                  <a:srgbClr val="202429"/>
                </a:solidFill>
                <a:latin typeface="Tahoma"/>
                <a:cs typeface="Tahoma"/>
              </a:rPr>
              <a:t> </a:t>
            </a:r>
            <a:r>
              <a:rPr sz="800" spc="-20">
                <a:solidFill>
                  <a:srgbClr val="202429"/>
                </a:solidFill>
                <a:latin typeface="Tahoma"/>
                <a:cs typeface="Tahoma"/>
              </a:rPr>
              <a:t>(54)</a:t>
            </a:r>
            <a:endParaRPr sz="800">
              <a:latin typeface="Tahoma"/>
              <a:cs typeface="Tahoma"/>
            </a:endParaRPr>
          </a:p>
          <a:p>
            <a:pPr marL="39370">
              <a:lnSpc>
                <a:spcPts val="955"/>
              </a:lnSpc>
              <a:tabLst>
                <a:tab pos="274955" algn="l"/>
                <a:tab pos="991869" algn="l"/>
                <a:tab pos="1757045" algn="l"/>
              </a:tabLst>
            </a:pPr>
            <a:r>
              <a:rPr sz="800" spc="-50">
                <a:solidFill>
                  <a:srgbClr val="202429"/>
                </a:solidFill>
                <a:latin typeface="Tahoma"/>
                <a:cs typeface="Tahoma"/>
              </a:rPr>
              <a:t>3</a:t>
            </a:r>
            <a:r>
              <a:rPr sz="800">
                <a:solidFill>
                  <a:srgbClr val="202429"/>
                </a:solidFill>
                <a:latin typeface="Tahoma"/>
                <a:cs typeface="Tahoma"/>
              </a:rPr>
              <a:t>	</a:t>
            </a:r>
            <a:r>
              <a:rPr sz="800" b="1" spc="-10">
                <a:solidFill>
                  <a:srgbClr val="202429"/>
                </a:solidFill>
                <a:latin typeface="Arial"/>
                <a:cs typeface="Arial"/>
              </a:rPr>
              <a:t>Assessment,</a:t>
            </a:r>
            <a:r>
              <a:rPr sz="800" b="1">
                <a:solidFill>
                  <a:srgbClr val="202429"/>
                </a:solidFill>
                <a:latin typeface="Arial"/>
                <a:cs typeface="Arial"/>
              </a:rPr>
              <a:t>	</a:t>
            </a:r>
            <a:r>
              <a:rPr sz="800" b="1" spc="-10">
                <a:solidFill>
                  <a:srgbClr val="202429"/>
                </a:solidFill>
                <a:latin typeface="Arial"/>
                <a:cs typeface="Arial"/>
              </a:rPr>
              <a:t>investigation,</a:t>
            </a:r>
            <a:r>
              <a:rPr sz="800" b="1">
                <a:solidFill>
                  <a:srgbClr val="202429"/>
                </a:solidFill>
                <a:latin typeface="Arial"/>
                <a:cs typeface="Arial"/>
              </a:rPr>
              <a:t>	</a:t>
            </a:r>
            <a:r>
              <a:rPr sz="800" b="1" spc="-10">
                <a:solidFill>
                  <a:srgbClr val="202429"/>
                </a:solidFill>
                <a:latin typeface="Arial"/>
                <a:cs typeface="Arial"/>
              </a:rPr>
              <a:t>testing,</a:t>
            </a:r>
            <a:endParaRPr sz="800">
              <a:latin typeface="Arial"/>
              <a:cs typeface="Arial"/>
            </a:endParaRPr>
          </a:p>
          <a:p>
            <a:pPr>
              <a:lnSpc>
                <a:spcPct val="100000"/>
              </a:lnSpc>
              <a:spcBef>
                <a:spcPts val="15"/>
              </a:spcBef>
            </a:pPr>
            <a:endParaRPr sz="800">
              <a:latin typeface="Arial"/>
              <a:cs typeface="Arial"/>
            </a:endParaRPr>
          </a:p>
          <a:p>
            <a:pPr marL="39370">
              <a:lnSpc>
                <a:spcPts val="955"/>
              </a:lnSpc>
              <a:tabLst>
                <a:tab pos="274955" algn="l"/>
              </a:tabLst>
            </a:pPr>
            <a:r>
              <a:rPr sz="800" spc="-50">
                <a:solidFill>
                  <a:srgbClr val="202429"/>
                </a:solidFill>
                <a:latin typeface="Tahoma"/>
                <a:cs typeface="Tahoma"/>
              </a:rPr>
              <a:t>5</a:t>
            </a:r>
            <a:r>
              <a:rPr sz="800">
                <a:solidFill>
                  <a:srgbClr val="202429"/>
                </a:solidFill>
                <a:latin typeface="Tahoma"/>
                <a:cs typeface="Tahoma"/>
              </a:rPr>
              <a:t>	Care</a:t>
            </a:r>
            <a:r>
              <a:rPr sz="800" spc="45">
                <a:solidFill>
                  <a:srgbClr val="202429"/>
                </a:solidFill>
                <a:latin typeface="Tahoma"/>
                <a:cs typeface="Tahoma"/>
              </a:rPr>
              <a:t> </a:t>
            </a:r>
            <a:r>
              <a:rPr sz="800">
                <a:solidFill>
                  <a:srgbClr val="202429"/>
                </a:solidFill>
                <a:latin typeface="Tahoma"/>
                <a:cs typeface="Tahoma"/>
              </a:rPr>
              <a:t>Planning</a:t>
            </a:r>
            <a:r>
              <a:rPr sz="800" spc="45">
                <a:solidFill>
                  <a:srgbClr val="202429"/>
                </a:solidFill>
                <a:latin typeface="Tahoma"/>
                <a:cs typeface="Tahoma"/>
              </a:rPr>
              <a:t> </a:t>
            </a:r>
            <a:r>
              <a:rPr sz="800" spc="-10">
                <a:solidFill>
                  <a:srgbClr val="202429"/>
                </a:solidFill>
                <a:latin typeface="Tahoma"/>
                <a:cs typeface="Tahoma"/>
              </a:rPr>
              <a:t>(132)</a:t>
            </a:r>
            <a:endParaRPr sz="800">
              <a:latin typeface="Tahoma"/>
              <a:cs typeface="Tahoma"/>
            </a:endParaRPr>
          </a:p>
          <a:p>
            <a:pPr marL="39370">
              <a:lnSpc>
                <a:spcPts val="944"/>
              </a:lnSpc>
              <a:tabLst>
                <a:tab pos="274955" algn="l"/>
              </a:tabLst>
            </a:pPr>
            <a:r>
              <a:rPr sz="800" spc="-50">
                <a:solidFill>
                  <a:srgbClr val="202429"/>
                </a:solidFill>
                <a:latin typeface="Tahoma"/>
                <a:cs typeface="Tahoma"/>
              </a:rPr>
              <a:t>7</a:t>
            </a:r>
            <a:r>
              <a:rPr sz="800">
                <a:solidFill>
                  <a:srgbClr val="202429"/>
                </a:solidFill>
                <a:latin typeface="Tahoma"/>
                <a:cs typeface="Tahoma"/>
              </a:rPr>
              <a:t>	Decision</a:t>
            </a:r>
            <a:r>
              <a:rPr sz="800" spc="-30">
                <a:solidFill>
                  <a:srgbClr val="202429"/>
                </a:solidFill>
                <a:latin typeface="Tahoma"/>
                <a:cs typeface="Tahoma"/>
              </a:rPr>
              <a:t> </a:t>
            </a:r>
            <a:r>
              <a:rPr sz="800" spc="-10">
                <a:solidFill>
                  <a:srgbClr val="202429"/>
                </a:solidFill>
                <a:latin typeface="Tahoma"/>
                <a:cs typeface="Tahoma"/>
              </a:rPr>
              <a:t>error</a:t>
            </a:r>
            <a:r>
              <a:rPr sz="800" spc="-25">
                <a:solidFill>
                  <a:srgbClr val="202429"/>
                </a:solidFill>
                <a:latin typeface="Tahoma"/>
                <a:cs typeface="Tahoma"/>
              </a:rPr>
              <a:t> </a:t>
            </a:r>
            <a:r>
              <a:rPr sz="800" spc="-10">
                <a:solidFill>
                  <a:srgbClr val="202429"/>
                </a:solidFill>
                <a:latin typeface="Tahoma"/>
                <a:cs typeface="Tahoma"/>
              </a:rPr>
              <a:t>(169)</a:t>
            </a:r>
            <a:endParaRPr sz="800">
              <a:latin typeface="Tahoma"/>
              <a:cs typeface="Tahoma"/>
            </a:endParaRPr>
          </a:p>
          <a:p>
            <a:pPr marL="39370">
              <a:lnSpc>
                <a:spcPts val="944"/>
              </a:lnSpc>
              <a:tabLst>
                <a:tab pos="274955" algn="l"/>
              </a:tabLst>
            </a:pPr>
            <a:r>
              <a:rPr sz="800" spc="-50">
                <a:solidFill>
                  <a:srgbClr val="202429"/>
                </a:solidFill>
                <a:latin typeface="Tahoma"/>
                <a:cs typeface="Tahoma"/>
              </a:rPr>
              <a:t>9</a:t>
            </a:r>
            <a:r>
              <a:rPr sz="800">
                <a:solidFill>
                  <a:srgbClr val="202429"/>
                </a:solidFill>
                <a:latin typeface="Tahoma"/>
                <a:cs typeface="Tahoma"/>
              </a:rPr>
              <a:t>	Documentation</a:t>
            </a:r>
            <a:r>
              <a:rPr sz="800" spc="10">
                <a:solidFill>
                  <a:srgbClr val="202429"/>
                </a:solidFill>
                <a:latin typeface="Tahoma"/>
                <a:cs typeface="Tahoma"/>
              </a:rPr>
              <a:t> </a:t>
            </a:r>
            <a:r>
              <a:rPr sz="800" spc="-10">
                <a:solidFill>
                  <a:srgbClr val="202429"/>
                </a:solidFill>
                <a:latin typeface="Tahoma"/>
                <a:cs typeface="Tahoma"/>
              </a:rPr>
              <a:t>(168)</a:t>
            </a:r>
            <a:endParaRPr sz="800">
              <a:latin typeface="Tahoma"/>
              <a:cs typeface="Tahoma"/>
            </a:endParaRPr>
          </a:p>
          <a:p>
            <a:pPr marL="12700">
              <a:lnSpc>
                <a:spcPts val="944"/>
              </a:lnSpc>
              <a:tabLst>
                <a:tab pos="274955" algn="l"/>
              </a:tabLst>
            </a:pPr>
            <a:r>
              <a:rPr sz="800" spc="-25">
                <a:solidFill>
                  <a:srgbClr val="202429"/>
                </a:solidFill>
                <a:latin typeface="Tahoma"/>
                <a:cs typeface="Tahoma"/>
              </a:rPr>
              <a:t>11</a:t>
            </a:r>
            <a:r>
              <a:rPr sz="800">
                <a:solidFill>
                  <a:srgbClr val="202429"/>
                </a:solidFill>
                <a:latin typeface="Tahoma"/>
                <a:cs typeface="Tahoma"/>
              </a:rPr>
              <a:t>	Guidance</a:t>
            </a:r>
            <a:r>
              <a:rPr sz="800" spc="-10">
                <a:solidFill>
                  <a:srgbClr val="202429"/>
                </a:solidFill>
                <a:latin typeface="Tahoma"/>
                <a:cs typeface="Tahoma"/>
              </a:rPr>
              <a:t> </a:t>
            </a:r>
            <a:r>
              <a:rPr sz="800">
                <a:solidFill>
                  <a:srgbClr val="202429"/>
                </a:solidFill>
                <a:latin typeface="Tahoma"/>
                <a:cs typeface="Tahoma"/>
              </a:rPr>
              <a:t>factor</a:t>
            </a:r>
            <a:r>
              <a:rPr sz="800" spc="-5">
                <a:solidFill>
                  <a:srgbClr val="202429"/>
                </a:solidFill>
                <a:latin typeface="Tahoma"/>
                <a:cs typeface="Tahoma"/>
              </a:rPr>
              <a:t> </a:t>
            </a:r>
            <a:r>
              <a:rPr sz="800" spc="-20">
                <a:solidFill>
                  <a:srgbClr val="202429"/>
                </a:solidFill>
                <a:latin typeface="Tahoma"/>
                <a:cs typeface="Tahoma"/>
              </a:rPr>
              <a:t>(42)</a:t>
            </a:r>
            <a:endParaRPr sz="800">
              <a:latin typeface="Tahoma"/>
              <a:cs typeface="Tahoma"/>
            </a:endParaRPr>
          </a:p>
          <a:p>
            <a:pPr marL="12700">
              <a:lnSpc>
                <a:spcPts val="944"/>
              </a:lnSpc>
              <a:tabLst>
                <a:tab pos="274955" algn="l"/>
              </a:tabLst>
            </a:pPr>
            <a:r>
              <a:rPr sz="800" spc="-25">
                <a:solidFill>
                  <a:srgbClr val="202429"/>
                </a:solidFill>
                <a:latin typeface="Tahoma"/>
                <a:cs typeface="Tahoma"/>
              </a:rPr>
              <a:t>13</a:t>
            </a:r>
            <a:r>
              <a:rPr sz="800">
                <a:solidFill>
                  <a:srgbClr val="202429"/>
                </a:solidFill>
                <a:latin typeface="Tahoma"/>
                <a:cs typeface="Tahoma"/>
              </a:rPr>
              <a:t>	</a:t>
            </a:r>
            <a:r>
              <a:rPr sz="800" spc="-10">
                <a:solidFill>
                  <a:srgbClr val="202429"/>
                </a:solidFill>
                <a:latin typeface="Tahoma"/>
                <a:cs typeface="Tahoma"/>
              </a:rPr>
              <a:t>Language</a:t>
            </a:r>
            <a:r>
              <a:rPr sz="800">
                <a:solidFill>
                  <a:srgbClr val="202429"/>
                </a:solidFill>
                <a:latin typeface="Tahoma"/>
                <a:cs typeface="Tahoma"/>
              </a:rPr>
              <a:t> </a:t>
            </a:r>
            <a:r>
              <a:rPr sz="800" spc="-10">
                <a:solidFill>
                  <a:srgbClr val="202429"/>
                </a:solidFill>
                <a:latin typeface="Tahoma"/>
                <a:cs typeface="Tahoma"/>
              </a:rPr>
              <a:t>barrier</a:t>
            </a:r>
            <a:r>
              <a:rPr sz="800" spc="5">
                <a:solidFill>
                  <a:srgbClr val="202429"/>
                </a:solidFill>
                <a:latin typeface="Tahoma"/>
                <a:cs typeface="Tahoma"/>
              </a:rPr>
              <a:t> </a:t>
            </a:r>
            <a:r>
              <a:rPr sz="800" spc="-20">
                <a:solidFill>
                  <a:srgbClr val="202429"/>
                </a:solidFill>
                <a:latin typeface="Tahoma"/>
                <a:cs typeface="Tahoma"/>
              </a:rPr>
              <a:t>(30)</a:t>
            </a:r>
            <a:endParaRPr sz="800">
              <a:latin typeface="Tahoma"/>
              <a:cs typeface="Tahoma"/>
            </a:endParaRPr>
          </a:p>
          <a:p>
            <a:pPr marL="12700">
              <a:lnSpc>
                <a:spcPts val="944"/>
              </a:lnSpc>
              <a:tabLst>
                <a:tab pos="274955" algn="l"/>
              </a:tabLst>
            </a:pPr>
            <a:r>
              <a:rPr sz="800" spc="-25">
                <a:solidFill>
                  <a:srgbClr val="202429"/>
                </a:solidFill>
                <a:latin typeface="Tahoma"/>
                <a:cs typeface="Tahoma"/>
              </a:rPr>
              <a:t>15</a:t>
            </a:r>
            <a:r>
              <a:rPr sz="800">
                <a:solidFill>
                  <a:srgbClr val="202429"/>
                </a:solidFill>
                <a:latin typeface="Tahoma"/>
                <a:cs typeface="Tahoma"/>
              </a:rPr>
              <a:t>	Monitoring</a:t>
            </a:r>
            <a:r>
              <a:rPr sz="800" spc="110">
                <a:solidFill>
                  <a:srgbClr val="202429"/>
                </a:solidFill>
                <a:latin typeface="Tahoma"/>
                <a:cs typeface="Tahoma"/>
              </a:rPr>
              <a:t> </a:t>
            </a:r>
            <a:r>
              <a:rPr sz="800" spc="-10">
                <a:solidFill>
                  <a:srgbClr val="202429"/>
                </a:solidFill>
                <a:latin typeface="Tahoma"/>
                <a:cs typeface="Tahoma"/>
              </a:rPr>
              <a:t>(118)</a:t>
            </a:r>
            <a:endParaRPr sz="800">
              <a:latin typeface="Tahoma"/>
              <a:cs typeface="Tahoma"/>
            </a:endParaRPr>
          </a:p>
          <a:p>
            <a:pPr marL="12700">
              <a:lnSpc>
                <a:spcPts val="944"/>
              </a:lnSpc>
              <a:tabLst>
                <a:tab pos="274955" algn="l"/>
              </a:tabLst>
            </a:pPr>
            <a:r>
              <a:rPr sz="800" spc="-25">
                <a:solidFill>
                  <a:srgbClr val="202429"/>
                </a:solidFill>
                <a:latin typeface="Tahoma"/>
                <a:cs typeface="Tahoma"/>
              </a:rPr>
              <a:t>17</a:t>
            </a:r>
            <a:r>
              <a:rPr sz="800">
                <a:solidFill>
                  <a:srgbClr val="202429"/>
                </a:solidFill>
                <a:latin typeface="Tahoma"/>
                <a:cs typeface="Tahoma"/>
              </a:rPr>
              <a:t>	National</a:t>
            </a:r>
            <a:r>
              <a:rPr sz="800" spc="50">
                <a:solidFill>
                  <a:srgbClr val="202429"/>
                </a:solidFill>
                <a:latin typeface="Tahoma"/>
                <a:cs typeface="Tahoma"/>
              </a:rPr>
              <a:t> </a:t>
            </a:r>
            <a:r>
              <a:rPr sz="800" spc="-10">
                <a:solidFill>
                  <a:srgbClr val="202429"/>
                </a:solidFill>
                <a:latin typeface="Tahoma"/>
                <a:cs typeface="Tahoma"/>
              </a:rPr>
              <a:t>guidance</a:t>
            </a:r>
            <a:r>
              <a:rPr sz="800" spc="50">
                <a:solidFill>
                  <a:srgbClr val="202429"/>
                </a:solidFill>
                <a:latin typeface="Tahoma"/>
                <a:cs typeface="Tahoma"/>
              </a:rPr>
              <a:t> </a:t>
            </a:r>
            <a:r>
              <a:rPr sz="800" spc="-10">
                <a:solidFill>
                  <a:srgbClr val="202429"/>
                </a:solidFill>
                <a:latin typeface="Tahoma"/>
                <a:cs typeface="Tahoma"/>
              </a:rPr>
              <a:t>(169)</a:t>
            </a:r>
            <a:endParaRPr sz="800">
              <a:latin typeface="Tahoma"/>
              <a:cs typeface="Tahoma"/>
            </a:endParaRPr>
          </a:p>
          <a:p>
            <a:pPr marL="12700">
              <a:lnSpc>
                <a:spcPts val="944"/>
              </a:lnSpc>
              <a:tabLst>
                <a:tab pos="274955" algn="l"/>
              </a:tabLst>
            </a:pPr>
            <a:r>
              <a:rPr sz="800" spc="-25">
                <a:solidFill>
                  <a:srgbClr val="202429"/>
                </a:solidFill>
                <a:latin typeface="Tahoma"/>
                <a:cs typeface="Tahoma"/>
              </a:rPr>
              <a:t>19</a:t>
            </a:r>
            <a:r>
              <a:rPr sz="800">
                <a:solidFill>
                  <a:srgbClr val="202429"/>
                </a:solidFill>
                <a:latin typeface="Tahoma"/>
                <a:cs typeface="Tahoma"/>
              </a:rPr>
              <a:t>	Physical</a:t>
            </a:r>
            <a:r>
              <a:rPr sz="800" spc="65">
                <a:solidFill>
                  <a:srgbClr val="202429"/>
                </a:solidFill>
                <a:latin typeface="Tahoma"/>
                <a:cs typeface="Tahoma"/>
              </a:rPr>
              <a:t> </a:t>
            </a:r>
            <a:r>
              <a:rPr sz="800" spc="-10">
                <a:solidFill>
                  <a:srgbClr val="202429"/>
                </a:solidFill>
                <a:latin typeface="Tahoma"/>
                <a:cs typeface="Tahoma"/>
              </a:rPr>
              <a:t>characteristics</a:t>
            </a:r>
            <a:r>
              <a:rPr sz="800" spc="70">
                <a:solidFill>
                  <a:srgbClr val="202429"/>
                </a:solidFill>
                <a:latin typeface="Tahoma"/>
                <a:cs typeface="Tahoma"/>
              </a:rPr>
              <a:t> </a:t>
            </a:r>
            <a:r>
              <a:rPr sz="800" spc="-10">
                <a:solidFill>
                  <a:srgbClr val="202429"/>
                </a:solidFill>
                <a:latin typeface="Tahoma"/>
                <a:cs typeface="Tahoma"/>
              </a:rPr>
              <a:t>(320)</a:t>
            </a:r>
            <a:endParaRPr sz="800">
              <a:latin typeface="Tahoma"/>
              <a:cs typeface="Tahoma"/>
            </a:endParaRPr>
          </a:p>
          <a:p>
            <a:pPr marL="12700">
              <a:lnSpc>
                <a:spcPts val="944"/>
              </a:lnSpc>
              <a:tabLst>
                <a:tab pos="274955" algn="l"/>
              </a:tabLst>
            </a:pPr>
            <a:r>
              <a:rPr sz="800" spc="-25">
                <a:solidFill>
                  <a:srgbClr val="202429"/>
                </a:solidFill>
                <a:latin typeface="Tahoma"/>
                <a:cs typeface="Tahoma"/>
              </a:rPr>
              <a:t>21</a:t>
            </a:r>
            <a:r>
              <a:rPr sz="800">
                <a:solidFill>
                  <a:srgbClr val="202429"/>
                </a:solidFill>
                <a:latin typeface="Tahoma"/>
                <a:cs typeface="Tahoma"/>
              </a:rPr>
              <a:t>	Psychological</a:t>
            </a:r>
            <a:r>
              <a:rPr sz="800" spc="50">
                <a:solidFill>
                  <a:srgbClr val="202429"/>
                </a:solidFill>
                <a:latin typeface="Tahoma"/>
                <a:cs typeface="Tahoma"/>
              </a:rPr>
              <a:t> </a:t>
            </a:r>
            <a:r>
              <a:rPr sz="800" spc="-10">
                <a:solidFill>
                  <a:srgbClr val="202429"/>
                </a:solidFill>
                <a:latin typeface="Tahoma"/>
                <a:cs typeface="Tahoma"/>
              </a:rPr>
              <a:t>characteristics</a:t>
            </a:r>
            <a:r>
              <a:rPr sz="800" spc="55">
                <a:solidFill>
                  <a:srgbClr val="202429"/>
                </a:solidFill>
                <a:latin typeface="Tahoma"/>
                <a:cs typeface="Tahoma"/>
              </a:rPr>
              <a:t> </a:t>
            </a:r>
            <a:r>
              <a:rPr sz="800" spc="-20">
                <a:solidFill>
                  <a:srgbClr val="202429"/>
                </a:solidFill>
                <a:latin typeface="Tahoma"/>
                <a:cs typeface="Tahoma"/>
              </a:rPr>
              <a:t>(54)</a:t>
            </a:r>
            <a:endParaRPr sz="800">
              <a:latin typeface="Tahoma"/>
              <a:cs typeface="Tahoma"/>
            </a:endParaRPr>
          </a:p>
          <a:p>
            <a:pPr marL="12700">
              <a:lnSpc>
                <a:spcPts val="944"/>
              </a:lnSpc>
              <a:tabLst>
                <a:tab pos="274955" algn="l"/>
              </a:tabLst>
            </a:pPr>
            <a:r>
              <a:rPr sz="800" spc="-25">
                <a:solidFill>
                  <a:srgbClr val="202429"/>
                </a:solidFill>
                <a:latin typeface="Tahoma"/>
                <a:cs typeface="Tahoma"/>
              </a:rPr>
              <a:t>23</a:t>
            </a:r>
            <a:r>
              <a:rPr sz="800">
                <a:solidFill>
                  <a:srgbClr val="202429"/>
                </a:solidFill>
                <a:latin typeface="Tahoma"/>
                <a:cs typeface="Tahoma"/>
              </a:rPr>
              <a:t>	Situation</a:t>
            </a:r>
            <a:r>
              <a:rPr sz="800" spc="35">
                <a:solidFill>
                  <a:srgbClr val="202429"/>
                </a:solidFill>
                <a:latin typeface="Tahoma"/>
                <a:cs typeface="Tahoma"/>
              </a:rPr>
              <a:t> </a:t>
            </a:r>
            <a:r>
              <a:rPr sz="800" spc="-35">
                <a:solidFill>
                  <a:srgbClr val="202429"/>
                </a:solidFill>
                <a:latin typeface="Tahoma"/>
                <a:cs typeface="Tahoma"/>
              </a:rPr>
              <a:t>awareness</a:t>
            </a:r>
            <a:r>
              <a:rPr sz="800" spc="35">
                <a:solidFill>
                  <a:srgbClr val="202429"/>
                </a:solidFill>
                <a:latin typeface="Tahoma"/>
                <a:cs typeface="Tahoma"/>
              </a:rPr>
              <a:t> </a:t>
            </a:r>
            <a:r>
              <a:rPr sz="800" spc="-20">
                <a:solidFill>
                  <a:srgbClr val="202429"/>
                </a:solidFill>
                <a:latin typeface="Tahoma"/>
                <a:cs typeface="Tahoma"/>
              </a:rPr>
              <a:t>(77)</a:t>
            </a:r>
            <a:endParaRPr sz="800">
              <a:latin typeface="Tahoma"/>
              <a:cs typeface="Tahoma"/>
            </a:endParaRPr>
          </a:p>
          <a:p>
            <a:pPr marL="12700">
              <a:lnSpc>
                <a:spcPts val="944"/>
              </a:lnSpc>
              <a:tabLst>
                <a:tab pos="274955" algn="l"/>
              </a:tabLst>
            </a:pPr>
            <a:r>
              <a:rPr sz="800" spc="-25">
                <a:solidFill>
                  <a:srgbClr val="202429"/>
                </a:solidFill>
                <a:latin typeface="Tahoma"/>
                <a:cs typeface="Tahoma"/>
              </a:rPr>
              <a:t>25</a:t>
            </a:r>
            <a:r>
              <a:rPr sz="800">
                <a:solidFill>
                  <a:srgbClr val="202429"/>
                </a:solidFill>
                <a:latin typeface="Tahoma"/>
                <a:cs typeface="Tahoma"/>
              </a:rPr>
              <a:t>	</a:t>
            </a:r>
            <a:r>
              <a:rPr sz="800" b="1" spc="-35">
                <a:solidFill>
                  <a:srgbClr val="202429"/>
                </a:solidFill>
                <a:latin typeface="Arial"/>
                <a:cs typeface="Arial"/>
              </a:rPr>
              <a:t>Teamworking</a:t>
            </a:r>
            <a:r>
              <a:rPr sz="800" b="1" spc="70">
                <a:solidFill>
                  <a:srgbClr val="202429"/>
                </a:solidFill>
                <a:latin typeface="Arial"/>
                <a:cs typeface="Arial"/>
              </a:rPr>
              <a:t> </a:t>
            </a:r>
            <a:r>
              <a:rPr sz="800" b="1" spc="-10">
                <a:solidFill>
                  <a:srgbClr val="202429"/>
                </a:solidFill>
                <a:latin typeface="Arial"/>
                <a:cs typeface="Arial"/>
              </a:rPr>
              <a:t>(530)</a:t>
            </a:r>
            <a:endParaRPr sz="800">
              <a:latin typeface="Arial"/>
              <a:cs typeface="Arial"/>
            </a:endParaRPr>
          </a:p>
          <a:p>
            <a:pPr marL="12700">
              <a:lnSpc>
                <a:spcPts val="955"/>
              </a:lnSpc>
              <a:tabLst>
                <a:tab pos="274955" algn="l"/>
              </a:tabLst>
            </a:pPr>
            <a:r>
              <a:rPr sz="800" spc="-25">
                <a:solidFill>
                  <a:srgbClr val="202429"/>
                </a:solidFill>
                <a:latin typeface="Tahoma"/>
                <a:cs typeface="Tahoma"/>
              </a:rPr>
              <a:t>27</a:t>
            </a:r>
            <a:r>
              <a:rPr sz="800">
                <a:solidFill>
                  <a:srgbClr val="202429"/>
                </a:solidFill>
                <a:latin typeface="Tahoma"/>
                <a:cs typeface="Tahoma"/>
              </a:rPr>
              <a:t>	Training and</a:t>
            </a:r>
            <a:r>
              <a:rPr sz="800" spc="5">
                <a:solidFill>
                  <a:srgbClr val="202429"/>
                </a:solidFill>
                <a:latin typeface="Tahoma"/>
                <a:cs typeface="Tahoma"/>
              </a:rPr>
              <a:t> </a:t>
            </a:r>
            <a:r>
              <a:rPr sz="800" spc="-10">
                <a:solidFill>
                  <a:srgbClr val="202429"/>
                </a:solidFill>
                <a:latin typeface="Tahoma"/>
                <a:cs typeface="Tahoma"/>
              </a:rPr>
              <a:t>education</a:t>
            </a:r>
            <a:r>
              <a:rPr sz="800" spc="5">
                <a:solidFill>
                  <a:srgbClr val="202429"/>
                </a:solidFill>
                <a:latin typeface="Tahoma"/>
                <a:cs typeface="Tahoma"/>
              </a:rPr>
              <a:t> </a:t>
            </a:r>
            <a:r>
              <a:rPr sz="800" spc="-20">
                <a:solidFill>
                  <a:srgbClr val="202429"/>
                </a:solidFill>
                <a:latin typeface="Tahoma"/>
                <a:cs typeface="Tahoma"/>
              </a:rPr>
              <a:t>(40)</a:t>
            </a:r>
            <a:endParaRPr sz="800">
              <a:latin typeface="Tahoma"/>
              <a:cs typeface="Tahoma"/>
            </a:endParaRPr>
          </a:p>
        </p:txBody>
      </p:sp>
      <p:sp>
        <p:nvSpPr>
          <p:cNvPr id="13" name="object 13"/>
          <p:cNvSpPr/>
          <p:nvPr/>
        </p:nvSpPr>
        <p:spPr>
          <a:xfrm>
            <a:off x="565810" y="2844317"/>
            <a:ext cx="4628515" cy="0"/>
          </a:xfrm>
          <a:custGeom>
            <a:avLst/>
            <a:gdLst/>
            <a:ahLst/>
            <a:cxnLst/>
            <a:rect l="l" t="t" r="r" b="b"/>
            <a:pathLst>
              <a:path w="4628515">
                <a:moveTo>
                  <a:pt x="0" y="0"/>
                </a:moveTo>
                <a:lnTo>
                  <a:pt x="4628375" y="0"/>
                </a:lnTo>
              </a:path>
            </a:pathLst>
          </a:custGeom>
          <a:ln w="11083">
            <a:solidFill>
              <a:srgbClr val="202429"/>
            </a:solidFill>
          </a:ln>
        </p:spPr>
        <p:txBody>
          <a:bodyPr wrap="square" lIns="0" tIns="0" rIns="0" bIns="0" rtlCol="0"/>
          <a:lstStyle/>
          <a:p>
            <a:endParaRPr/>
          </a:p>
        </p:txBody>
      </p:sp>
      <p:sp>
        <p:nvSpPr>
          <p:cNvPr id="14" name="object 14"/>
          <p:cNvSpPr/>
          <p:nvPr/>
        </p:nvSpPr>
        <p:spPr>
          <a:xfrm>
            <a:off x="0" y="3060023"/>
            <a:ext cx="5760085" cy="0"/>
          </a:xfrm>
          <a:custGeom>
            <a:avLst/>
            <a:gdLst/>
            <a:ahLst/>
            <a:cxnLst/>
            <a:rect l="l" t="t" r="r" b="b"/>
            <a:pathLst>
              <a:path w="5760085">
                <a:moveTo>
                  <a:pt x="0" y="0"/>
                </a:moveTo>
                <a:lnTo>
                  <a:pt x="5760073" y="0"/>
                </a:lnTo>
              </a:path>
            </a:pathLst>
          </a:custGeom>
          <a:ln w="6326">
            <a:solidFill>
              <a:srgbClr val="CED3DA"/>
            </a:solidFill>
          </a:ln>
        </p:spPr>
        <p:txBody>
          <a:bodyPr wrap="square" lIns="0" tIns="0" rIns="0" bIns="0" rtlCol="0"/>
          <a:lstStyle/>
          <a:p>
            <a:endParaRPr/>
          </a:p>
        </p:txBody>
      </p:sp>
      <p:sp>
        <p:nvSpPr>
          <p:cNvPr id="19" name="TextBox 18">
            <a:extLst>
              <a:ext uri="{FF2B5EF4-FFF2-40B4-BE49-F238E27FC236}">
                <a16:creationId xmlns:a16="http://schemas.microsoft.com/office/drawing/2014/main" id="{68664F7D-4703-C15E-D4D8-D4B6D91D830D}"/>
              </a:ext>
            </a:extLst>
          </p:cNvPr>
          <p:cNvSpPr txBox="1"/>
          <p:nvPr/>
        </p:nvSpPr>
        <p:spPr>
          <a:xfrm>
            <a:off x="44032" y="2841625"/>
            <a:ext cx="5602247" cy="276999"/>
          </a:xfrm>
          <a:prstGeom prst="rect">
            <a:avLst/>
          </a:prstGeom>
          <a:noFill/>
        </p:spPr>
        <p:txBody>
          <a:bodyPr wrap="square">
            <a:spAutoFit/>
          </a:bodyPr>
          <a:lstStyle/>
          <a:p>
            <a:r>
              <a:rPr lang="en-GB" sz="600">
                <a:solidFill>
                  <a:schemeClr val="bg1">
                    <a:lumMod val="50000"/>
                  </a:schemeClr>
                </a:solidFill>
              </a:rPr>
              <a:t>The numbers in brackets are total annotations — how many sentences were tagged with each factor across all reports. E.g. Communication had 477 annotated sentences, Teamworking had 530.</a:t>
            </a:r>
          </a:p>
        </p:txBody>
      </p:sp>
      <p:sp>
        <p:nvSpPr>
          <p:cNvPr id="20" name="Slide Number Placeholder 19">
            <a:extLst>
              <a:ext uri="{FF2B5EF4-FFF2-40B4-BE49-F238E27FC236}">
                <a16:creationId xmlns:a16="http://schemas.microsoft.com/office/drawing/2014/main" id="{F015EA44-0F6E-9471-D441-51CCDD3B7FBE}"/>
              </a:ext>
            </a:extLst>
          </p:cNvPr>
          <p:cNvSpPr>
            <a:spLocks noGrp="1"/>
          </p:cNvSpPr>
          <p:nvPr>
            <p:ph type="sldNum" sz="quarter" idx="7"/>
          </p:nvPr>
        </p:nvSpPr>
        <p:spPr>
          <a:xfrm>
            <a:off x="5372061" y="3070861"/>
            <a:ext cx="388024" cy="173989"/>
          </a:xfrm>
        </p:spPr>
        <p:txBody>
          <a:bodyPr/>
          <a:lstStyle/>
          <a:p>
            <a:pPr marL="39370">
              <a:lnSpc>
                <a:spcPct val="100000"/>
              </a:lnSpc>
              <a:spcBef>
                <a:spcPts val="219"/>
              </a:spcBef>
            </a:pPr>
            <a:fld id="{81D60167-4931-47E6-BA6A-407CBD079E47}" type="slidenum">
              <a:rPr lang="en-GB" smtClean="0"/>
              <a:t>25</a:t>
            </a:fld>
            <a:r>
              <a:rPr lang="en-GB" spc="20"/>
              <a:t> </a:t>
            </a:r>
            <a:r>
              <a:rPr lang="en-GB" spc="120"/>
              <a:t>/</a:t>
            </a:r>
            <a:r>
              <a:rPr lang="en-GB" spc="25"/>
              <a:t> </a:t>
            </a:r>
            <a:r>
              <a:rPr lang="en-GB" spc="-25"/>
              <a:t>41</a:t>
            </a:r>
          </a:p>
        </p:txBody>
      </p:sp>
    </p:spTree>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49530" rIns="0" bIns="0" rtlCol="0">
            <a:spAutoFit/>
          </a:bodyPr>
          <a:lstStyle/>
          <a:p>
            <a:pPr marL="99060">
              <a:lnSpc>
                <a:spcPct val="100000"/>
              </a:lnSpc>
              <a:spcBef>
                <a:spcPts val="390"/>
              </a:spcBef>
            </a:pPr>
            <a:r>
              <a:rPr spc="-10"/>
              <a:t>Evaluating</a:t>
            </a:r>
            <a:r>
              <a:rPr spc="25"/>
              <a:t> </a:t>
            </a:r>
            <a:r>
              <a:t>Equity</a:t>
            </a:r>
            <a:r>
              <a:rPr spc="20"/>
              <a:t> </a:t>
            </a:r>
            <a:r>
              <a:t>in</a:t>
            </a:r>
            <a:r>
              <a:rPr spc="25"/>
              <a:t> </a:t>
            </a:r>
            <a:r>
              <a:rPr spc="-30"/>
              <a:t>Summarisation</a:t>
            </a:r>
          </a:p>
          <a:p>
            <a:pPr marL="99060">
              <a:lnSpc>
                <a:spcPct val="100000"/>
              </a:lnSpc>
              <a:spcBef>
                <a:spcPts val="195"/>
              </a:spcBef>
            </a:pPr>
            <a:r>
              <a:rPr sz="1100" b="0">
                <a:solidFill>
                  <a:srgbClr val="6C757C"/>
                </a:solidFill>
                <a:latin typeface="Tahoma"/>
                <a:cs typeface="Tahoma"/>
              </a:rPr>
              <a:t>Do</a:t>
            </a:r>
            <a:r>
              <a:rPr sz="1100" b="0" spc="-25">
                <a:solidFill>
                  <a:srgbClr val="6C757C"/>
                </a:solidFill>
                <a:latin typeface="Tahoma"/>
                <a:cs typeface="Tahoma"/>
              </a:rPr>
              <a:t> </a:t>
            </a:r>
            <a:r>
              <a:rPr sz="1100" b="0" spc="-60">
                <a:solidFill>
                  <a:srgbClr val="6C757C"/>
                </a:solidFill>
                <a:latin typeface="Tahoma"/>
                <a:cs typeface="Tahoma"/>
              </a:rPr>
              <a:t>summaries</a:t>
            </a:r>
            <a:r>
              <a:rPr sz="1100" b="0" spc="-25">
                <a:solidFill>
                  <a:srgbClr val="6C757C"/>
                </a:solidFill>
                <a:latin typeface="Tahoma"/>
                <a:cs typeface="Tahoma"/>
              </a:rPr>
              <a:t> </a:t>
            </a:r>
            <a:r>
              <a:rPr sz="1100" b="0" spc="-40">
                <a:solidFill>
                  <a:srgbClr val="6C757C"/>
                </a:solidFill>
                <a:latin typeface="Tahoma"/>
                <a:cs typeface="Tahoma"/>
              </a:rPr>
              <a:t>perform</a:t>
            </a:r>
            <a:r>
              <a:rPr sz="1100" b="0" spc="-25">
                <a:solidFill>
                  <a:srgbClr val="6C757C"/>
                </a:solidFill>
                <a:latin typeface="Tahoma"/>
                <a:cs typeface="Tahoma"/>
              </a:rPr>
              <a:t> </a:t>
            </a:r>
            <a:r>
              <a:rPr sz="1100" b="0" spc="-10">
                <a:solidFill>
                  <a:srgbClr val="6C757C"/>
                </a:solidFill>
                <a:latin typeface="Tahoma"/>
                <a:cs typeface="Tahoma"/>
              </a:rPr>
              <a:t>fairly</a:t>
            </a:r>
            <a:r>
              <a:rPr sz="1100" b="0" spc="-25">
                <a:solidFill>
                  <a:srgbClr val="6C757C"/>
                </a:solidFill>
                <a:latin typeface="Tahoma"/>
                <a:cs typeface="Tahoma"/>
              </a:rPr>
              <a:t> </a:t>
            </a:r>
            <a:r>
              <a:rPr sz="1100" b="0" spc="-50">
                <a:solidFill>
                  <a:srgbClr val="6C757C"/>
                </a:solidFill>
                <a:latin typeface="Tahoma"/>
                <a:cs typeface="Tahoma"/>
              </a:rPr>
              <a:t>across</a:t>
            </a:r>
            <a:r>
              <a:rPr sz="1100" b="0" spc="-25">
                <a:solidFill>
                  <a:srgbClr val="6C757C"/>
                </a:solidFill>
                <a:latin typeface="Tahoma"/>
                <a:cs typeface="Tahoma"/>
              </a:rPr>
              <a:t> </a:t>
            </a:r>
            <a:r>
              <a:rPr sz="1100" b="0" spc="-20">
                <a:solidFill>
                  <a:srgbClr val="6C757C"/>
                </a:solidFill>
                <a:latin typeface="Tahoma"/>
                <a:cs typeface="Tahoma"/>
              </a:rPr>
              <a:t>ethnic </a:t>
            </a:r>
            <a:r>
              <a:rPr sz="1100" b="0" spc="-10">
                <a:solidFill>
                  <a:srgbClr val="6C757C"/>
                </a:solidFill>
                <a:latin typeface="Tahoma"/>
                <a:cs typeface="Tahoma"/>
              </a:rPr>
              <a:t>groups?</a:t>
            </a:r>
            <a:endParaRPr sz="1100">
              <a:latin typeface="Tahoma"/>
              <a:cs typeface="Tahoma"/>
            </a:endParaRPr>
          </a:p>
        </p:txBody>
      </p:sp>
      <p:sp>
        <p:nvSpPr>
          <p:cNvPr id="3" name="object 3"/>
          <p:cNvSpPr/>
          <p:nvPr/>
        </p:nvSpPr>
        <p:spPr>
          <a:xfrm>
            <a:off x="359994" y="631443"/>
            <a:ext cx="900430" cy="0"/>
          </a:xfrm>
          <a:custGeom>
            <a:avLst/>
            <a:gdLst/>
            <a:ahLst/>
            <a:cxnLst/>
            <a:rect l="l" t="t" r="r" b="b"/>
            <a:pathLst>
              <a:path w="900430">
                <a:moveTo>
                  <a:pt x="0" y="0"/>
                </a:moveTo>
                <a:lnTo>
                  <a:pt x="900010" y="0"/>
                </a:lnTo>
              </a:path>
            </a:pathLst>
          </a:custGeom>
          <a:ln w="18978">
            <a:solidFill>
              <a:srgbClr val="005F73"/>
            </a:solidFill>
          </a:ln>
        </p:spPr>
        <p:txBody>
          <a:bodyPr wrap="square" lIns="0" tIns="0" rIns="0" bIns="0" rtlCol="0"/>
          <a:lstStyle/>
          <a:p>
            <a:endParaRPr/>
          </a:p>
        </p:txBody>
      </p:sp>
      <p:sp>
        <p:nvSpPr>
          <p:cNvPr id="4" name="object 4"/>
          <p:cNvSpPr txBox="1"/>
          <p:nvPr/>
        </p:nvSpPr>
        <p:spPr>
          <a:xfrm>
            <a:off x="227304" y="724114"/>
            <a:ext cx="2091055" cy="191770"/>
          </a:xfrm>
          <a:prstGeom prst="rect">
            <a:avLst/>
          </a:prstGeom>
        </p:spPr>
        <p:txBody>
          <a:bodyPr vert="horz" wrap="square" lIns="0" tIns="11430" rIns="0" bIns="0" rtlCol="0">
            <a:spAutoFit/>
          </a:bodyPr>
          <a:lstStyle/>
          <a:p>
            <a:pPr marL="12700">
              <a:lnSpc>
                <a:spcPct val="100000"/>
              </a:lnSpc>
              <a:spcBef>
                <a:spcPts val="90"/>
              </a:spcBef>
            </a:pPr>
            <a:r>
              <a:rPr sz="1100" b="1" u="sng">
                <a:solidFill>
                  <a:srgbClr val="202429"/>
                </a:solidFill>
                <a:uFill>
                  <a:solidFill>
                    <a:srgbClr val="202429"/>
                  </a:solidFill>
                </a:uFill>
                <a:latin typeface="Arial"/>
                <a:cs typeface="Arial"/>
              </a:rPr>
              <a:t>BART</a:t>
            </a:r>
            <a:r>
              <a:rPr sz="1100" b="1" u="sng" spc="50">
                <a:solidFill>
                  <a:srgbClr val="202429"/>
                </a:solidFill>
                <a:uFill>
                  <a:solidFill>
                    <a:srgbClr val="202429"/>
                  </a:solidFill>
                </a:uFill>
                <a:latin typeface="Arial"/>
                <a:cs typeface="Arial"/>
              </a:rPr>
              <a:t> </a:t>
            </a:r>
            <a:r>
              <a:rPr sz="1100" b="1" u="sng" spc="-40">
                <a:solidFill>
                  <a:srgbClr val="202429"/>
                </a:solidFill>
                <a:uFill>
                  <a:solidFill>
                    <a:srgbClr val="202429"/>
                  </a:solidFill>
                </a:uFill>
                <a:latin typeface="Arial"/>
                <a:cs typeface="Arial"/>
              </a:rPr>
              <a:t>performance</a:t>
            </a:r>
            <a:r>
              <a:rPr sz="1100" b="1" u="sng" spc="55">
                <a:solidFill>
                  <a:srgbClr val="202429"/>
                </a:solidFill>
                <a:uFill>
                  <a:solidFill>
                    <a:srgbClr val="202429"/>
                  </a:solidFill>
                </a:uFill>
                <a:latin typeface="Arial"/>
                <a:cs typeface="Arial"/>
              </a:rPr>
              <a:t> </a:t>
            </a:r>
            <a:r>
              <a:rPr sz="1100" b="1" u="sng" spc="-25">
                <a:solidFill>
                  <a:srgbClr val="202429"/>
                </a:solidFill>
                <a:uFill>
                  <a:solidFill>
                    <a:srgbClr val="202429"/>
                  </a:solidFill>
                </a:uFill>
                <a:latin typeface="Arial"/>
                <a:cs typeface="Arial"/>
              </a:rPr>
              <a:t>by</a:t>
            </a:r>
            <a:r>
              <a:rPr sz="1100" b="1" u="sng" spc="50">
                <a:solidFill>
                  <a:srgbClr val="202429"/>
                </a:solidFill>
                <a:uFill>
                  <a:solidFill>
                    <a:srgbClr val="202429"/>
                  </a:solidFill>
                </a:uFill>
                <a:latin typeface="Arial"/>
                <a:cs typeface="Arial"/>
              </a:rPr>
              <a:t> </a:t>
            </a:r>
            <a:r>
              <a:rPr sz="1100" b="1" u="sng" spc="-25">
                <a:solidFill>
                  <a:srgbClr val="202429"/>
                </a:solidFill>
                <a:uFill>
                  <a:solidFill>
                    <a:srgbClr val="202429"/>
                  </a:solidFill>
                </a:uFill>
                <a:latin typeface="Arial"/>
                <a:cs typeface="Arial"/>
              </a:rPr>
              <a:t>eth</a:t>
            </a:r>
            <a:r>
              <a:rPr sz="1100" b="1" u="none" spc="-25">
                <a:solidFill>
                  <a:srgbClr val="202429"/>
                </a:solidFill>
                <a:latin typeface="Arial"/>
                <a:cs typeface="Arial"/>
              </a:rPr>
              <a:t>nicity:</a:t>
            </a:r>
            <a:endParaRPr sz="1100">
              <a:latin typeface="Arial"/>
              <a:cs typeface="Arial"/>
            </a:endParaRPr>
          </a:p>
        </p:txBody>
      </p:sp>
      <p:graphicFrame>
        <p:nvGraphicFramePr>
          <p:cNvPr id="5" name="object 5"/>
          <p:cNvGraphicFramePr>
            <a:graphicFrameLocks noGrp="1"/>
          </p:cNvGraphicFramePr>
          <p:nvPr/>
        </p:nvGraphicFramePr>
        <p:xfrm>
          <a:off x="240004" y="935379"/>
          <a:ext cx="1663064" cy="851532"/>
        </p:xfrm>
        <a:graphic>
          <a:graphicData uri="http://schemas.openxmlformats.org/drawingml/2006/table">
            <a:tbl>
              <a:tblPr firstRow="1" bandRow="1">
                <a:tableStyleId>{2D5ABB26-0587-4C30-8999-92F81FD0307C}</a:tableStyleId>
              </a:tblPr>
              <a:tblGrid>
                <a:gridCol w="676275">
                  <a:extLst>
                    <a:ext uri="{9D8B030D-6E8A-4147-A177-3AD203B41FA5}">
                      <a16:colId xmlns:a16="http://schemas.microsoft.com/office/drawing/2014/main" val="20000"/>
                    </a:ext>
                  </a:extLst>
                </a:gridCol>
                <a:gridCol w="343534">
                  <a:extLst>
                    <a:ext uri="{9D8B030D-6E8A-4147-A177-3AD203B41FA5}">
                      <a16:colId xmlns:a16="http://schemas.microsoft.com/office/drawing/2014/main" val="20001"/>
                    </a:ext>
                  </a:extLst>
                </a:gridCol>
                <a:gridCol w="366395">
                  <a:extLst>
                    <a:ext uri="{9D8B030D-6E8A-4147-A177-3AD203B41FA5}">
                      <a16:colId xmlns:a16="http://schemas.microsoft.com/office/drawing/2014/main" val="20002"/>
                    </a:ext>
                  </a:extLst>
                </a:gridCol>
                <a:gridCol w="276860">
                  <a:extLst>
                    <a:ext uri="{9D8B030D-6E8A-4147-A177-3AD203B41FA5}">
                      <a16:colId xmlns:a16="http://schemas.microsoft.com/office/drawing/2014/main" val="20003"/>
                    </a:ext>
                  </a:extLst>
                </a:gridCol>
              </a:tblGrid>
              <a:tr h="178435">
                <a:tc>
                  <a:txBody>
                    <a:bodyPr/>
                    <a:lstStyle/>
                    <a:p>
                      <a:pPr>
                        <a:lnSpc>
                          <a:spcPct val="100000"/>
                        </a:lnSpc>
                        <a:spcBef>
                          <a:spcPts val="100"/>
                        </a:spcBef>
                      </a:pPr>
                      <a:r>
                        <a:rPr sz="800" b="1" spc="-10">
                          <a:solidFill>
                            <a:srgbClr val="202429"/>
                          </a:solidFill>
                          <a:latin typeface="Arial"/>
                          <a:cs typeface="Arial"/>
                        </a:rPr>
                        <a:t>Group</a:t>
                      </a:r>
                      <a:endParaRPr sz="800">
                        <a:latin typeface="Arial"/>
                        <a:cs typeface="Arial"/>
                      </a:endParaRPr>
                    </a:p>
                  </a:txBody>
                  <a:tcPr marL="0" marR="0" marT="12700" marB="0">
                    <a:lnB w="9525">
                      <a:solidFill>
                        <a:srgbClr val="202429"/>
                      </a:solidFill>
                      <a:prstDash val="solid"/>
                    </a:lnB>
                  </a:tcPr>
                </a:tc>
                <a:tc>
                  <a:txBody>
                    <a:bodyPr/>
                    <a:lstStyle/>
                    <a:p>
                      <a:pPr algn="ctr">
                        <a:lnSpc>
                          <a:spcPct val="100000"/>
                        </a:lnSpc>
                        <a:spcBef>
                          <a:spcPts val="100"/>
                        </a:spcBef>
                      </a:pPr>
                      <a:r>
                        <a:rPr sz="800" b="1" spc="-20">
                          <a:solidFill>
                            <a:srgbClr val="202429"/>
                          </a:solidFill>
                          <a:latin typeface="Arial"/>
                          <a:cs typeface="Arial"/>
                        </a:rPr>
                        <a:t>Rel.</a:t>
                      </a:r>
                      <a:endParaRPr sz="800">
                        <a:latin typeface="Arial"/>
                        <a:cs typeface="Arial"/>
                      </a:endParaRPr>
                    </a:p>
                  </a:txBody>
                  <a:tcPr marL="0" marR="0" marT="12700" marB="0">
                    <a:lnB w="9525">
                      <a:solidFill>
                        <a:srgbClr val="202429"/>
                      </a:solidFill>
                      <a:prstDash val="solid"/>
                    </a:lnB>
                  </a:tcPr>
                </a:tc>
                <a:tc>
                  <a:txBody>
                    <a:bodyPr/>
                    <a:lstStyle/>
                    <a:p>
                      <a:pPr algn="ctr">
                        <a:lnSpc>
                          <a:spcPct val="100000"/>
                        </a:lnSpc>
                        <a:spcBef>
                          <a:spcPts val="100"/>
                        </a:spcBef>
                      </a:pPr>
                      <a:r>
                        <a:rPr sz="800" b="1" spc="-20">
                          <a:solidFill>
                            <a:srgbClr val="202429"/>
                          </a:solidFill>
                          <a:latin typeface="Arial"/>
                          <a:cs typeface="Arial"/>
                        </a:rPr>
                        <a:t>Coh.</a:t>
                      </a:r>
                      <a:endParaRPr sz="800">
                        <a:latin typeface="Arial"/>
                        <a:cs typeface="Arial"/>
                      </a:endParaRPr>
                    </a:p>
                  </a:txBody>
                  <a:tcPr marL="0" marR="0" marT="12700" marB="0">
                    <a:lnB w="9525">
                      <a:solidFill>
                        <a:srgbClr val="202429"/>
                      </a:solidFill>
                      <a:prstDash val="solid"/>
                    </a:lnB>
                  </a:tcPr>
                </a:tc>
                <a:tc>
                  <a:txBody>
                    <a:bodyPr/>
                    <a:lstStyle/>
                    <a:p>
                      <a:pPr marL="74930" marR="3175" algn="ctr">
                        <a:lnSpc>
                          <a:spcPct val="100000"/>
                        </a:lnSpc>
                        <a:spcBef>
                          <a:spcPts val="100"/>
                        </a:spcBef>
                      </a:pPr>
                      <a:r>
                        <a:rPr sz="800" b="1" spc="-20">
                          <a:solidFill>
                            <a:srgbClr val="202429"/>
                          </a:solidFill>
                          <a:latin typeface="Arial"/>
                          <a:cs typeface="Arial"/>
                        </a:rPr>
                        <a:t>Div.</a:t>
                      </a:r>
                      <a:endParaRPr sz="800">
                        <a:latin typeface="Arial"/>
                        <a:cs typeface="Arial"/>
                      </a:endParaRPr>
                    </a:p>
                  </a:txBody>
                  <a:tcPr marL="0" marR="0" marT="12700" marB="0">
                    <a:lnB w="9525">
                      <a:solidFill>
                        <a:srgbClr val="202429"/>
                      </a:solidFill>
                      <a:prstDash val="solid"/>
                    </a:lnB>
                  </a:tcPr>
                </a:tc>
                <a:extLst>
                  <a:ext uri="{0D108BD9-81ED-4DB2-BD59-A6C34878D82A}">
                    <a16:rowId xmlns:a16="http://schemas.microsoft.com/office/drawing/2014/main" val="10000"/>
                  </a:ext>
                </a:extLst>
              </a:tr>
              <a:tr h="144780">
                <a:tc>
                  <a:txBody>
                    <a:bodyPr/>
                    <a:lstStyle/>
                    <a:p>
                      <a:pPr>
                        <a:lnSpc>
                          <a:spcPts val="840"/>
                        </a:lnSpc>
                        <a:spcBef>
                          <a:spcPts val="204"/>
                        </a:spcBef>
                      </a:pPr>
                      <a:r>
                        <a:rPr sz="800" spc="-10">
                          <a:solidFill>
                            <a:srgbClr val="202429"/>
                          </a:solidFill>
                          <a:latin typeface="Tahoma"/>
                          <a:cs typeface="Tahoma"/>
                        </a:rPr>
                        <a:t>Asian</a:t>
                      </a:r>
                      <a:endParaRPr sz="800">
                        <a:latin typeface="Tahoma"/>
                        <a:cs typeface="Tahoma"/>
                      </a:endParaRPr>
                    </a:p>
                  </a:txBody>
                  <a:tcPr marL="0" marR="0" marT="26034" marB="0">
                    <a:lnT w="9525">
                      <a:solidFill>
                        <a:srgbClr val="202429"/>
                      </a:solidFill>
                      <a:prstDash val="solid"/>
                    </a:lnT>
                  </a:tcPr>
                </a:tc>
                <a:tc>
                  <a:txBody>
                    <a:bodyPr/>
                    <a:lstStyle/>
                    <a:p>
                      <a:pPr algn="ctr">
                        <a:lnSpc>
                          <a:spcPts val="840"/>
                        </a:lnSpc>
                        <a:spcBef>
                          <a:spcPts val="204"/>
                        </a:spcBef>
                      </a:pPr>
                      <a:r>
                        <a:rPr sz="800" spc="-20">
                          <a:solidFill>
                            <a:srgbClr val="202429"/>
                          </a:solidFill>
                          <a:latin typeface="Tahoma"/>
                          <a:cs typeface="Tahoma"/>
                        </a:rPr>
                        <a:t>0.89</a:t>
                      </a:r>
                      <a:endParaRPr sz="800">
                        <a:latin typeface="Tahoma"/>
                        <a:cs typeface="Tahoma"/>
                      </a:endParaRPr>
                    </a:p>
                  </a:txBody>
                  <a:tcPr marL="0" marR="0" marT="26034" marB="0">
                    <a:lnT w="9525">
                      <a:solidFill>
                        <a:srgbClr val="202429"/>
                      </a:solidFill>
                      <a:prstDash val="solid"/>
                    </a:lnT>
                  </a:tcPr>
                </a:tc>
                <a:tc>
                  <a:txBody>
                    <a:bodyPr/>
                    <a:lstStyle/>
                    <a:p>
                      <a:pPr algn="ctr">
                        <a:lnSpc>
                          <a:spcPts val="840"/>
                        </a:lnSpc>
                        <a:spcBef>
                          <a:spcPts val="204"/>
                        </a:spcBef>
                      </a:pPr>
                      <a:r>
                        <a:rPr sz="800" spc="-20">
                          <a:solidFill>
                            <a:srgbClr val="202429"/>
                          </a:solidFill>
                          <a:latin typeface="Tahoma"/>
                          <a:cs typeface="Tahoma"/>
                        </a:rPr>
                        <a:t>0.46</a:t>
                      </a:r>
                      <a:endParaRPr sz="800">
                        <a:latin typeface="Tahoma"/>
                        <a:cs typeface="Tahoma"/>
                      </a:endParaRPr>
                    </a:p>
                  </a:txBody>
                  <a:tcPr marL="0" marR="0" marT="26034" marB="0">
                    <a:lnT w="9525">
                      <a:solidFill>
                        <a:srgbClr val="202429"/>
                      </a:solidFill>
                      <a:prstDash val="solid"/>
                    </a:lnT>
                  </a:tcPr>
                </a:tc>
                <a:tc>
                  <a:txBody>
                    <a:bodyPr/>
                    <a:lstStyle/>
                    <a:p>
                      <a:pPr marL="75565" algn="ctr">
                        <a:lnSpc>
                          <a:spcPts val="840"/>
                        </a:lnSpc>
                        <a:spcBef>
                          <a:spcPts val="204"/>
                        </a:spcBef>
                      </a:pPr>
                      <a:r>
                        <a:rPr sz="800" spc="-20">
                          <a:solidFill>
                            <a:srgbClr val="202429"/>
                          </a:solidFill>
                          <a:latin typeface="Tahoma"/>
                          <a:cs typeface="Tahoma"/>
                        </a:rPr>
                        <a:t>0.67</a:t>
                      </a:r>
                      <a:endParaRPr sz="800">
                        <a:latin typeface="Tahoma"/>
                        <a:cs typeface="Tahoma"/>
                      </a:endParaRPr>
                    </a:p>
                  </a:txBody>
                  <a:tcPr marL="0" marR="0" marT="26034" marB="0">
                    <a:lnT w="9525">
                      <a:solidFill>
                        <a:srgbClr val="202429"/>
                      </a:solidFill>
                      <a:prstDash val="solid"/>
                    </a:lnT>
                  </a:tcPr>
                </a:tc>
                <a:extLst>
                  <a:ext uri="{0D108BD9-81ED-4DB2-BD59-A6C34878D82A}">
                    <a16:rowId xmlns:a16="http://schemas.microsoft.com/office/drawing/2014/main" val="10001"/>
                  </a:ext>
                </a:extLst>
              </a:tr>
              <a:tr h="120014">
                <a:tc>
                  <a:txBody>
                    <a:bodyPr/>
                    <a:lstStyle/>
                    <a:p>
                      <a:pPr>
                        <a:lnSpc>
                          <a:spcPts val="840"/>
                        </a:lnSpc>
                        <a:spcBef>
                          <a:spcPts val="5"/>
                        </a:spcBef>
                      </a:pPr>
                      <a:r>
                        <a:rPr sz="800" spc="-10">
                          <a:solidFill>
                            <a:srgbClr val="202429"/>
                          </a:solidFill>
                          <a:latin typeface="Tahoma"/>
                          <a:cs typeface="Tahoma"/>
                        </a:rPr>
                        <a:t>Black</a:t>
                      </a:r>
                      <a:endParaRPr sz="800">
                        <a:latin typeface="Tahoma"/>
                        <a:cs typeface="Tahoma"/>
                      </a:endParaRPr>
                    </a:p>
                  </a:txBody>
                  <a:tcPr marL="0" marR="0" marT="635" marB="0"/>
                </a:tc>
                <a:tc>
                  <a:txBody>
                    <a:bodyPr/>
                    <a:lstStyle/>
                    <a:p>
                      <a:pPr algn="ctr">
                        <a:lnSpc>
                          <a:spcPts val="840"/>
                        </a:lnSpc>
                        <a:spcBef>
                          <a:spcPts val="5"/>
                        </a:spcBef>
                      </a:pPr>
                      <a:r>
                        <a:rPr sz="800" spc="-20">
                          <a:solidFill>
                            <a:srgbClr val="202429"/>
                          </a:solidFill>
                          <a:latin typeface="Tahoma"/>
                          <a:cs typeface="Tahoma"/>
                        </a:rPr>
                        <a:t>0.87</a:t>
                      </a:r>
                      <a:endParaRPr sz="800">
                        <a:latin typeface="Tahoma"/>
                        <a:cs typeface="Tahoma"/>
                      </a:endParaRPr>
                    </a:p>
                  </a:txBody>
                  <a:tcPr marL="0" marR="0" marT="635" marB="0"/>
                </a:tc>
                <a:tc>
                  <a:txBody>
                    <a:bodyPr/>
                    <a:lstStyle/>
                    <a:p>
                      <a:pPr algn="ctr">
                        <a:lnSpc>
                          <a:spcPts val="840"/>
                        </a:lnSpc>
                        <a:spcBef>
                          <a:spcPts val="5"/>
                        </a:spcBef>
                      </a:pPr>
                      <a:r>
                        <a:rPr sz="800" spc="-20">
                          <a:solidFill>
                            <a:srgbClr val="202429"/>
                          </a:solidFill>
                          <a:latin typeface="Tahoma"/>
                          <a:cs typeface="Tahoma"/>
                        </a:rPr>
                        <a:t>0.54</a:t>
                      </a:r>
                      <a:endParaRPr sz="800">
                        <a:latin typeface="Tahoma"/>
                        <a:cs typeface="Tahoma"/>
                      </a:endParaRPr>
                    </a:p>
                  </a:txBody>
                  <a:tcPr marL="0" marR="0" marT="635" marB="0"/>
                </a:tc>
                <a:tc>
                  <a:txBody>
                    <a:bodyPr/>
                    <a:lstStyle/>
                    <a:p>
                      <a:pPr marL="75565" algn="ctr">
                        <a:lnSpc>
                          <a:spcPts val="840"/>
                        </a:lnSpc>
                        <a:spcBef>
                          <a:spcPts val="5"/>
                        </a:spcBef>
                      </a:pPr>
                      <a:r>
                        <a:rPr sz="800" spc="-20">
                          <a:solidFill>
                            <a:srgbClr val="202429"/>
                          </a:solidFill>
                          <a:latin typeface="Tahoma"/>
                          <a:cs typeface="Tahoma"/>
                        </a:rPr>
                        <a:t>0.64</a:t>
                      </a:r>
                      <a:endParaRPr sz="800">
                        <a:latin typeface="Tahoma"/>
                        <a:cs typeface="Tahoma"/>
                      </a:endParaRPr>
                    </a:p>
                  </a:txBody>
                  <a:tcPr marL="0" marR="0" marT="635" marB="0"/>
                </a:tc>
                <a:extLst>
                  <a:ext uri="{0D108BD9-81ED-4DB2-BD59-A6C34878D82A}">
                    <a16:rowId xmlns:a16="http://schemas.microsoft.com/office/drawing/2014/main" val="10002"/>
                  </a:ext>
                </a:extLst>
              </a:tr>
              <a:tr h="120014">
                <a:tc>
                  <a:txBody>
                    <a:bodyPr/>
                    <a:lstStyle/>
                    <a:p>
                      <a:pPr>
                        <a:lnSpc>
                          <a:spcPts val="840"/>
                        </a:lnSpc>
                        <a:spcBef>
                          <a:spcPts val="5"/>
                        </a:spcBef>
                      </a:pPr>
                      <a:r>
                        <a:rPr sz="800" spc="-10">
                          <a:solidFill>
                            <a:srgbClr val="202429"/>
                          </a:solidFill>
                          <a:latin typeface="Tahoma"/>
                          <a:cs typeface="Tahoma"/>
                        </a:rPr>
                        <a:t>Mixed</a:t>
                      </a:r>
                      <a:endParaRPr sz="800">
                        <a:latin typeface="Tahoma"/>
                        <a:cs typeface="Tahoma"/>
                      </a:endParaRPr>
                    </a:p>
                  </a:txBody>
                  <a:tcPr marL="0" marR="0" marT="635" marB="0"/>
                </a:tc>
                <a:tc>
                  <a:txBody>
                    <a:bodyPr/>
                    <a:lstStyle/>
                    <a:p>
                      <a:pPr algn="ctr">
                        <a:lnSpc>
                          <a:spcPts val="840"/>
                        </a:lnSpc>
                        <a:spcBef>
                          <a:spcPts val="5"/>
                        </a:spcBef>
                      </a:pPr>
                      <a:r>
                        <a:rPr sz="800" spc="-20">
                          <a:solidFill>
                            <a:srgbClr val="202429"/>
                          </a:solidFill>
                          <a:latin typeface="Tahoma"/>
                          <a:cs typeface="Tahoma"/>
                        </a:rPr>
                        <a:t>0.97</a:t>
                      </a:r>
                      <a:endParaRPr sz="800">
                        <a:latin typeface="Tahoma"/>
                        <a:cs typeface="Tahoma"/>
                      </a:endParaRPr>
                    </a:p>
                  </a:txBody>
                  <a:tcPr marL="0" marR="0" marT="635" marB="0"/>
                </a:tc>
                <a:tc>
                  <a:txBody>
                    <a:bodyPr/>
                    <a:lstStyle/>
                    <a:p>
                      <a:pPr algn="ctr">
                        <a:lnSpc>
                          <a:spcPts val="840"/>
                        </a:lnSpc>
                        <a:spcBef>
                          <a:spcPts val="5"/>
                        </a:spcBef>
                      </a:pPr>
                      <a:r>
                        <a:rPr sz="800" spc="-20">
                          <a:solidFill>
                            <a:srgbClr val="202429"/>
                          </a:solidFill>
                          <a:latin typeface="Tahoma"/>
                          <a:cs typeface="Tahoma"/>
                        </a:rPr>
                        <a:t>0.63</a:t>
                      </a:r>
                      <a:endParaRPr sz="800">
                        <a:latin typeface="Tahoma"/>
                        <a:cs typeface="Tahoma"/>
                      </a:endParaRPr>
                    </a:p>
                  </a:txBody>
                  <a:tcPr marL="0" marR="0" marT="635" marB="0"/>
                </a:tc>
                <a:tc>
                  <a:txBody>
                    <a:bodyPr/>
                    <a:lstStyle/>
                    <a:p>
                      <a:pPr marL="75565" algn="ctr">
                        <a:lnSpc>
                          <a:spcPts val="840"/>
                        </a:lnSpc>
                        <a:spcBef>
                          <a:spcPts val="5"/>
                        </a:spcBef>
                      </a:pPr>
                      <a:r>
                        <a:rPr sz="800" spc="-20">
                          <a:solidFill>
                            <a:srgbClr val="202429"/>
                          </a:solidFill>
                          <a:latin typeface="Tahoma"/>
                          <a:cs typeface="Tahoma"/>
                        </a:rPr>
                        <a:t>0.69</a:t>
                      </a:r>
                      <a:endParaRPr sz="800">
                        <a:latin typeface="Tahoma"/>
                        <a:cs typeface="Tahoma"/>
                      </a:endParaRPr>
                    </a:p>
                  </a:txBody>
                  <a:tcPr marL="0" marR="0" marT="635" marB="0"/>
                </a:tc>
                <a:extLst>
                  <a:ext uri="{0D108BD9-81ED-4DB2-BD59-A6C34878D82A}">
                    <a16:rowId xmlns:a16="http://schemas.microsoft.com/office/drawing/2014/main" val="10003"/>
                  </a:ext>
                </a:extLst>
              </a:tr>
              <a:tr h="120014">
                <a:tc>
                  <a:txBody>
                    <a:bodyPr/>
                    <a:lstStyle/>
                    <a:p>
                      <a:pPr>
                        <a:lnSpc>
                          <a:spcPts val="840"/>
                        </a:lnSpc>
                        <a:spcBef>
                          <a:spcPts val="5"/>
                        </a:spcBef>
                      </a:pPr>
                      <a:r>
                        <a:rPr sz="800">
                          <a:solidFill>
                            <a:srgbClr val="202429"/>
                          </a:solidFill>
                          <a:latin typeface="Tahoma"/>
                          <a:cs typeface="Tahoma"/>
                        </a:rPr>
                        <a:t>Other</a:t>
                      </a:r>
                      <a:r>
                        <a:rPr sz="800" spc="45">
                          <a:solidFill>
                            <a:srgbClr val="202429"/>
                          </a:solidFill>
                          <a:latin typeface="Tahoma"/>
                          <a:cs typeface="Tahoma"/>
                        </a:rPr>
                        <a:t> </a:t>
                      </a:r>
                      <a:r>
                        <a:rPr sz="800" spc="-10">
                          <a:solidFill>
                            <a:srgbClr val="202429"/>
                          </a:solidFill>
                          <a:latin typeface="Tahoma"/>
                          <a:cs typeface="Tahoma"/>
                        </a:rPr>
                        <a:t>White</a:t>
                      </a:r>
                      <a:endParaRPr sz="800">
                        <a:latin typeface="Tahoma"/>
                        <a:cs typeface="Tahoma"/>
                      </a:endParaRPr>
                    </a:p>
                  </a:txBody>
                  <a:tcPr marL="0" marR="0" marT="635" marB="0"/>
                </a:tc>
                <a:tc>
                  <a:txBody>
                    <a:bodyPr/>
                    <a:lstStyle/>
                    <a:p>
                      <a:pPr algn="ctr">
                        <a:lnSpc>
                          <a:spcPts val="840"/>
                        </a:lnSpc>
                        <a:spcBef>
                          <a:spcPts val="5"/>
                        </a:spcBef>
                      </a:pPr>
                      <a:r>
                        <a:rPr sz="800" spc="-20">
                          <a:solidFill>
                            <a:srgbClr val="202429"/>
                          </a:solidFill>
                          <a:latin typeface="Tahoma"/>
                          <a:cs typeface="Tahoma"/>
                        </a:rPr>
                        <a:t>0.93</a:t>
                      </a:r>
                      <a:endParaRPr sz="800">
                        <a:latin typeface="Tahoma"/>
                        <a:cs typeface="Tahoma"/>
                      </a:endParaRPr>
                    </a:p>
                  </a:txBody>
                  <a:tcPr marL="0" marR="0" marT="635" marB="0"/>
                </a:tc>
                <a:tc>
                  <a:txBody>
                    <a:bodyPr/>
                    <a:lstStyle/>
                    <a:p>
                      <a:pPr algn="ctr">
                        <a:lnSpc>
                          <a:spcPts val="840"/>
                        </a:lnSpc>
                        <a:spcBef>
                          <a:spcPts val="5"/>
                        </a:spcBef>
                      </a:pPr>
                      <a:r>
                        <a:rPr sz="800" spc="-20">
                          <a:solidFill>
                            <a:srgbClr val="202429"/>
                          </a:solidFill>
                          <a:latin typeface="Tahoma"/>
                          <a:cs typeface="Tahoma"/>
                        </a:rPr>
                        <a:t>0.42</a:t>
                      </a:r>
                      <a:endParaRPr sz="800">
                        <a:latin typeface="Tahoma"/>
                        <a:cs typeface="Tahoma"/>
                      </a:endParaRPr>
                    </a:p>
                  </a:txBody>
                  <a:tcPr marL="0" marR="0" marT="635" marB="0"/>
                </a:tc>
                <a:tc>
                  <a:txBody>
                    <a:bodyPr/>
                    <a:lstStyle/>
                    <a:p>
                      <a:pPr marL="76200" algn="ctr">
                        <a:lnSpc>
                          <a:spcPts val="840"/>
                        </a:lnSpc>
                        <a:spcBef>
                          <a:spcPts val="5"/>
                        </a:spcBef>
                      </a:pPr>
                      <a:r>
                        <a:rPr sz="800" spc="-20">
                          <a:solidFill>
                            <a:srgbClr val="202429"/>
                          </a:solidFill>
                          <a:latin typeface="Tahoma"/>
                          <a:cs typeface="Tahoma"/>
                        </a:rPr>
                        <a:t>0.65</a:t>
                      </a:r>
                      <a:endParaRPr sz="800">
                        <a:latin typeface="Tahoma"/>
                        <a:cs typeface="Tahoma"/>
                      </a:endParaRPr>
                    </a:p>
                  </a:txBody>
                  <a:tcPr marL="0" marR="0" marT="635" marB="0"/>
                </a:tc>
                <a:extLst>
                  <a:ext uri="{0D108BD9-81ED-4DB2-BD59-A6C34878D82A}">
                    <a16:rowId xmlns:a16="http://schemas.microsoft.com/office/drawing/2014/main" val="10004"/>
                  </a:ext>
                </a:extLst>
              </a:tr>
              <a:tr h="168275">
                <a:tc>
                  <a:txBody>
                    <a:bodyPr/>
                    <a:lstStyle/>
                    <a:p>
                      <a:pPr>
                        <a:lnSpc>
                          <a:spcPct val="100000"/>
                        </a:lnSpc>
                        <a:spcBef>
                          <a:spcPts val="5"/>
                        </a:spcBef>
                      </a:pPr>
                      <a:r>
                        <a:rPr sz="800">
                          <a:solidFill>
                            <a:srgbClr val="202429"/>
                          </a:solidFill>
                          <a:latin typeface="Tahoma"/>
                          <a:cs typeface="Tahoma"/>
                        </a:rPr>
                        <a:t>White</a:t>
                      </a:r>
                      <a:r>
                        <a:rPr sz="800" spc="90">
                          <a:solidFill>
                            <a:srgbClr val="202429"/>
                          </a:solidFill>
                          <a:latin typeface="Tahoma"/>
                          <a:cs typeface="Tahoma"/>
                        </a:rPr>
                        <a:t> </a:t>
                      </a:r>
                      <a:r>
                        <a:rPr sz="800" spc="-10">
                          <a:solidFill>
                            <a:srgbClr val="202429"/>
                          </a:solidFill>
                          <a:latin typeface="Tahoma"/>
                          <a:cs typeface="Tahoma"/>
                        </a:rPr>
                        <a:t>British</a:t>
                      </a:r>
                      <a:endParaRPr sz="800">
                        <a:latin typeface="Tahoma"/>
                        <a:cs typeface="Tahoma"/>
                      </a:endParaRPr>
                    </a:p>
                  </a:txBody>
                  <a:tcPr marL="0" marR="0" marT="635" marB="0">
                    <a:lnB w="12700">
                      <a:solidFill>
                        <a:srgbClr val="202429"/>
                      </a:solidFill>
                      <a:prstDash val="solid"/>
                    </a:lnB>
                  </a:tcPr>
                </a:tc>
                <a:tc>
                  <a:txBody>
                    <a:bodyPr/>
                    <a:lstStyle/>
                    <a:p>
                      <a:pPr algn="ctr">
                        <a:lnSpc>
                          <a:spcPct val="100000"/>
                        </a:lnSpc>
                        <a:spcBef>
                          <a:spcPts val="5"/>
                        </a:spcBef>
                      </a:pPr>
                      <a:r>
                        <a:rPr sz="800" spc="-20">
                          <a:solidFill>
                            <a:srgbClr val="202429"/>
                          </a:solidFill>
                          <a:latin typeface="Tahoma"/>
                          <a:cs typeface="Tahoma"/>
                        </a:rPr>
                        <a:t>0.40</a:t>
                      </a:r>
                      <a:endParaRPr sz="800">
                        <a:latin typeface="Tahoma"/>
                        <a:cs typeface="Tahoma"/>
                      </a:endParaRPr>
                    </a:p>
                  </a:txBody>
                  <a:tcPr marL="0" marR="0" marT="635" marB="0">
                    <a:lnB w="12700">
                      <a:solidFill>
                        <a:srgbClr val="202429"/>
                      </a:solidFill>
                      <a:prstDash val="solid"/>
                    </a:lnB>
                  </a:tcPr>
                </a:tc>
                <a:tc>
                  <a:txBody>
                    <a:bodyPr/>
                    <a:lstStyle/>
                    <a:p>
                      <a:pPr algn="ctr">
                        <a:lnSpc>
                          <a:spcPct val="100000"/>
                        </a:lnSpc>
                        <a:spcBef>
                          <a:spcPts val="5"/>
                        </a:spcBef>
                      </a:pPr>
                      <a:r>
                        <a:rPr sz="800" spc="-20">
                          <a:solidFill>
                            <a:srgbClr val="202429"/>
                          </a:solidFill>
                          <a:latin typeface="Tahoma"/>
                          <a:cs typeface="Tahoma"/>
                        </a:rPr>
                        <a:t>0.18</a:t>
                      </a:r>
                      <a:endParaRPr sz="800">
                        <a:latin typeface="Tahoma"/>
                        <a:cs typeface="Tahoma"/>
                      </a:endParaRPr>
                    </a:p>
                  </a:txBody>
                  <a:tcPr marL="0" marR="0" marT="635" marB="0">
                    <a:lnB w="12700">
                      <a:solidFill>
                        <a:srgbClr val="202429"/>
                      </a:solidFill>
                      <a:prstDash val="solid"/>
                    </a:lnB>
                  </a:tcPr>
                </a:tc>
                <a:tc>
                  <a:txBody>
                    <a:bodyPr/>
                    <a:lstStyle/>
                    <a:p>
                      <a:pPr marL="75565" marR="3175" algn="ctr">
                        <a:lnSpc>
                          <a:spcPct val="100000"/>
                        </a:lnSpc>
                        <a:spcBef>
                          <a:spcPts val="5"/>
                        </a:spcBef>
                      </a:pPr>
                      <a:r>
                        <a:rPr sz="800" spc="-30">
                          <a:solidFill>
                            <a:srgbClr val="202429"/>
                          </a:solidFill>
                          <a:latin typeface="Tahoma"/>
                          <a:cs typeface="Tahoma"/>
                        </a:rPr>
                        <a:t>0.68</a:t>
                      </a:r>
                      <a:endParaRPr sz="800">
                        <a:latin typeface="Tahoma"/>
                        <a:cs typeface="Tahoma"/>
                      </a:endParaRPr>
                    </a:p>
                  </a:txBody>
                  <a:tcPr marL="0" marR="0" marT="635" marB="0">
                    <a:lnB w="12700">
                      <a:solidFill>
                        <a:srgbClr val="202429"/>
                      </a:solidFill>
                      <a:prstDash val="solid"/>
                    </a:lnB>
                  </a:tcPr>
                </a:tc>
                <a:extLst>
                  <a:ext uri="{0D108BD9-81ED-4DB2-BD59-A6C34878D82A}">
                    <a16:rowId xmlns:a16="http://schemas.microsoft.com/office/drawing/2014/main" val="10005"/>
                  </a:ext>
                </a:extLst>
              </a:tr>
            </a:tbl>
          </a:graphicData>
        </a:graphic>
      </p:graphicFrame>
      <p:sp>
        <p:nvSpPr>
          <p:cNvPr id="6" name="object 6"/>
          <p:cNvSpPr txBox="1"/>
          <p:nvPr/>
        </p:nvSpPr>
        <p:spPr>
          <a:xfrm>
            <a:off x="227304" y="1824480"/>
            <a:ext cx="1983739" cy="147320"/>
          </a:xfrm>
          <a:prstGeom prst="rect">
            <a:avLst/>
          </a:prstGeom>
        </p:spPr>
        <p:txBody>
          <a:bodyPr vert="horz" wrap="square" lIns="0" tIns="12065" rIns="0" bIns="0" rtlCol="0">
            <a:spAutoFit/>
          </a:bodyPr>
          <a:lstStyle/>
          <a:p>
            <a:pPr marL="12700">
              <a:lnSpc>
                <a:spcPct val="100000"/>
              </a:lnSpc>
              <a:spcBef>
                <a:spcPts val="95"/>
              </a:spcBef>
            </a:pPr>
            <a:r>
              <a:rPr sz="800">
                <a:solidFill>
                  <a:srgbClr val="6C757C"/>
                </a:solidFill>
                <a:latin typeface="Tahoma"/>
                <a:cs typeface="Tahoma"/>
              </a:rPr>
              <a:t>Ethnicity</a:t>
            </a:r>
            <a:r>
              <a:rPr sz="800" spc="15">
                <a:solidFill>
                  <a:srgbClr val="6C757C"/>
                </a:solidFill>
                <a:latin typeface="Tahoma"/>
                <a:cs typeface="Tahoma"/>
              </a:rPr>
              <a:t> </a:t>
            </a:r>
            <a:r>
              <a:rPr sz="800">
                <a:solidFill>
                  <a:srgbClr val="6C757C"/>
                </a:solidFill>
                <a:latin typeface="Tahoma"/>
                <a:cs typeface="Tahoma"/>
              </a:rPr>
              <a:t>data:</a:t>
            </a:r>
            <a:r>
              <a:rPr sz="800" spc="105">
                <a:solidFill>
                  <a:srgbClr val="6C757C"/>
                </a:solidFill>
                <a:latin typeface="Tahoma"/>
                <a:cs typeface="Tahoma"/>
              </a:rPr>
              <a:t> </a:t>
            </a:r>
            <a:r>
              <a:rPr sz="800">
                <a:solidFill>
                  <a:srgbClr val="6C757C"/>
                </a:solidFill>
                <a:latin typeface="Tahoma"/>
                <a:cs typeface="Tahoma"/>
              </a:rPr>
              <a:t>76</a:t>
            </a:r>
            <a:r>
              <a:rPr sz="800" spc="20">
                <a:solidFill>
                  <a:srgbClr val="6C757C"/>
                </a:solidFill>
                <a:latin typeface="Tahoma"/>
                <a:cs typeface="Tahoma"/>
              </a:rPr>
              <a:t> </a:t>
            </a:r>
            <a:r>
              <a:rPr sz="800">
                <a:solidFill>
                  <a:srgbClr val="6C757C"/>
                </a:solidFill>
                <a:latin typeface="Tahoma"/>
                <a:cs typeface="Tahoma"/>
              </a:rPr>
              <a:t>of</a:t>
            </a:r>
            <a:r>
              <a:rPr sz="800" spc="15">
                <a:solidFill>
                  <a:srgbClr val="6C757C"/>
                </a:solidFill>
                <a:latin typeface="Tahoma"/>
                <a:cs typeface="Tahoma"/>
              </a:rPr>
              <a:t> </a:t>
            </a:r>
            <a:r>
              <a:rPr sz="800">
                <a:solidFill>
                  <a:srgbClr val="6C757C"/>
                </a:solidFill>
                <a:latin typeface="Tahoma"/>
                <a:cs typeface="Tahoma"/>
              </a:rPr>
              <a:t>188</a:t>
            </a:r>
            <a:r>
              <a:rPr sz="800" spc="20">
                <a:solidFill>
                  <a:srgbClr val="6C757C"/>
                </a:solidFill>
                <a:latin typeface="Tahoma"/>
                <a:cs typeface="Tahoma"/>
              </a:rPr>
              <a:t> </a:t>
            </a:r>
            <a:r>
              <a:rPr sz="800">
                <a:solidFill>
                  <a:srgbClr val="6C757C"/>
                </a:solidFill>
                <a:latin typeface="Tahoma"/>
                <a:cs typeface="Tahoma"/>
              </a:rPr>
              <a:t>reports</a:t>
            </a:r>
            <a:r>
              <a:rPr sz="800" spc="15">
                <a:solidFill>
                  <a:srgbClr val="6C757C"/>
                </a:solidFill>
                <a:latin typeface="Tahoma"/>
                <a:cs typeface="Tahoma"/>
              </a:rPr>
              <a:t> </a:t>
            </a:r>
            <a:r>
              <a:rPr sz="800">
                <a:solidFill>
                  <a:srgbClr val="6C757C"/>
                </a:solidFill>
                <a:latin typeface="Tahoma"/>
                <a:cs typeface="Tahoma"/>
              </a:rPr>
              <a:t>(Batch</a:t>
            </a:r>
            <a:r>
              <a:rPr sz="800" spc="15">
                <a:solidFill>
                  <a:srgbClr val="6C757C"/>
                </a:solidFill>
                <a:latin typeface="Tahoma"/>
                <a:cs typeface="Tahoma"/>
              </a:rPr>
              <a:t> </a:t>
            </a:r>
            <a:r>
              <a:rPr sz="800" spc="-25">
                <a:solidFill>
                  <a:srgbClr val="6C757C"/>
                </a:solidFill>
                <a:latin typeface="Tahoma"/>
                <a:cs typeface="Tahoma"/>
              </a:rPr>
              <a:t>1)</a:t>
            </a:r>
            <a:endParaRPr sz="800">
              <a:latin typeface="Tahoma"/>
              <a:cs typeface="Tahoma"/>
            </a:endParaRPr>
          </a:p>
        </p:txBody>
      </p:sp>
      <p:sp>
        <p:nvSpPr>
          <p:cNvPr id="7" name="object 7"/>
          <p:cNvSpPr txBox="1"/>
          <p:nvPr/>
        </p:nvSpPr>
        <p:spPr>
          <a:xfrm>
            <a:off x="152548" y="2088306"/>
            <a:ext cx="2061210" cy="537210"/>
          </a:xfrm>
          <a:prstGeom prst="rect">
            <a:avLst/>
          </a:prstGeom>
          <a:solidFill>
            <a:srgbClr val="FFF3EB"/>
          </a:solidFill>
          <a:ln w="5060">
            <a:solidFill>
              <a:srgbClr val="D65F2C"/>
            </a:solidFill>
          </a:ln>
        </p:spPr>
        <p:txBody>
          <a:bodyPr vert="horz" wrap="square" lIns="0" tIns="29845" rIns="0" bIns="0" rtlCol="0">
            <a:spAutoFit/>
          </a:bodyPr>
          <a:lstStyle/>
          <a:p>
            <a:pPr marL="124460">
              <a:lnSpc>
                <a:spcPct val="100000"/>
              </a:lnSpc>
              <a:spcBef>
                <a:spcPts val="235"/>
              </a:spcBef>
            </a:pPr>
            <a:r>
              <a:rPr sz="800">
                <a:solidFill>
                  <a:srgbClr val="202429"/>
                </a:solidFill>
                <a:latin typeface="Tahoma"/>
                <a:cs typeface="Tahoma"/>
              </a:rPr>
              <a:t>Lower</a:t>
            </a:r>
            <a:r>
              <a:rPr sz="800" spc="25">
                <a:solidFill>
                  <a:srgbClr val="202429"/>
                </a:solidFill>
                <a:latin typeface="Tahoma"/>
                <a:cs typeface="Tahoma"/>
              </a:rPr>
              <a:t> </a:t>
            </a:r>
            <a:r>
              <a:rPr sz="800">
                <a:solidFill>
                  <a:srgbClr val="202429"/>
                </a:solidFill>
                <a:latin typeface="Tahoma"/>
                <a:cs typeface="Tahoma"/>
              </a:rPr>
              <a:t>White</a:t>
            </a:r>
            <a:r>
              <a:rPr sz="800" spc="30">
                <a:solidFill>
                  <a:srgbClr val="202429"/>
                </a:solidFill>
                <a:latin typeface="Tahoma"/>
                <a:cs typeface="Tahoma"/>
              </a:rPr>
              <a:t> </a:t>
            </a:r>
            <a:r>
              <a:rPr sz="800">
                <a:solidFill>
                  <a:srgbClr val="202429"/>
                </a:solidFill>
                <a:latin typeface="Tahoma"/>
                <a:cs typeface="Tahoma"/>
              </a:rPr>
              <a:t>British</a:t>
            </a:r>
            <a:r>
              <a:rPr sz="800" spc="30">
                <a:solidFill>
                  <a:srgbClr val="202429"/>
                </a:solidFill>
                <a:latin typeface="Tahoma"/>
                <a:cs typeface="Tahoma"/>
              </a:rPr>
              <a:t> </a:t>
            </a:r>
            <a:r>
              <a:rPr sz="800" spc="-20">
                <a:solidFill>
                  <a:srgbClr val="202429"/>
                </a:solidFill>
                <a:latin typeface="Tahoma"/>
                <a:cs typeface="Tahoma"/>
              </a:rPr>
              <a:t>scores</a:t>
            </a:r>
            <a:r>
              <a:rPr sz="800" spc="30">
                <a:solidFill>
                  <a:srgbClr val="202429"/>
                </a:solidFill>
                <a:latin typeface="Tahoma"/>
                <a:cs typeface="Tahoma"/>
              </a:rPr>
              <a:t> </a:t>
            </a:r>
            <a:r>
              <a:rPr sz="800">
                <a:solidFill>
                  <a:srgbClr val="202429"/>
                </a:solidFill>
                <a:latin typeface="Tahoma"/>
                <a:cs typeface="Tahoma"/>
              </a:rPr>
              <a:t>attributed</a:t>
            </a:r>
            <a:r>
              <a:rPr sz="800" spc="25">
                <a:solidFill>
                  <a:srgbClr val="202429"/>
                </a:solidFill>
                <a:latin typeface="Tahoma"/>
                <a:cs typeface="Tahoma"/>
              </a:rPr>
              <a:t> </a:t>
            </a:r>
            <a:r>
              <a:rPr sz="800" spc="-25">
                <a:solidFill>
                  <a:srgbClr val="202429"/>
                </a:solidFill>
                <a:latin typeface="Tahoma"/>
                <a:cs typeface="Tahoma"/>
              </a:rPr>
              <a:t>to</a:t>
            </a:r>
            <a:endParaRPr sz="800">
              <a:latin typeface="Tahoma"/>
              <a:cs typeface="Tahoma"/>
            </a:endParaRPr>
          </a:p>
          <a:p>
            <a:pPr marL="652145" marR="97790" indent="-546735">
              <a:lnSpc>
                <a:spcPct val="141100"/>
              </a:lnSpc>
            </a:pPr>
            <a:r>
              <a:rPr sz="800" b="1" spc="-25">
                <a:solidFill>
                  <a:srgbClr val="202429"/>
                </a:solidFill>
                <a:latin typeface="Arial"/>
                <a:cs typeface="Arial"/>
              </a:rPr>
              <a:t>larger</a:t>
            </a:r>
            <a:r>
              <a:rPr sz="800" b="1" spc="20">
                <a:solidFill>
                  <a:srgbClr val="202429"/>
                </a:solidFill>
                <a:latin typeface="Arial"/>
                <a:cs typeface="Arial"/>
              </a:rPr>
              <a:t> </a:t>
            </a:r>
            <a:r>
              <a:rPr sz="800" b="1" spc="-35">
                <a:solidFill>
                  <a:srgbClr val="202429"/>
                </a:solidFill>
                <a:latin typeface="Arial"/>
                <a:cs typeface="Arial"/>
              </a:rPr>
              <a:t>sample</a:t>
            </a:r>
            <a:r>
              <a:rPr sz="800" b="1" spc="20">
                <a:solidFill>
                  <a:srgbClr val="202429"/>
                </a:solidFill>
                <a:latin typeface="Arial"/>
                <a:cs typeface="Arial"/>
              </a:rPr>
              <a:t> </a:t>
            </a:r>
            <a:r>
              <a:rPr sz="800" b="1" spc="-35">
                <a:solidFill>
                  <a:srgbClr val="202429"/>
                </a:solidFill>
                <a:latin typeface="Arial"/>
                <a:cs typeface="Arial"/>
              </a:rPr>
              <a:t>size</a:t>
            </a:r>
            <a:r>
              <a:rPr sz="800" b="1" spc="10">
                <a:solidFill>
                  <a:srgbClr val="202429"/>
                </a:solidFill>
                <a:latin typeface="Arial"/>
                <a:cs typeface="Arial"/>
              </a:rPr>
              <a:t> </a:t>
            </a:r>
            <a:r>
              <a:rPr sz="800">
                <a:solidFill>
                  <a:srgbClr val="202429"/>
                </a:solidFill>
                <a:latin typeface="Tahoma"/>
                <a:cs typeface="Tahoma"/>
              </a:rPr>
              <a:t>introducing</a:t>
            </a:r>
            <a:r>
              <a:rPr sz="800" spc="-10">
                <a:solidFill>
                  <a:srgbClr val="202429"/>
                </a:solidFill>
                <a:latin typeface="Tahoma"/>
                <a:cs typeface="Tahoma"/>
              </a:rPr>
              <a:t> variability, </a:t>
            </a:r>
            <a:r>
              <a:rPr sz="800">
                <a:solidFill>
                  <a:srgbClr val="202429"/>
                </a:solidFill>
                <a:latin typeface="Tahoma"/>
                <a:cs typeface="Tahoma"/>
              </a:rPr>
              <a:t>not</a:t>
            </a:r>
            <a:r>
              <a:rPr sz="800" spc="5">
                <a:solidFill>
                  <a:srgbClr val="202429"/>
                </a:solidFill>
                <a:latin typeface="Tahoma"/>
                <a:cs typeface="Tahoma"/>
              </a:rPr>
              <a:t> </a:t>
            </a:r>
            <a:r>
              <a:rPr sz="800">
                <a:solidFill>
                  <a:srgbClr val="202429"/>
                </a:solidFill>
                <a:latin typeface="Tahoma"/>
                <a:cs typeface="Tahoma"/>
              </a:rPr>
              <a:t>model</a:t>
            </a:r>
            <a:r>
              <a:rPr sz="800" spc="10">
                <a:solidFill>
                  <a:srgbClr val="202429"/>
                </a:solidFill>
                <a:latin typeface="Tahoma"/>
                <a:cs typeface="Tahoma"/>
              </a:rPr>
              <a:t> </a:t>
            </a:r>
            <a:r>
              <a:rPr sz="800" spc="-10">
                <a:solidFill>
                  <a:srgbClr val="202429"/>
                </a:solidFill>
                <a:latin typeface="Tahoma"/>
                <a:cs typeface="Tahoma"/>
              </a:rPr>
              <a:t>bias.</a:t>
            </a:r>
            <a:endParaRPr sz="800">
              <a:latin typeface="Tahoma"/>
              <a:cs typeface="Tahoma"/>
            </a:endParaRPr>
          </a:p>
        </p:txBody>
      </p:sp>
      <p:pic>
        <p:nvPicPr>
          <p:cNvPr id="8" name="object 8"/>
          <p:cNvPicPr/>
          <p:nvPr/>
        </p:nvPicPr>
        <p:blipFill>
          <a:blip r:embed="rId3" cstate="print"/>
          <a:stretch>
            <a:fillRect/>
          </a:stretch>
        </p:blipFill>
        <p:spPr>
          <a:xfrm>
            <a:off x="2524448" y="688319"/>
            <a:ext cx="2929025" cy="1942005"/>
          </a:xfrm>
          <a:prstGeom prst="rect">
            <a:avLst/>
          </a:prstGeom>
        </p:spPr>
      </p:pic>
      <p:sp>
        <p:nvSpPr>
          <p:cNvPr id="9" name="object 9"/>
          <p:cNvSpPr txBox="1"/>
          <p:nvPr/>
        </p:nvSpPr>
        <p:spPr>
          <a:xfrm>
            <a:off x="812139" y="2765722"/>
            <a:ext cx="4135754" cy="177800"/>
          </a:xfrm>
          <a:prstGeom prst="rect">
            <a:avLst/>
          </a:prstGeom>
        </p:spPr>
        <p:txBody>
          <a:bodyPr vert="horz" wrap="square" lIns="0" tIns="12065" rIns="0" bIns="0" rtlCol="0">
            <a:spAutoFit/>
          </a:bodyPr>
          <a:lstStyle/>
          <a:p>
            <a:pPr marL="12700">
              <a:lnSpc>
                <a:spcPct val="100000"/>
              </a:lnSpc>
              <a:spcBef>
                <a:spcPts val="95"/>
              </a:spcBef>
            </a:pPr>
            <a:r>
              <a:rPr sz="1000" spc="-40">
                <a:solidFill>
                  <a:srgbClr val="202429"/>
                </a:solidFill>
                <a:latin typeface="Tahoma"/>
                <a:cs typeface="Tahoma"/>
              </a:rPr>
              <a:t>Fairness, </a:t>
            </a:r>
            <a:r>
              <a:rPr sz="1000" spc="-50">
                <a:solidFill>
                  <a:srgbClr val="202429"/>
                </a:solidFill>
                <a:latin typeface="Tahoma"/>
                <a:cs typeface="Tahoma"/>
              </a:rPr>
              <a:t>transparency,</a:t>
            </a:r>
            <a:r>
              <a:rPr sz="1000" spc="-30">
                <a:solidFill>
                  <a:srgbClr val="202429"/>
                </a:solidFill>
                <a:latin typeface="Tahoma"/>
                <a:cs typeface="Tahoma"/>
              </a:rPr>
              <a:t> and </a:t>
            </a:r>
            <a:r>
              <a:rPr sz="1000" spc="-20">
                <a:solidFill>
                  <a:srgbClr val="202429"/>
                </a:solidFill>
                <a:latin typeface="Tahoma"/>
                <a:cs typeface="Tahoma"/>
              </a:rPr>
              <a:t>accountability</a:t>
            </a:r>
            <a:r>
              <a:rPr sz="1000" spc="-30">
                <a:solidFill>
                  <a:srgbClr val="202429"/>
                </a:solidFill>
                <a:latin typeface="Tahoma"/>
                <a:cs typeface="Tahoma"/>
              </a:rPr>
              <a:t> </a:t>
            </a:r>
            <a:r>
              <a:rPr sz="1000" spc="-25">
                <a:solidFill>
                  <a:srgbClr val="202429"/>
                </a:solidFill>
                <a:latin typeface="Tahoma"/>
                <a:cs typeface="Tahoma"/>
              </a:rPr>
              <a:t>must</a:t>
            </a:r>
            <a:r>
              <a:rPr sz="1000" spc="-30">
                <a:solidFill>
                  <a:srgbClr val="202429"/>
                </a:solidFill>
                <a:latin typeface="Tahoma"/>
                <a:cs typeface="Tahoma"/>
              </a:rPr>
              <a:t> </a:t>
            </a:r>
            <a:r>
              <a:rPr sz="1000">
                <a:solidFill>
                  <a:srgbClr val="202429"/>
                </a:solidFill>
                <a:latin typeface="Tahoma"/>
                <a:cs typeface="Tahoma"/>
              </a:rPr>
              <a:t>be</a:t>
            </a:r>
            <a:r>
              <a:rPr sz="1000" spc="-30">
                <a:solidFill>
                  <a:srgbClr val="202429"/>
                </a:solidFill>
                <a:latin typeface="Tahoma"/>
                <a:cs typeface="Tahoma"/>
              </a:rPr>
              <a:t> </a:t>
            </a:r>
            <a:r>
              <a:rPr sz="1000" spc="-50">
                <a:solidFill>
                  <a:srgbClr val="202429"/>
                </a:solidFill>
                <a:latin typeface="Tahoma"/>
                <a:cs typeface="Tahoma"/>
              </a:rPr>
              <a:t>designed</a:t>
            </a:r>
            <a:r>
              <a:rPr sz="1000" spc="-30">
                <a:solidFill>
                  <a:srgbClr val="202429"/>
                </a:solidFill>
                <a:latin typeface="Tahoma"/>
                <a:cs typeface="Tahoma"/>
              </a:rPr>
              <a:t> </a:t>
            </a:r>
            <a:r>
              <a:rPr sz="1000">
                <a:solidFill>
                  <a:srgbClr val="202429"/>
                </a:solidFill>
                <a:latin typeface="Tahoma"/>
                <a:cs typeface="Tahoma"/>
              </a:rPr>
              <a:t>in</a:t>
            </a:r>
            <a:r>
              <a:rPr sz="1000" spc="-30">
                <a:solidFill>
                  <a:srgbClr val="202429"/>
                </a:solidFill>
                <a:latin typeface="Tahoma"/>
                <a:cs typeface="Tahoma"/>
              </a:rPr>
              <a:t> </a:t>
            </a:r>
            <a:r>
              <a:rPr sz="1000" spc="-10">
                <a:solidFill>
                  <a:srgbClr val="202429"/>
                </a:solidFill>
                <a:latin typeface="Tahoma"/>
                <a:cs typeface="Tahoma"/>
              </a:rPr>
              <a:t>from</a:t>
            </a:r>
            <a:r>
              <a:rPr sz="1000" spc="-25">
                <a:solidFill>
                  <a:srgbClr val="202429"/>
                </a:solidFill>
                <a:latin typeface="Tahoma"/>
                <a:cs typeface="Tahoma"/>
              </a:rPr>
              <a:t> </a:t>
            </a:r>
            <a:r>
              <a:rPr sz="1000" spc="-20">
                <a:solidFill>
                  <a:srgbClr val="202429"/>
                </a:solidFill>
                <a:latin typeface="Tahoma"/>
                <a:cs typeface="Tahoma"/>
              </a:rPr>
              <a:t>the</a:t>
            </a:r>
            <a:r>
              <a:rPr sz="1000" spc="-35">
                <a:solidFill>
                  <a:srgbClr val="202429"/>
                </a:solidFill>
                <a:latin typeface="Tahoma"/>
                <a:cs typeface="Tahoma"/>
              </a:rPr>
              <a:t> </a:t>
            </a:r>
            <a:r>
              <a:rPr sz="1000" spc="-10">
                <a:solidFill>
                  <a:srgbClr val="202429"/>
                </a:solidFill>
                <a:latin typeface="Tahoma"/>
                <a:cs typeface="Tahoma"/>
              </a:rPr>
              <a:t>start.</a:t>
            </a:r>
            <a:endParaRPr sz="1000">
              <a:latin typeface="Tahoma"/>
              <a:cs typeface="Tahoma"/>
            </a:endParaRPr>
          </a:p>
        </p:txBody>
      </p:sp>
      <p:sp>
        <p:nvSpPr>
          <p:cNvPr id="10" name="object 10"/>
          <p:cNvSpPr/>
          <p:nvPr/>
        </p:nvSpPr>
        <p:spPr>
          <a:xfrm>
            <a:off x="0" y="3060028"/>
            <a:ext cx="5760085" cy="0"/>
          </a:xfrm>
          <a:custGeom>
            <a:avLst/>
            <a:gdLst/>
            <a:ahLst/>
            <a:cxnLst/>
            <a:rect l="l" t="t" r="r" b="b"/>
            <a:pathLst>
              <a:path w="5760085">
                <a:moveTo>
                  <a:pt x="0" y="0"/>
                </a:moveTo>
                <a:lnTo>
                  <a:pt x="5760073" y="0"/>
                </a:lnTo>
              </a:path>
            </a:pathLst>
          </a:custGeom>
          <a:ln w="6326">
            <a:solidFill>
              <a:srgbClr val="CED3DA"/>
            </a:solidFill>
          </a:ln>
        </p:spPr>
        <p:txBody>
          <a:bodyPr wrap="square" lIns="0" tIns="0" rIns="0" bIns="0" rtlCol="0"/>
          <a:lstStyle/>
          <a:p>
            <a:endParaRPr/>
          </a:p>
        </p:txBody>
      </p:sp>
      <p:sp>
        <p:nvSpPr>
          <p:cNvPr id="13" name="Slide Number Placeholder 12">
            <a:extLst>
              <a:ext uri="{FF2B5EF4-FFF2-40B4-BE49-F238E27FC236}">
                <a16:creationId xmlns:a16="http://schemas.microsoft.com/office/drawing/2014/main" id="{8801087A-C74C-19A3-7B8F-2E43A7970FD8}"/>
              </a:ext>
            </a:extLst>
          </p:cNvPr>
          <p:cNvSpPr>
            <a:spLocks noGrp="1"/>
          </p:cNvSpPr>
          <p:nvPr>
            <p:ph type="sldNum" sz="quarter" idx="7"/>
          </p:nvPr>
        </p:nvSpPr>
        <p:spPr>
          <a:xfrm>
            <a:off x="5377776" y="3089540"/>
            <a:ext cx="388024" cy="173989"/>
          </a:xfrm>
        </p:spPr>
        <p:txBody>
          <a:bodyPr/>
          <a:lstStyle/>
          <a:p>
            <a:pPr marL="39370">
              <a:lnSpc>
                <a:spcPct val="100000"/>
              </a:lnSpc>
              <a:spcBef>
                <a:spcPts val="219"/>
              </a:spcBef>
            </a:pPr>
            <a:fld id="{81D60167-4931-47E6-BA6A-407CBD079E47}" type="slidenum">
              <a:rPr lang="en-GB" smtClean="0"/>
              <a:t>26</a:t>
            </a:fld>
            <a:r>
              <a:rPr lang="en-GB" spc="20"/>
              <a:t> </a:t>
            </a:r>
            <a:r>
              <a:rPr lang="en-GB" spc="120"/>
              <a:t>/</a:t>
            </a:r>
            <a:r>
              <a:rPr lang="en-GB" spc="25"/>
              <a:t> </a:t>
            </a:r>
            <a:r>
              <a:rPr lang="en-GB" spc="-25"/>
              <a:t>41</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212954" rIns="0" bIns="0" rtlCol="0">
            <a:spAutoFit/>
          </a:bodyPr>
          <a:lstStyle/>
          <a:p>
            <a:pPr marL="99060">
              <a:lnSpc>
                <a:spcPct val="100000"/>
              </a:lnSpc>
              <a:spcBef>
                <a:spcPts val="390"/>
              </a:spcBef>
            </a:pPr>
            <a:r>
              <a:t>How</a:t>
            </a:r>
            <a:r>
              <a:rPr spc="85"/>
              <a:t> </a:t>
            </a:r>
            <a:r>
              <a:t>We</a:t>
            </a:r>
            <a:r>
              <a:rPr spc="85"/>
              <a:t> </a:t>
            </a:r>
            <a:r>
              <a:t>Evaluate</a:t>
            </a:r>
            <a:r>
              <a:rPr spc="85"/>
              <a:t> </a:t>
            </a:r>
            <a:r>
              <a:rPr spc="-20"/>
              <a:t>Summary</a:t>
            </a:r>
            <a:r>
              <a:rPr spc="90"/>
              <a:t> </a:t>
            </a:r>
            <a:r>
              <a:rPr spc="-10"/>
              <a:t>Quality</a:t>
            </a:r>
          </a:p>
          <a:p>
            <a:pPr marL="99060">
              <a:lnSpc>
                <a:spcPct val="100000"/>
              </a:lnSpc>
              <a:spcBef>
                <a:spcPts val="195"/>
              </a:spcBef>
            </a:pPr>
            <a:r>
              <a:rPr sz="1100" b="0">
                <a:solidFill>
                  <a:srgbClr val="6C757C"/>
                </a:solidFill>
                <a:latin typeface="Tahoma"/>
                <a:cs typeface="Tahoma"/>
              </a:rPr>
              <a:t>Six</a:t>
            </a:r>
            <a:r>
              <a:rPr sz="1100" b="0" spc="-25">
                <a:solidFill>
                  <a:srgbClr val="6C757C"/>
                </a:solidFill>
                <a:latin typeface="Tahoma"/>
                <a:cs typeface="Tahoma"/>
              </a:rPr>
              <a:t> </a:t>
            </a:r>
            <a:r>
              <a:rPr sz="1100" b="0" spc="-30">
                <a:solidFill>
                  <a:srgbClr val="6C757C"/>
                </a:solidFill>
                <a:latin typeface="Tahoma"/>
                <a:cs typeface="Tahoma"/>
              </a:rPr>
              <a:t>metrics</a:t>
            </a:r>
            <a:r>
              <a:rPr sz="1100" b="0" spc="-20">
                <a:solidFill>
                  <a:srgbClr val="6C757C"/>
                </a:solidFill>
                <a:latin typeface="Tahoma"/>
                <a:cs typeface="Tahoma"/>
              </a:rPr>
              <a:t> </a:t>
            </a:r>
            <a:r>
              <a:rPr sz="1100" b="0" spc="-70">
                <a:solidFill>
                  <a:srgbClr val="6C757C"/>
                </a:solidFill>
                <a:latin typeface="Tahoma"/>
                <a:cs typeface="Tahoma"/>
              </a:rPr>
              <a:t>assess</a:t>
            </a:r>
            <a:r>
              <a:rPr sz="1100" b="0" spc="-20">
                <a:solidFill>
                  <a:srgbClr val="6C757C"/>
                </a:solidFill>
                <a:latin typeface="Tahoma"/>
                <a:cs typeface="Tahoma"/>
              </a:rPr>
              <a:t> </a:t>
            </a:r>
            <a:r>
              <a:rPr sz="1100" b="0" spc="-35">
                <a:solidFill>
                  <a:srgbClr val="6C757C"/>
                </a:solidFill>
                <a:latin typeface="Tahoma"/>
                <a:cs typeface="Tahoma"/>
              </a:rPr>
              <a:t>diﬀerent</a:t>
            </a:r>
            <a:r>
              <a:rPr sz="1100" b="0" spc="-20">
                <a:solidFill>
                  <a:srgbClr val="6C757C"/>
                </a:solidFill>
                <a:latin typeface="Tahoma"/>
                <a:cs typeface="Tahoma"/>
              </a:rPr>
              <a:t> quality </a:t>
            </a:r>
            <a:r>
              <a:rPr sz="1100" b="0" spc="-10">
                <a:solidFill>
                  <a:srgbClr val="6C757C"/>
                </a:solidFill>
                <a:latin typeface="Tahoma"/>
                <a:cs typeface="Tahoma"/>
              </a:rPr>
              <a:t>dimensions</a:t>
            </a:r>
            <a:endParaRPr sz="1100">
              <a:latin typeface="Tahoma"/>
              <a:cs typeface="Tahoma"/>
            </a:endParaRPr>
          </a:p>
        </p:txBody>
      </p:sp>
      <p:sp>
        <p:nvSpPr>
          <p:cNvPr id="3" name="object 3"/>
          <p:cNvSpPr/>
          <p:nvPr/>
        </p:nvSpPr>
        <p:spPr>
          <a:xfrm>
            <a:off x="359994" y="767168"/>
            <a:ext cx="900430" cy="0"/>
          </a:xfrm>
          <a:custGeom>
            <a:avLst/>
            <a:gdLst/>
            <a:ahLst/>
            <a:cxnLst/>
            <a:rect l="l" t="t" r="r" b="b"/>
            <a:pathLst>
              <a:path w="900430">
                <a:moveTo>
                  <a:pt x="0" y="0"/>
                </a:moveTo>
                <a:lnTo>
                  <a:pt x="900010" y="0"/>
                </a:lnTo>
              </a:path>
            </a:pathLst>
          </a:custGeom>
          <a:ln w="18978">
            <a:solidFill>
              <a:srgbClr val="005F73"/>
            </a:solidFill>
          </a:ln>
        </p:spPr>
        <p:txBody>
          <a:bodyPr wrap="square" lIns="0" tIns="0" rIns="0" bIns="0" rtlCol="0"/>
          <a:lstStyle/>
          <a:p>
            <a:endParaRPr/>
          </a:p>
        </p:txBody>
      </p:sp>
      <p:sp>
        <p:nvSpPr>
          <p:cNvPr id="4" name="object 4"/>
          <p:cNvSpPr txBox="1"/>
          <p:nvPr/>
        </p:nvSpPr>
        <p:spPr>
          <a:xfrm>
            <a:off x="439064" y="980978"/>
            <a:ext cx="2209165" cy="1088390"/>
          </a:xfrm>
          <a:prstGeom prst="rect">
            <a:avLst/>
          </a:prstGeom>
        </p:spPr>
        <p:txBody>
          <a:bodyPr vert="horz" wrap="square" lIns="0" tIns="12065" rIns="0" bIns="0" rtlCol="0">
            <a:spAutoFit/>
          </a:bodyPr>
          <a:lstStyle/>
          <a:p>
            <a:pPr marL="144780" marR="340360" indent="-132715">
              <a:lnSpc>
                <a:spcPct val="100000"/>
              </a:lnSpc>
              <a:spcBef>
                <a:spcPts val="95"/>
              </a:spcBef>
              <a:buClr>
                <a:srgbClr val="005F73"/>
              </a:buClr>
              <a:buFont typeface="Times New Roman"/>
              <a:buChar char="•"/>
              <a:tabLst>
                <a:tab pos="144780" algn="l"/>
              </a:tabLst>
            </a:pPr>
            <a:r>
              <a:rPr sz="1000" b="1" spc="-25">
                <a:solidFill>
                  <a:srgbClr val="202429"/>
                </a:solidFill>
                <a:latin typeface="Arial"/>
                <a:cs typeface="Arial"/>
              </a:rPr>
              <a:t>Diversity:</a:t>
            </a:r>
            <a:r>
              <a:rPr sz="1000" b="1" spc="85">
                <a:solidFill>
                  <a:srgbClr val="202429"/>
                </a:solidFill>
                <a:latin typeface="Arial"/>
                <a:cs typeface="Arial"/>
              </a:rPr>
              <a:t> </a:t>
            </a:r>
            <a:r>
              <a:rPr sz="1000" spc="-20">
                <a:solidFill>
                  <a:srgbClr val="202429"/>
                </a:solidFill>
                <a:latin typeface="Tahoma"/>
                <a:cs typeface="Tahoma"/>
              </a:rPr>
              <a:t>Variety</a:t>
            </a:r>
            <a:r>
              <a:rPr sz="1000" spc="-35">
                <a:solidFill>
                  <a:srgbClr val="202429"/>
                </a:solidFill>
                <a:latin typeface="Tahoma"/>
                <a:cs typeface="Tahoma"/>
              </a:rPr>
              <a:t> </a:t>
            </a:r>
            <a:r>
              <a:rPr sz="1000">
                <a:solidFill>
                  <a:srgbClr val="202429"/>
                </a:solidFill>
                <a:latin typeface="Tahoma"/>
                <a:cs typeface="Tahoma"/>
              </a:rPr>
              <a:t>of</a:t>
            </a:r>
            <a:r>
              <a:rPr sz="1000" spc="-35">
                <a:solidFill>
                  <a:srgbClr val="202429"/>
                </a:solidFill>
                <a:latin typeface="Tahoma"/>
                <a:cs typeface="Tahoma"/>
              </a:rPr>
              <a:t> vocabulary (unique</a:t>
            </a:r>
            <a:r>
              <a:rPr sz="1000" spc="-5">
                <a:solidFill>
                  <a:srgbClr val="202429"/>
                </a:solidFill>
                <a:latin typeface="Tahoma"/>
                <a:cs typeface="Tahoma"/>
              </a:rPr>
              <a:t> </a:t>
            </a:r>
            <a:r>
              <a:rPr sz="1000" spc="-60">
                <a:solidFill>
                  <a:srgbClr val="202429"/>
                </a:solidFill>
                <a:latin typeface="Tahoma"/>
                <a:cs typeface="Tahoma"/>
              </a:rPr>
              <a:t>words</a:t>
            </a:r>
            <a:r>
              <a:rPr sz="1000" spc="-5">
                <a:solidFill>
                  <a:srgbClr val="202429"/>
                </a:solidFill>
                <a:latin typeface="Tahoma"/>
                <a:cs typeface="Tahoma"/>
              </a:rPr>
              <a:t> </a:t>
            </a:r>
            <a:r>
              <a:rPr sz="1000" spc="105">
                <a:solidFill>
                  <a:srgbClr val="202429"/>
                </a:solidFill>
                <a:latin typeface="Tahoma"/>
                <a:cs typeface="Tahoma"/>
              </a:rPr>
              <a:t>/</a:t>
            </a:r>
            <a:r>
              <a:rPr sz="1000" spc="-5">
                <a:solidFill>
                  <a:srgbClr val="202429"/>
                </a:solidFill>
                <a:latin typeface="Tahoma"/>
                <a:cs typeface="Tahoma"/>
              </a:rPr>
              <a:t> </a:t>
            </a:r>
            <a:r>
              <a:rPr sz="1000">
                <a:solidFill>
                  <a:srgbClr val="202429"/>
                </a:solidFill>
                <a:latin typeface="Tahoma"/>
                <a:cs typeface="Tahoma"/>
              </a:rPr>
              <a:t>total</a:t>
            </a:r>
            <a:r>
              <a:rPr sz="1000" spc="-5">
                <a:solidFill>
                  <a:srgbClr val="202429"/>
                </a:solidFill>
                <a:latin typeface="Tahoma"/>
                <a:cs typeface="Tahoma"/>
              </a:rPr>
              <a:t> </a:t>
            </a:r>
            <a:r>
              <a:rPr sz="1000" spc="-10">
                <a:solidFill>
                  <a:srgbClr val="202429"/>
                </a:solidFill>
                <a:latin typeface="Tahoma"/>
                <a:cs typeface="Tahoma"/>
              </a:rPr>
              <a:t>words)</a:t>
            </a:r>
            <a:endParaRPr sz="1000">
              <a:latin typeface="Tahoma"/>
              <a:cs typeface="Tahoma"/>
            </a:endParaRPr>
          </a:p>
          <a:p>
            <a:pPr marL="144780" marR="66040" indent="-132715">
              <a:lnSpc>
                <a:spcPct val="100000"/>
              </a:lnSpc>
              <a:spcBef>
                <a:spcPts val="590"/>
              </a:spcBef>
              <a:buClr>
                <a:srgbClr val="005F73"/>
              </a:buClr>
              <a:buFont typeface="Times New Roman"/>
              <a:buChar char="•"/>
              <a:tabLst>
                <a:tab pos="144780" algn="l"/>
              </a:tabLst>
            </a:pPr>
            <a:r>
              <a:rPr sz="1000" b="1" spc="-40">
                <a:solidFill>
                  <a:srgbClr val="202429"/>
                </a:solidFill>
                <a:latin typeface="Arial"/>
                <a:cs typeface="Arial"/>
              </a:rPr>
              <a:t>Relevance:</a:t>
            </a:r>
            <a:r>
              <a:rPr sz="1000" b="1" spc="120">
                <a:solidFill>
                  <a:srgbClr val="202429"/>
                </a:solidFill>
                <a:latin typeface="Arial"/>
                <a:cs typeface="Arial"/>
              </a:rPr>
              <a:t> </a:t>
            </a:r>
            <a:r>
              <a:rPr sz="1000" spc="-20">
                <a:solidFill>
                  <a:srgbClr val="202429"/>
                </a:solidFill>
                <a:latin typeface="Tahoma"/>
                <a:cs typeface="Tahoma"/>
              </a:rPr>
              <a:t>Similarity</a:t>
            </a:r>
            <a:r>
              <a:rPr sz="1000" spc="-10">
                <a:solidFill>
                  <a:srgbClr val="202429"/>
                </a:solidFill>
                <a:latin typeface="Tahoma"/>
                <a:cs typeface="Tahoma"/>
              </a:rPr>
              <a:t> </a:t>
            </a:r>
            <a:r>
              <a:rPr sz="1000">
                <a:solidFill>
                  <a:srgbClr val="202429"/>
                </a:solidFill>
                <a:latin typeface="Tahoma"/>
                <a:cs typeface="Tahoma"/>
              </a:rPr>
              <a:t>to</a:t>
            </a:r>
            <a:r>
              <a:rPr sz="1000" spc="-10">
                <a:solidFill>
                  <a:srgbClr val="202429"/>
                </a:solidFill>
                <a:latin typeface="Tahoma"/>
                <a:cs typeface="Tahoma"/>
              </a:rPr>
              <a:t> </a:t>
            </a:r>
            <a:r>
              <a:rPr sz="1000" spc="-25">
                <a:solidFill>
                  <a:srgbClr val="202429"/>
                </a:solidFill>
                <a:latin typeface="Tahoma"/>
                <a:cs typeface="Tahoma"/>
              </a:rPr>
              <a:t>original</a:t>
            </a:r>
            <a:r>
              <a:rPr sz="1000" spc="-10">
                <a:solidFill>
                  <a:srgbClr val="202429"/>
                </a:solidFill>
                <a:latin typeface="Tahoma"/>
                <a:cs typeface="Tahoma"/>
              </a:rPr>
              <a:t> </a:t>
            </a:r>
            <a:r>
              <a:rPr sz="1000" spc="-20">
                <a:solidFill>
                  <a:srgbClr val="202429"/>
                </a:solidFill>
                <a:latin typeface="Tahoma"/>
                <a:cs typeface="Tahoma"/>
              </a:rPr>
              <a:t>text </a:t>
            </a:r>
            <a:r>
              <a:rPr sz="1000" spc="-30">
                <a:solidFill>
                  <a:srgbClr val="202429"/>
                </a:solidFill>
                <a:latin typeface="Tahoma"/>
                <a:cs typeface="Tahoma"/>
              </a:rPr>
              <a:t>(cosine </a:t>
            </a:r>
            <a:r>
              <a:rPr sz="1000" spc="-10">
                <a:solidFill>
                  <a:srgbClr val="202429"/>
                </a:solidFill>
                <a:latin typeface="Tahoma"/>
                <a:cs typeface="Tahoma"/>
              </a:rPr>
              <a:t>similarity)</a:t>
            </a:r>
            <a:endParaRPr sz="1000">
              <a:latin typeface="Tahoma"/>
              <a:cs typeface="Tahoma"/>
            </a:endParaRPr>
          </a:p>
          <a:p>
            <a:pPr marL="144780" marR="5080" indent="-132715">
              <a:lnSpc>
                <a:spcPct val="100000"/>
              </a:lnSpc>
              <a:spcBef>
                <a:spcPts val="585"/>
              </a:spcBef>
              <a:buClr>
                <a:srgbClr val="005F73"/>
              </a:buClr>
              <a:buFont typeface="Times New Roman"/>
              <a:buChar char="•"/>
              <a:tabLst>
                <a:tab pos="144780" algn="l"/>
              </a:tabLst>
            </a:pPr>
            <a:r>
              <a:rPr sz="1000" b="1" spc="-40">
                <a:solidFill>
                  <a:srgbClr val="202429"/>
                </a:solidFill>
                <a:latin typeface="Arial"/>
                <a:cs typeface="Arial"/>
              </a:rPr>
              <a:t>Coverage:</a:t>
            </a:r>
            <a:r>
              <a:rPr sz="1000" b="1" spc="114">
                <a:solidFill>
                  <a:srgbClr val="202429"/>
                </a:solidFill>
                <a:latin typeface="Arial"/>
                <a:cs typeface="Arial"/>
              </a:rPr>
              <a:t> </a:t>
            </a:r>
            <a:r>
              <a:rPr sz="1000" spc="-20">
                <a:solidFill>
                  <a:srgbClr val="202429"/>
                </a:solidFill>
                <a:latin typeface="Tahoma"/>
                <a:cs typeface="Tahoma"/>
              </a:rPr>
              <a:t>Proportion </a:t>
            </a:r>
            <a:r>
              <a:rPr sz="1000">
                <a:solidFill>
                  <a:srgbClr val="202429"/>
                </a:solidFill>
                <a:latin typeface="Tahoma"/>
                <a:cs typeface="Tahoma"/>
              </a:rPr>
              <a:t>of</a:t>
            </a:r>
            <a:r>
              <a:rPr sz="1000" spc="-20">
                <a:solidFill>
                  <a:srgbClr val="202429"/>
                </a:solidFill>
                <a:latin typeface="Tahoma"/>
                <a:cs typeface="Tahoma"/>
              </a:rPr>
              <a:t> </a:t>
            </a:r>
            <a:r>
              <a:rPr sz="1000" spc="-45">
                <a:solidFill>
                  <a:srgbClr val="202429"/>
                </a:solidFill>
                <a:latin typeface="Tahoma"/>
                <a:cs typeface="Tahoma"/>
              </a:rPr>
              <a:t>key</a:t>
            </a:r>
            <a:r>
              <a:rPr sz="1000" spc="-20">
                <a:solidFill>
                  <a:srgbClr val="202429"/>
                </a:solidFill>
                <a:latin typeface="Tahoma"/>
                <a:cs typeface="Tahoma"/>
              </a:rPr>
              <a:t> </a:t>
            </a:r>
            <a:r>
              <a:rPr sz="1000" spc="-25">
                <a:solidFill>
                  <a:srgbClr val="202429"/>
                </a:solidFill>
                <a:latin typeface="Tahoma"/>
                <a:cs typeface="Tahoma"/>
              </a:rPr>
              <a:t>concepts </a:t>
            </a:r>
            <a:r>
              <a:rPr sz="1000" spc="-10">
                <a:solidFill>
                  <a:srgbClr val="202429"/>
                </a:solidFill>
                <a:latin typeface="Tahoma"/>
                <a:cs typeface="Tahoma"/>
              </a:rPr>
              <a:t>captured</a:t>
            </a:r>
            <a:endParaRPr sz="1000">
              <a:latin typeface="Tahoma"/>
              <a:cs typeface="Tahoma"/>
            </a:endParaRPr>
          </a:p>
        </p:txBody>
      </p:sp>
      <p:sp>
        <p:nvSpPr>
          <p:cNvPr id="5" name="object 5"/>
          <p:cNvSpPr txBox="1"/>
          <p:nvPr/>
        </p:nvSpPr>
        <p:spPr>
          <a:xfrm>
            <a:off x="3165462" y="980978"/>
            <a:ext cx="2056764" cy="936625"/>
          </a:xfrm>
          <a:prstGeom prst="rect">
            <a:avLst/>
          </a:prstGeom>
        </p:spPr>
        <p:txBody>
          <a:bodyPr vert="horz" wrap="square" lIns="0" tIns="12065" rIns="0" bIns="0" rtlCol="0">
            <a:spAutoFit/>
          </a:bodyPr>
          <a:lstStyle/>
          <a:p>
            <a:pPr marL="144780" marR="106045" indent="-132715">
              <a:lnSpc>
                <a:spcPct val="100000"/>
              </a:lnSpc>
              <a:spcBef>
                <a:spcPts val="95"/>
              </a:spcBef>
              <a:buClr>
                <a:srgbClr val="005F73"/>
              </a:buClr>
              <a:buFont typeface="Times New Roman"/>
              <a:buChar char="•"/>
              <a:tabLst>
                <a:tab pos="144780" algn="l"/>
              </a:tabLst>
            </a:pPr>
            <a:r>
              <a:rPr sz="1000" b="1" spc="-40">
                <a:solidFill>
                  <a:srgbClr val="202429"/>
                </a:solidFill>
                <a:latin typeface="Arial"/>
                <a:cs typeface="Arial"/>
              </a:rPr>
              <a:t>Coherence:</a:t>
            </a:r>
            <a:r>
              <a:rPr sz="1000" b="1" spc="70">
                <a:solidFill>
                  <a:srgbClr val="202429"/>
                </a:solidFill>
                <a:latin typeface="Arial"/>
                <a:cs typeface="Arial"/>
              </a:rPr>
              <a:t> </a:t>
            </a:r>
            <a:r>
              <a:rPr sz="1000" spc="-10">
                <a:solidFill>
                  <a:srgbClr val="202429"/>
                </a:solidFill>
                <a:latin typeface="Tahoma"/>
                <a:cs typeface="Tahoma"/>
              </a:rPr>
              <a:t>Logical</a:t>
            </a:r>
            <a:r>
              <a:rPr sz="1000" spc="-50">
                <a:solidFill>
                  <a:srgbClr val="202429"/>
                </a:solidFill>
                <a:latin typeface="Tahoma"/>
                <a:cs typeface="Tahoma"/>
              </a:rPr>
              <a:t> </a:t>
            </a:r>
            <a:r>
              <a:rPr sz="1000" spc="-20">
                <a:solidFill>
                  <a:srgbClr val="202429"/>
                </a:solidFill>
                <a:latin typeface="Tahoma"/>
                <a:cs typeface="Tahoma"/>
              </a:rPr>
              <a:t>ﬂow</a:t>
            </a:r>
            <a:r>
              <a:rPr sz="1000" spc="-55">
                <a:solidFill>
                  <a:srgbClr val="202429"/>
                </a:solidFill>
                <a:latin typeface="Tahoma"/>
                <a:cs typeface="Tahoma"/>
              </a:rPr>
              <a:t> </a:t>
            </a:r>
            <a:r>
              <a:rPr sz="1000" spc="-50">
                <a:solidFill>
                  <a:srgbClr val="202429"/>
                </a:solidFill>
                <a:latin typeface="Tahoma"/>
                <a:cs typeface="Tahoma"/>
              </a:rPr>
              <a:t>between </a:t>
            </a:r>
            <a:r>
              <a:rPr sz="1000" spc="-10">
                <a:solidFill>
                  <a:srgbClr val="202429"/>
                </a:solidFill>
                <a:latin typeface="Tahoma"/>
                <a:cs typeface="Tahoma"/>
              </a:rPr>
              <a:t>sentences</a:t>
            </a:r>
            <a:endParaRPr sz="1000">
              <a:latin typeface="Tahoma"/>
              <a:cs typeface="Tahoma"/>
            </a:endParaRPr>
          </a:p>
          <a:p>
            <a:pPr marL="144780" indent="-132080">
              <a:lnSpc>
                <a:spcPct val="100000"/>
              </a:lnSpc>
              <a:spcBef>
                <a:spcPts val="590"/>
              </a:spcBef>
              <a:buClr>
                <a:srgbClr val="005F73"/>
              </a:buClr>
              <a:buFont typeface="Times New Roman"/>
              <a:buChar char="•"/>
              <a:tabLst>
                <a:tab pos="144780" algn="l"/>
              </a:tabLst>
            </a:pPr>
            <a:r>
              <a:rPr sz="1000" b="1" spc="-70">
                <a:solidFill>
                  <a:srgbClr val="202429"/>
                </a:solidFill>
                <a:latin typeface="Arial"/>
                <a:cs typeface="Arial"/>
              </a:rPr>
              <a:t>Conciseness:</a:t>
            </a:r>
            <a:r>
              <a:rPr sz="1000" b="1" spc="90">
                <a:solidFill>
                  <a:srgbClr val="202429"/>
                </a:solidFill>
                <a:latin typeface="Arial"/>
                <a:cs typeface="Arial"/>
              </a:rPr>
              <a:t> </a:t>
            </a:r>
            <a:r>
              <a:rPr sz="1000" spc="-10">
                <a:solidFill>
                  <a:srgbClr val="202429"/>
                </a:solidFill>
                <a:latin typeface="Tahoma"/>
                <a:cs typeface="Tahoma"/>
              </a:rPr>
              <a:t>Brevity</a:t>
            </a:r>
            <a:r>
              <a:rPr sz="1000" spc="-35">
                <a:solidFill>
                  <a:srgbClr val="202429"/>
                </a:solidFill>
                <a:latin typeface="Tahoma"/>
                <a:cs typeface="Tahoma"/>
              </a:rPr>
              <a:t> </a:t>
            </a:r>
            <a:r>
              <a:rPr sz="1000">
                <a:solidFill>
                  <a:srgbClr val="202429"/>
                </a:solidFill>
                <a:latin typeface="Tahoma"/>
                <a:cs typeface="Tahoma"/>
              </a:rPr>
              <a:t>of</a:t>
            </a:r>
            <a:r>
              <a:rPr sz="1000" spc="-35">
                <a:solidFill>
                  <a:srgbClr val="202429"/>
                </a:solidFill>
                <a:latin typeface="Tahoma"/>
                <a:cs typeface="Tahoma"/>
              </a:rPr>
              <a:t> </a:t>
            </a:r>
            <a:r>
              <a:rPr sz="1000" spc="-10">
                <a:solidFill>
                  <a:srgbClr val="202429"/>
                </a:solidFill>
                <a:latin typeface="Tahoma"/>
                <a:cs typeface="Tahoma"/>
              </a:rPr>
              <a:t>summary</a:t>
            </a:r>
            <a:endParaRPr sz="1000">
              <a:latin typeface="Tahoma"/>
              <a:cs typeface="Tahoma"/>
            </a:endParaRPr>
          </a:p>
          <a:p>
            <a:pPr marL="144780" marR="5080" indent="-132715">
              <a:lnSpc>
                <a:spcPct val="100000"/>
              </a:lnSpc>
              <a:spcBef>
                <a:spcPts val="590"/>
              </a:spcBef>
              <a:buClr>
                <a:srgbClr val="005F73"/>
              </a:buClr>
              <a:buFont typeface="Times New Roman"/>
              <a:buChar char="•"/>
              <a:tabLst>
                <a:tab pos="144780" algn="l"/>
              </a:tabLst>
            </a:pPr>
            <a:r>
              <a:rPr sz="1000" b="1" spc="-25">
                <a:solidFill>
                  <a:srgbClr val="202429"/>
                </a:solidFill>
                <a:latin typeface="Arial"/>
                <a:cs typeface="Arial"/>
              </a:rPr>
              <a:t>Readability:</a:t>
            </a:r>
            <a:r>
              <a:rPr sz="1000" b="1" spc="80">
                <a:solidFill>
                  <a:srgbClr val="202429"/>
                </a:solidFill>
                <a:latin typeface="Arial"/>
                <a:cs typeface="Arial"/>
              </a:rPr>
              <a:t> </a:t>
            </a:r>
            <a:r>
              <a:rPr sz="1000" spc="-25">
                <a:solidFill>
                  <a:srgbClr val="202429"/>
                </a:solidFill>
                <a:latin typeface="Tahoma"/>
                <a:cs typeface="Tahoma"/>
              </a:rPr>
              <a:t>Ease</a:t>
            </a:r>
            <a:r>
              <a:rPr sz="1000" spc="-40">
                <a:solidFill>
                  <a:srgbClr val="202429"/>
                </a:solidFill>
                <a:latin typeface="Tahoma"/>
                <a:cs typeface="Tahoma"/>
              </a:rPr>
              <a:t> </a:t>
            </a:r>
            <a:r>
              <a:rPr sz="1000">
                <a:solidFill>
                  <a:srgbClr val="202429"/>
                </a:solidFill>
                <a:latin typeface="Tahoma"/>
                <a:cs typeface="Tahoma"/>
              </a:rPr>
              <a:t>of</a:t>
            </a:r>
            <a:r>
              <a:rPr sz="1000" spc="-40">
                <a:solidFill>
                  <a:srgbClr val="202429"/>
                </a:solidFill>
                <a:latin typeface="Tahoma"/>
                <a:cs typeface="Tahoma"/>
              </a:rPr>
              <a:t> </a:t>
            </a:r>
            <a:r>
              <a:rPr sz="1000" spc="-45">
                <a:solidFill>
                  <a:srgbClr val="202429"/>
                </a:solidFill>
                <a:latin typeface="Tahoma"/>
                <a:cs typeface="Tahoma"/>
              </a:rPr>
              <a:t>understanding </a:t>
            </a:r>
            <a:r>
              <a:rPr sz="1000" spc="-25">
                <a:solidFill>
                  <a:srgbClr val="202429"/>
                </a:solidFill>
                <a:latin typeface="Tahoma"/>
                <a:cs typeface="Tahoma"/>
              </a:rPr>
              <a:t>(Flesch</a:t>
            </a:r>
            <a:r>
              <a:rPr sz="1000" spc="-30">
                <a:solidFill>
                  <a:srgbClr val="202429"/>
                </a:solidFill>
                <a:latin typeface="Tahoma"/>
                <a:cs typeface="Tahoma"/>
              </a:rPr>
              <a:t> </a:t>
            </a:r>
            <a:r>
              <a:rPr sz="1000" spc="-10">
                <a:solidFill>
                  <a:srgbClr val="202429"/>
                </a:solidFill>
                <a:latin typeface="Tahoma"/>
                <a:cs typeface="Tahoma"/>
              </a:rPr>
              <a:t>score)</a:t>
            </a:r>
            <a:endParaRPr sz="1000">
              <a:latin typeface="Tahoma"/>
              <a:cs typeface="Tahoma"/>
            </a:endParaRPr>
          </a:p>
        </p:txBody>
      </p:sp>
      <p:sp>
        <p:nvSpPr>
          <p:cNvPr id="6" name="object 6"/>
          <p:cNvSpPr txBox="1"/>
          <p:nvPr/>
        </p:nvSpPr>
        <p:spPr>
          <a:xfrm>
            <a:off x="1743709" y="2301417"/>
            <a:ext cx="2272665" cy="177800"/>
          </a:xfrm>
          <a:prstGeom prst="rect">
            <a:avLst/>
          </a:prstGeom>
        </p:spPr>
        <p:txBody>
          <a:bodyPr vert="horz" wrap="square" lIns="0" tIns="12065" rIns="0" bIns="0" rtlCol="0">
            <a:spAutoFit/>
          </a:bodyPr>
          <a:lstStyle/>
          <a:p>
            <a:pPr marL="12700">
              <a:lnSpc>
                <a:spcPct val="100000"/>
              </a:lnSpc>
              <a:spcBef>
                <a:spcPts val="95"/>
              </a:spcBef>
            </a:pPr>
            <a:r>
              <a:rPr sz="1000" spc="-25">
                <a:solidFill>
                  <a:srgbClr val="202429"/>
                </a:solidFill>
                <a:latin typeface="Tahoma"/>
                <a:cs typeface="Tahoma"/>
              </a:rPr>
              <a:t>Higher</a:t>
            </a:r>
            <a:r>
              <a:rPr sz="1000" spc="-35">
                <a:solidFill>
                  <a:srgbClr val="202429"/>
                </a:solidFill>
                <a:latin typeface="Tahoma"/>
                <a:cs typeface="Tahoma"/>
              </a:rPr>
              <a:t> </a:t>
            </a:r>
            <a:r>
              <a:rPr sz="1000" spc="-40">
                <a:solidFill>
                  <a:srgbClr val="202429"/>
                </a:solidFill>
                <a:latin typeface="Tahoma"/>
                <a:cs typeface="Tahoma"/>
              </a:rPr>
              <a:t>values</a:t>
            </a:r>
            <a:r>
              <a:rPr sz="1000" spc="-35">
                <a:solidFill>
                  <a:srgbClr val="202429"/>
                </a:solidFill>
                <a:latin typeface="Tahoma"/>
                <a:cs typeface="Tahoma"/>
              </a:rPr>
              <a:t> </a:t>
            </a:r>
            <a:r>
              <a:rPr sz="1000" spc="-20">
                <a:solidFill>
                  <a:srgbClr val="202429"/>
                </a:solidFill>
                <a:latin typeface="Tahoma"/>
                <a:cs typeface="Tahoma"/>
              </a:rPr>
              <a:t>indicate</a:t>
            </a:r>
            <a:r>
              <a:rPr sz="1000" spc="-30">
                <a:solidFill>
                  <a:srgbClr val="202429"/>
                </a:solidFill>
                <a:latin typeface="Tahoma"/>
                <a:cs typeface="Tahoma"/>
              </a:rPr>
              <a:t> </a:t>
            </a:r>
            <a:r>
              <a:rPr sz="1000" spc="-20">
                <a:solidFill>
                  <a:srgbClr val="202429"/>
                </a:solidFill>
                <a:latin typeface="Tahoma"/>
                <a:cs typeface="Tahoma"/>
              </a:rPr>
              <a:t>better</a:t>
            </a:r>
            <a:r>
              <a:rPr sz="1000" spc="-30">
                <a:solidFill>
                  <a:srgbClr val="202429"/>
                </a:solidFill>
                <a:latin typeface="Tahoma"/>
                <a:cs typeface="Tahoma"/>
              </a:rPr>
              <a:t> </a:t>
            </a:r>
            <a:r>
              <a:rPr sz="1000" spc="-35">
                <a:solidFill>
                  <a:srgbClr val="202429"/>
                </a:solidFill>
                <a:latin typeface="Tahoma"/>
                <a:cs typeface="Tahoma"/>
              </a:rPr>
              <a:t>performance.</a:t>
            </a:r>
            <a:endParaRPr sz="1000">
              <a:latin typeface="Tahoma"/>
              <a:cs typeface="Tahoma"/>
            </a:endParaRPr>
          </a:p>
        </p:txBody>
      </p:sp>
      <p:sp>
        <p:nvSpPr>
          <p:cNvPr id="7" name="object 7"/>
          <p:cNvSpPr txBox="1"/>
          <p:nvPr/>
        </p:nvSpPr>
        <p:spPr>
          <a:xfrm>
            <a:off x="499427" y="2653894"/>
            <a:ext cx="4761230" cy="194945"/>
          </a:xfrm>
          <a:prstGeom prst="rect">
            <a:avLst/>
          </a:prstGeom>
          <a:solidFill>
            <a:srgbClr val="E8F4F8"/>
          </a:solidFill>
          <a:ln w="5060">
            <a:solidFill>
              <a:srgbClr val="005F73"/>
            </a:solidFill>
          </a:ln>
        </p:spPr>
        <p:txBody>
          <a:bodyPr vert="horz" wrap="square" lIns="0" tIns="1270" rIns="0" bIns="0" rtlCol="0">
            <a:spAutoFit/>
          </a:bodyPr>
          <a:lstStyle/>
          <a:p>
            <a:pPr marL="175260">
              <a:lnSpc>
                <a:spcPct val="100000"/>
              </a:lnSpc>
              <a:spcBef>
                <a:spcPts val="10"/>
              </a:spcBef>
            </a:pPr>
            <a:r>
              <a:rPr sz="1000" spc="-30">
                <a:solidFill>
                  <a:srgbClr val="202429"/>
                </a:solidFill>
                <a:latin typeface="Tahoma"/>
                <a:cs typeface="Tahoma"/>
              </a:rPr>
              <a:t>These </a:t>
            </a:r>
            <a:r>
              <a:rPr sz="1000" spc="-25">
                <a:solidFill>
                  <a:srgbClr val="202429"/>
                </a:solidFill>
                <a:latin typeface="Tahoma"/>
                <a:cs typeface="Tahoma"/>
              </a:rPr>
              <a:t>metrics</a:t>
            </a:r>
            <a:r>
              <a:rPr sz="1000" spc="-30">
                <a:solidFill>
                  <a:srgbClr val="202429"/>
                </a:solidFill>
                <a:latin typeface="Tahoma"/>
                <a:cs typeface="Tahoma"/>
              </a:rPr>
              <a:t> </a:t>
            </a:r>
            <a:r>
              <a:rPr sz="1000" spc="-40">
                <a:solidFill>
                  <a:srgbClr val="202429"/>
                </a:solidFill>
                <a:latin typeface="Tahoma"/>
                <a:cs typeface="Tahoma"/>
              </a:rPr>
              <a:t>enable</a:t>
            </a:r>
            <a:r>
              <a:rPr sz="1000" spc="-25">
                <a:solidFill>
                  <a:srgbClr val="202429"/>
                </a:solidFill>
                <a:latin typeface="Tahoma"/>
                <a:cs typeface="Tahoma"/>
              </a:rPr>
              <a:t> </a:t>
            </a:r>
            <a:r>
              <a:rPr sz="1000" spc="-30">
                <a:solidFill>
                  <a:srgbClr val="202429"/>
                </a:solidFill>
                <a:latin typeface="Tahoma"/>
                <a:cs typeface="Tahoma"/>
              </a:rPr>
              <a:t>objective</a:t>
            </a:r>
            <a:r>
              <a:rPr sz="1000" spc="-25">
                <a:solidFill>
                  <a:srgbClr val="202429"/>
                </a:solidFill>
                <a:latin typeface="Tahoma"/>
                <a:cs typeface="Tahoma"/>
              </a:rPr>
              <a:t> </a:t>
            </a:r>
            <a:r>
              <a:rPr sz="1000" spc="-45">
                <a:solidFill>
                  <a:srgbClr val="202429"/>
                </a:solidFill>
                <a:latin typeface="Tahoma"/>
                <a:cs typeface="Tahoma"/>
              </a:rPr>
              <a:t>comparison</a:t>
            </a:r>
            <a:r>
              <a:rPr sz="1000" spc="-30">
                <a:solidFill>
                  <a:srgbClr val="202429"/>
                </a:solidFill>
                <a:latin typeface="Tahoma"/>
                <a:cs typeface="Tahoma"/>
              </a:rPr>
              <a:t> </a:t>
            </a:r>
            <a:r>
              <a:rPr sz="1000" spc="-40">
                <a:solidFill>
                  <a:srgbClr val="202429"/>
                </a:solidFill>
                <a:latin typeface="Tahoma"/>
                <a:cs typeface="Tahoma"/>
              </a:rPr>
              <a:t>across</a:t>
            </a:r>
            <a:r>
              <a:rPr sz="1000" spc="-20">
                <a:solidFill>
                  <a:srgbClr val="202429"/>
                </a:solidFill>
                <a:latin typeface="Tahoma"/>
                <a:cs typeface="Tahoma"/>
              </a:rPr>
              <a:t> </a:t>
            </a:r>
            <a:r>
              <a:rPr sz="1000" spc="-30">
                <a:solidFill>
                  <a:srgbClr val="202429"/>
                </a:solidFill>
                <a:latin typeface="Tahoma"/>
                <a:cs typeface="Tahoma"/>
              </a:rPr>
              <a:t>models</a:t>
            </a:r>
            <a:r>
              <a:rPr sz="1000" spc="-25">
                <a:solidFill>
                  <a:srgbClr val="202429"/>
                </a:solidFill>
                <a:latin typeface="Tahoma"/>
                <a:cs typeface="Tahoma"/>
              </a:rPr>
              <a:t> and</a:t>
            </a:r>
            <a:r>
              <a:rPr sz="1000" spc="-30">
                <a:solidFill>
                  <a:srgbClr val="202429"/>
                </a:solidFill>
                <a:latin typeface="Tahoma"/>
                <a:cs typeface="Tahoma"/>
              </a:rPr>
              <a:t> </a:t>
            </a:r>
            <a:r>
              <a:rPr sz="1000" spc="-40">
                <a:solidFill>
                  <a:srgbClr val="202429"/>
                </a:solidFill>
                <a:latin typeface="Tahoma"/>
                <a:cs typeface="Tahoma"/>
              </a:rPr>
              <a:t>demographic</a:t>
            </a:r>
            <a:r>
              <a:rPr sz="1000" spc="-25">
                <a:solidFill>
                  <a:srgbClr val="202429"/>
                </a:solidFill>
                <a:latin typeface="Tahoma"/>
                <a:cs typeface="Tahoma"/>
              </a:rPr>
              <a:t> </a:t>
            </a:r>
            <a:r>
              <a:rPr sz="1000" spc="-10">
                <a:solidFill>
                  <a:srgbClr val="202429"/>
                </a:solidFill>
                <a:latin typeface="Tahoma"/>
                <a:cs typeface="Tahoma"/>
              </a:rPr>
              <a:t>groups</a:t>
            </a:r>
            <a:endParaRPr sz="1000">
              <a:latin typeface="Tahoma"/>
              <a:cs typeface="Tahoma"/>
            </a:endParaRPr>
          </a:p>
        </p:txBody>
      </p:sp>
      <p:sp>
        <p:nvSpPr>
          <p:cNvPr id="8" name="object 8"/>
          <p:cNvSpPr/>
          <p:nvPr/>
        </p:nvSpPr>
        <p:spPr>
          <a:xfrm>
            <a:off x="0" y="3060028"/>
            <a:ext cx="5760085" cy="0"/>
          </a:xfrm>
          <a:custGeom>
            <a:avLst/>
            <a:gdLst/>
            <a:ahLst/>
            <a:cxnLst/>
            <a:rect l="l" t="t" r="r" b="b"/>
            <a:pathLst>
              <a:path w="5760085">
                <a:moveTo>
                  <a:pt x="0" y="0"/>
                </a:moveTo>
                <a:lnTo>
                  <a:pt x="5760073" y="0"/>
                </a:lnTo>
              </a:path>
            </a:pathLst>
          </a:custGeom>
          <a:ln w="6326">
            <a:solidFill>
              <a:srgbClr val="CED3DA"/>
            </a:solidFill>
          </a:ln>
        </p:spPr>
        <p:txBody>
          <a:bodyPr wrap="square" lIns="0" tIns="0" rIns="0" bIns="0" rtlCol="0"/>
          <a:lstStyle/>
          <a:p>
            <a:endParaRPr/>
          </a:p>
        </p:txBody>
      </p:sp>
      <p:sp>
        <p:nvSpPr>
          <p:cNvPr id="11" name="Slide Number Placeholder 10">
            <a:extLst>
              <a:ext uri="{FF2B5EF4-FFF2-40B4-BE49-F238E27FC236}">
                <a16:creationId xmlns:a16="http://schemas.microsoft.com/office/drawing/2014/main" id="{E2C23FA1-6668-D2A2-4E3C-7BE16183A72E}"/>
              </a:ext>
            </a:extLst>
          </p:cNvPr>
          <p:cNvSpPr>
            <a:spLocks noGrp="1"/>
          </p:cNvSpPr>
          <p:nvPr>
            <p:ph type="sldNum" sz="quarter" idx="7"/>
          </p:nvPr>
        </p:nvSpPr>
        <p:spPr>
          <a:xfrm>
            <a:off x="5362219" y="3070861"/>
            <a:ext cx="403581" cy="173989"/>
          </a:xfrm>
        </p:spPr>
        <p:txBody>
          <a:bodyPr/>
          <a:lstStyle/>
          <a:p>
            <a:pPr marL="39370">
              <a:lnSpc>
                <a:spcPct val="100000"/>
              </a:lnSpc>
              <a:spcBef>
                <a:spcPts val="219"/>
              </a:spcBef>
            </a:pPr>
            <a:fld id="{81D60167-4931-47E6-BA6A-407CBD079E47}" type="slidenum">
              <a:rPr lang="en-GB" smtClean="0"/>
              <a:t>27</a:t>
            </a:fld>
            <a:r>
              <a:rPr lang="en-GB" spc="20"/>
              <a:t> </a:t>
            </a:r>
            <a:r>
              <a:rPr lang="en-GB" spc="120"/>
              <a:t>/</a:t>
            </a:r>
            <a:r>
              <a:rPr lang="en-GB" spc="25"/>
              <a:t> </a:t>
            </a:r>
            <a:r>
              <a:rPr lang="en-GB" spc="-25"/>
              <a:t>41</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46507" rIns="0" bIns="0" rtlCol="0">
            <a:spAutoFit/>
          </a:bodyPr>
          <a:lstStyle/>
          <a:p>
            <a:pPr marL="99060">
              <a:lnSpc>
                <a:spcPct val="100000"/>
              </a:lnSpc>
              <a:spcBef>
                <a:spcPts val="390"/>
              </a:spcBef>
            </a:pPr>
            <a:r>
              <a:rPr spc="-10"/>
              <a:t>Example</a:t>
            </a:r>
            <a:r>
              <a:t> </a:t>
            </a:r>
            <a:r>
              <a:rPr spc="-40"/>
              <a:t>Summaries</a:t>
            </a:r>
            <a:r>
              <a:rPr spc="-5"/>
              <a:t> </a:t>
            </a:r>
            <a:r>
              <a:rPr spc="-10"/>
              <a:t>Generated</a:t>
            </a:r>
            <a:r>
              <a:t> by </a:t>
            </a:r>
            <a:r>
              <a:rPr spc="45"/>
              <a:t>BART</a:t>
            </a:r>
          </a:p>
          <a:p>
            <a:pPr marL="99060">
              <a:lnSpc>
                <a:spcPct val="100000"/>
              </a:lnSpc>
              <a:spcBef>
                <a:spcPts val="195"/>
              </a:spcBef>
            </a:pPr>
            <a:r>
              <a:rPr sz="1100" b="0" spc="-35">
                <a:solidFill>
                  <a:srgbClr val="6C757C"/>
                </a:solidFill>
                <a:latin typeface="Tahoma"/>
                <a:cs typeface="Tahoma"/>
              </a:rPr>
              <a:t>Demonstrating</a:t>
            </a:r>
            <a:r>
              <a:rPr sz="1100" b="0" spc="-10">
                <a:solidFill>
                  <a:srgbClr val="6C757C"/>
                </a:solidFill>
                <a:latin typeface="Tahoma"/>
                <a:cs typeface="Tahoma"/>
              </a:rPr>
              <a:t> </a:t>
            </a:r>
            <a:r>
              <a:rPr sz="1100" b="0" spc="-45">
                <a:solidFill>
                  <a:srgbClr val="6C757C"/>
                </a:solidFill>
                <a:latin typeface="Tahoma"/>
                <a:cs typeface="Tahoma"/>
              </a:rPr>
              <a:t>summarisation</a:t>
            </a:r>
            <a:r>
              <a:rPr sz="1100" b="0" spc="-10">
                <a:solidFill>
                  <a:srgbClr val="6C757C"/>
                </a:solidFill>
                <a:latin typeface="Tahoma"/>
                <a:cs typeface="Tahoma"/>
              </a:rPr>
              <a:t> </a:t>
            </a:r>
            <a:r>
              <a:rPr sz="1100" b="0" spc="-20">
                <a:solidFill>
                  <a:srgbClr val="6C757C"/>
                </a:solidFill>
                <a:latin typeface="Tahoma"/>
                <a:cs typeface="Tahoma"/>
              </a:rPr>
              <a:t>quality</a:t>
            </a:r>
            <a:r>
              <a:rPr sz="1100" b="0" spc="-10">
                <a:solidFill>
                  <a:srgbClr val="6C757C"/>
                </a:solidFill>
                <a:latin typeface="Tahoma"/>
                <a:cs typeface="Tahoma"/>
              </a:rPr>
              <a:t> </a:t>
            </a:r>
            <a:r>
              <a:rPr sz="1100" b="0" spc="-40">
                <a:solidFill>
                  <a:srgbClr val="6C757C"/>
                </a:solidFill>
                <a:latin typeface="Tahoma"/>
                <a:cs typeface="Tahoma"/>
              </a:rPr>
              <a:t>and</a:t>
            </a:r>
            <a:r>
              <a:rPr sz="1100" b="0" spc="-10">
                <a:solidFill>
                  <a:srgbClr val="6C757C"/>
                </a:solidFill>
                <a:latin typeface="Tahoma"/>
                <a:cs typeface="Tahoma"/>
              </a:rPr>
              <a:t> traceability</a:t>
            </a:r>
            <a:endParaRPr sz="1100">
              <a:latin typeface="Tahoma"/>
              <a:cs typeface="Tahoma"/>
            </a:endParaRPr>
          </a:p>
        </p:txBody>
      </p:sp>
      <p:sp>
        <p:nvSpPr>
          <p:cNvPr id="3" name="object 3"/>
          <p:cNvSpPr/>
          <p:nvPr/>
        </p:nvSpPr>
        <p:spPr>
          <a:xfrm>
            <a:off x="359994" y="700722"/>
            <a:ext cx="900430" cy="0"/>
          </a:xfrm>
          <a:custGeom>
            <a:avLst/>
            <a:gdLst/>
            <a:ahLst/>
            <a:cxnLst/>
            <a:rect l="l" t="t" r="r" b="b"/>
            <a:pathLst>
              <a:path w="900430">
                <a:moveTo>
                  <a:pt x="0" y="0"/>
                </a:moveTo>
                <a:lnTo>
                  <a:pt x="900010" y="0"/>
                </a:lnTo>
              </a:path>
            </a:pathLst>
          </a:custGeom>
          <a:ln w="18978">
            <a:solidFill>
              <a:srgbClr val="005F73"/>
            </a:solidFill>
          </a:ln>
        </p:spPr>
        <p:txBody>
          <a:bodyPr wrap="square" lIns="0" tIns="0" rIns="0" bIns="0" rtlCol="0"/>
          <a:lstStyle/>
          <a:p>
            <a:endParaRPr/>
          </a:p>
        </p:txBody>
      </p:sp>
      <p:sp>
        <p:nvSpPr>
          <p:cNvPr id="4" name="object 4"/>
          <p:cNvSpPr txBox="1"/>
          <p:nvPr/>
        </p:nvSpPr>
        <p:spPr>
          <a:xfrm>
            <a:off x="227304" y="834947"/>
            <a:ext cx="1603375" cy="191770"/>
          </a:xfrm>
          <a:prstGeom prst="rect">
            <a:avLst/>
          </a:prstGeom>
        </p:spPr>
        <p:txBody>
          <a:bodyPr vert="horz" wrap="square" lIns="0" tIns="11430" rIns="0" bIns="0" rtlCol="0">
            <a:spAutoFit/>
          </a:bodyPr>
          <a:lstStyle/>
          <a:p>
            <a:pPr marL="12700">
              <a:lnSpc>
                <a:spcPct val="100000"/>
              </a:lnSpc>
              <a:spcBef>
                <a:spcPts val="90"/>
              </a:spcBef>
            </a:pPr>
            <a:r>
              <a:rPr sz="1100" b="1" spc="-40">
                <a:solidFill>
                  <a:srgbClr val="202429"/>
                </a:solidFill>
                <a:latin typeface="Arial"/>
                <a:cs typeface="Arial"/>
              </a:rPr>
              <a:t>Communication</a:t>
            </a:r>
            <a:r>
              <a:rPr sz="1100" b="1" spc="25">
                <a:solidFill>
                  <a:srgbClr val="202429"/>
                </a:solidFill>
                <a:latin typeface="Arial"/>
                <a:cs typeface="Arial"/>
              </a:rPr>
              <a:t> </a:t>
            </a:r>
            <a:r>
              <a:rPr sz="1100" b="1" spc="-35">
                <a:solidFill>
                  <a:srgbClr val="202429"/>
                </a:solidFill>
                <a:latin typeface="Arial"/>
                <a:cs typeface="Arial"/>
              </a:rPr>
              <a:t>concept:</a:t>
            </a:r>
            <a:endParaRPr sz="1100">
              <a:latin typeface="Arial"/>
              <a:cs typeface="Arial"/>
            </a:endParaRPr>
          </a:p>
        </p:txBody>
      </p:sp>
      <p:sp>
        <p:nvSpPr>
          <p:cNvPr id="5" name="object 5"/>
          <p:cNvSpPr txBox="1"/>
          <p:nvPr/>
        </p:nvSpPr>
        <p:spPr>
          <a:xfrm>
            <a:off x="242531" y="1028318"/>
            <a:ext cx="2241550" cy="1439545"/>
          </a:xfrm>
          <a:prstGeom prst="rect">
            <a:avLst/>
          </a:prstGeom>
          <a:solidFill>
            <a:srgbClr val="F8F8F9"/>
          </a:solidFill>
          <a:ln w="5060">
            <a:solidFill>
              <a:srgbClr val="CED3DA"/>
            </a:solidFill>
          </a:ln>
        </p:spPr>
        <p:txBody>
          <a:bodyPr vert="horz" wrap="square" lIns="0" tIns="50800" rIns="0" bIns="0" rtlCol="0">
            <a:spAutoFit/>
          </a:bodyPr>
          <a:lstStyle/>
          <a:p>
            <a:pPr marL="40005" algn="just">
              <a:lnSpc>
                <a:spcPct val="100000"/>
              </a:lnSpc>
              <a:spcBef>
                <a:spcPts val="400"/>
              </a:spcBef>
            </a:pPr>
            <a:r>
              <a:rPr sz="800" b="1" spc="-20">
                <a:solidFill>
                  <a:srgbClr val="202429"/>
                </a:solidFill>
                <a:latin typeface="Arial"/>
                <a:cs typeface="Arial"/>
              </a:rPr>
              <a:t>Heading:</a:t>
            </a:r>
            <a:r>
              <a:rPr sz="800" b="1" spc="135">
                <a:solidFill>
                  <a:srgbClr val="202429"/>
                </a:solidFill>
                <a:latin typeface="Arial"/>
                <a:cs typeface="Arial"/>
              </a:rPr>
              <a:t> </a:t>
            </a:r>
            <a:r>
              <a:rPr sz="800">
                <a:solidFill>
                  <a:srgbClr val="202429"/>
                </a:solidFill>
                <a:latin typeface="Tahoma"/>
                <a:cs typeface="Tahoma"/>
              </a:rPr>
              <a:t>Staﬀ</a:t>
            </a:r>
            <a:r>
              <a:rPr sz="800" spc="15">
                <a:solidFill>
                  <a:srgbClr val="202429"/>
                </a:solidFill>
                <a:latin typeface="Tahoma"/>
                <a:cs typeface="Tahoma"/>
              </a:rPr>
              <a:t> </a:t>
            </a:r>
            <a:r>
              <a:rPr sz="800">
                <a:solidFill>
                  <a:srgbClr val="202429"/>
                </a:solidFill>
                <a:latin typeface="Tahoma"/>
                <a:cs typeface="Tahoma"/>
              </a:rPr>
              <a:t>not</a:t>
            </a:r>
            <a:r>
              <a:rPr sz="800" spc="15">
                <a:solidFill>
                  <a:srgbClr val="202429"/>
                </a:solidFill>
                <a:latin typeface="Tahoma"/>
                <a:cs typeface="Tahoma"/>
              </a:rPr>
              <a:t> </a:t>
            </a:r>
            <a:r>
              <a:rPr sz="800" spc="-10">
                <a:solidFill>
                  <a:srgbClr val="202429"/>
                </a:solidFill>
                <a:latin typeface="Tahoma"/>
                <a:cs typeface="Tahoma"/>
              </a:rPr>
              <a:t>heard</a:t>
            </a:r>
            <a:endParaRPr sz="800">
              <a:latin typeface="Tahoma"/>
              <a:cs typeface="Tahoma"/>
            </a:endParaRPr>
          </a:p>
          <a:p>
            <a:pPr marL="40005" marR="31750" algn="just">
              <a:lnSpc>
                <a:spcPct val="141100"/>
              </a:lnSpc>
            </a:pPr>
            <a:r>
              <a:rPr sz="800">
                <a:solidFill>
                  <a:srgbClr val="202429"/>
                </a:solidFill>
                <a:latin typeface="Tahoma"/>
                <a:cs typeface="Tahoma"/>
              </a:rPr>
              <a:t>Staﬀ</a:t>
            </a:r>
            <a:r>
              <a:rPr sz="800" spc="45">
                <a:solidFill>
                  <a:srgbClr val="202429"/>
                </a:solidFill>
                <a:latin typeface="Tahoma"/>
                <a:cs typeface="Tahoma"/>
              </a:rPr>
              <a:t> </a:t>
            </a:r>
            <a:r>
              <a:rPr sz="800">
                <a:solidFill>
                  <a:srgbClr val="202429"/>
                </a:solidFill>
                <a:latin typeface="Tahoma"/>
                <a:cs typeface="Tahoma"/>
              </a:rPr>
              <a:t>voiced</a:t>
            </a:r>
            <a:r>
              <a:rPr sz="800" spc="45">
                <a:solidFill>
                  <a:srgbClr val="202429"/>
                </a:solidFill>
                <a:latin typeface="Tahoma"/>
                <a:cs typeface="Tahoma"/>
              </a:rPr>
              <a:t> </a:t>
            </a:r>
            <a:r>
              <a:rPr sz="800">
                <a:solidFill>
                  <a:srgbClr val="202429"/>
                </a:solidFill>
                <a:latin typeface="Tahoma"/>
                <a:cs typeface="Tahoma"/>
              </a:rPr>
              <a:t>concerns</a:t>
            </a:r>
            <a:r>
              <a:rPr sz="800" spc="50">
                <a:solidFill>
                  <a:srgbClr val="202429"/>
                </a:solidFill>
                <a:latin typeface="Tahoma"/>
                <a:cs typeface="Tahoma"/>
              </a:rPr>
              <a:t> </a:t>
            </a:r>
            <a:r>
              <a:rPr sz="800">
                <a:solidFill>
                  <a:srgbClr val="202429"/>
                </a:solidFill>
                <a:latin typeface="Tahoma"/>
                <a:cs typeface="Tahoma"/>
              </a:rPr>
              <a:t>to</a:t>
            </a:r>
            <a:r>
              <a:rPr sz="800" spc="45">
                <a:solidFill>
                  <a:srgbClr val="202429"/>
                </a:solidFill>
                <a:latin typeface="Tahoma"/>
                <a:cs typeface="Tahoma"/>
              </a:rPr>
              <a:t> </a:t>
            </a:r>
            <a:r>
              <a:rPr sz="800">
                <a:solidFill>
                  <a:srgbClr val="202429"/>
                </a:solidFill>
                <a:latin typeface="Tahoma"/>
                <a:cs typeface="Tahoma"/>
              </a:rPr>
              <a:t>the</a:t>
            </a:r>
            <a:r>
              <a:rPr sz="800" spc="50">
                <a:solidFill>
                  <a:srgbClr val="202429"/>
                </a:solidFill>
                <a:latin typeface="Tahoma"/>
                <a:cs typeface="Tahoma"/>
              </a:rPr>
              <a:t> </a:t>
            </a:r>
            <a:r>
              <a:rPr sz="800">
                <a:solidFill>
                  <a:srgbClr val="202429"/>
                </a:solidFill>
                <a:latin typeface="Tahoma"/>
                <a:cs typeface="Tahoma"/>
              </a:rPr>
              <a:t>senior</a:t>
            </a:r>
            <a:r>
              <a:rPr sz="800" spc="45">
                <a:solidFill>
                  <a:srgbClr val="202429"/>
                </a:solidFill>
                <a:latin typeface="Tahoma"/>
                <a:cs typeface="Tahoma"/>
              </a:rPr>
              <a:t> </a:t>
            </a:r>
            <a:r>
              <a:rPr sz="800" spc="-10">
                <a:solidFill>
                  <a:srgbClr val="202429"/>
                </a:solidFill>
                <a:latin typeface="Tahoma"/>
                <a:cs typeface="Tahoma"/>
              </a:rPr>
              <a:t>obstetrician </a:t>
            </a:r>
            <a:r>
              <a:rPr sz="800">
                <a:solidFill>
                  <a:srgbClr val="202429"/>
                </a:solidFill>
                <a:latin typeface="Tahoma"/>
                <a:cs typeface="Tahoma"/>
              </a:rPr>
              <a:t>but were left feeling unheard.</a:t>
            </a:r>
            <a:r>
              <a:rPr sz="800" spc="470">
                <a:solidFill>
                  <a:srgbClr val="202429"/>
                </a:solidFill>
                <a:latin typeface="Tahoma"/>
                <a:cs typeface="Tahoma"/>
              </a:rPr>
              <a:t> </a:t>
            </a:r>
            <a:r>
              <a:rPr sz="800">
                <a:solidFill>
                  <a:srgbClr val="202429"/>
                </a:solidFill>
                <a:latin typeface="Tahoma"/>
                <a:cs typeface="Tahoma"/>
              </a:rPr>
              <a:t>No formal </a:t>
            </a:r>
            <a:r>
              <a:rPr sz="800" spc="-25">
                <a:solidFill>
                  <a:srgbClr val="202429"/>
                </a:solidFill>
                <a:latin typeface="Tahoma"/>
                <a:cs typeface="Tahoma"/>
              </a:rPr>
              <a:t>de-</a:t>
            </a:r>
            <a:r>
              <a:rPr sz="800">
                <a:solidFill>
                  <a:srgbClr val="202429"/>
                </a:solidFill>
                <a:latin typeface="Tahoma"/>
                <a:cs typeface="Tahoma"/>
              </a:rPr>
              <a:t>brieﬁng</a:t>
            </a:r>
            <a:r>
              <a:rPr sz="800" spc="-15">
                <a:solidFill>
                  <a:srgbClr val="202429"/>
                </a:solidFill>
                <a:latin typeface="Tahoma"/>
                <a:cs typeface="Tahoma"/>
              </a:rPr>
              <a:t> </a:t>
            </a:r>
            <a:r>
              <a:rPr sz="800" spc="-10">
                <a:solidFill>
                  <a:srgbClr val="202429"/>
                </a:solidFill>
                <a:latin typeface="Tahoma"/>
                <a:cs typeface="Tahoma"/>
              </a:rPr>
              <a:t>occurred afterwards, </a:t>
            </a:r>
            <a:r>
              <a:rPr sz="800">
                <a:solidFill>
                  <a:srgbClr val="202429"/>
                </a:solidFill>
                <a:latin typeface="Tahoma"/>
                <a:cs typeface="Tahoma"/>
              </a:rPr>
              <a:t>which</a:t>
            </a:r>
            <a:r>
              <a:rPr sz="800" spc="-10">
                <a:solidFill>
                  <a:srgbClr val="202429"/>
                </a:solidFill>
                <a:latin typeface="Tahoma"/>
                <a:cs typeface="Tahoma"/>
              </a:rPr>
              <a:t> </a:t>
            </a:r>
            <a:r>
              <a:rPr sz="800">
                <a:solidFill>
                  <a:srgbClr val="202429"/>
                </a:solidFill>
                <a:latin typeface="Tahoma"/>
                <a:cs typeface="Tahoma"/>
              </a:rPr>
              <a:t>staﬀ</a:t>
            </a:r>
            <a:r>
              <a:rPr sz="800" spc="-10">
                <a:solidFill>
                  <a:srgbClr val="202429"/>
                </a:solidFill>
                <a:latin typeface="Tahoma"/>
                <a:cs typeface="Tahoma"/>
              </a:rPr>
              <a:t> valued. </a:t>
            </a:r>
            <a:r>
              <a:rPr sz="800">
                <a:solidFill>
                  <a:srgbClr val="202429"/>
                </a:solidFill>
                <a:latin typeface="Tahoma"/>
                <a:cs typeface="Tahoma"/>
              </a:rPr>
              <a:t>The</a:t>
            </a:r>
            <a:r>
              <a:rPr sz="800" spc="-20">
                <a:solidFill>
                  <a:srgbClr val="202429"/>
                </a:solidFill>
                <a:latin typeface="Tahoma"/>
                <a:cs typeface="Tahoma"/>
              </a:rPr>
              <a:t> </a:t>
            </a:r>
            <a:r>
              <a:rPr sz="800">
                <a:solidFill>
                  <a:srgbClr val="202429"/>
                </a:solidFill>
                <a:latin typeface="Tahoma"/>
                <a:cs typeface="Tahoma"/>
              </a:rPr>
              <a:t>opportunity</a:t>
            </a:r>
            <a:r>
              <a:rPr sz="800" spc="-20">
                <a:solidFill>
                  <a:srgbClr val="202429"/>
                </a:solidFill>
                <a:latin typeface="Tahoma"/>
                <a:cs typeface="Tahoma"/>
              </a:rPr>
              <a:t> </a:t>
            </a:r>
            <a:r>
              <a:rPr sz="800">
                <a:solidFill>
                  <a:srgbClr val="202429"/>
                </a:solidFill>
                <a:latin typeface="Tahoma"/>
                <a:cs typeface="Tahoma"/>
              </a:rPr>
              <a:t>to</a:t>
            </a:r>
            <a:r>
              <a:rPr sz="800" spc="-20">
                <a:solidFill>
                  <a:srgbClr val="202429"/>
                </a:solidFill>
                <a:latin typeface="Tahoma"/>
                <a:cs typeface="Tahoma"/>
              </a:rPr>
              <a:t> </a:t>
            </a:r>
            <a:r>
              <a:rPr sz="800" spc="-30">
                <a:solidFill>
                  <a:srgbClr val="202429"/>
                </a:solidFill>
                <a:latin typeface="Tahoma"/>
                <a:cs typeface="Tahoma"/>
              </a:rPr>
              <a:t>share </a:t>
            </a:r>
            <a:r>
              <a:rPr sz="800" spc="-10">
                <a:solidFill>
                  <a:srgbClr val="202429"/>
                </a:solidFill>
                <a:latin typeface="Tahoma"/>
                <a:cs typeface="Tahoma"/>
              </a:rPr>
              <a:t>reﬂections</a:t>
            </a:r>
            <a:r>
              <a:rPr sz="800" spc="-20">
                <a:solidFill>
                  <a:srgbClr val="202429"/>
                </a:solidFill>
                <a:latin typeface="Tahoma"/>
                <a:cs typeface="Tahoma"/>
              </a:rPr>
              <a:t> </a:t>
            </a:r>
            <a:r>
              <a:rPr sz="800">
                <a:solidFill>
                  <a:srgbClr val="202429"/>
                </a:solidFill>
                <a:latin typeface="Tahoma"/>
                <a:cs typeface="Tahoma"/>
              </a:rPr>
              <a:t>wasn’t</a:t>
            </a:r>
            <a:r>
              <a:rPr sz="800" spc="-20">
                <a:solidFill>
                  <a:srgbClr val="202429"/>
                </a:solidFill>
                <a:latin typeface="Tahoma"/>
                <a:cs typeface="Tahoma"/>
              </a:rPr>
              <a:t> com-</a:t>
            </a:r>
            <a:r>
              <a:rPr sz="800">
                <a:solidFill>
                  <a:srgbClr val="202429"/>
                </a:solidFill>
                <a:latin typeface="Tahoma"/>
                <a:cs typeface="Tahoma"/>
              </a:rPr>
              <a:t>pleted with</a:t>
            </a:r>
            <a:r>
              <a:rPr sz="800" spc="5">
                <a:solidFill>
                  <a:srgbClr val="202429"/>
                </a:solidFill>
                <a:latin typeface="Tahoma"/>
                <a:cs typeface="Tahoma"/>
              </a:rPr>
              <a:t> </a:t>
            </a:r>
            <a:r>
              <a:rPr sz="800">
                <a:solidFill>
                  <a:srgbClr val="202429"/>
                </a:solidFill>
                <a:latin typeface="Tahoma"/>
                <a:cs typeface="Tahoma"/>
              </a:rPr>
              <a:t>all</a:t>
            </a:r>
            <a:r>
              <a:rPr sz="800" spc="5">
                <a:solidFill>
                  <a:srgbClr val="202429"/>
                </a:solidFill>
                <a:latin typeface="Tahoma"/>
                <a:cs typeface="Tahoma"/>
              </a:rPr>
              <a:t> </a:t>
            </a:r>
            <a:r>
              <a:rPr sz="800">
                <a:solidFill>
                  <a:srgbClr val="202429"/>
                </a:solidFill>
                <a:latin typeface="Tahoma"/>
                <a:cs typeface="Tahoma"/>
              </a:rPr>
              <a:t>involved.</a:t>
            </a:r>
            <a:r>
              <a:rPr sz="800" spc="114">
                <a:solidFill>
                  <a:srgbClr val="202429"/>
                </a:solidFill>
                <a:latin typeface="Tahoma"/>
                <a:cs typeface="Tahoma"/>
              </a:rPr>
              <a:t> </a:t>
            </a:r>
            <a:r>
              <a:rPr sz="800" spc="-10">
                <a:solidFill>
                  <a:srgbClr val="202429"/>
                </a:solidFill>
                <a:latin typeface="Tahoma"/>
                <a:cs typeface="Tahoma"/>
              </a:rPr>
              <a:t>Incremental</a:t>
            </a:r>
            <a:r>
              <a:rPr sz="800" spc="5">
                <a:solidFill>
                  <a:srgbClr val="202429"/>
                </a:solidFill>
                <a:latin typeface="Tahoma"/>
                <a:cs typeface="Tahoma"/>
              </a:rPr>
              <a:t> </a:t>
            </a:r>
            <a:r>
              <a:rPr sz="800" spc="-10">
                <a:solidFill>
                  <a:srgbClr val="202429"/>
                </a:solidFill>
                <a:latin typeface="Tahoma"/>
                <a:cs typeface="Tahoma"/>
              </a:rPr>
              <a:t>delays</a:t>
            </a:r>
            <a:r>
              <a:rPr sz="800">
                <a:solidFill>
                  <a:srgbClr val="202429"/>
                </a:solidFill>
                <a:latin typeface="Tahoma"/>
                <a:cs typeface="Tahoma"/>
              </a:rPr>
              <a:t> </a:t>
            </a:r>
            <a:r>
              <a:rPr sz="800" spc="-25">
                <a:solidFill>
                  <a:srgbClr val="202429"/>
                </a:solidFill>
                <a:latin typeface="Tahoma"/>
                <a:cs typeface="Tahoma"/>
              </a:rPr>
              <a:t>and </a:t>
            </a:r>
            <a:r>
              <a:rPr sz="800" spc="-10">
                <a:solidFill>
                  <a:srgbClr val="202429"/>
                </a:solidFill>
                <a:latin typeface="Tahoma"/>
                <a:cs typeface="Tahoma"/>
              </a:rPr>
              <a:t>communication</a:t>
            </a:r>
            <a:r>
              <a:rPr sz="800" spc="-15">
                <a:solidFill>
                  <a:srgbClr val="202429"/>
                </a:solidFill>
                <a:latin typeface="Tahoma"/>
                <a:cs typeface="Tahoma"/>
              </a:rPr>
              <a:t> </a:t>
            </a:r>
            <a:r>
              <a:rPr sz="800" spc="-10">
                <a:solidFill>
                  <a:srgbClr val="202429"/>
                </a:solidFill>
                <a:latin typeface="Tahoma"/>
                <a:cs typeface="Tahoma"/>
              </a:rPr>
              <a:t>breakdown </a:t>
            </a:r>
            <a:r>
              <a:rPr sz="800">
                <a:solidFill>
                  <a:srgbClr val="202429"/>
                </a:solidFill>
                <a:latin typeface="Tahoma"/>
                <a:cs typeface="Tahoma"/>
              </a:rPr>
              <a:t>further</a:t>
            </a:r>
            <a:r>
              <a:rPr sz="800" spc="-10">
                <a:solidFill>
                  <a:srgbClr val="202429"/>
                </a:solidFill>
                <a:latin typeface="Tahoma"/>
                <a:cs typeface="Tahoma"/>
              </a:rPr>
              <a:t> </a:t>
            </a:r>
            <a:r>
              <a:rPr sz="800">
                <a:solidFill>
                  <a:srgbClr val="202429"/>
                </a:solidFill>
                <a:latin typeface="Tahoma"/>
                <a:cs typeface="Tahoma"/>
              </a:rPr>
              <a:t>impacted</a:t>
            </a:r>
            <a:r>
              <a:rPr sz="800" spc="-10">
                <a:solidFill>
                  <a:srgbClr val="202429"/>
                </a:solidFill>
                <a:latin typeface="Tahoma"/>
                <a:cs typeface="Tahoma"/>
              </a:rPr>
              <a:t> </a:t>
            </a:r>
            <a:r>
              <a:rPr sz="800" spc="-25">
                <a:solidFill>
                  <a:srgbClr val="202429"/>
                </a:solidFill>
                <a:latin typeface="Tahoma"/>
                <a:cs typeface="Tahoma"/>
              </a:rPr>
              <a:t>the </a:t>
            </a:r>
            <a:r>
              <a:rPr sz="800" spc="-20">
                <a:solidFill>
                  <a:srgbClr val="202429"/>
                </a:solidFill>
                <a:latin typeface="Tahoma"/>
                <a:cs typeface="Tahoma"/>
              </a:rPr>
              <a:t>DDI.</a:t>
            </a:r>
            <a:endParaRPr sz="800">
              <a:latin typeface="Tahoma"/>
              <a:cs typeface="Tahoma"/>
            </a:endParaRPr>
          </a:p>
        </p:txBody>
      </p:sp>
      <p:sp>
        <p:nvSpPr>
          <p:cNvPr id="6" name="object 6"/>
          <p:cNvSpPr txBox="1"/>
          <p:nvPr/>
        </p:nvSpPr>
        <p:spPr>
          <a:xfrm>
            <a:off x="2987294" y="834947"/>
            <a:ext cx="1011555" cy="191770"/>
          </a:xfrm>
          <a:prstGeom prst="rect">
            <a:avLst/>
          </a:prstGeom>
        </p:spPr>
        <p:txBody>
          <a:bodyPr vert="horz" wrap="square" lIns="0" tIns="11430" rIns="0" bIns="0" rtlCol="0">
            <a:spAutoFit/>
          </a:bodyPr>
          <a:lstStyle/>
          <a:p>
            <a:pPr marL="12700">
              <a:lnSpc>
                <a:spcPct val="100000"/>
              </a:lnSpc>
              <a:spcBef>
                <a:spcPts val="90"/>
              </a:spcBef>
            </a:pPr>
            <a:r>
              <a:rPr sz="1100" b="1" spc="-25">
                <a:solidFill>
                  <a:srgbClr val="202429"/>
                </a:solidFill>
                <a:latin typeface="Arial"/>
                <a:cs typeface="Arial"/>
              </a:rPr>
              <a:t>Acuity</a:t>
            </a:r>
            <a:r>
              <a:rPr sz="1100" b="1" spc="-5">
                <a:solidFill>
                  <a:srgbClr val="202429"/>
                </a:solidFill>
                <a:latin typeface="Arial"/>
                <a:cs typeface="Arial"/>
              </a:rPr>
              <a:t> </a:t>
            </a:r>
            <a:r>
              <a:rPr sz="1100" b="1" spc="-45">
                <a:solidFill>
                  <a:srgbClr val="202429"/>
                </a:solidFill>
                <a:latin typeface="Arial"/>
                <a:cs typeface="Arial"/>
              </a:rPr>
              <a:t>concept:</a:t>
            </a:r>
            <a:endParaRPr sz="1100">
              <a:latin typeface="Arial"/>
              <a:cs typeface="Arial"/>
            </a:endParaRPr>
          </a:p>
        </p:txBody>
      </p:sp>
      <p:sp>
        <p:nvSpPr>
          <p:cNvPr id="7" name="object 7"/>
          <p:cNvSpPr txBox="1"/>
          <p:nvPr/>
        </p:nvSpPr>
        <p:spPr>
          <a:xfrm>
            <a:off x="3002532" y="1028318"/>
            <a:ext cx="2286965" cy="1367106"/>
          </a:xfrm>
          <a:prstGeom prst="rect">
            <a:avLst/>
          </a:prstGeom>
          <a:solidFill>
            <a:srgbClr val="F8F8F9"/>
          </a:solidFill>
          <a:ln w="5060">
            <a:solidFill>
              <a:srgbClr val="CED3DA"/>
            </a:solidFill>
          </a:ln>
        </p:spPr>
        <p:txBody>
          <a:bodyPr vert="horz" wrap="square" lIns="0" tIns="50800" rIns="0" bIns="0" rtlCol="0">
            <a:spAutoFit/>
          </a:bodyPr>
          <a:lstStyle/>
          <a:p>
            <a:pPr marL="40005" algn="just">
              <a:lnSpc>
                <a:spcPct val="100000"/>
              </a:lnSpc>
              <a:spcBef>
                <a:spcPts val="400"/>
              </a:spcBef>
            </a:pPr>
            <a:r>
              <a:rPr sz="800" b="1" spc="-20">
                <a:solidFill>
                  <a:srgbClr val="202429"/>
                </a:solidFill>
                <a:latin typeface="Arial"/>
                <a:cs typeface="Arial"/>
              </a:rPr>
              <a:t>Heading:</a:t>
            </a:r>
            <a:r>
              <a:rPr sz="800" b="1" spc="120">
                <a:solidFill>
                  <a:srgbClr val="202429"/>
                </a:solidFill>
                <a:latin typeface="Arial"/>
                <a:cs typeface="Arial"/>
              </a:rPr>
              <a:t> </a:t>
            </a:r>
            <a:r>
              <a:rPr sz="800" spc="-10">
                <a:solidFill>
                  <a:srgbClr val="202429"/>
                </a:solidFill>
                <a:latin typeface="Tahoma"/>
                <a:cs typeface="Tahoma"/>
              </a:rPr>
              <a:t>Reviews</a:t>
            </a:r>
            <a:r>
              <a:rPr sz="800" spc="5">
                <a:solidFill>
                  <a:srgbClr val="202429"/>
                </a:solidFill>
                <a:latin typeface="Tahoma"/>
                <a:cs typeface="Tahoma"/>
              </a:rPr>
              <a:t> </a:t>
            </a:r>
            <a:r>
              <a:rPr sz="800">
                <a:solidFill>
                  <a:srgbClr val="202429"/>
                </a:solidFill>
                <a:latin typeface="Tahoma"/>
                <a:cs typeface="Tahoma"/>
              </a:rPr>
              <a:t>with</a:t>
            </a:r>
            <a:r>
              <a:rPr sz="800" spc="5">
                <a:solidFill>
                  <a:srgbClr val="202429"/>
                </a:solidFill>
                <a:latin typeface="Tahoma"/>
                <a:cs typeface="Tahoma"/>
              </a:rPr>
              <a:t> </a:t>
            </a:r>
            <a:r>
              <a:rPr sz="800" spc="-20">
                <a:solidFill>
                  <a:srgbClr val="202429"/>
                </a:solidFill>
                <a:latin typeface="Tahoma"/>
                <a:cs typeface="Tahoma"/>
              </a:rPr>
              <a:t>seniors</a:t>
            </a:r>
            <a:r>
              <a:rPr sz="800" spc="5">
                <a:solidFill>
                  <a:srgbClr val="202429"/>
                </a:solidFill>
                <a:latin typeface="Tahoma"/>
                <a:cs typeface="Tahoma"/>
              </a:rPr>
              <a:t> </a:t>
            </a:r>
            <a:r>
              <a:rPr sz="800">
                <a:solidFill>
                  <a:srgbClr val="202429"/>
                </a:solidFill>
                <a:latin typeface="Tahoma"/>
                <a:cs typeface="Tahoma"/>
              </a:rPr>
              <a:t>did</a:t>
            </a:r>
            <a:r>
              <a:rPr sz="800" spc="5">
                <a:solidFill>
                  <a:srgbClr val="202429"/>
                </a:solidFill>
                <a:latin typeface="Tahoma"/>
                <a:cs typeface="Tahoma"/>
              </a:rPr>
              <a:t> </a:t>
            </a:r>
            <a:r>
              <a:rPr sz="800">
                <a:solidFill>
                  <a:srgbClr val="202429"/>
                </a:solidFill>
                <a:latin typeface="Tahoma"/>
                <a:cs typeface="Tahoma"/>
              </a:rPr>
              <a:t>not </a:t>
            </a:r>
            <a:r>
              <a:rPr sz="800" spc="-10">
                <a:solidFill>
                  <a:srgbClr val="202429"/>
                </a:solidFill>
                <a:latin typeface="Tahoma"/>
                <a:cs typeface="Tahoma"/>
              </a:rPr>
              <a:t>occur</a:t>
            </a:r>
            <a:endParaRPr sz="800">
              <a:latin typeface="Tahoma"/>
              <a:cs typeface="Tahoma"/>
            </a:endParaRPr>
          </a:p>
          <a:p>
            <a:pPr marL="40005" marR="31750" algn="just">
              <a:lnSpc>
                <a:spcPct val="141100"/>
              </a:lnSpc>
            </a:pPr>
            <a:r>
              <a:rPr sz="800">
                <a:solidFill>
                  <a:srgbClr val="202429"/>
                </a:solidFill>
                <a:latin typeface="Tahoma"/>
                <a:cs typeface="Tahoma"/>
              </a:rPr>
              <a:t>The ambulance Trust </a:t>
            </a:r>
            <a:r>
              <a:rPr sz="800" spc="-20">
                <a:solidFill>
                  <a:srgbClr val="202429"/>
                </a:solidFill>
                <a:latin typeface="Tahoma"/>
                <a:cs typeface="Tahoma"/>
              </a:rPr>
              <a:t>experienced </a:t>
            </a:r>
            <a:r>
              <a:rPr sz="800">
                <a:solidFill>
                  <a:srgbClr val="202429"/>
                </a:solidFill>
                <a:latin typeface="Tahoma"/>
                <a:cs typeface="Tahoma"/>
              </a:rPr>
              <a:t>high call </a:t>
            </a:r>
            <a:r>
              <a:rPr sz="800" spc="-20">
                <a:solidFill>
                  <a:srgbClr val="202429"/>
                </a:solidFill>
                <a:latin typeface="Tahoma"/>
                <a:cs typeface="Tahoma"/>
              </a:rPr>
              <a:t>vol-</a:t>
            </a:r>
            <a:r>
              <a:rPr sz="800">
                <a:solidFill>
                  <a:srgbClr val="202429"/>
                </a:solidFill>
                <a:latin typeface="Tahoma"/>
                <a:cs typeface="Tahoma"/>
              </a:rPr>
              <a:t>umes.</a:t>
            </a:r>
            <a:r>
              <a:rPr sz="800" spc="500">
                <a:solidFill>
                  <a:srgbClr val="202429"/>
                </a:solidFill>
                <a:latin typeface="Tahoma"/>
                <a:cs typeface="Tahoma"/>
              </a:rPr>
              <a:t> </a:t>
            </a:r>
            <a:r>
              <a:rPr sz="800">
                <a:solidFill>
                  <a:srgbClr val="202429"/>
                </a:solidFill>
                <a:latin typeface="Tahoma"/>
                <a:cs typeface="Tahoma"/>
              </a:rPr>
              <a:t>Due</a:t>
            </a:r>
            <a:r>
              <a:rPr sz="800" spc="195">
                <a:solidFill>
                  <a:srgbClr val="202429"/>
                </a:solidFill>
                <a:latin typeface="Tahoma"/>
                <a:cs typeface="Tahoma"/>
              </a:rPr>
              <a:t> </a:t>
            </a:r>
            <a:r>
              <a:rPr sz="800">
                <a:solidFill>
                  <a:srgbClr val="202429"/>
                </a:solidFill>
                <a:latin typeface="Tahoma"/>
                <a:cs typeface="Tahoma"/>
              </a:rPr>
              <a:t>to</a:t>
            </a:r>
            <a:r>
              <a:rPr sz="800" spc="195">
                <a:solidFill>
                  <a:srgbClr val="202429"/>
                </a:solidFill>
                <a:latin typeface="Tahoma"/>
                <a:cs typeface="Tahoma"/>
              </a:rPr>
              <a:t> </a:t>
            </a:r>
            <a:r>
              <a:rPr sz="800">
                <a:solidFill>
                  <a:srgbClr val="202429"/>
                </a:solidFill>
                <a:latin typeface="Tahoma"/>
                <a:cs typeface="Tahoma"/>
              </a:rPr>
              <a:t>high</a:t>
            </a:r>
            <a:r>
              <a:rPr sz="800" spc="195">
                <a:solidFill>
                  <a:srgbClr val="202429"/>
                </a:solidFill>
                <a:latin typeface="Tahoma"/>
                <a:cs typeface="Tahoma"/>
              </a:rPr>
              <a:t> </a:t>
            </a:r>
            <a:r>
              <a:rPr sz="800">
                <a:solidFill>
                  <a:srgbClr val="202429"/>
                </a:solidFill>
                <a:latin typeface="Tahoma"/>
                <a:cs typeface="Tahoma"/>
              </a:rPr>
              <a:t>labour</a:t>
            </a:r>
            <a:r>
              <a:rPr sz="800" spc="195">
                <a:solidFill>
                  <a:srgbClr val="202429"/>
                </a:solidFill>
                <a:latin typeface="Tahoma"/>
                <a:cs typeface="Tahoma"/>
              </a:rPr>
              <a:t> </a:t>
            </a:r>
            <a:r>
              <a:rPr sz="800">
                <a:solidFill>
                  <a:srgbClr val="202429"/>
                </a:solidFill>
                <a:latin typeface="Tahoma"/>
                <a:cs typeface="Tahoma"/>
              </a:rPr>
              <a:t>ward</a:t>
            </a:r>
            <a:r>
              <a:rPr sz="800" spc="190">
                <a:solidFill>
                  <a:srgbClr val="202429"/>
                </a:solidFill>
                <a:latin typeface="Tahoma"/>
                <a:cs typeface="Tahoma"/>
              </a:rPr>
              <a:t> </a:t>
            </a:r>
            <a:r>
              <a:rPr sz="800">
                <a:solidFill>
                  <a:srgbClr val="202429"/>
                </a:solidFill>
                <a:latin typeface="Tahoma"/>
                <a:cs typeface="Tahoma"/>
              </a:rPr>
              <a:t>acuity,</a:t>
            </a:r>
            <a:r>
              <a:rPr sz="800" spc="240">
                <a:solidFill>
                  <a:srgbClr val="202429"/>
                </a:solidFill>
                <a:latin typeface="Tahoma"/>
                <a:cs typeface="Tahoma"/>
              </a:rPr>
              <a:t> </a:t>
            </a:r>
            <a:r>
              <a:rPr sz="800" spc="-20">
                <a:solidFill>
                  <a:srgbClr val="202429"/>
                </a:solidFill>
                <a:latin typeface="Tahoma"/>
                <a:cs typeface="Tahoma"/>
              </a:rPr>
              <a:t>ini-</a:t>
            </a:r>
            <a:r>
              <a:rPr sz="800">
                <a:solidFill>
                  <a:srgbClr val="202429"/>
                </a:solidFill>
                <a:latin typeface="Tahoma"/>
                <a:cs typeface="Tahoma"/>
              </a:rPr>
              <a:t>tial </a:t>
            </a:r>
            <a:r>
              <a:rPr sz="800" spc="-10">
                <a:solidFill>
                  <a:srgbClr val="202429"/>
                </a:solidFill>
                <a:latin typeface="Tahoma"/>
                <a:cs typeface="Tahoma"/>
              </a:rPr>
              <a:t>decisions </a:t>
            </a:r>
            <a:r>
              <a:rPr sz="800">
                <a:solidFill>
                  <a:srgbClr val="202429"/>
                </a:solidFill>
                <a:latin typeface="Tahoma"/>
                <a:cs typeface="Tahoma"/>
              </a:rPr>
              <a:t>weren’t </a:t>
            </a:r>
            <a:r>
              <a:rPr sz="800" spc="-20">
                <a:solidFill>
                  <a:srgbClr val="202429"/>
                </a:solidFill>
                <a:latin typeface="Tahoma"/>
                <a:cs typeface="Tahoma"/>
              </a:rPr>
              <a:t>discussed </a:t>
            </a:r>
            <a:r>
              <a:rPr sz="800">
                <a:solidFill>
                  <a:srgbClr val="202429"/>
                </a:solidFill>
                <a:latin typeface="Tahoma"/>
                <a:cs typeface="Tahoma"/>
              </a:rPr>
              <a:t>with </a:t>
            </a:r>
            <a:r>
              <a:rPr sz="800" spc="-10">
                <a:solidFill>
                  <a:srgbClr val="202429"/>
                </a:solidFill>
                <a:latin typeface="Tahoma"/>
                <a:cs typeface="Tahoma"/>
              </a:rPr>
              <a:t>senior clin-</a:t>
            </a:r>
            <a:r>
              <a:rPr sz="800" err="1">
                <a:solidFill>
                  <a:srgbClr val="202429"/>
                </a:solidFill>
                <a:latin typeface="Tahoma"/>
                <a:cs typeface="Tahoma"/>
              </a:rPr>
              <a:t>icians</a:t>
            </a:r>
            <a:r>
              <a:rPr sz="800">
                <a:solidFill>
                  <a:srgbClr val="202429"/>
                </a:solidFill>
                <a:latin typeface="Tahoma"/>
                <a:cs typeface="Tahoma"/>
              </a:rPr>
              <a:t>.</a:t>
            </a:r>
            <a:r>
              <a:rPr sz="800" spc="409">
                <a:solidFill>
                  <a:srgbClr val="202429"/>
                </a:solidFill>
                <a:latin typeface="Tahoma"/>
                <a:cs typeface="Tahoma"/>
              </a:rPr>
              <a:t> </a:t>
            </a:r>
            <a:r>
              <a:rPr sz="800">
                <a:solidFill>
                  <a:srgbClr val="202429"/>
                </a:solidFill>
                <a:latin typeface="Tahoma"/>
                <a:cs typeface="Tahoma"/>
              </a:rPr>
              <a:t>Senior</a:t>
            </a:r>
            <a:r>
              <a:rPr sz="800" spc="114">
                <a:solidFill>
                  <a:srgbClr val="202429"/>
                </a:solidFill>
                <a:latin typeface="Tahoma"/>
                <a:cs typeface="Tahoma"/>
              </a:rPr>
              <a:t> </a:t>
            </a:r>
            <a:r>
              <a:rPr sz="800" spc="-20">
                <a:solidFill>
                  <a:srgbClr val="202429"/>
                </a:solidFill>
                <a:latin typeface="Tahoma"/>
                <a:cs typeface="Tahoma"/>
              </a:rPr>
              <a:t>face-</a:t>
            </a:r>
            <a:r>
              <a:rPr sz="800" spc="-10">
                <a:solidFill>
                  <a:srgbClr val="202429"/>
                </a:solidFill>
                <a:latin typeface="Tahoma"/>
                <a:cs typeface="Tahoma"/>
              </a:rPr>
              <a:t>to-</a:t>
            </a:r>
            <a:r>
              <a:rPr sz="800">
                <a:solidFill>
                  <a:srgbClr val="202429"/>
                </a:solidFill>
                <a:latin typeface="Tahoma"/>
                <a:cs typeface="Tahoma"/>
              </a:rPr>
              <a:t>face</a:t>
            </a:r>
            <a:r>
              <a:rPr sz="800" spc="110">
                <a:solidFill>
                  <a:srgbClr val="202429"/>
                </a:solidFill>
                <a:latin typeface="Tahoma"/>
                <a:cs typeface="Tahoma"/>
              </a:rPr>
              <a:t> </a:t>
            </a:r>
            <a:r>
              <a:rPr sz="800">
                <a:solidFill>
                  <a:srgbClr val="202429"/>
                </a:solidFill>
                <a:latin typeface="Tahoma"/>
                <a:cs typeface="Tahoma"/>
              </a:rPr>
              <a:t>review</a:t>
            </a:r>
            <a:r>
              <a:rPr sz="800" spc="110">
                <a:solidFill>
                  <a:srgbClr val="202429"/>
                </a:solidFill>
                <a:latin typeface="Tahoma"/>
                <a:cs typeface="Tahoma"/>
              </a:rPr>
              <a:t> </a:t>
            </a:r>
            <a:r>
              <a:rPr sz="800">
                <a:solidFill>
                  <a:srgbClr val="202429"/>
                </a:solidFill>
                <a:latin typeface="Tahoma"/>
                <a:cs typeface="Tahoma"/>
              </a:rPr>
              <a:t>didn’t</a:t>
            </a:r>
            <a:r>
              <a:rPr sz="800" spc="114">
                <a:solidFill>
                  <a:srgbClr val="202429"/>
                </a:solidFill>
                <a:latin typeface="Tahoma"/>
                <a:cs typeface="Tahoma"/>
              </a:rPr>
              <a:t> </a:t>
            </a:r>
            <a:r>
              <a:rPr sz="800" spc="-10">
                <a:solidFill>
                  <a:srgbClr val="202429"/>
                </a:solidFill>
                <a:latin typeface="Tahoma"/>
                <a:cs typeface="Tahoma"/>
              </a:rPr>
              <a:t>occur </a:t>
            </a:r>
            <a:r>
              <a:rPr sz="800">
                <a:solidFill>
                  <a:srgbClr val="202429"/>
                </a:solidFill>
                <a:latin typeface="Tahoma"/>
                <a:cs typeface="Tahoma"/>
              </a:rPr>
              <a:t>until 16:05, 2 hours 50 minutes after </a:t>
            </a:r>
            <a:r>
              <a:rPr sz="800" spc="-10" err="1">
                <a:solidFill>
                  <a:srgbClr val="202429"/>
                </a:solidFill>
                <a:latin typeface="Tahoma"/>
                <a:cs typeface="Tahoma"/>
              </a:rPr>
              <a:t>recognis-</a:t>
            </a:r>
            <a:r>
              <a:rPr sz="800" err="1">
                <a:solidFill>
                  <a:srgbClr val="202429"/>
                </a:solidFill>
                <a:latin typeface="Tahoma"/>
                <a:cs typeface="Tahoma"/>
              </a:rPr>
              <a:t>ing</a:t>
            </a:r>
            <a:r>
              <a:rPr sz="800" spc="135">
                <a:solidFill>
                  <a:srgbClr val="202429"/>
                </a:solidFill>
                <a:latin typeface="Tahoma"/>
                <a:cs typeface="Tahoma"/>
              </a:rPr>
              <a:t> </a:t>
            </a:r>
            <a:r>
              <a:rPr sz="800">
                <a:solidFill>
                  <a:srgbClr val="202429"/>
                </a:solidFill>
                <a:latin typeface="Tahoma"/>
                <a:cs typeface="Tahoma"/>
              </a:rPr>
              <a:t>abnormalities.</a:t>
            </a:r>
            <a:r>
              <a:rPr sz="800" spc="480">
                <a:solidFill>
                  <a:srgbClr val="202429"/>
                </a:solidFill>
                <a:latin typeface="Tahoma"/>
                <a:cs typeface="Tahoma"/>
              </a:rPr>
              <a:t> </a:t>
            </a:r>
            <a:r>
              <a:rPr sz="800">
                <a:solidFill>
                  <a:srgbClr val="202429"/>
                </a:solidFill>
                <a:latin typeface="Tahoma"/>
                <a:cs typeface="Tahoma"/>
              </a:rPr>
              <a:t>The</a:t>
            </a:r>
            <a:r>
              <a:rPr sz="800" spc="135">
                <a:solidFill>
                  <a:srgbClr val="202429"/>
                </a:solidFill>
                <a:latin typeface="Tahoma"/>
                <a:cs typeface="Tahoma"/>
              </a:rPr>
              <a:t> </a:t>
            </a:r>
            <a:r>
              <a:rPr sz="800">
                <a:solidFill>
                  <a:srgbClr val="202429"/>
                </a:solidFill>
                <a:latin typeface="Tahoma"/>
                <a:cs typeface="Tahoma"/>
              </a:rPr>
              <a:t>abnormal</a:t>
            </a:r>
            <a:r>
              <a:rPr sz="800" spc="140">
                <a:solidFill>
                  <a:srgbClr val="202429"/>
                </a:solidFill>
                <a:latin typeface="Tahoma"/>
                <a:cs typeface="Tahoma"/>
              </a:rPr>
              <a:t> </a:t>
            </a:r>
            <a:r>
              <a:rPr sz="800" spc="65">
                <a:solidFill>
                  <a:srgbClr val="202429"/>
                </a:solidFill>
                <a:latin typeface="Tahoma"/>
                <a:cs typeface="Tahoma"/>
              </a:rPr>
              <a:t>CTG</a:t>
            </a:r>
            <a:r>
              <a:rPr sz="800" spc="140">
                <a:solidFill>
                  <a:srgbClr val="202429"/>
                </a:solidFill>
                <a:latin typeface="Tahoma"/>
                <a:cs typeface="Tahoma"/>
              </a:rPr>
              <a:t> </a:t>
            </a:r>
            <a:r>
              <a:rPr sz="800" spc="-10">
                <a:solidFill>
                  <a:srgbClr val="202429"/>
                </a:solidFill>
                <a:latin typeface="Tahoma"/>
                <a:cs typeface="Tahoma"/>
              </a:rPr>
              <a:t>wasn’t </a:t>
            </a:r>
            <a:r>
              <a:rPr sz="800" spc="-25">
                <a:solidFill>
                  <a:srgbClr val="202429"/>
                </a:solidFill>
                <a:latin typeface="Tahoma"/>
                <a:cs typeface="Tahoma"/>
              </a:rPr>
              <a:t>reviewed</a:t>
            </a:r>
            <a:r>
              <a:rPr sz="800" spc="-10">
                <a:solidFill>
                  <a:srgbClr val="202429"/>
                </a:solidFill>
                <a:latin typeface="Tahoma"/>
                <a:cs typeface="Tahoma"/>
              </a:rPr>
              <a:t> </a:t>
            </a:r>
            <a:r>
              <a:rPr sz="800">
                <a:solidFill>
                  <a:srgbClr val="202429"/>
                </a:solidFill>
                <a:latin typeface="Tahoma"/>
                <a:cs typeface="Tahoma"/>
              </a:rPr>
              <a:t>by</a:t>
            </a:r>
            <a:r>
              <a:rPr sz="800" spc="-10">
                <a:solidFill>
                  <a:srgbClr val="202429"/>
                </a:solidFill>
                <a:latin typeface="Tahoma"/>
                <a:cs typeface="Tahoma"/>
              </a:rPr>
              <a:t> </a:t>
            </a:r>
            <a:r>
              <a:rPr sz="800">
                <a:solidFill>
                  <a:srgbClr val="202429"/>
                </a:solidFill>
                <a:latin typeface="Tahoma"/>
                <a:cs typeface="Tahoma"/>
              </a:rPr>
              <a:t>the</a:t>
            </a:r>
            <a:r>
              <a:rPr sz="800" spc="-10">
                <a:solidFill>
                  <a:srgbClr val="202429"/>
                </a:solidFill>
                <a:latin typeface="Tahoma"/>
                <a:cs typeface="Tahoma"/>
              </a:rPr>
              <a:t> senior obstetrician.</a:t>
            </a:r>
            <a:endParaRPr sz="800">
              <a:latin typeface="Tahoma"/>
              <a:cs typeface="Tahoma"/>
            </a:endParaRPr>
          </a:p>
        </p:txBody>
      </p:sp>
      <p:sp>
        <p:nvSpPr>
          <p:cNvPr id="8" name="object 8"/>
          <p:cNvSpPr txBox="1"/>
          <p:nvPr/>
        </p:nvSpPr>
        <p:spPr>
          <a:xfrm>
            <a:off x="362534" y="2610840"/>
            <a:ext cx="5121275" cy="421005"/>
          </a:xfrm>
          <a:prstGeom prst="rect">
            <a:avLst/>
          </a:prstGeom>
          <a:solidFill>
            <a:srgbClr val="E8F4F8"/>
          </a:solidFill>
          <a:ln w="5060">
            <a:solidFill>
              <a:srgbClr val="005F73"/>
            </a:solidFill>
          </a:ln>
        </p:spPr>
        <p:txBody>
          <a:bodyPr vert="horz" wrap="square" lIns="0" tIns="9525" rIns="0" bIns="0" rtlCol="0">
            <a:spAutoFit/>
          </a:bodyPr>
          <a:lstStyle/>
          <a:p>
            <a:pPr marL="2152015" marR="329565" indent="-1814830">
              <a:lnSpc>
                <a:spcPct val="112900"/>
              </a:lnSpc>
              <a:spcBef>
                <a:spcPts val="75"/>
              </a:spcBef>
            </a:pPr>
            <a:r>
              <a:rPr sz="1000" spc="-10">
                <a:solidFill>
                  <a:srgbClr val="202429"/>
                </a:solidFill>
                <a:latin typeface="Tahoma"/>
                <a:cs typeface="Tahoma"/>
              </a:rPr>
              <a:t>Each</a:t>
            </a:r>
            <a:r>
              <a:rPr sz="1000" spc="-25">
                <a:solidFill>
                  <a:srgbClr val="202429"/>
                </a:solidFill>
                <a:latin typeface="Tahoma"/>
                <a:cs typeface="Tahoma"/>
              </a:rPr>
              <a:t> </a:t>
            </a:r>
            <a:r>
              <a:rPr sz="1000" spc="-50">
                <a:solidFill>
                  <a:srgbClr val="202429"/>
                </a:solidFill>
                <a:latin typeface="Tahoma"/>
                <a:cs typeface="Tahoma"/>
              </a:rPr>
              <a:t>summary</a:t>
            </a:r>
            <a:r>
              <a:rPr sz="1000" spc="-25">
                <a:solidFill>
                  <a:srgbClr val="202429"/>
                </a:solidFill>
                <a:latin typeface="Tahoma"/>
                <a:cs typeface="Tahoma"/>
              </a:rPr>
              <a:t> </a:t>
            </a:r>
            <a:r>
              <a:rPr sz="1000">
                <a:solidFill>
                  <a:srgbClr val="202429"/>
                </a:solidFill>
                <a:latin typeface="Tahoma"/>
                <a:cs typeface="Tahoma"/>
              </a:rPr>
              <a:t>is</a:t>
            </a:r>
            <a:r>
              <a:rPr sz="1000" spc="-25">
                <a:solidFill>
                  <a:srgbClr val="202429"/>
                </a:solidFill>
                <a:latin typeface="Tahoma"/>
                <a:cs typeface="Tahoma"/>
              </a:rPr>
              <a:t> </a:t>
            </a:r>
            <a:r>
              <a:rPr sz="1000" spc="-35">
                <a:solidFill>
                  <a:srgbClr val="202429"/>
                </a:solidFill>
                <a:latin typeface="Tahoma"/>
                <a:cs typeface="Tahoma"/>
              </a:rPr>
              <a:t>traceable</a:t>
            </a:r>
            <a:r>
              <a:rPr sz="1000" spc="-25">
                <a:solidFill>
                  <a:srgbClr val="202429"/>
                </a:solidFill>
                <a:latin typeface="Tahoma"/>
                <a:cs typeface="Tahoma"/>
              </a:rPr>
              <a:t> </a:t>
            </a:r>
            <a:r>
              <a:rPr sz="1000">
                <a:solidFill>
                  <a:srgbClr val="202429"/>
                </a:solidFill>
                <a:latin typeface="Tahoma"/>
                <a:cs typeface="Tahoma"/>
              </a:rPr>
              <a:t>to</a:t>
            </a:r>
            <a:r>
              <a:rPr sz="1000" spc="-25">
                <a:solidFill>
                  <a:srgbClr val="202429"/>
                </a:solidFill>
                <a:latin typeface="Tahoma"/>
                <a:cs typeface="Tahoma"/>
              </a:rPr>
              <a:t> </a:t>
            </a:r>
            <a:r>
              <a:rPr sz="1000" spc="-40">
                <a:solidFill>
                  <a:srgbClr val="202429"/>
                </a:solidFill>
                <a:latin typeface="Tahoma"/>
                <a:cs typeface="Tahoma"/>
              </a:rPr>
              <a:t>source</a:t>
            </a:r>
            <a:r>
              <a:rPr sz="1000" spc="-20">
                <a:solidFill>
                  <a:srgbClr val="202429"/>
                </a:solidFill>
                <a:latin typeface="Tahoma"/>
                <a:cs typeface="Tahoma"/>
              </a:rPr>
              <a:t> </a:t>
            </a:r>
            <a:r>
              <a:rPr sz="1000">
                <a:solidFill>
                  <a:srgbClr val="202429"/>
                </a:solidFill>
                <a:latin typeface="Tahoma"/>
                <a:cs typeface="Tahoma"/>
              </a:rPr>
              <a:t>ﬁle</a:t>
            </a:r>
            <a:r>
              <a:rPr sz="1000" spc="-25">
                <a:solidFill>
                  <a:srgbClr val="202429"/>
                </a:solidFill>
                <a:latin typeface="Tahoma"/>
                <a:cs typeface="Tahoma"/>
              </a:rPr>
              <a:t> and </a:t>
            </a:r>
            <a:r>
              <a:rPr sz="1000" spc="-50">
                <a:solidFill>
                  <a:srgbClr val="202429"/>
                </a:solidFill>
                <a:latin typeface="Tahoma"/>
                <a:cs typeface="Tahoma"/>
              </a:rPr>
              <a:t>sentence</a:t>
            </a:r>
            <a:r>
              <a:rPr sz="1000" spc="-20">
                <a:solidFill>
                  <a:srgbClr val="202429"/>
                </a:solidFill>
                <a:latin typeface="Tahoma"/>
                <a:cs typeface="Tahoma"/>
              </a:rPr>
              <a:t> </a:t>
            </a:r>
            <a:r>
              <a:rPr sz="1000" spc="-30">
                <a:solidFill>
                  <a:srgbClr val="202429"/>
                </a:solidFill>
                <a:latin typeface="Tahoma"/>
                <a:cs typeface="Tahoma"/>
              </a:rPr>
              <a:t>IDs,</a:t>
            </a:r>
            <a:r>
              <a:rPr sz="1000" spc="-25">
                <a:solidFill>
                  <a:srgbClr val="202429"/>
                </a:solidFill>
                <a:latin typeface="Tahoma"/>
                <a:cs typeface="Tahoma"/>
              </a:rPr>
              <a:t> </a:t>
            </a:r>
            <a:r>
              <a:rPr sz="1000" spc="-35">
                <a:solidFill>
                  <a:srgbClr val="202429"/>
                </a:solidFill>
                <a:latin typeface="Tahoma"/>
                <a:cs typeface="Tahoma"/>
              </a:rPr>
              <a:t>enabling</a:t>
            </a:r>
            <a:r>
              <a:rPr sz="1000" spc="-25">
                <a:solidFill>
                  <a:srgbClr val="202429"/>
                </a:solidFill>
                <a:latin typeface="Tahoma"/>
                <a:cs typeface="Tahoma"/>
              </a:rPr>
              <a:t> </a:t>
            </a:r>
            <a:r>
              <a:rPr sz="1000" spc="-30">
                <a:solidFill>
                  <a:srgbClr val="202429"/>
                </a:solidFill>
                <a:latin typeface="Tahoma"/>
                <a:cs typeface="Tahoma"/>
              </a:rPr>
              <a:t>veriﬁcation</a:t>
            </a:r>
            <a:r>
              <a:rPr sz="1000" spc="-20">
                <a:solidFill>
                  <a:srgbClr val="202429"/>
                </a:solidFill>
                <a:latin typeface="Tahoma"/>
                <a:cs typeface="Tahoma"/>
              </a:rPr>
              <a:t> </a:t>
            </a:r>
            <a:r>
              <a:rPr sz="1000" spc="-25">
                <a:solidFill>
                  <a:srgbClr val="202429"/>
                </a:solidFill>
                <a:latin typeface="Tahoma"/>
                <a:cs typeface="Tahoma"/>
              </a:rPr>
              <a:t>and </a:t>
            </a:r>
            <a:r>
              <a:rPr sz="1000" spc="-10">
                <a:solidFill>
                  <a:srgbClr val="202429"/>
                </a:solidFill>
                <a:latin typeface="Tahoma"/>
                <a:cs typeface="Tahoma"/>
              </a:rPr>
              <a:t>accountability.</a:t>
            </a:r>
            <a:endParaRPr sz="1000">
              <a:latin typeface="Tahoma"/>
              <a:cs typeface="Tahoma"/>
            </a:endParaRPr>
          </a:p>
        </p:txBody>
      </p:sp>
      <p:sp>
        <p:nvSpPr>
          <p:cNvPr id="9" name="object 9"/>
          <p:cNvSpPr/>
          <p:nvPr/>
        </p:nvSpPr>
        <p:spPr>
          <a:xfrm>
            <a:off x="0" y="3060028"/>
            <a:ext cx="5760085" cy="0"/>
          </a:xfrm>
          <a:custGeom>
            <a:avLst/>
            <a:gdLst/>
            <a:ahLst/>
            <a:cxnLst/>
            <a:rect l="l" t="t" r="r" b="b"/>
            <a:pathLst>
              <a:path w="5760085">
                <a:moveTo>
                  <a:pt x="0" y="0"/>
                </a:moveTo>
                <a:lnTo>
                  <a:pt x="5760073" y="0"/>
                </a:lnTo>
              </a:path>
            </a:pathLst>
          </a:custGeom>
          <a:ln w="6326">
            <a:solidFill>
              <a:srgbClr val="CED3DA"/>
            </a:solidFill>
          </a:ln>
        </p:spPr>
        <p:txBody>
          <a:bodyPr wrap="square" lIns="0" tIns="0" rIns="0" bIns="0" rtlCol="0"/>
          <a:lstStyle/>
          <a:p>
            <a:endParaRPr/>
          </a:p>
        </p:txBody>
      </p:sp>
      <p:sp>
        <p:nvSpPr>
          <p:cNvPr id="12" name="Slide Number Placeholder 11">
            <a:extLst>
              <a:ext uri="{FF2B5EF4-FFF2-40B4-BE49-F238E27FC236}">
                <a16:creationId xmlns:a16="http://schemas.microsoft.com/office/drawing/2014/main" id="{56978BD3-E8F3-D3D9-CE84-694EB53A4B33}"/>
              </a:ext>
            </a:extLst>
          </p:cNvPr>
          <p:cNvSpPr>
            <a:spLocks noGrp="1"/>
          </p:cNvSpPr>
          <p:nvPr>
            <p:ph type="sldNum" sz="quarter" idx="7"/>
          </p:nvPr>
        </p:nvSpPr>
        <p:spPr>
          <a:xfrm>
            <a:off x="5289498" y="3088212"/>
            <a:ext cx="464172" cy="173989"/>
          </a:xfrm>
        </p:spPr>
        <p:txBody>
          <a:bodyPr/>
          <a:lstStyle/>
          <a:p>
            <a:pPr marL="39370">
              <a:lnSpc>
                <a:spcPct val="100000"/>
              </a:lnSpc>
              <a:spcBef>
                <a:spcPts val="219"/>
              </a:spcBef>
            </a:pPr>
            <a:fld id="{81D60167-4931-47E6-BA6A-407CBD079E47}" type="slidenum">
              <a:rPr lang="en-GB" smtClean="0"/>
              <a:t>28</a:t>
            </a:fld>
            <a:r>
              <a:rPr lang="en-GB" spc="20"/>
              <a:t> </a:t>
            </a:r>
            <a:r>
              <a:rPr lang="en-GB" spc="120"/>
              <a:t>/</a:t>
            </a:r>
            <a:r>
              <a:rPr lang="en-GB" spc="25"/>
              <a:t> </a:t>
            </a:r>
            <a:r>
              <a:rPr lang="en-GB" spc="-25"/>
              <a:t>41</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74218" rIns="0" bIns="0" rtlCol="0">
            <a:spAutoFit/>
          </a:bodyPr>
          <a:lstStyle/>
          <a:p>
            <a:pPr marL="99060">
              <a:lnSpc>
                <a:spcPct val="100000"/>
              </a:lnSpc>
              <a:spcBef>
                <a:spcPts val="390"/>
              </a:spcBef>
            </a:pPr>
            <a:r>
              <a:rPr spc="-10"/>
              <a:t>Traceability</a:t>
            </a:r>
            <a:r>
              <a:rPr spc="40"/>
              <a:t> </a:t>
            </a:r>
            <a:r>
              <a:t>in</a:t>
            </a:r>
            <a:r>
              <a:rPr spc="45"/>
              <a:t> </a:t>
            </a:r>
            <a:r>
              <a:rPr spc="-10"/>
              <a:t>Summarisation</a:t>
            </a:r>
          </a:p>
          <a:p>
            <a:pPr marL="99060">
              <a:lnSpc>
                <a:spcPct val="100000"/>
              </a:lnSpc>
              <a:spcBef>
                <a:spcPts val="195"/>
              </a:spcBef>
            </a:pPr>
            <a:r>
              <a:rPr sz="1100" b="0" spc="-10">
                <a:solidFill>
                  <a:srgbClr val="6C757C"/>
                </a:solidFill>
                <a:latin typeface="Tahoma"/>
                <a:cs typeface="Tahoma"/>
              </a:rPr>
              <a:t>Linking</a:t>
            </a:r>
            <a:r>
              <a:rPr sz="1100" b="0" spc="-35">
                <a:solidFill>
                  <a:srgbClr val="6C757C"/>
                </a:solidFill>
                <a:latin typeface="Tahoma"/>
                <a:cs typeface="Tahoma"/>
              </a:rPr>
              <a:t> </a:t>
            </a:r>
            <a:r>
              <a:rPr sz="1100" b="0" spc="-65">
                <a:solidFill>
                  <a:srgbClr val="6C757C"/>
                </a:solidFill>
                <a:latin typeface="Tahoma"/>
                <a:cs typeface="Tahoma"/>
              </a:rPr>
              <a:t>summary</a:t>
            </a:r>
            <a:r>
              <a:rPr sz="1100" b="0" spc="-25">
                <a:solidFill>
                  <a:srgbClr val="6C757C"/>
                </a:solidFill>
                <a:latin typeface="Tahoma"/>
                <a:cs typeface="Tahoma"/>
              </a:rPr>
              <a:t> content back </a:t>
            </a:r>
            <a:r>
              <a:rPr sz="1100" b="0">
                <a:solidFill>
                  <a:srgbClr val="6C757C"/>
                </a:solidFill>
                <a:latin typeface="Tahoma"/>
                <a:cs typeface="Tahoma"/>
              </a:rPr>
              <a:t>to</a:t>
            </a:r>
            <a:r>
              <a:rPr sz="1100" b="0" spc="-30">
                <a:solidFill>
                  <a:srgbClr val="6C757C"/>
                </a:solidFill>
                <a:latin typeface="Tahoma"/>
                <a:cs typeface="Tahoma"/>
              </a:rPr>
              <a:t> </a:t>
            </a:r>
            <a:r>
              <a:rPr sz="1100" b="0" spc="-45">
                <a:solidFill>
                  <a:srgbClr val="6C757C"/>
                </a:solidFill>
                <a:latin typeface="Tahoma"/>
                <a:cs typeface="Tahoma"/>
              </a:rPr>
              <a:t>source</a:t>
            </a:r>
            <a:r>
              <a:rPr sz="1100" b="0" spc="-25">
                <a:solidFill>
                  <a:srgbClr val="6C757C"/>
                </a:solidFill>
                <a:latin typeface="Tahoma"/>
                <a:cs typeface="Tahoma"/>
              </a:rPr>
              <a:t> </a:t>
            </a:r>
            <a:r>
              <a:rPr sz="1100" b="0" spc="-40">
                <a:solidFill>
                  <a:srgbClr val="6C757C"/>
                </a:solidFill>
                <a:latin typeface="Tahoma"/>
                <a:cs typeface="Tahoma"/>
              </a:rPr>
              <a:t>documents</a:t>
            </a:r>
            <a:r>
              <a:rPr sz="1100" b="0" spc="-30">
                <a:solidFill>
                  <a:srgbClr val="6C757C"/>
                </a:solidFill>
                <a:latin typeface="Tahoma"/>
                <a:cs typeface="Tahoma"/>
              </a:rPr>
              <a:t> </a:t>
            </a:r>
            <a:r>
              <a:rPr sz="1100" b="0" spc="-20">
                <a:solidFill>
                  <a:srgbClr val="6C757C"/>
                </a:solidFill>
                <a:latin typeface="Tahoma"/>
                <a:cs typeface="Tahoma"/>
              </a:rPr>
              <a:t>for</a:t>
            </a:r>
            <a:r>
              <a:rPr sz="1100" b="0" spc="-25">
                <a:solidFill>
                  <a:srgbClr val="6C757C"/>
                </a:solidFill>
                <a:latin typeface="Tahoma"/>
                <a:cs typeface="Tahoma"/>
              </a:rPr>
              <a:t> </a:t>
            </a:r>
            <a:r>
              <a:rPr sz="1100" b="0" spc="-50">
                <a:solidFill>
                  <a:srgbClr val="6C757C"/>
                </a:solidFill>
                <a:latin typeface="Tahoma"/>
                <a:cs typeface="Tahoma"/>
              </a:rPr>
              <a:t>transparency</a:t>
            </a:r>
            <a:r>
              <a:rPr sz="1100" b="0" spc="-30">
                <a:solidFill>
                  <a:srgbClr val="6C757C"/>
                </a:solidFill>
                <a:latin typeface="Tahoma"/>
                <a:cs typeface="Tahoma"/>
              </a:rPr>
              <a:t> </a:t>
            </a:r>
            <a:r>
              <a:rPr sz="1100" b="0" spc="-40">
                <a:solidFill>
                  <a:srgbClr val="6C757C"/>
                </a:solidFill>
                <a:latin typeface="Tahoma"/>
                <a:cs typeface="Tahoma"/>
              </a:rPr>
              <a:t>and</a:t>
            </a:r>
            <a:r>
              <a:rPr sz="1100" b="0" spc="-30">
                <a:solidFill>
                  <a:srgbClr val="6C757C"/>
                </a:solidFill>
                <a:latin typeface="Tahoma"/>
                <a:cs typeface="Tahoma"/>
              </a:rPr>
              <a:t> </a:t>
            </a:r>
            <a:r>
              <a:rPr sz="1100" b="0" spc="-10">
                <a:solidFill>
                  <a:srgbClr val="6C757C"/>
                </a:solidFill>
                <a:latin typeface="Tahoma"/>
                <a:cs typeface="Tahoma"/>
              </a:rPr>
              <a:t>auditability</a:t>
            </a:r>
            <a:endParaRPr sz="1100">
              <a:latin typeface="Tahoma"/>
              <a:cs typeface="Tahoma"/>
            </a:endParaRPr>
          </a:p>
        </p:txBody>
      </p:sp>
      <p:sp>
        <p:nvSpPr>
          <p:cNvPr id="3" name="object 3"/>
          <p:cNvSpPr/>
          <p:nvPr/>
        </p:nvSpPr>
        <p:spPr>
          <a:xfrm>
            <a:off x="359994" y="728433"/>
            <a:ext cx="900430" cy="0"/>
          </a:xfrm>
          <a:custGeom>
            <a:avLst/>
            <a:gdLst/>
            <a:ahLst/>
            <a:cxnLst/>
            <a:rect l="l" t="t" r="r" b="b"/>
            <a:pathLst>
              <a:path w="900430">
                <a:moveTo>
                  <a:pt x="0" y="0"/>
                </a:moveTo>
                <a:lnTo>
                  <a:pt x="900010" y="0"/>
                </a:lnTo>
              </a:path>
            </a:pathLst>
          </a:custGeom>
          <a:ln w="18978">
            <a:solidFill>
              <a:srgbClr val="005F73"/>
            </a:solidFill>
          </a:ln>
        </p:spPr>
        <p:txBody>
          <a:bodyPr wrap="square" lIns="0" tIns="0" rIns="0" bIns="0" rtlCol="0"/>
          <a:lstStyle/>
          <a:p>
            <a:endParaRPr/>
          </a:p>
        </p:txBody>
      </p:sp>
      <p:pic>
        <p:nvPicPr>
          <p:cNvPr id="4" name="object 4"/>
          <p:cNvPicPr/>
          <p:nvPr/>
        </p:nvPicPr>
        <p:blipFill>
          <a:blip r:embed="rId3" cstate="print"/>
          <a:stretch>
            <a:fillRect/>
          </a:stretch>
        </p:blipFill>
        <p:spPr>
          <a:xfrm>
            <a:off x="876604" y="815100"/>
            <a:ext cx="4003413" cy="2059285"/>
          </a:xfrm>
          <a:prstGeom prst="rect">
            <a:avLst/>
          </a:prstGeom>
        </p:spPr>
      </p:pic>
      <p:sp>
        <p:nvSpPr>
          <p:cNvPr id="5" name="object 5"/>
          <p:cNvSpPr/>
          <p:nvPr/>
        </p:nvSpPr>
        <p:spPr>
          <a:xfrm>
            <a:off x="0" y="3060028"/>
            <a:ext cx="5760085" cy="0"/>
          </a:xfrm>
          <a:custGeom>
            <a:avLst/>
            <a:gdLst/>
            <a:ahLst/>
            <a:cxnLst/>
            <a:rect l="l" t="t" r="r" b="b"/>
            <a:pathLst>
              <a:path w="5760085">
                <a:moveTo>
                  <a:pt x="0" y="0"/>
                </a:moveTo>
                <a:lnTo>
                  <a:pt x="5760073" y="0"/>
                </a:lnTo>
              </a:path>
            </a:pathLst>
          </a:custGeom>
          <a:ln w="6326">
            <a:solidFill>
              <a:srgbClr val="CED3DA"/>
            </a:solidFill>
          </a:ln>
        </p:spPr>
        <p:txBody>
          <a:bodyPr wrap="square" lIns="0" tIns="0" rIns="0" bIns="0" rtlCol="0"/>
          <a:lstStyle/>
          <a:p>
            <a:endParaRPr/>
          </a:p>
        </p:txBody>
      </p:sp>
      <p:sp>
        <p:nvSpPr>
          <p:cNvPr id="8" name="Slide Number Placeholder 7">
            <a:extLst>
              <a:ext uri="{FF2B5EF4-FFF2-40B4-BE49-F238E27FC236}">
                <a16:creationId xmlns:a16="http://schemas.microsoft.com/office/drawing/2014/main" id="{113783F3-DB38-A56D-2355-82768F62E84E}"/>
              </a:ext>
            </a:extLst>
          </p:cNvPr>
          <p:cNvSpPr>
            <a:spLocks noGrp="1"/>
          </p:cNvSpPr>
          <p:nvPr>
            <p:ph type="sldNum" sz="quarter" idx="7"/>
          </p:nvPr>
        </p:nvSpPr>
        <p:spPr>
          <a:xfrm>
            <a:off x="5372061" y="3070861"/>
            <a:ext cx="388024" cy="173989"/>
          </a:xfrm>
        </p:spPr>
        <p:txBody>
          <a:bodyPr/>
          <a:lstStyle/>
          <a:p>
            <a:pPr marL="39370">
              <a:lnSpc>
                <a:spcPct val="100000"/>
              </a:lnSpc>
              <a:spcBef>
                <a:spcPts val="219"/>
              </a:spcBef>
            </a:pPr>
            <a:fld id="{81D60167-4931-47E6-BA6A-407CBD079E47}" type="slidenum">
              <a:rPr lang="en-GB" smtClean="0"/>
              <a:t>29</a:t>
            </a:fld>
            <a:r>
              <a:rPr lang="en-GB" spc="20"/>
              <a:t> </a:t>
            </a:r>
            <a:r>
              <a:rPr lang="en-GB" spc="120"/>
              <a:t>/</a:t>
            </a:r>
            <a:r>
              <a:rPr lang="en-GB" spc="25"/>
              <a:t> </a:t>
            </a:r>
            <a:r>
              <a:rPr lang="en-GB" spc="-25"/>
              <a:t>41</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46507" rIns="0" bIns="0" rtlCol="0">
            <a:spAutoFit/>
          </a:bodyPr>
          <a:lstStyle/>
          <a:p>
            <a:pPr marL="99060">
              <a:lnSpc>
                <a:spcPct val="100000"/>
              </a:lnSpc>
              <a:spcBef>
                <a:spcPts val="390"/>
              </a:spcBef>
            </a:pPr>
            <a:r>
              <a:t>Ethical</a:t>
            </a:r>
            <a:r>
              <a:rPr spc="50"/>
              <a:t> </a:t>
            </a:r>
            <a:r>
              <a:rPr spc="-55"/>
              <a:t>Risks</a:t>
            </a:r>
            <a:r>
              <a:rPr spc="55"/>
              <a:t> </a:t>
            </a:r>
            <a:r>
              <a:t>of</a:t>
            </a:r>
            <a:r>
              <a:rPr spc="50"/>
              <a:t> </a:t>
            </a:r>
            <a:r>
              <a:rPr spc="60"/>
              <a:t>AI</a:t>
            </a:r>
            <a:r>
              <a:rPr spc="55"/>
              <a:t> </a:t>
            </a:r>
            <a:r>
              <a:rPr spc="-25"/>
              <a:t>Summarisation</a:t>
            </a:r>
          </a:p>
          <a:p>
            <a:pPr marL="99060">
              <a:lnSpc>
                <a:spcPct val="100000"/>
              </a:lnSpc>
              <a:spcBef>
                <a:spcPts val="195"/>
              </a:spcBef>
            </a:pPr>
            <a:r>
              <a:rPr sz="1100" b="0" spc="-45">
                <a:solidFill>
                  <a:srgbClr val="6C757C"/>
                </a:solidFill>
                <a:latin typeface="Tahoma"/>
                <a:cs typeface="Tahoma"/>
              </a:rPr>
              <a:t>Identiﬁed </a:t>
            </a:r>
            <a:r>
              <a:rPr sz="1100" b="0" spc="-20">
                <a:solidFill>
                  <a:srgbClr val="6C757C"/>
                </a:solidFill>
                <a:latin typeface="Tahoma"/>
                <a:cs typeface="Tahoma"/>
              </a:rPr>
              <a:t>risks</a:t>
            </a:r>
            <a:r>
              <a:rPr sz="1100" b="0" spc="-45">
                <a:solidFill>
                  <a:srgbClr val="6C757C"/>
                </a:solidFill>
                <a:latin typeface="Tahoma"/>
                <a:cs typeface="Tahoma"/>
              </a:rPr>
              <a:t> </a:t>
            </a:r>
            <a:r>
              <a:rPr sz="1100" b="0" spc="-40">
                <a:solidFill>
                  <a:srgbClr val="6C757C"/>
                </a:solidFill>
                <a:latin typeface="Tahoma"/>
                <a:cs typeface="Tahoma"/>
              </a:rPr>
              <a:t>and</a:t>
            </a:r>
            <a:r>
              <a:rPr sz="1100" b="0" spc="-35">
                <a:solidFill>
                  <a:srgbClr val="6C757C"/>
                </a:solidFill>
                <a:latin typeface="Tahoma"/>
                <a:cs typeface="Tahoma"/>
              </a:rPr>
              <a:t> </a:t>
            </a:r>
            <a:r>
              <a:rPr sz="1100" b="0" spc="-10">
                <a:solidFill>
                  <a:srgbClr val="6C757C"/>
                </a:solidFill>
                <a:latin typeface="Tahoma"/>
                <a:cs typeface="Tahoma"/>
              </a:rPr>
              <a:t>mitigations</a:t>
            </a:r>
            <a:endParaRPr sz="1100">
              <a:latin typeface="Tahoma"/>
              <a:cs typeface="Tahoma"/>
            </a:endParaRPr>
          </a:p>
        </p:txBody>
      </p:sp>
      <p:sp>
        <p:nvSpPr>
          <p:cNvPr id="3" name="object 3"/>
          <p:cNvSpPr/>
          <p:nvPr/>
        </p:nvSpPr>
        <p:spPr>
          <a:xfrm>
            <a:off x="359994" y="700722"/>
            <a:ext cx="900430" cy="0"/>
          </a:xfrm>
          <a:custGeom>
            <a:avLst/>
            <a:gdLst/>
            <a:ahLst/>
            <a:cxnLst/>
            <a:rect l="l" t="t" r="r" b="b"/>
            <a:pathLst>
              <a:path w="900430">
                <a:moveTo>
                  <a:pt x="0" y="0"/>
                </a:moveTo>
                <a:lnTo>
                  <a:pt x="900010" y="0"/>
                </a:lnTo>
              </a:path>
            </a:pathLst>
          </a:custGeom>
          <a:ln w="18978">
            <a:solidFill>
              <a:srgbClr val="005F73"/>
            </a:solidFill>
          </a:ln>
        </p:spPr>
        <p:txBody>
          <a:bodyPr wrap="square" lIns="0" tIns="0" rIns="0" bIns="0" rtlCol="0"/>
          <a:lstStyle/>
          <a:p>
            <a:endParaRPr/>
          </a:p>
        </p:txBody>
      </p:sp>
      <p:sp>
        <p:nvSpPr>
          <p:cNvPr id="4" name="object 4"/>
          <p:cNvSpPr/>
          <p:nvPr/>
        </p:nvSpPr>
        <p:spPr>
          <a:xfrm>
            <a:off x="359994" y="783818"/>
            <a:ext cx="5012055" cy="0"/>
          </a:xfrm>
          <a:custGeom>
            <a:avLst/>
            <a:gdLst/>
            <a:ahLst/>
            <a:cxnLst/>
            <a:rect l="l" t="t" r="r" b="b"/>
            <a:pathLst>
              <a:path w="5012055">
                <a:moveTo>
                  <a:pt x="0" y="0"/>
                </a:moveTo>
                <a:lnTo>
                  <a:pt x="5011839" y="0"/>
                </a:lnTo>
              </a:path>
            </a:pathLst>
          </a:custGeom>
          <a:ln w="11083">
            <a:solidFill>
              <a:srgbClr val="202429"/>
            </a:solidFill>
          </a:ln>
        </p:spPr>
        <p:txBody>
          <a:bodyPr wrap="square" lIns="0" tIns="0" rIns="0" bIns="0" rtlCol="0"/>
          <a:lstStyle/>
          <a:p>
            <a:endParaRPr/>
          </a:p>
        </p:txBody>
      </p:sp>
      <p:sp>
        <p:nvSpPr>
          <p:cNvPr id="5" name="object 5"/>
          <p:cNvSpPr txBox="1"/>
          <p:nvPr/>
        </p:nvSpPr>
        <p:spPr>
          <a:xfrm>
            <a:off x="347294" y="796409"/>
            <a:ext cx="267335" cy="177800"/>
          </a:xfrm>
          <a:prstGeom prst="rect">
            <a:avLst/>
          </a:prstGeom>
        </p:spPr>
        <p:txBody>
          <a:bodyPr vert="horz" wrap="square" lIns="0" tIns="12065" rIns="0" bIns="0" rtlCol="0">
            <a:spAutoFit/>
          </a:bodyPr>
          <a:lstStyle/>
          <a:p>
            <a:pPr marL="12700">
              <a:lnSpc>
                <a:spcPct val="100000"/>
              </a:lnSpc>
              <a:spcBef>
                <a:spcPts val="95"/>
              </a:spcBef>
            </a:pPr>
            <a:r>
              <a:rPr sz="1000" b="1" spc="-45">
                <a:solidFill>
                  <a:srgbClr val="202429"/>
                </a:solidFill>
                <a:latin typeface="Arial"/>
                <a:cs typeface="Arial"/>
              </a:rPr>
              <a:t>Risk</a:t>
            </a:r>
            <a:endParaRPr sz="1000">
              <a:latin typeface="Arial"/>
              <a:cs typeface="Arial"/>
            </a:endParaRPr>
          </a:p>
        </p:txBody>
      </p:sp>
      <p:sp>
        <p:nvSpPr>
          <p:cNvPr id="6" name="object 6"/>
          <p:cNvSpPr txBox="1"/>
          <p:nvPr/>
        </p:nvSpPr>
        <p:spPr>
          <a:xfrm>
            <a:off x="2119134" y="796409"/>
            <a:ext cx="625475" cy="177800"/>
          </a:xfrm>
          <a:prstGeom prst="rect">
            <a:avLst/>
          </a:prstGeom>
        </p:spPr>
        <p:txBody>
          <a:bodyPr vert="horz" wrap="square" lIns="0" tIns="12065" rIns="0" bIns="0" rtlCol="0">
            <a:spAutoFit/>
          </a:bodyPr>
          <a:lstStyle/>
          <a:p>
            <a:pPr marL="12700">
              <a:lnSpc>
                <a:spcPct val="100000"/>
              </a:lnSpc>
              <a:spcBef>
                <a:spcPts val="95"/>
              </a:spcBef>
            </a:pPr>
            <a:r>
              <a:rPr sz="1000" b="1" spc="-10">
                <a:solidFill>
                  <a:srgbClr val="202429"/>
                </a:solidFill>
                <a:latin typeface="Arial"/>
                <a:cs typeface="Arial"/>
              </a:rPr>
              <a:t>Mitigation</a:t>
            </a:r>
            <a:endParaRPr sz="1000">
              <a:latin typeface="Arial"/>
              <a:cs typeface="Arial"/>
            </a:endParaRPr>
          </a:p>
        </p:txBody>
      </p:sp>
      <p:sp>
        <p:nvSpPr>
          <p:cNvPr id="7" name="object 7"/>
          <p:cNvSpPr/>
          <p:nvPr/>
        </p:nvSpPr>
        <p:spPr>
          <a:xfrm>
            <a:off x="359994" y="1009243"/>
            <a:ext cx="5012055" cy="0"/>
          </a:xfrm>
          <a:custGeom>
            <a:avLst/>
            <a:gdLst/>
            <a:ahLst/>
            <a:cxnLst/>
            <a:rect l="l" t="t" r="r" b="b"/>
            <a:pathLst>
              <a:path w="5012055">
                <a:moveTo>
                  <a:pt x="0" y="0"/>
                </a:moveTo>
                <a:lnTo>
                  <a:pt x="5011839" y="0"/>
                </a:lnTo>
              </a:path>
            </a:pathLst>
          </a:custGeom>
          <a:ln w="6927">
            <a:solidFill>
              <a:srgbClr val="202429"/>
            </a:solidFill>
          </a:ln>
        </p:spPr>
        <p:txBody>
          <a:bodyPr wrap="square" lIns="0" tIns="0" rIns="0" bIns="0" rtlCol="0"/>
          <a:lstStyle/>
          <a:p>
            <a:endParaRPr/>
          </a:p>
        </p:txBody>
      </p:sp>
      <p:sp>
        <p:nvSpPr>
          <p:cNvPr id="8" name="object 8"/>
          <p:cNvSpPr txBox="1"/>
          <p:nvPr/>
        </p:nvSpPr>
        <p:spPr>
          <a:xfrm>
            <a:off x="347294" y="1019751"/>
            <a:ext cx="1646555" cy="519430"/>
          </a:xfrm>
          <a:prstGeom prst="rect">
            <a:avLst/>
          </a:prstGeom>
        </p:spPr>
        <p:txBody>
          <a:bodyPr vert="horz" wrap="square" lIns="0" tIns="12065" rIns="0" bIns="0" rtlCol="0">
            <a:spAutoFit/>
          </a:bodyPr>
          <a:lstStyle/>
          <a:p>
            <a:pPr marL="12700" marR="5080">
              <a:lnSpc>
                <a:spcPct val="100000"/>
              </a:lnSpc>
              <a:spcBef>
                <a:spcPts val="95"/>
              </a:spcBef>
            </a:pPr>
            <a:r>
              <a:rPr sz="1000" b="1" spc="-10">
                <a:solidFill>
                  <a:srgbClr val="202429"/>
                </a:solidFill>
                <a:latin typeface="Arial"/>
                <a:cs typeface="Arial"/>
              </a:rPr>
              <a:t>Information</a:t>
            </a:r>
            <a:r>
              <a:rPr sz="1000" b="1" spc="85">
                <a:solidFill>
                  <a:srgbClr val="202429"/>
                </a:solidFill>
                <a:latin typeface="Arial"/>
                <a:cs typeface="Arial"/>
              </a:rPr>
              <a:t> </a:t>
            </a:r>
            <a:r>
              <a:rPr sz="1000" b="1" spc="-30">
                <a:solidFill>
                  <a:srgbClr val="202429"/>
                </a:solidFill>
                <a:latin typeface="Arial"/>
                <a:cs typeface="Arial"/>
              </a:rPr>
              <a:t>hallucination</a:t>
            </a:r>
            <a:r>
              <a:rPr sz="1000" b="1" spc="90">
                <a:solidFill>
                  <a:srgbClr val="202429"/>
                </a:solidFill>
                <a:latin typeface="Arial"/>
                <a:cs typeface="Arial"/>
              </a:rPr>
              <a:t> </a:t>
            </a:r>
            <a:r>
              <a:rPr sz="1000" b="1" spc="40">
                <a:solidFill>
                  <a:srgbClr val="202429"/>
                </a:solidFill>
                <a:latin typeface="Arial"/>
                <a:cs typeface="Arial"/>
              </a:rPr>
              <a:t>&amp; </a:t>
            </a:r>
            <a:r>
              <a:rPr sz="1000" b="1" spc="-40">
                <a:solidFill>
                  <a:srgbClr val="202429"/>
                </a:solidFill>
                <a:latin typeface="Arial"/>
                <a:cs typeface="Arial"/>
              </a:rPr>
              <a:t>bias</a:t>
            </a:r>
            <a:r>
              <a:rPr sz="1000" b="1" spc="-10">
                <a:solidFill>
                  <a:srgbClr val="202429"/>
                </a:solidFill>
                <a:latin typeface="Arial"/>
                <a:cs typeface="Arial"/>
              </a:rPr>
              <a:t> ampliﬁcation</a:t>
            </a:r>
            <a:endParaRPr sz="1000">
              <a:latin typeface="Arial"/>
              <a:cs typeface="Arial"/>
            </a:endParaRPr>
          </a:p>
          <a:p>
            <a:pPr marL="12700">
              <a:lnSpc>
                <a:spcPct val="100000"/>
              </a:lnSpc>
              <a:spcBef>
                <a:spcPts val="290"/>
              </a:spcBef>
            </a:pPr>
            <a:r>
              <a:rPr sz="1000" b="1" spc="-20">
                <a:solidFill>
                  <a:srgbClr val="202429"/>
                </a:solidFill>
                <a:latin typeface="Arial"/>
                <a:cs typeface="Arial"/>
              </a:rPr>
              <a:t>Inadequate</a:t>
            </a:r>
            <a:r>
              <a:rPr sz="1000" b="1" spc="-5">
                <a:solidFill>
                  <a:srgbClr val="202429"/>
                </a:solidFill>
                <a:latin typeface="Arial"/>
                <a:cs typeface="Arial"/>
              </a:rPr>
              <a:t> </a:t>
            </a:r>
            <a:r>
              <a:rPr sz="1000" b="1" spc="-10">
                <a:solidFill>
                  <a:srgbClr val="202429"/>
                </a:solidFill>
                <a:latin typeface="Arial"/>
                <a:cs typeface="Arial"/>
              </a:rPr>
              <a:t>content</a:t>
            </a:r>
            <a:r>
              <a:rPr sz="1000" b="1">
                <a:solidFill>
                  <a:srgbClr val="202429"/>
                </a:solidFill>
                <a:latin typeface="Arial"/>
                <a:cs typeface="Arial"/>
              </a:rPr>
              <a:t> </a:t>
            </a:r>
            <a:r>
              <a:rPr sz="1000" b="1" spc="-10">
                <a:solidFill>
                  <a:srgbClr val="202429"/>
                </a:solidFill>
                <a:latin typeface="Arial"/>
                <a:cs typeface="Arial"/>
              </a:rPr>
              <a:t>control</a:t>
            </a:r>
            <a:endParaRPr sz="1000">
              <a:latin typeface="Arial"/>
              <a:cs typeface="Arial"/>
            </a:endParaRPr>
          </a:p>
        </p:txBody>
      </p:sp>
      <p:sp>
        <p:nvSpPr>
          <p:cNvPr id="9" name="object 9"/>
          <p:cNvSpPr txBox="1"/>
          <p:nvPr/>
        </p:nvSpPr>
        <p:spPr>
          <a:xfrm>
            <a:off x="2119134" y="1019751"/>
            <a:ext cx="3266440" cy="1354455"/>
          </a:xfrm>
          <a:prstGeom prst="rect">
            <a:avLst/>
          </a:prstGeom>
        </p:spPr>
        <p:txBody>
          <a:bodyPr vert="horz" wrap="square" lIns="0" tIns="12065" rIns="0" bIns="0" rtlCol="0">
            <a:spAutoFit/>
          </a:bodyPr>
          <a:lstStyle/>
          <a:p>
            <a:pPr marL="12700" marR="5715">
              <a:lnSpc>
                <a:spcPct val="100000"/>
              </a:lnSpc>
              <a:spcBef>
                <a:spcPts val="95"/>
              </a:spcBef>
            </a:pPr>
            <a:r>
              <a:rPr sz="1000" spc="-10">
                <a:solidFill>
                  <a:srgbClr val="202429"/>
                </a:solidFill>
                <a:latin typeface="Tahoma"/>
                <a:cs typeface="Tahoma"/>
              </a:rPr>
              <a:t>Diversify</a:t>
            </a:r>
            <a:r>
              <a:rPr sz="1000" spc="25">
                <a:solidFill>
                  <a:srgbClr val="202429"/>
                </a:solidFill>
                <a:latin typeface="Tahoma"/>
                <a:cs typeface="Tahoma"/>
              </a:rPr>
              <a:t> </a:t>
            </a:r>
            <a:r>
              <a:rPr sz="1000" spc="-10">
                <a:solidFill>
                  <a:srgbClr val="202429"/>
                </a:solidFill>
                <a:latin typeface="Tahoma"/>
                <a:cs typeface="Tahoma"/>
              </a:rPr>
              <a:t>training</a:t>
            </a:r>
            <a:r>
              <a:rPr sz="1000" spc="25">
                <a:solidFill>
                  <a:srgbClr val="202429"/>
                </a:solidFill>
                <a:latin typeface="Tahoma"/>
                <a:cs typeface="Tahoma"/>
              </a:rPr>
              <a:t> </a:t>
            </a:r>
            <a:r>
              <a:rPr sz="1000" spc="-40">
                <a:solidFill>
                  <a:srgbClr val="202429"/>
                </a:solidFill>
                <a:latin typeface="Tahoma"/>
                <a:cs typeface="Tahoma"/>
              </a:rPr>
              <a:t>datasets;</a:t>
            </a:r>
            <a:r>
              <a:rPr sz="1000" spc="70">
                <a:solidFill>
                  <a:srgbClr val="202429"/>
                </a:solidFill>
                <a:latin typeface="Tahoma"/>
                <a:cs typeface="Tahoma"/>
              </a:rPr>
              <a:t> </a:t>
            </a:r>
            <a:r>
              <a:rPr sz="1000" spc="-25">
                <a:solidFill>
                  <a:srgbClr val="202429"/>
                </a:solidFill>
                <a:latin typeface="Tahoma"/>
                <a:cs typeface="Tahoma"/>
              </a:rPr>
              <a:t>implement</a:t>
            </a:r>
            <a:r>
              <a:rPr sz="1000" spc="25">
                <a:solidFill>
                  <a:srgbClr val="202429"/>
                </a:solidFill>
                <a:latin typeface="Tahoma"/>
                <a:cs typeface="Tahoma"/>
              </a:rPr>
              <a:t> </a:t>
            </a:r>
            <a:r>
              <a:rPr sz="1000" spc="-30">
                <a:solidFill>
                  <a:srgbClr val="202429"/>
                </a:solidFill>
                <a:latin typeface="Tahoma"/>
                <a:cs typeface="Tahoma"/>
              </a:rPr>
              <a:t>debiasing</a:t>
            </a:r>
            <a:r>
              <a:rPr sz="1000" spc="30">
                <a:solidFill>
                  <a:srgbClr val="202429"/>
                </a:solidFill>
                <a:latin typeface="Tahoma"/>
                <a:cs typeface="Tahoma"/>
              </a:rPr>
              <a:t> </a:t>
            </a:r>
            <a:r>
              <a:rPr sz="1000" spc="-35">
                <a:solidFill>
                  <a:srgbClr val="202429"/>
                </a:solidFill>
                <a:latin typeface="Tahoma"/>
                <a:cs typeface="Tahoma"/>
              </a:rPr>
              <a:t>techniques; </a:t>
            </a:r>
            <a:r>
              <a:rPr sz="1000" spc="-55">
                <a:solidFill>
                  <a:srgbClr val="202429"/>
                </a:solidFill>
                <a:latin typeface="Tahoma"/>
                <a:cs typeface="Tahoma"/>
              </a:rPr>
              <a:t>cross-</a:t>
            </a:r>
            <a:r>
              <a:rPr sz="1000" spc="-50">
                <a:solidFill>
                  <a:srgbClr val="202429"/>
                </a:solidFill>
                <a:latin typeface="Tahoma"/>
                <a:cs typeface="Tahoma"/>
              </a:rPr>
              <a:t>reference</a:t>
            </a:r>
            <a:r>
              <a:rPr sz="1000" spc="-30">
                <a:solidFill>
                  <a:srgbClr val="202429"/>
                </a:solidFill>
                <a:latin typeface="Tahoma"/>
                <a:cs typeface="Tahoma"/>
              </a:rPr>
              <a:t> </a:t>
            </a:r>
            <a:r>
              <a:rPr sz="1000">
                <a:solidFill>
                  <a:srgbClr val="202429"/>
                </a:solidFill>
                <a:latin typeface="Tahoma"/>
                <a:cs typeface="Tahoma"/>
              </a:rPr>
              <a:t>with</a:t>
            </a:r>
            <a:r>
              <a:rPr sz="1000" spc="-25">
                <a:solidFill>
                  <a:srgbClr val="202429"/>
                </a:solidFill>
                <a:latin typeface="Tahoma"/>
                <a:cs typeface="Tahoma"/>
              </a:rPr>
              <a:t> original </a:t>
            </a:r>
            <a:r>
              <a:rPr sz="1000" spc="-35">
                <a:solidFill>
                  <a:srgbClr val="202429"/>
                </a:solidFill>
                <a:latin typeface="Tahoma"/>
                <a:cs typeface="Tahoma"/>
              </a:rPr>
              <a:t>texts;</a:t>
            </a:r>
            <a:r>
              <a:rPr sz="1000" spc="-25">
                <a:solidFill>
                  <a:srgbClr val="202429"/>
                </a:solidFill>
                <a:latin typeface="Tahoma"/>
                <a:cs typeface="Tahoma"/>
              </a:rPr>
              <a:t> </a:t>
            </a:r>
            <a:r>
              <a:rPr sz="1000" spc="-40">
                <a:solidFill>
                  <a:srgbClr val="202429"/>
                </a:solidFill>
                <a:latin typeface="Tahoma"/>
                <a:cs typeface="Tahoma"/>
              </a:rPr>
              <a:t>regular</a:t>
            </a:r>
            <a:r>
              <a:rPr sz="1000" spc="-25">
                <a:solidFill>
                  <a:srgbClr val="202429"/>
                </a:solidFill>
                <a:latin typeface="Tahoma"/>
                <a:cs typeface="Tahoma"/>
              </a:rPr>
              <a:t> </a:t>
            </a:r>
            <a:r>
              <a:rPr sz="1000" spc="-20">
                <a:solidFill>
                  <a:srgbClr val="202429"/>
                </a:solidFill>
                <a:latin typeface="Tahoma"/>
                <a:cs typeface="Tahoma"/>
              </a:rPr>
              <a:t>bias</a:t>
            </a:r>
            <a:r>
              <a:rPr sz="1000" spc="-25">
                <a:solidFill>
                  <a:srgbClr val="202429"/>
                </a:solidFill>
                <a:latin typeface="Tahoma"/>
                <a:cs typeface="Tahoma"/>
              </a:rPr>
              <a:t> </a:t>
            </a:r>
            <a:r>
              <a:rPr sz="1000" spc="-10">
                <a:solidFill>
                  <a:srgbClr val="202429"/>
                </a:solidFill>
                <a:latin typeface="Tahoma"/>
                <a:cs typeface="Tahoma"/>
              </a:rPr>
              <a:t>audits</a:t>
            </a:r>
            <a:endParaRPr sz="1000">
              <a:latin typeface="Tahoma"/>
              <a:cs typeface="Tahoma"/>
            </a:endParaRPr>
          </a:p>
          <a:p>
            <a:pPr marL="12700" marR="6985">
              <a:lnSpc>
                <a:spcPct val="100000"/>
              </a:lnSpc>
              <a:spcBef>
                <a:spcPts val="290"/>
              </a:spcBef>
            </a:pPr>
            <a:r>
              <a:rPr sz="1000" spc="-25">
                <a:solidFill>
                  <a:srgbClr val="202429"/>
                </a:solidFill>
                <a:latin typeface="Tahoma"/>
                <a:cs typeface="Tahoma"/>
              </a:rPr>
              <a:t>Develop</a:t>
            </a:r>
            <a:r>
              <a:rPr sz="1000" spc="40">
                <a:solidFill>
                  <a:srgbClr val="202429"/>
                </a:solidFill>
                <a:latin typeface="Tahoma"/>
                <a:cs typeface="Tahoma"/>
              </a:rPr>
              <a:t> </a:t>
            </a:r>
            <a:r>
              <a:rPr sz="1000" spc="-20">
                <a:solidFill>
                  <a:srgbClr val="202429"/>
                </a:solidFill>
                <a:latin typeface="Tahoma"/>
                <a:cs typeface="Tahoma"/>
              </a:rPr>
              <a:t>models</a:t>
            </a:r>
            <a:r>
              <a:rPr sz="1000" spc="45">
                <a:solidFill>
                  <a:srgbClr val="202429"/>
                </a:solidFill>
                <a:latin typeface="Tahoma"/>
                <a:cs typeface="Tahoma"/>
              </a:rPr>
              <a:t> </a:t>
            </a:r>
            <a:r>
              <a:rPr sz="1000">
                <a:solidFill>
                  <a:srgbClr val="202429"/>
                </a:solidFill>
                <a:latin typeface="Tahoma"/>
                <a:cs typeface="Tahoma"/>
              </a:rPr>
              <a:t>with</a:t>
            </a:r>
            <a:r>
              <a:rPr sz="1000" spc="40">
                <a:solidFill>
                  <a:srgbClr val="202429"/>
                </a:solidFill>
                <a:latin typeface="Tahoma"/>
                <a:cs typeface="Tahoma"/>
              </a:rPr>
              <a:t> </a:t>
            </a:r>
            <a:r>
              <a:rPr sz="1000" spc="-45">
                <a:solidFill>
                  <a:srgbClr val="202429"/>
                </a:solidFill>
                <a:latin typeface="Tahoma"/>
                <a:cs typeface="Tahoma"/>
              </a:rPr>
              <a:t>embedded</a:t>
            </a:r>
            <a:r>
              <a:rPr sz="1000" spc="40">
                <a:solidFill>
                  <a:srgbClr val="202429"/>
                </a:solidFill>
                <a:latin typeface="Tahoma"/>
                <a:cs typeface="Tahoma"/>
              </a:rPr>
              <a:t> </a:t>
            </a:r>
            <a:r>
              <a:rPr sz="1000" spc="-10">
                <a:solidFill>
                  <a:srgbClr val="202429"/>
                </a:solidFill>
                <a:latin typeface="Tahoma"/>
                <a:cs typeface="Tahoma"/>
              </a:rPr>
              <a:t>ethical</a:t>
            </a:r>
            <a:r>
              <a:rPr sz="1000" spc="40">
                <a:solidFill>
                  <a:srgbClr val="202429"/>
                </a:solidFill>
                <a:latin typeface="Tahoma"/>
                <a:cs typeface="Tahoma"/>
              </a:rPr>
              <a:t> </a:t>
            </a:r>
            <a:r>
              <a:rPr sz="1000" spc="-30">
                <a:solidFill>
                  <a:srgbClr val="202429"/>
                </a:solidFill>
                <a:latin typeface="Tahoma"/>
                <a:cs typeface="Tahoma"/>
              </a:rPr>
              <a:t>constraints;</a:t>
            </a:r>
            <a:r>
              <a:rPr sz="1000" spc="95">
                <a:solidFill>
                  <a:srgbClr val="202429"/>
                </a:solidFill>
                <a:latin typeface="Tahoma"/>
                <a:cs typeface="Tahoma"/>
              </a:rPr>
              <a:t> </a:t>
            </a:r>
            <a:r>
              <a:rPr sz="1000" spc="-10">
                <a:solidFill>
                  <a:srgbClr val="202429"/>
                </a:solidFill>
                <a:latin typeface="Tahoma"/>
                <a:cs typeface="Tahoma"/>
              </a:rPr>
              <a:t>employ </a:t>
            </a:r>
            <a:r>
              <a:rPr sz="1000" spc="-50">
                <a:solidFill>
                  <a:srgbClr val="202429"/>
                </a:solidFill>
                <a:latin typeface="Tahoma"/>
                <a:cs typeface="Tahoma"/>
              </a:rPr>
              <a:t>sentence</a:t>
            </a:r>
            <a:r>
              <a:rPr sz="1000" spc="-30">
                <a:solidFill>
                  <a:srgbClr val="202429"/>
                </a:solidFill>
                <a:latin typeface="Tahoma"/>
                <a:cs typeface="Tahoma"/>
              </a:rPr>
              <a:t> </a:t>
            </a:r>
            <a:r>
              <a:rPr sz="1000">
                <a:solidFill>
                  <a:srgbClr val="202429"/>
                </a:solidFill>
                <a:latin typeface="Tahoma"/>
                <a:cs typeface="Tahoma"/>
              </a:rPr>
              <a:t>ID</a:t>
            </a:r>
            <a:r>
              <a:rPr sz="1000" spc="-35">
                <a:solidFill>
                  <a:srgbClr val="202429"/>
                </a:solidFill>
                <a:latin typeface="Tahoma"/>
                <a:cs typeface="Tahoma"/>
              </a:rPr>
              <a:t> </a:t>
            </a:r>
            <a:r>
              <a:rPr sz="1000" spc="-20">
                <a:solidFill>
                  <a:srgbClr val="202429"/>
                </a:solidFill>
                <a:latin typeface="Tahoma"/>
                <a:cs typeface="Tahoma"/>
              </a:rPr>
              <a:t>traceability</a:t>
            </a:r>
            <a:r>
              <a:rPr sz="1000" spc="-30">
                <a:solidFill>
                  <a:srgbClr val="202429"/>
                </a:solidFill>
                <a:latin typeface="Tahoma"/>
                <a:cs typeface="Tahoma"/>
              </a:rPr>
              <a:t> </a:t>
            </a:r>
            <a:r>
              <a:rPr sz="1000" spc="-10">
                <a:solidFill>
                  <a:srgbClr val="202429"/>
                </a:solidFill>
                <a:latin typeface="Tahoma"/>
                <a:cs typeface="Tahoma"/>
              </a:rPr>
              <a:t>for</a:t>
            </a:r>
            <a:r>
              <a:rPr sz="1000" spc="-30">
                <a:solidFill>
                  <a:srgbClr val="202429"/>
                </a:solidFill>
                <a:latin typeface="Tahoma"/>
                <a:cs typeface="Tahoma"/>
              </a:rPr>
              <a:t> </a:t>
            </a:r>
            <a:r>
              <a:rPr sz="1000" spc="-10">
                <a:solidFill>
                  <a:srgbClr val="202429"/>
                </a:solidFill>
                <a:latin typeface="Tahoma"/>
                <a:cs typeface="Tahoma"/>
              </a:rPr>
              <a:t>veriﬁcation</a:t>
            </a:r>
            <a:endParaRPr sz="1000">
              <a:latin typeface="Tahoma"/>
              <a:cs typeface="Tahoma"/>
            </a:endParaRPr>
          </a:p>
          <a:p>
            <a:pPr marL="12700" marR="5080">
              <a:lnSpc>
                <a:spcPct val="100000"/>
              </a:lnSpc>
              <a:spcBef>
                <a:spcPts val="290"/>
              </a:spcBef>
            </a:pPr>
            <a:r>
              <a:rPr sz="1000">
                <a:solidFill>
                  <a:srgbClr val="202429"/>
                </a:solidFill>
                <a:latin typeface="Tahoma"/>
                <a:cs typeface="Tahoma"/>
              </a:rPr>
              <a:t>Use</a:t>
            </a:r>
            <a:r>
              <a:rPr sz="1000" spc="125">
                <a:solidFill>
                  <a:srgbClr val="202429"/>
                </a:solidFill>
                <a:latin typeface="Tahoma"/>
                <a:cs typeface="Tahoma"/>
              </a:rPr>
              <a:t> </a:t>
            </a:r>
            <a:r>
              <a:rPr sz="1000">
                <a:solidFill>
                  <a:srgbClr val="202429"/>
                </a:solidFill>
                <a:latin typeface="Tahoma"/>
                <a:cs typeface="Tahoma"/>
              </a:rPr>
              <a:t>oﬄine</a:t>
            </a:r>
            <a:r>
              <a:rPr sz="1000" spc="130">
                <a:solidFill>
                  <a:srgbClr val="202429"/>
                </a:solidFill>
                <a:latin typeface="Tahoma"/>
                <a:cs typeface="Tahoma"/>
              </a:rPr>
              <a:t> </a:t>
            </a:r>
            <a:r>
              <a:rPr sz="1000">
                <a:solidFill>
                  <a:srgbClr val="202429"/>
                </a:solidFill>
                <a:latin typeface="Tahoma"/>
                <a:cs typeface="Tahoma"/>
              </a:rPr>
              <a:t>LLMs</a:t>
            </a:r>
            <a:r>
              <a:rPr sz="1000" spc="125">
                <a:solidFill>
                  <a:srgbClr val="202429"/>
                </a:solidFill>
                <a:latin typeface="Tahoma"/>
                <a:cs typeface="Tahoma"/>
              </a:rPr>
              <a:t> </a:t>
            </a:r>
            <a:r>
              <a:rPr sz="1000">
                <a:solidFill>
                  <a:srgbClr val="202429"/>
                </a:solidFill>
                <a:latin typeface="Tahoma"/>
                <a:cs typeface="Tahoma"/>
              </a:rPr>
              <a:t>to</a:t>
            </a:r>
            <a:r>
              <a:rPr sz="1000" spc="130">
                <a:solidFill>
                  <a:srgbClr val="202429"/>
                </a:solidFill>
                <a:latin typeface="Tahoma"/>
                <a:cs typeface="Tahoma"/>
              </a:rPr>
              <a:t> </a:t>
            </a:r>
            <a:r>
              <a:rPr sz="1000" spc="-25">
                <a:solidFill>
                  <a:srgbClr val="202429"/>
                </a:solidFill>
                <a:latin typeface="Tahoma"/>
                <a:cs typeface="Tahoma"/>
              </a:rPr>
              <a:t>reduce</a:t>
            </a:r>
            <a:r>
              <a:rPr sz="1000" spc="125">
                <a:solidFill>
                  <a:srgbClr val="202429"/>
                </a:solidFill>
                <a:latin typeface="Tahoma"/>
                <a:cs typeface="Tahoma"/>
              </a:rPr>
              <a:t> </a:t>
            </a:r>
            <a:r>
              <a:rPr sz="1000" spc="-25">
                <a:solidFill>
                  <a:srgbClr val="202429"/>
                </a:solidFill>
                <a:latin typeface="Tahoma"/>
                <a:cs typeface="Tahoma"/>
              </a:rPr>
              <a:t>breach</a:t>
            </a:r>
            <a:r>
              <a:rPr sz="1000" spc="130">
                <a:solidFill>
                  <a:srgbClr val="202429"/>
                </a:solidFill>
                <a:latin typeface="Tahoma"/>
                <a:cs typeface="Tahoma"/>
              </a:rPr>
              <a:t> </a:t>
            </a:r>
            <a:r>
              <a:rPr sz="1000" spc="-10">
                <a:solidFill>
                  <a:srgbClr val="202429"/>
                </a:solidFill>
                <a:latin typeface="Tahoma"/>
                <a:cs typeface="Tahoma"/>
              </a:rPr>
              <a:t>risks;</a:t>
            </a:r>
            <a:r>
              <a:rPr sz="1000" spc="215">
                <a:solidFill>
                  <a:srgbClr val="202429"/>
                </a:solidFill>
                <a:latin typeface="Tahoma"/>
                <a:cs typeface="Tahoma"/>
              </a:rPr>
              <a:t> </a:t>
            </a:r>
            <a:r>
              <a:rPr sz="1000" spc="-20">
                <a:solidFill>
                  <a:srgbClr val="202429"/>
                </a:solidFill>
                <a:latin typeface="Tahoma"/>
                <a:cs typeface="Tahoma"/>
              </a:rPr>
              <a:t>balance</a:t>
            </a:r>
            <a:r>
              <a:rPr sz="1000" spc="125">
                <a:solidFill>
                  <a:srgbClr val="202429"/>
                </a:solidFill>
                <a:latin typeface="Tahoma"/>
                <a:cs typeface="Tahoma"/>
              </a:rPr>
              <a:t> </a:t>
            </a:r>
            <a:r>
              <a:rPr sz="1000" spc="-25">
                <a:solidFill>
                  <a:srgbClr val="202429"/>
                </a:solidFill>
                <a:latin typeface="Tahoma"/>
                <a:cs typeface="Tahoma"/>
              </a:rPr>
              <a:t>security </a:t>
            </a:r>
            <a:r>
              <a:rPr sz="1000" spc="-30">
                <a:solidFill>
                  <a:srgbClr val="202429"/>
                </a:solidFill>
                <a:latin typeface="Tahoma"/>
                <a:cs typeface="Tahoma"/>
              </a:rPr>
              <a:t>against</a:t>
            </a:r>
            <a:r>
              <a:rPr sz="1000" spc="-10">
                <a:solidFill>
                  <a:srgbClr val="202429"/>
                </a:solidFill>
                <a:latin typeface="Tahoma"/>
                <a:cs typeface="Tahoma"/>
              </a:rPr>
              <a:t> </a:t>
            </a:r>
            <a:r>
              <a:rPr sz="1000" spc="-45">
                <a:solidFill>
                  <a:srgbClr val="202429"/>
                </a:solidFill>
                <a:latin typeface="Tahoma"/>
                <a:cs typeface="Tahoma"/>
              </a:rPr>
              <a:t>performance</a:t>
            </a:r>
            <a:r>
              <a:rPr sz="1000" spc="-5">
                <a:solidFill>
                  <a:srgbClr val="202429"/>
                </a:solidFill>
                <a:latin typeface="Tahoma"/>
                <a:cs typeface="Tahoma"/>
              </a:rPr>
              <a:t> </a:t>
            </a:r>
            <a:r>
              <a:rPr sz="1000" spc="-10">
                <a:solidFill>
                  <a:srgbClr val="202429"/>
                </a:solidFill>
                <a:latin typeface="Tahoma"/>
                <a:cs typeface="Tahoma"/>
              </a:rPr>
              <a:t>needs</a:t>
            </a:r>
            <a:endParaRPr sz="1000">
              <a:latin typeface="Tahoma"/>
              <a:cs typeface="Tahoma"/>
            </a:endParaRPr>
          </a:p>
          <a:p>
            <a:pPr marL="12700" marR="6350">
              <a:lnSpc>
                <a:spcPct val="100000"/>
              </a:lnSpc>
              <a:spcBef>
                <a:spcPts val="290"/>
              </a:spcBef>
            </a:pPr>
            <a:r>
              <a:rPr sz="1000" spc="-30">
                <a:solidFill>
                  <a:srgbClr val="202429"/>
                </a:solidFill>
                <a:latin typeface="Tahoma"/>
                <a:cs typeface="Tahoma"/>
              </a:rPr>
              <a:t>Robust </a:t>
            </a:r>
            <a:r>
              <a:rPr sz="1000" spc="-35">
                <a:solidFill>
                  <a:srgbClr val="202429"/>
                </a:solidFill>
                <a:latin typeface="Tahoma"/>
                <a:cs typeface="Tahoma"/>
              </a:rPr>
              <a:t>data</a:t>
            </a:r>
            <a:r>
              <a:rPr sz="1000" spc="-20">
                <a:solidFill>
                  <a:srgbClr val="202429"/>
                </a:solidFill>
                <a:latin typeface="Tahoma"/>
                <a:cs typeface="Tahoma"/>
              </a:rPr>
              <a:t> </a:t>
            </a:r>
            <a:r>
              <a:rPr sz="1000" spc="-60">
                <a:solidFill>
                  <a:srgbClr val="202429"/>
                </a:solidFill>
                <a:latin typeface="Tahoma"/>
                <a:cs typeface="Tahoma"/>
              </a:rPr>
              <a:t>preprocessing;</a:t>
            </a:r>
            <a:r>
              <a:rPr sz="1000" spc="5">
                <a:solidFill>
                  <a:srgbClr val="202429"/>
                </a:solidFill>
                <a:latin typeface="Tahoma"/>
                <a:cs typeface="Tahoma"/>
              </a:rPr>
              <a:t> </a:t>
            </a:r>
            <a:r>
              <a:rPr sz="1000" spc="60">
                <a:solidFill>
                  <a:srgbClr val="202429"/>
                </a:solidFill>
                <a:latin typeface="Tahoma"/>
                <a:cs typeface="Tahoma"/>
              </a:rPr>
              <a:t>ML</a:t>
            </a:r>
            <a:r>
              <a:rPr sz="1000" spc="-25">
                <a:solidFill>
                  <a:srgbClr val="202429"/>
                </a:solidFill>
                <a:latin typeface="Tahoma"/>
                <a:cs typeface="Tahoma"/>
              </a:rPr>
              <a:t> </a:t>
            </a:r>
            <a:r>
              <a:rPr sz="1000" spc="-40">
                <a:solidFill>
                  <a:srgbClr val="202429"/>
                </a:solidFill>
                <a:latin typeface="Tahoma"/>
                <a:cs typeface="Tahoma"/>
              </a:rPr>
              <a:t>algorithms</a:t>
            </a:r>
            <a:r>
              <a:rPr sz="1000" spc="-25">
                <a:solidFill>
                  <a:srgbClr val="202429"/>
                </a:solidFill>
                <a:latin typeface="Tahoma"/>
                <a:cs typeface="Tahoma"/>
              </a:rPr>
              <a:t> </a:t>
            </a:r>
            <a:r>
              <a:rPr sz="1000" spc="-50">
                <a:solidFill>
                  <a:srgbClr val="202429"/>
                </a:solidFill>
                <a:latin typeface="Tahoma"/>
                <a:cs typeface="Tahoma"/>
              </a:rPr>
              <a:t>customised</a:t>
            </a:r>
            <a:r>
              <a:rPr sz="1000" spc="-30">
                <a:solidFill>
                  <a:srgbClr val="202429"/>
                </a:solidFill>
                <a:latin typeface="Tahoma"/>
                <a:cs typeface="Tahoma"/>
              </a:rPr>
              <a:t> </a:t>
            </a:r>
            <a:r>
              <a:rPr sz="1000" spc="-40">
                <a:solidFill>
                  <a:srgbClr val="202429"/>
                </a:solidFill>
                <a:latin typeface="Tahoma"/>
                <a:cs typeface="Tahoma"/>
              </a:rPr>
              <a:t>for</a:t>
            </a:r>
            <a:r>
              <a:rPr sz="1000" spc="-25">
                <a:solidFill>
                  <a:srgbClr val="202429"/>
                </a:solidFill>
                <a:latin typeface="Tahoma"/>
                <a:cs typeface="Tahoma"/>
              </a:rPr>
              <a:t> </a:t>
            </a:r>
            <a:r>
              <a:rPr sz="1000" spc="-20">
                <a:solidFill>
                  <a:srgbClr val="202429"/>
                </a:solidFill>
                <a:latin typeface="Tahoma"/>
                <a:cs typeface="Tahoma"/>
              </a:rPr>
              <a:t>high variability</a:t>
            </a:r>
            <a:r>
              <a:rPr sz="1000" spc="-25">
                <a:solidFill>
                  <a:srgbClr val="202429"/>
                </a:solidFill>
                <a:latin typeface="Tahoma"/>
                <a:cs typeface="Tahoma"/>
              </a:rPr>
              <a:t> </a:t>
            </a:r>
            <a:r>
              <a:rPr sz="1000" spc="-10">
                <a:solidFill>
                  <a:srgbClr val="202429"/>
                </a:solidFill>
                <a:latin typeface="Tahoma"/>
                <a:cs typeface="Tahoma"/>
              </a:rPr>
              <a:t>datasets</a:t>
            </a:r>
            <a:endParaRPr sz="1000">
              <a:latin typeface="Tahoma"/>
              <a:cs typeface="Tahoma"/>
            </a:endParaRPr>
          </a:p>
        </p:txBody>
      </p:sp>
      <p:sp>
        <p:nvSpPr>
          <p:cNvPr id="10" name="object 10"/>
          <p:cNvSpPr txBox="1"/>
          <p:nvPr/>
        </p:nvSpPr>
        <p:spPr>
          <a:xfrm>
            <a:off x="347294" y="1702986"/>
            <a:ext cx="1391920" cy="177800"/>
          </a:xfrm>
          <a:prstGeom prst="rect">
            <a:avLst/>
          </a:prstGeom>
        </p:spPr>
        <p:txBody>
          <a:bodyPr vert="horz" wrap="square" lIns="0" tIns="12065" rIns="0" bIns="0" rtlCol="0">
            <a:spAutoFit/>
          </a:bodyPr>
          <a:lstStyle/>
          <a:p>
            <a:pPr marL="12700">
              <a:lnSpc>
                <a:spcPct val="100000"/>
              </a:lnSpc>
              <a:spcBef>
                <a:spcPts val="95"/>
              </a:spcBef>
            </a:pPr>
            <a:r>
              <a:rPr sz="1000" b="1" spc="-30">
                <a:solidFill>
                  <a:srgbClr val="202429"/>
                </a:solidFill>
                <a:latin typeface="Arial"/>
                <a:cs typeface="Arial"/>
              </a:rPr>
              <a:t>Sensitive</a:t>
            </a:r>
            <a:r>
              <a:rPr sz="1000" b="1" spc="10">
                <a:solidFill>
                  <a:srgbClr val="202429"/>
                </a:solidFill>
                <a:latin typeface="Arial"/>
                <a:cs typeface="Arial"/>
              </a:rPr>
              <a:t> </a:t>
            </a:r>
            <a:r>
              <a:rPr sz="1000" b="1">
                <a:solidFill>
                  <a:srgbClr val="202429"/>
                </a:solidFill>
                <a:latin typeface="Arial"/>
                <a:cs typeface="Arial"/>
              </a:rPr>
              <a:t>data</a:t>
            </a:r>
            <a:r>
              <a:rPr sz="1000" b="1" spc="15">
                <a:solidFill>
                  <a:srgbClr val="202429"/>
                </a:solidFill>
                <a:latin typeface="Arial"/>
                <a:cs typeface="Arial"/>
              </a:rPr>
              <a:t> </a:t>
            </a:r>
            <a:r>
              <a:rPr sz="1000" b="1" spc="-50">
                <a:solidFill>
                  <a:srgbClr val="202429"/>
                </a:solidFill>
                <a:latin typeface="Arial"/>
                <a:cs typeface="Arial"/>
              </a:rPr>
              <a:t>exposure</a:t>
            </a:r>
            <a:endParaRPr sz="1000">
              <a:latin typeface="Arial"/>
              <a:cs typeface="Arial"/>
            </a:endParaRPr>
          </a:p>
        </p:txBody>
      </p:sp>
      <p:sp>
        <p:nvSpPr>
          <p:cNvPr id="11" name="object 11"/>
          <p:cNvSpPr txBox="1"/>
          <p:nvPr/>
        </p:nvSpPr>
        <p:spPr>
          <a:xfrm>
            <a:off x="347294" y="2044616"/>
            <a:ext cx="1301115" cy="177800"/>
          </a:xfrm>
          <a:prstGeom prst="rect">
            <a:avLst/>
          </a:prstGeom>
        </p:spPr>
        <p:txBody>
          <a:bodyPr vert="horz" wrap="square" lIns="0" tIns="12065" rIns="0" bIns="0" rtlCol="0">
            <a:spAutoFit/>
          </a:bodyPr>
          <a:lstStyle/>
          <a:p>
            <a:pPr marL="12700">
              <a:lnSpc>
                <a:spcPct val="100000"/>
              </a:lnSpc>
              <a:spcBef>
                <a:spcPts val="95"/>
              </a:spcBef>
            </a:pPr>
            <a:r>
              <a:rPr sz="1000" b="1" spc="-30">
                <a:solidFill>
                  <a:srgbClr val="202429"/>
                </a:solidFill>
                <a:latin typeface="Arial"/>
                <a:cs typeface="Arial"/>
              </a:rPr>
              <a:t>Sample</a:t>
            </a:r>
            <a:r>
              <a:rPr sz="1000" b="1" spc="-5">
                <a:solidFill>
                  <a:srgbClr val="202429"/>
                </a:solidFill>
                <a:latin typeface="Arial"/>
                <a:cs typeface="Arial"/>
              </a:rPr>
              <a:t> </a:t>
            </a:r>
            <a:r>
              <a:rPr sz="1000" b="1" spc="-30">
                <a:solidFill>
                  <a:srgbClr val="202429"/>
                </a:solidFill>
                <a:latin typeface="Arial"/>
                <a:cs typeface="Arial"/>
              </a:rPr>
              <a:t>size</a:t>
            </a:r>
            <a:r>
              <a:rPr sz="1000" b="1">
                <a:solidFill>
                  <a:srgbClr val="202429"/>
                </a:solidFill>
                <a:latin typeface="Arial"/>
                <a:cs typeface="Arial"/>
              </a:rPr>
              <a:t> </a:t>
            </a:r>
            <a:r>
              <a:rPr sz="1000" b="1" spc="-25">
                <a:solidFill>
                  <a:srgbClr val="202429"/>
                </a:solidFill>
                <a:latin typeface="Arial"/>
                <a:cs typeface="Arial"/>
              </a:rPr>
              <a:t>variability</a:t>
            </a:r>
            <a:endParaRPr sz="1000">
              <a:latin typeface="Arial"/>
              <a:cs typeface="Arial"/>
            </a:endParaRPr>
          </a:p>
        </p:txBody>
      </p:sp>
      <p:sp>
        <p:nvSpPr>
          <p:cNvPr id="12" name="object 12"/>
          <p:cNvSpPr/>
          <p:nvPr/>
        </p:nvSpPr>
        <p:spPr>
          <a:xfrm>
            <a:off x="359994" y="2411361"/>
            <a:ext cx="5012055" cy="0"/>
          </a:xfrm>
          <a:custGeom>
            <a:avLst/>
            <a:gdLst/>
            <a:ahLst/>
            <a:cxnLst/>
            <a:rect l="l" t="t" r="r" b="b"/>
            <a:pathLst>
              <a:path w="5012055">
                <a:moveTo>
                  <a:pt x="0" y="0"/>
                </a:moveTo>
                <a:lnTo>
                  <a:pt x="5011839" y="0"/>
                </a:lnTo>
              </a:path>
            </a:pathLst>
          </a:custGeom>
          <a:ln w="11083">
            <a:solidFill>
              <a:srgbClr val="202429"/>
            </a:solidFill>
          </a:ln>
        </p:spPr>
        <p:txBody>
          <a:bodyPr wrap="square" lIns="0" tIns="0" rIns="0" bIns="0" rtlCol="0"/>
          <a:lstStyle/>
          <a:p>
            <a:endParaRPr/>
          </a:p>
        </p:txBody>
      </p:sp>
      <p:sp>
        <p:nvSpPr>
          <p:cNvPr id="13" name="object 13"/>
          <p:cNvSpPr txBox="1"/>
          <p:nvPr/>
        </p:nvSpPr>
        <p:spPr>
          <a:xfrm>
            <a:off x="499516" y="2509202"/>
            <a:ext cx="4761230" cy="367030"/>
          </a:xfrm>
          <a:prstGeom prst="rect">
            <a:avLst/>
          </a:prstGeom>
          <a:solidFill>
            <a:srgbClr val="E8F4F8"/>
          </a:solidFill>
          <a:ln w="5060">
            <a:solidFill>
              <a:srgbClr val="005F73"/>
            </a:solidFill>
          </a:ln>
        </p:spPr>
        <p:txBody>
          <a:bodyPr vert="horz" wrap="square" lIns="0" tIns="1270" rIns="0" bIns="0" rtlCol="0">
            <a:spAutoFit/>
          </a:bodyPr>
          <a:lstStyle/>
          <a:p>
            <a:pPr algn="ctr">
              <a:lnSpc>
                <a:spcPct val="100000"/>
              </a:lnSpc>
              <a:spcBef>
                <a:spcPts val="10"/>
              </a:spcBef>
            </a:pPr>
            <a:r>
              <a:rPr sz="1000" b="1">
                <a:solidFill>
                  <a:srgbClr val="202429"/>
                </a:solidFill>
                <a:latin typeface="Arial"/>
                <a:cs typeface="Arial"/>
              </a:rPr>
              <a:t>Key</a:t>
            </a:r>
            <a:r>
              <a:rPr sz="1000" b="1" spc="55">
                <a:solidFill>
                  <a:srgbClr val="202429"/>
                </a:solidFill>
                <a:latin typeface="Arial"/>
                <a:cs typeface="Arial"/>
              </a:rPr>
              <a:t> </a:t>
            </a:r>
            <a:r>
              <a:rPr sz="1000" b="1" spc="-45">
                <a:solidFill>
                  <a:srgbClr val="202429"/>
                </a:solidFill>
                <a:latin typeface="Arial"/>
                <a:cs typeface="Arial"/>
              </a:rPr>
              <a:t>safeguard:</a:t>
            </a:r>
            <a:r>
              <a:rPr sz="1000" b="1" spc="125">
                <a:solidFill>
                  <a:srgbClr val="202429"/>
                </a:solidFill>
                <a:latin typeface="Arial"/>
                <a:cs typeface="Arial"/>
              </a:rPr>
              <a:t> </a:t>
            </a:r>
            <a:r>
              <a:rPr sz="1000" spc="-55">
                <a:solidFill>
                  <a:srgbClr val="202429"/>
                </a:solidFill>
                <a:latin typeface="Tahoma"/>
                <a:cs typeface="Tahoma"/>
              </a:rPr>
              <a:t>Sentence-</a:t>
            </a:r>
            <a:r>
              <a:rPr sz="1000" spc="-30">
                <a:solidFill>
                  <a:srgbClr val="202429"/>
                </a:solidFill>
                <a:latin typeface="Tahoma"/>
                <a:cs typeface="Tahoma"/>
              </a:rPr>
              <a:t>level</a:t>
            </a:r>
            <a:r>
              <a:rPr sz="1000" spc="-10">
                <a:solidFill>
                  <a:srgbClr val="202429"/>
                </a:solidFill>
                <a:latin typeface="Tahoma"/>
                <a:cs typeface="Tahoma"/>
              </a:rPr>
              <a:t> </a:t>
            </a:r>
            <a:r>
              <a:rPr sz="1000" spc="-20">
                <a:solidFill>
                  <a:srgbClr val="202429"/>
                </a:solidFill>
                <a:latin typeface="Tahoma"/>
                <a:cs typeface="Tahoma"/>
              </a:rPr>
              <a:t>traceability</a:t>
            </a:r>
            <a:r>
              <a:rPr sz="1000" spc="-10">
                <a:solidFill>
                  <a:srgbClr val="202429"/>
                </a:solidFill>
                <a:latin typeface="Tahoma"/>
                <a:cs typeface="Tahoma"/>
              </a:rPr>
              <a:t> </a:t>
            </a:r>
            <a:r>
              <a:rPr sz="1000" spc="-55">
                <a:solidFill>
                  <a:srgbClr val="202429"/>
                </a:solidFill>
                <a:latin typeface="Tahoma"/>
                <a:cs typeface="Tahoma"/>
              </a:rPr>
              <a:t>enables</a:t>
            </a:r>
            <a:r>
              <a:rPr sz="1000" spc="-5">
                <a:solidFill>
                  <a:srgbClr val="202429"/>
                </a:solidFill>
                <a:latin typeface="Tahoma"/>
                <a:cs typeface="Tahoma"/>
              </a:rPr>
              <a:t> </a:t>
            </a:r>
            <a:r>
              <a:rPr sz="1000" spc="-30">
                <a:solidFill>
                  <a:srgbClr val="202429"/>
                </a:solidFill>
                <a:latin typeface="Tahoma"/>
                <a:cs typeface="Tahoma"/>
              </a:rPr>
              <a:t>veriﬁcation</a:t>
            </a:r>
            <a:r>
              <a:rPr sz="1000" spc="-10">
                <a:solidFill>
                  <a:srgbClr val="202429"/>
                </a:solidFill>
                <a:latin typeface="Tahoma"/>
                <a:cs typeface="Tahoma"/>
              </a:rPr>
              <a:t> </a:t>
            </a:r>
            <a:r>
              <a:rPr sz="1000">
                <a:solidFill>
                  <a:srgbClr val="202429"/>
                </a:solidFill>
                <a:latin typeface="Tahoma"/>
                <a:cs typeface="Tahoma"/>
              </a:rPr>
              <a:t>of</a:t>
            </a:r>
            <a:r>
              <a:rPr sz="1000" spc="-10">
                <a:solidFill>
                  <a:srgbClr val="202429"/>
                </a:solidFill>
                <a:latin typeface="Tahoma"/>
                <a:cs typeface="Tahoma"/>
              </a:rPr>
              <a:t> </a:t>
            </a:r>
            <a:r>
              <a:rPr sz="1000" spc="-55">
                <a:solidFill>
                  <a:srgbClr val="202429"/>
                </a:solidFill>
                <a:latin typeface="Tahoma"/>
                <a:cs typeface="Tahoma"/>
              </a:rPr>
              <a:t>every</a:t>
            </a:r>
            <a:r>
              <a:rPr sz="1000" spc="-5">
                <a:solidFill>
                  <a:srgbClr val="202429"/>
                </a:solidFill>
                <a:latin typeface="Tahoma"/>
                <a:cs typeface="Tahoma"/>
              </a:rPr>
              <a:t> </a:t>
            </a:r>
            <a:r>
              <a:rPr sz="1000" spc="-10">
                <a:solidFill>
                  <a:srgbClr val="202429"/>
                </a:solidFill>
                <a:latin typeface="Tahoma"/>
                <a:cs typeface="Tahoma"/>
              </a:rPr>
              <a:t>summary,</a:t>
            </a:r>
            <a:endParaRPr sz="1000">
              <a:latin typeface="Tahoma"/>
              <a:cs typeface="Tahoma"/>
            </a:endParaRPr>
          </a:p>
          <a:p>
            <a:pPr marR="53340" algn="ctr">
              <a:lnSpc>
                <a:spcPct val="100000"/>
              </a:lnSpc>
              <a:spcBef>
                <a:spcPts val="155"/>
              </a:spcBef>
            </a:pPr>
            <a:r>
              <a:rPr sz="1000" spc="-45">
                <a:solidFill>
                  <a:srgbClr val="202429"/>
                </a:solidFill>
                <a:latin typeface="Tahoma"/>
                <a:cs typeface="Tahoma"/>
              </a:rPr>
              <a:t>ensuring</a:t>
            </a:r>
            <a:r>
              <a:rPr sz="1000" spc="10">
                <a:solidFill>
                  <a:srgbClr val="202429"/>
                </a:solidFill>
                <a:latin typeface="Tahoma"/>
                <a:cs typeface="Tahoma"/>
              </a:rPr>
              <a:t> </a:t>
            </a:r>
            <a:r>
              <a:rPr sz="1000" spc="-30">
                <a:solidFill>
                  <a:srgbClr val="202429"/>
                </a:solidFill>
                <a:latin typeface="Tahoma"/>
                <a:cs typeface="Tahoma"/>
              </a:rPr>
              <a:t>veriﬁability,</a:t>
            </a:r>
            <a:r>
              <a:rPr sz="1000" spc="15">
                <a:solidFill>
                  <a:srgbClr val="202429"/>
                </a:solidFill>
                <a:latin typeface="Tahoma"/>
                <a:cs typeface="Tahoma"/>
              </a:rPr>
              <a:t> </a:t>
            </a:r>
            <a:r>
              <a:rPr sz="1000" spc="-45">
                <a:solidFill>
                  <a:srgbClr val="202429"/>
                </a:solidFill>
                <a:latin typeface="Tahoma"/>
                <a:cs typeface="Tahoma"/>
              </a:rPr>
              <a:t>trustworthiness,</a:t>
            </a:r>
            <a:r>
              <a:rPr sz="1000" spc="15">
                <a:solidFill>
                  <a:srgbClr val="202429"/>
                </a:solidFill>
                <a:latin typeface="Tahoma"/>
                <a:cs typeface="Tahoma"/>
              </a:rPr>
              <a:t> </a:t>
            </a:r>
            <a:r>
              <a:rPr sz="1000" spc="-25">
                <a:solidFill>
                  <a:srgbClr val="202429"/>
                </a:solidFill>
                <a:latin typeface="Tahoma"/>
                <a:cs typeface="Tahoma"/>
              </a:rPr>
              <a:t>and</a:t>
            </a:r>
            <a:r>
              <a:rPr sz="1000" spc="15">
                <a:solidFill>
                  <a:srgbClr val="202429"/>
                </a:solidFill>
                <a:latin typeface="Tahoma"/>
                <a:cs typeface="Tahoma"/>
              </a:rPr>
              <a:t> </a:t>
            </a:r>
            <a:r>
              <a:rPr sz="1000" spc="-10">
                <a:solidFill>
                  <a:srgbClr val="202429"/>
                </a:solidFill>
                <a:latin typeface="Tahoma"/>
                <a:cs typeface="Tahoma"/>
              </a:rPr>
              <a:t>accountability.</a:t>
            </a:r>
            <a:endParaRPr sz="1000">
              <a:latin typeface="Tahoma"/>
              <a:cs typeface="Tahoma"/>
            </a:endParaRPr>
          </a:p>
        </p:txBody>
      </p:sp>
      <p:sp>
        <p:nvSpPr>
          <p:cNvPr id="14" name="object 14"/>
          <p:cNvSpPr/>
          <p:nvPr/>
        </p:nvSpPr>
        <p:spPr>
          <a:xfrm>
            <a:off x="0" y="3060028"/>
            <a:ext cx="5760085" cy="0"/>
          </a:xfrm>
          <a:custGeom>
            <a:avLst/>
            <a:gdLst/>
            <a:ahLst/>
            <a:cxnLst/>
            <a:rect l="l" t="t" r="r" b="b"/>
            <a:pathLst>
              <a:path w="5760085">
                <a:moveTo>
                  <a:pt x="0" y="0"/>
                </a:moveTo>
                <a:lnTo>
                  <a:pt x="5760073" y="0"/>
                </a:lnTo>
              </a:path>
            </a:pathLst>
          </a:custGeom>
          <a:ln w="6326">
            <a:solidFill>
              <a:srgbClr val="CED3DA"/>
            </a:solidFill>
          </a:ln>
        </p:spPr>
        <p:txBody>
          <a:bodyPr wrap="square" lIns="0" tIns="0" rIns="0" bIns="0" rtlCol="0"/>
          <a:lstStyle/>
          <a:p>
            <a:endParaRPr/>
          </a:p>
        </p:txBody>
      </p:sp>
      <p:sp>
        <p:nvSpPr>
          <p:cNvPr id="17" name="Slide Number Placeholder 16">
            <a:extLst>
              <a:ext uri="{FF2B5EF4-FFF2-40B4-BE49-F238E27FC236}">
                <a16:creationId xmlns:a16="http://schemas.microsoft.com/office/drawing/2014/main" id="{66CDC484-63B2-6A7F-BA8B-1AFF303448CD}"/>
              </a:ext>
            </a:extLst>
          </p:cNvPr>
          <p:cNvSpPr>
            <a:spLocks noGrp="1"/>
          </p:cNvSpPr>
          <p:nvPr>
            <p:ph type="sldNum" sz="quarter" idx="7"/>
          </p:nvPr>
        </p:nvSpPr>
        <p:spPr>
          <a:xfrm>
            <a:off x="5356415" y="3060028"/>
            <a:ext cx="403670" cy="173989"/>
          </a:xfrm>
        </p:spPr>
        <p:txBody>
          <a:bodyPr/>
          <a:lstStyle/>
          <a:p>
            <a:pPr marL="39370">
              <a:lnSpc>
                <a:spcPct val="100000"/>
              </a:lnSpc>
              <a:spcBef>
                <a:spcPts val="219"/>
              </a:spcBef>
            </a:pPr>
            <a:fld id="{81D60167-4931-47E6-BA6A-407CBD079E47}" type="slidenum">
              <a:rPr lang="en-GB" smtClean="0"/>
              <a:t>30</a:t>
            </a:fld>
            <a:r>
              <a:rPr lang="en-GB" spc="20"/>
              <a:t> </a:t>
            </a:r>
            <a:r>
              <a:rPr lang="en-GB" spc="120"/>
              <a:t>/</a:t>
            </a:r>
            <a:r>
              <a:rPr lang="en-GB" spc="25"/>
              <a:t> </a:t>
            </a:r>
            <a:r>
              <a:rPr lang="en-GB" spc="-25"/>
              <a:t>41</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663700" y="708025"/>
            <a:ext cx="2823045" cy="934871"/>
          </a:xfrm>
          <a:prstGeom prst="rect">
            <a:avLst/>
          </a:prstGeom>
        </p:spPr>
        <p:txBody>
          <a:bodyPr vert="horz" wrap="square" lIns="0" tIns="11430" rIns="0" bIns="0" rtlCol="0">
            <a:spAutoFit/>
          </a:bodyPr>
          <a:lstStyle/>
          <a:p>
            <a:pPr marL="12700">
              <a:spcBef>
                <a:spcPts val="90"/>
              </a:spcBef>
            </a:pPr>
            <a:r>
              <a:rPr lang="en-GB" sz="2000" i="1"/>
              <a:t>How we applied this framework work for other types of investigations?</a:t>
            </a:r>
          </a:p>
        </p:txBody>
      </p:sp>
      <p:sp>
        <p:nvSpPr>
          <p:cNvPr id="5" name="object 5"/>
          <p:cNvSpPr/>
          <p:nvPr/>
        </p:nvSpPr>
        <p:spPr>
          <a:xfrm>
            <a:off x="2430005" y="2464701"/>
            <a:ext cx="900430" cy="0"/>
          </a:xfrm>
          <a:custGeom>
            <a:avLst/>
            <a:gdLst/>
            <a:ahLst/>
            <a:cxnLst/>
            <a:rect l="l" t="t" r="r" b="b"/>
            <a:pathLst>
              <a:path w="900429">
                <a:moveTo>
                  <a:pt x="0" y="0"/>
                </a:moveTo>
                <a:lnTo>
                  <a:pt x="899998" y="0"/>
                </a:lnTo>
              </a:path>
            </a:pathLst>
          </a:custGeom>
          <a:ln w="18978">
            <a:solidFill>
              <a:srgbClr val="D65F2C"/>
            </a:solidFill>
          </a:ln>
        </p:spPr>
        <p:txBody>
          <a:bodyPr wrap="square" lIns="0" tIns="0" rIns="0" bIns="0" rtlCol="0"/>
          <a:lstStyle/>
          <a:p>
            <a:endParaRPr/>
          </a:p>
        </p:txBody>
      </p:sp>
      <p:sp>
        <p:nvSpPr>
          <p:cNvPr id="6" name="object 6"/>
          <p:cNvSpPr/>
          <p:nvPr/>
        </p:nvSpPr>
        <p:spPr>
          <a:xfrm>
            <a:off x="0" y="3060028"/>
            <a:ext cx="5760085" cy="0"/>
          </a:xfrm>
          <a:custGeom>
            <a:avLst/>
            <a:gdLst/>
            <a:ahLst/>
            <a:cxnLst/>
            <a:rect l="l" t="t" r="r" b="b"/>
            <a:pathLst>
              <a:path w="5760085">
                <a:moveTo>
                  <a:pt x="0" y="0"/>
                </a:moveTo>
                <a:lnTo>
                  <a:pt x="5760073" y="0"/>
                </a:lnTo>
              </a:path>
            </a:pathLst>
          </a:custGeom>
          <a:ln w="6326">
            <a:solidFill>
              <a:srgbClr val="CED3DA"/>
            </a:solidFill>
          </a:ln>
        </p:spPr>
        <p:txBody>
          <a:bodyPr wrap="square" lIns="0" tIns="0" rIns="0" bIns="0" rtlCol="0"/>
          <a:lstStyle/>
          <a:p>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51929" y="1078739"/>
            <a:ext cx="916305" cy="997585"/>
          </a:xfrm>
          <a:prstGeom prst="rect">
            <a:avLst/>
          </a:prstGeom>
        </p:spPr>
        <p:txBody>
          <a:bodyPr vert="horz" wrap="square" lIns="0" tIns="15875" rIns="0" bIns="0" rtlCol="0">
            <a:spAutoFit/>
          </a:bodyPr>
          <a:lstStyle/>
          <a:p>
            <a:pPr marL="12700">
              <a:lnSpc>
                <a:spcPct val="100000"/>
              </a:lnSpc>
              <a:spcBef>
                <a:spcPts val="125"/>
              </a:spcBef>
            </a:pPr>
            <a:r>
              <a:rPr sz="6350" b="1" spc="-25">
                <a:solidFill>
                  <a:srgbClr val="FFFFFF"/>
                </a:solidFill>
                <a:latin typeface="Arial"/>
                <a:cs typeface="Arial"/>
              </a:rPr>
              <a:t>0</a:t>
            </a:r>
            <a:r>
              <a:rPr lang="en-GB" sz="6350" b="1" spc="-25">
                <a:solidFill>
                  <a:srgbClr val="FFFFFF"/>
                </a:solidFill>
                <a:latin typeface="Arial"/>
                <a:cs typeface="Arial"/>
              </a:rPr>
              <a:t>4</a:t>
            </a:r>
            <a:endParaRPr sz="6350">
              <a:latin typeface="Arial"/>
              <a:cs typeface="Arial"/>
            </a:endParaRPr>
          </a:p>
        </p:txBody>
      </p:sp>
      <p:sp>
        <p:nvSpPr>
          <p:cNvPr id="3" name="object 3" descr="$PPTXTitle"/>
          <p:cNvSpPr txBox="1">
            <a:spLocks noGrp="1"/>
          </p:cNvSpPr>
          <p:nvPr>
            <p:ph type="title"/>
          </p:nvPr>
        </p:nvSpPr>
        <p:spPr>
          <a:xfrm>
            <a:off x="2239657" y="1062603"/>
            <a:ext cx="1528445" cy="511809"/>
          </a:xfrm>
          <a:prstGeom prst="rect">
            <a:avLst/>
          </a:prstGeom>
        </p:spPr>
        <p:txBody>
          <a:bodyPr vert="horz" wrap="square" lIns="0" tIns="17145" rIns="0" bIns="0" rtlCol="0">
            <a:spAutoFit/>
          </a:bodyPr>
          <a:lstStyle/>
          <a:p>
            <a:pPr marL="12700">
              <a:lnSpc>
                <a:spcPct val="100000"/>
              </a:lnSpc>
              <a:spcBef>
                <a:spcPts val="135"/>
              </a:spcBef>
            </a:pPr>
            <a:r>
              <a:rPr sz="3150" spc="-10"/>
              <a:t>LENS.ai</a:t>
            </a:r>
            <a:endParaRPr sz="3150"/>
          </a:p>
        </p:txBody>
      </p:sp>
      <p:sp>
        <p:nvSpPr>
          <p:cNvPr id="4" name="object 4"/>
          <p:cNvSpPr/>
          <p:nvPr/>
        </p:nvSpPr>
        <p:spPr>
          <a:xfrm>
            <a:off x="2252357" y="1725904"/>
            <a:ext cx="900430" cy="0"/>
          </a:xfrm>
          <a:custGeom>
            <a:avLst/>
            <a:gdLst/>
            <a:ahLst/>
            <a:cxnLst/>
            <a:rect l="l" t="t" r="r" b="b"/>
            <a:pathLst>
              <a:path w="900430">
                <a:moveTo>
                  <a:pt x="0" y="0"/>
                </a:moveTo>
                <a:lnTo>
                  <a:pt x="900010" y="0"/>
                </a:lnTo>
              </a:path>
            </a:pathLst>
          </a:custGeom>
          <a:ln w="18978">
            <a:solidFill>
              <a:srgbClr val="005F73"/>
            </a:solidFill>
          </a:ln>
        </p:spPr>
        <p:txBody>
          <a:bodyPr wrap="square" lIns="0" tIns="0" rIns="0" bIns="0" rtlCol="0"/>
          <a:lstStyle/>
          <a:p>
            <a:endParaRPr/>
          </a:p>
        </p:txBody>
      </p:sp>
      <p:sp>
        <p:nvSpPr>
          <p:cNvPr id="5" name="object 5"/>
          <p:cNvSpPr txBox="1"/>
          <p:nvPr/>
        </p:nvSpPr>
        <p:spPr>
          <a:xfrm>
            <a:off x="2239657" y="1853778"/>
            <a:ext cx="3050540" cy="379730"/>
          </a:xfrm>
          <a:prstGeom prst="rect">
            <a:avLst/>
          </a:prstGeom>
        </p:spPr>
        <p:txBody>
          <a:bodyPr vert="horz" wrap="square" lIns="0" tIns="27305" rIns="0" bIns="0" rtlCol="0">
            <a:spAutoFit/>
          </a:bodyPr>
          <a:lstStyle/>
          <a:p>
            <a:pPr marL="12700" marR="5080">
              <a:lnSpc>
                <a:spcPts val="1350"/>
              </a:lnSpc>
              <a:spcBef>
                <a:spcPts val="215"/>
              </a:spcBef>
            </a:pPr>
            <a:r>
              <a:rPr sz="1200" spc="-45">
                <a:solidFill>
                  <a:srgbClr val="6C757C"/>
                </a:solidFill>
                <a:latin typeface="Tahoma"/>
                <a:cs typeface="Tahoma"/>
              </a:rPr>
              <a:t>Learning</a:t>
            </a:r>
            <a:r>
              <a:rPr sz="1200" spc="60">
                <a:solidFill>
                  <a:srgbClr val="6C757C"/>
                </a:solidFill>
                <a:latin typeface="Tahoma"/>
                <a:cs typeface="Tahoma"/>
              </a:rPr>
              <a:t> </a:t>
            </a:r>
            <a:r>
              <a:rPr sz="1200" spc="-20">
                <a:solidFill>
                  <a:srgbClr val="6C757C"/>
                </a:solidFill>
                <a:latin typeface="Tahoma"/>
                <a:cs typeface="Tahoma"/>
              </a:rPr>
              <a:t>Through</a:t>
            </a:r>
            <a:r>
              <a:rPr sz="1200" spc="65">
                <a:solidFill>
                  <a:srgbClr val="6C757C"/>
                </a:solidFill>
                <a:latin typeface="Tahoma"/>
                <a:cs typeface="Tahoma"/>
              </a:rPr>
              <a:t> </a:t>
            </a:r>
            <a:r>
              <a:rPr sz="1200" spc="-40">
                <a:solidFill>
                  <a:srgbClr val="6C757C"/>
                </a:solidFill>
                <a:latin typeface="Tahoma"/>
                <a:cs typeface="Tahoma"/>
              </a:rPr>
              <a:t>Evidence</a:t>
            </a:r>
            <a:r>
              <a:rPr sz="1200" spc="60">
                <a:solidFill>
                  <a:srgbClr val="6C757C"/>
                </a:solidFill>
                <a:latin typeface="Tahoma"/>
                <a:cs typeface="Tahoma"/>
              </a:rPr>
              <a:t> </a:t>
            </a:r>
            <a:r>
              <a:rPr sz="1200" spc="-10">
                <a:solidFill>
                  <a:srgbClr val="6C757C"/>
                </a:solidFill>
                <a:latin typeface="Tahoma"/>
                <a:cs typeface="Tahoma"/>
              </a:rPr>
              <a:t>from</a:t>
            </a:r>
            <a:r>
              <a:rPr sz="1200" spc="60">
                <a:solidFill>
                  <a:srgbClr val="6C757C"/>
                </a:solidFill>
                <a:latin typeface="Tahoma"/>
                <a:cs typeface="Tahoma"/>
              </a:rPr>
              <a:t> </a:t>
            </a:r>
            <a:r>
              <a:rPr sz="1200" spc="-10">
                <a:solidFill>
                  <a:srgbClr val="6C757C"/>
                </a:solidFill>
                <a:latin typeface="Tahoma"/>
                <a:cs typeface="Tahoma"/>
              </a:rPr>
              <a:t>Natural</a:t>
            </a:r>
            <a:r>
              <a:rPr sz="1200" spc="60">
                <a:solidFill>
                  <a:srgbClr val="6C757C"/>
                </a:solidFill>
                <a:latin typeface="Tahoma"/>
                <a:cs typeface="Tahoma"/>
              </a:rPr>
              <a:t> </a:t>
            </a:r>
            <a:r>
              <a:rPr sz="1200" spc="-20">
                <a:solidFill>
                  <a:srgbClr val="6C757C"/>
                </a:solidFill>
                <a:latin typeface="Tahoma"/>
                <a:cs typeface="Tahoma"/>
              </a:rPr>
              <a:t>Lan-</a:t>
            </a:r>
            <a:r>
              <a:rPr sz="1200" spc="-85">
                <a:solidFill>
                  <a:srgbClr val="6C757C"/>
                </a:solidFill>
                <a:latin typeface="Tahoma"/>
                <a:cs typeface="Tahoma"/>
              </a:rPr>
              <a:t>guage</a:t>
            </a:r>
            <a:r>
              <a:rPr sz="1200" spc="15">
                <a:solidFill>
                  <a:srgbClr val="6C757C"/>
                </a:solidFill>
                <a:latin typeface="Tahoma"/>
                <a:cs typeface="Tahoma"/>
              </a:rPr>
              <a:t> </a:t>
            </a:r>
            <a:r>
              <a:rPr sz="1200" spc="-10">
                <a:solidFill>
                  <a:srgbClr val="6C757C"/>
                </a:solidFill>
                <a:latin typeface="Tahoma"/>
                <a:cs typeface="Tahoma"/>
              </a:rPr>
              <a:t>Systems</a:t>
            </a:r>
            <a:endParaRPr sz="1200">
              <a:latin typeface="Tahoma"/>
              <a:cs typeface="Tahoma"/>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5" name="object 5"/>
          <p:cNvPicPr/>
          <p:nvPr/>
        </p:nvPicPr>
        <p:blipFill>
          <a:blip r:embed="rId3" cstate="print"/>
          <a:stretch>
            <a:fillRect/>
          </a:stretch>
        </p:blipFill>
        <p:spPr>
          <a:xfrm>
            <a:off x="3899604" y="141004"/>
            <a:ext cx="1787270" cy="2508526"/>
          </a:xfrm>
          <a:prstGeom prst="rect">
            <a:avLst/>
          </a:prstGeom>
        </p:spPr>
      </p:pic>
      <p:sp>
        <p:nvSpPr>
          <p:cNvPr id="2" name="object 2" descr="$PPTXTitle"/>
          <p:cNvSpPr txBox="1">
            <a:spLocks noGrp="1"/>
          </p:cNvSpPr>
          <p:nvPr>
            <p:ph type="title"/>
          </p:nvPr>
        </p:nvSpPr>
        <p:spPr>
          <a:xfrm>
            <a:off x="347294" y="18767"/>
            <a:ext cx="2346960" cy="244475"/>
          </a:xfrm>
          <a:prstGeom prst="rect">
            <a:avLst/>
          </a:prstGeom>
        </p:spPr>
        <p:txBody>
          <a:bodyPr vert="horz" wrap="square" lIns="0" tIns="17145" rIns="0" bIns="0" rtlCol="0">
            <a:spAutoFit/>
          </a:bodyPr>
          <a:lstStyle/>
          <a:p>
            <a:pPr marL="12700">
              <a:lnSpc>
                <a:spcPct val="100000"/>
              </a:lnSpc>
              <a:spcBef>
                <a:spcPts val="135"/>
              </a:spcBef>
            </a:pPr>
            <a:r>
              <a:rPr spc="-25"/>
              <a:t>Beyond</a:t>
            </a:r>
            <a:r>
              <a:rPr spc="160"/>
              <a:t> </a:t>
            </a:r>
            <a:r>
              <a:t>Maternity:</a:t>
            </a:r>
            <a:r>
              <a:rPr spc="340"/>
              <a:t> </a:t>
            </a:r>
            <a:r>
              <a:rPr spc="-10"/>
              <a:t>LENS.ai</a:t>
            </a:r>
          </a:p>
        </p:txBody>
      </p:sp>
      <p:sp>
        <p:nvSpPr>
          <p:cNvPr id="3" name="object 3"/>
          <p:cNvSpPr txBox="1"/>
          <p:nvPr/>
        </p:nvSpPr>
        <p:spPr>
          <a:xfrm>
            <a:off x="139700" y="397367"/>
            <a:ext cx="3429000" cy="1237518"/>
          </a:xfrm>
          <a:prstGeom prst="rect">
            <a:avLst/>
          </a:prstGeom>
        </p:spPr>
        <p:txBody>
          <a:bodyPr vert="horz" wrap="square" lIns="0" tIns="11430" rIns="0" bIns="0" rtlCol="0">
            <a:spAutoFit/>
          </a:bodyPr>
          <a:lstStyle/>
          <a:p>
            <a:pPr marL="12700">
              <a:lnSpc>
                <a:spcPct val="100000"/>
              </a:lnSpc>
              <a:spcBef>
                <a:spcPts val="90"/>
              </a:spcBef>
            </a:pPr>
            <a:r>
              <a:rPr sz="1100" spc="-30">
                <a:solidFill>
                  <a:srgbClr val="6C757C"/>
                </a:solidFill>
                <a:latin typeface="Tahoma"/>
                <a:cs typeface="Tahoma"/>
              </a:rPr>
              <a:t>Extending</a:t>
            </a:r>
            <a:r>
              <a:rPr sz="1100" spc="-45">
                <a:solidFill>
                  <a:srgbClr val="6C757C"/>
                </a:solidFill>
                <a:latin typeface="Tahoma"/>
                <a:cs typeface="Tahoma"/>
              </a:rPr>
              <a:t> </a:t>
            </a:r>
            <a:r>
              <a:rPr sz="1100" spc="-10">
                <a:solidFill>
                  <a:srgbClr val="6C757C"/>
                </a:solidFill>
                <a:latin typeface="Tahoma"/>
                <a:cs typeface="Tahoma"/>
              </a:rPr>
              <a:t>the</a:t>
            </a:r>
            <a:r>
              <a:rPr sz="1100" spc="-40">
                <a:solidFill>
                  <a:srgbClr val="6C757C"/>
                </a:solidFill>
                <a:latin typeface="Tahoma"/>
                <a:cs typeface="Tahoma"/>
              </a:rPr>
              <a:t> </a:t>
            </a:r>
            <a:r>
              <a:rPr sz="1100" spc="-50">
                <a:solidFill>
                  <a:srgbClr val="6C757C"/>
                </a:solidFill>
                <a:latin typeface="Tahoma"/>
                <a:cs typeface="Tahoma"/>
              </a:rPr>
              <a:t>framework</a:t>
            </a:r>
            <a:r>
              <a:rPr sz="1100" spc="-35">
                <a:solidFill>
                  <a:srgbClr val="6C757C"/>
                </a:solidFill>
                <a:latin typeface="Tahoma"/>
                <a:cs typeface="Tahoma"/>
              </a:rPr>
              <a:t> </a:t>
            </a:r>
            <a:r>
              <a:rPr sz="1100">
                <a:solidFill>
                  <a:srgbClr val="6C757C"/>
                </a:solidFill>
                <a:latin typeface="Tahoma"/>
                <a:cs typeface="Tahoma"/>
              </a:rPr>
              <a:t>to</a:t>
            </a:r>
            <a:r>
              <a:rPr sz="1100" spc="-40">
                <a:solidFill>
                  <a:srgbClr val="6C757C"/>
                </a:solidFill>
                <a:latin typeface="Tahoma"/>
                <a:cs typeface="Tahoma"/>
              </a:rPr>
              <a:t> </a:t>
            </a:r>
            <a:r>
              <a:rPr sz="1100" spc="-30">
                <a:solidFill>
                  <a:srgbClr val="6C757C"/>
                </a:solidFill>
                <a:latin typeface="Tahoma"/>
                <a:cs typeface="Tahoma"/>
              </a:rPr>
              <a:t>Prevention</a:t>
            </a:r>
            <a:r>
              <a:rPr sz="1100" spc="-40">
                <a:solidFill>
                  <a:srgbClr val="6C757C"/>
                </a:solidFill>
                <a:latin typeface="Tahoma"/>
                <a:cs typeface="Tahoma"/>
              </a:rPr>
              <a:t> </a:t>
            </a:r>
            <a:r>
              <a:rPr sz="1100">
                <a:solidFill>
                  <a:srgbClr val="6C757C"/>
                </a:solidFill>
                <a:latin typeface="Tahoma"/>
                <a:cs typeface="Tahoma"/>
              </a:rPr>
              <a:t>of</a:t>
            </a:r>
            <a:r>
              <a:rPr sz="1100" spc="-40">
                <a:solidFill>
                  <a:srgbClr val="6C757C"/>
                </a:solidFill>
                <a:latin typeface="Tahoma"/>
                <a:cs typeface="Tahoma"/>
              </a:rPr>
              <a:t> </a:t>
            </a:r>
            <a:r>
              <a:rPr sz="1100" spc="-20">
                <a:solidFill>
                  <a:srgbClr val="6C757C"/>
                </a:solidFill>
                <a:latin typeface="Tahoma"/>
                <a:cs typeface="Tahoma"/>
              </a:rPr>
              <a:t>Future</a:t>
            </a:r>
            <a:r>
              <a:rPr sz="1100" spc="-35">
                <a:solidFill>
                  <a:srgbClr val="6C757C"/>
                </a:solidFill>
                <a:latin typeface="Tahoma"/>
                <a:cs typeface="Tahoma"/>
              </a:rPr>
              <a:t> </a:t>
            </a:r>
            <a:r>
              <a:rPr sz="1100" spc="-20">
                <a:solidFill>
                  <a:srgbClr val="6C757C"/>
                </a:solidFill>
                <a:latin typeface="Tahoma"/>
                <a:cs typeface="Tahoma"/>
              </a:rPr>
              <a:t>Death</a:t>
            </a:r>
            <a:r>
              <a:rPr sz="1100" spc="-40">
                <a:solidFill>
                  <a:srgbClr val="6C757C"/>
                </a:solidFill>
                <a:latin typeface="Tahoma"/>
                <a:cs typeface="Tahoma"/>
              </a:rPr>
              <a:t> </a:t>
            </a:r>
            <a:r>
              <a:rPr sz="1100" spc="-10">
                <a:solidFill>
                  <a:srgbClr val="6C757C"/>
                </a:solidFill>
                <a:latin typeface="Tahoma"/>
                <a:cs typeface="Tahoma"/>
              </a:rPr>
              <a:t>reports</a:t>
            </a:r>
            <a:endParaRPr sz="1100">
              <a:latin typeface="Tahoma"/>
              <a:cs typeface="Tahoma"/>
            </a:endParaRPr>
          </a:p>
          <a:p>
            <a:pPr marL="12700">
              <a:lnSpc>
                <a:spcPct val="100000"/>
              </a:lnSpc>
              <a:spcBef>
                <a:spcPts val="960"/>
              </a:spcBef>
            </a:pPr>
            <a:r>
              <a:rPr sz="1100" b="1">
                <a:solidFill>
                  <a:srgbClr val="202429"/>
                </a:solidFill>
                <a:latin typeface="Arial"/>
                <a:cs typeface="Arial"/>
              </a:rPr>
              <a:t>What</a:t>
            </a:r>
            <a:r>
              <a:rPr sz="1100" b="1" spc="85">
                <a:solidFill>
                  <a:srgbClr val="202429"/>
                </a:solidFill>
                <a:latin typeface="Arial"/>
                <a:cs typeface="Arial"/>
              </a:rPr>
              <a:t> </a:t>
            </a:r>
            <a:r>
              <a:rPr sz="1100" b="1" spc="-10">
                <a:solidFill>
                  <a:srgbClr val="202429"/>
                </a:solidFill>
                <a:latin typeface="Arial"/>
                <a:cs typeface="Arial"/>
              </a:rPr>
              <a:t>are</a:t>
            </a:r>
            <a:r>
              <a:rPr sz="1100" b="1" spc="85">
                <a:solidFill>
                  <a:srgbClr val="202429"/>
                </a:solidFill>
                <a:latin typeface="Arial"/>
                <a:cs typeface="Arial"/>
              </a:rPr>
              <a:t> </a:t>
            </a:r>
            <a:r>
              <a:rPr sz="1100" b="1">
                <a:solidFill>
                  <a:srgbClr val="202429"/>
                </a:solidFill>
                <a:latin typeface="Arial"/>
                <a:cs typeface="Arial"/>
              </a:rPr>
              <a:t>PFD</a:t>
            </a:r>
            <a:r>
              <a:rPr sz="1100" b="1" spc="90">
                <a:solidFill>
                  <a:srgbClr val="202429"/>
                </a:solidFill>
                <a:latin typeface="Arial"/>
                <a:cs typeface="Arial"/>
              </a:rPr>
              <a:t> </a:t>
            </a:r>
            <a:r>
              <a:rPr sz="1100" b="1" spc="-10">
                <a:solidFill>
                  <a:srgbClr val="202429"/>
                </a:solidFill>
                <a:latin typeface="Arial"/>
                <a:cs typeface="Arial"/>
              </a:rPr>
              <a:t>reports?</a:t>
            </a:r>
            <a:endParaRPr lang="en-GB" sz="1100" b="1">
              <a:latin typeface="Arial"/>
              <a:cs typeface="Arial"/>
            </a:endParaRPr>
          </a:p>
          <a:p>
            <a:pPr marL="12700">
              <a:lnSpc>
                <a:spcPct val="100000"/>
              </a:lnSpc>
              <a:spcBef>
                <a:spcPts val="960"/>
              </a:spcBef>
            </a:pPr>
            <a:r>
              <a:rPr sz="1000" spc="-25">
                <a:solidFill>
                  <a:srgbClr val="202429"/>
                </a:solidFill>
                <a:latin typeface="Tahoma"/>
                <a:cs typeface="Tahoma"/>
              </a:rPr>
              <a:t>Reports</a:t>
            </a:r>
            <a:r>
              <a:rPr sz="1000" spc="-35">
                <a:solidFill>
                  <a:srgbClr val="202429"/>
                </a:solidFill>
                <a:latin typeface="Tahoma"/>
                <a:cs typeface="Tahoma"/>
              </a:rPr>
              <a:t> </a:t>
            </a:r>
            <a:r>
              <a:rPr sz="1000" spc="-55">
                <a:solidFill>
                  <a:srgbClr val="202429"/>
                </a:solidFill>
                <a:latin typeface="Tahoma"/>
                <a:cs typeface="Tahoma"/>
              </a:rPr>
              <a:t>issued</a:t>
            </a:r>
            <a:r>
              <a:rPr sz="1000" spc="-25">
                <a:solidFill>
                  <a:srgbClr val="202429"/>
                </a:solidFill>
                <a:latin typeface="Tahoma"/>
                <a:cs typeface="Tahoma"/>
              </a:rPr>
              <a:t> </a:t>
            </a:r>
            <a:r>
              <a:rPr sz="1000" spc="-30">
                <a:solidFill>
                  <a:srgbClr val="202429"/>
                </a:solidFill>
                <a:latin typeface="Tahoma"/>
                <a:cs typeface="Tahoma"/>
              </a:rPr>
              <a:t>by</a:t>
            </a:r>
            <a:r>
              <a:rPr sz="1000" spc="-25">
                <a:solidFill>
                  <a:srgbClr val="202429"/>
                </a:solidFill>
                <a:latin typeface="Tahoma"/>
                <a:cs typeface="Tahoma"/>
              </a:rPr>
              <a:t> </a:t>
            </a:r>
            <a:r>
              <a:rPr sz="1000" spc="-45">
                <a:solidFill>
                  <a:srgbClr val="202429"/>
                </a:solidFill>
                <a:latin typeface="Tahoma"/>
                <a:cs typeface="Tahoma"/>
              </a:rPr>
              <a:t>coroners</a:t>
            </a:r>
            <a:r>
              <a:rPr sz="1000" spc="-30">
                <a:solidFill>
                  <a:srgbClr val="202429"/>
                </a:solidFill>
                <a:latin typeface="Tahoma"/>
                <a:cs typeface="Tahoma"/>
              </a:rPr>
              <a:t> </a:t>
            </a:r>
            <a:r>
              <a:rPr sz="1000" spc="-20">
                <a:solidFill>
                  <a:srgbClr val="202429"/>
                </a:solidFill>
                <a:latin typeface="Tahoma"/>
                <a:cs typeface="Tahoma"/>
              </a:rPr>
              <a:t>after</a:t>
            </a:r>
            <a:r>
              <a:rPr sz="1000" spc="-25">
                <a:solidFill>
                  <a:srgbClr val="202429"/>
                </a:solidFill>
                <a:latin typeface="Tahoma"/>
                <a:cs typeface="Tahoma"/>
              </a:rPr>
              <a:t> </a:t>
            </a:r>
            <a:r>
              <a:rPr sz="1000" spc="-35">
                <a:solidFill>
                  <a:srgbClr val="202429"/>
                </a:solidFill>
                <a:latin typeface="Tahoma"/>
                <a:cs typeface="Tahoma"/>
              </a:rPr>
              <a:t>inquests</a:t>
            </a:r>
            <a:r>
              <a:rPr sz="1000" spc="-25">
                <a:solidFill>
                  <a:srgbClr val="202429"/>
                </a:solidFill>
                <a:latin typeface="Tahoma"/>
                <a:cs typeface="Tahoma"/>
              </a:rPr>
              <a:t> </a:t>
            </a:r>
            <a:r>
              <a:rPr sz="1000" spc="-40">
                <a:solidFill>
                  <a:srgbClr val="202429"/>
                </a:solidFill>
                <a:latin typeface="Tahoma"/>
                <a:cs typeface="Tahoma"/>
              </a:rPr>
              <a:t>where </a:t>
            </a:r>
            <a:r>
              <a:rPr sz="1000" spc="-20">
                <a:solidFill>
                  <a:srgbClr val="202429"/>
                </a:solidFill>
                <a:latin typeface="Tahoma"/>
                <a:cs typeface="Tahoma"/>
              </a:rPr>
              <a:t>action</a:t>
            </a:r>
            <a:r>
              <a:rPr sz="1000" spc="-55">
                <a:solidFill>
                  <a:srgbClr val="202429"/>
                </a:solidFill>
                <a:latin typeface="Tahoma"/>
                <a:cs typeface="Tahoma"/>
              </a:rPr>
              <a:t> </a:t>
            </a:r>
            <a:r>
              <a:rPr sz="1000" spc="-45">
                <a:solidFill>
                  <a:srgbClr val="202429"/>
                </a:solidFill>
                <a:latin typeface="Tahoma"/>
                <a:cs typeface="Tahoma"/>
              </a:rPr>
              <a:t>may</a:t>
            </a:r>
            <a:r>
              <a:rPr sz="1000" spc="-35">
                <a:solidFill>
                  <a:srgbClr val="202429"/>
                </a:solidFill>
                <a:latin typeface="Tahoma"/>
                <a:cs typeface="Tahoma"/>
              </a:rPr>
              <a:t> </a:t>
            </a:r>
            <a:r>
              <a:rPr sz="1000" spc="-30">
                <a:solidFill>
                  <a:srgbClr val="202429"/>
                </a:solidFill>
                <a:latin typeface="Tahoma"/>
                <a:cs typeface="Tahoma"/>
              </a:rPr>
              <a:t>help</a:t>
            </a:r>
            <a:r>
              <a:rPr sz="1000" spc="-35">
                <a:solidFill>
                  <a:srgbClr val="202429"/>
                </a:solidFill>
                <a:latin typeface="Tahoma"/>
                <a:cs typeface="Tahoma"/>
              </a:rPr>
              <a:t> </a:t>
            </a:r>
            <a:r>
              <a:rPr sz="1000" spc="-40">
                <a:solidFill>
                  <a:srgbClr val="202429"/>
                </a:solidFill>
                <a:latin typeface="Tahoma"/>
                <a:cs typeface="Tahoma"/>
              </a:rPr>
              <a:t>prevent </a:t>
            </a:r>
            <a:r>
              <a:rPr sz="1000" spc="-20">
                <a:solidFill>
                  <a:srgbClr val="202429"/>
                </a:solidFill>
                <a:latin typeface="Tahoma"/>
                <a:cs typeface="Tahoma"/>
              </a:rPr>
              <a:t>future</a:t>
            </a:r>
            <a:r>
              <a:rPr sz="1000" spc="-40">
                <a:solidFill>
                  <a:srgbClr val="202429"/>
                </a:solidFill>
                <a:latin typeface="Tahoma"/>
                <a:cs typeface="Tahoma"/>
              </a:rPr>
              <a:t> </a:t>
            </a:r>
            <a:r>
              <a:rPr sz="1000" spc="-30">
                <a:solidFill>
                  <a:srgbClr val="202429"/>
                </a:solidFill>
                <a:latin typeface="Tahoma"/>
                <a:cs typeface="Tahoma"/>
              </a:rPr>
              <a:t>deaths.</a:t>
            </a:r>
            <a:r>
              <a:rPr sz="1000" spc="50">
                <a:solidFill>
                  <a:srgbClr val="202429"/>
                </a:solidFill>
                <a:latin typeface="Tahoma"/>
                <a:cs typeface="Tahoma"/>
              </a:rPr>
              <a:t> </a:t>
            </a:r>
            <a:r>
              <a:rPr sz="1000" spc="-20">
                <a:solidFill>
                  <a:srgbClr val="202429"/>
                </a:solidFill>
                <a:latin typeface="Tahoma"/>
                <a:cs typeface="Tahoma"/>
              </a:rPr>
              <a:t>They</a:t>
            </a:r>
            <a:r>
              <a:rPr lang="en-GB" sz="1000">
                <a:latin typeface="Tahoma"/>
                <a:cs typeface="Tahoma"/>
              </a:rPr>
              <a:t> </a:t>
            </a:r>
            <a:r>
              <a:rPr sz="1000" spc="-20">
                <a:solidFill>
                  <a:srgbClr val="202429"/>
                </a:solidFill>
                <a:latin typeface="Tahoma"/>
                <a:cs typeface="Tahoma"/>
              </a:rPr>
              <a:t>highlight</a:t>
            </a:r>
            <a:r>
              <a:rPr sz="1000" spc="-15">
                <a:solidFill>
                  <a:srgbClr val="202429"/>
                </a:solidFill>
                <a:latin typeface="Tahoma"/>
                <a:cs typeface="Tahoma"/>
              </a:rPr>
              <a:t> </a:t>
            </a:r>
            <a:r>
              <a:rPr sz="1000" spc="-25">
                <a:solidFill>
                  <a:srgbClr val="202429"/>
                </a:solidFill>
                <a:latin typeface="Tahoma"/>
                <a:cs typeface="Tahoma"/>
              </a:rPr>
              <a:t>risks,</a:t>
            </a:r>
            <a:r>
              <a:rPr sz="1000" spc="-15">
                <a:solidFill>
                  <a:srgbClr val="202429"/>
                </a:solidFill>
                <a:latin typeface="Tahoma"/>
                <a:cs typeface="Tahoma"/>
              </a:rPr>
              <a:t> </a:t>
            </a:r>
            <a:r>
              <a:rPr sz="1000" spc="-45">
                <a:solidFill>
                  <a:srgbClr val="202429"/>
                </a:solidFill>
                <a:latin typeface="Tahoma"/>
                <a:cs typeface="Tahoma"/>
              </a:rPr>
              <a:t>system</a:t>
            </a:r>
            <a:r>
              <a:rPr sz="1000" spc="-10">
                <a:solidFill>
                  <a:srgbClr val="202429"/>
                </a:solidFill>
                <a:latin typeface="Tahoma"/>
                <a:cs typeface="Tahoma"/>
              </a:rPr>
              <a:t> </a:t>
            </a:r>
            <a:r>
              <a:rPr sz="1000" spc="-35">
                <a:solidFill>
                  <a:srgbClr val="202429"/>
                </a:solidFill>
                <a:latin typeface="Tahoma"/>
                <a:cs typeface="Tahoma"/>
              </a:rPr>
              <a:t>failures,</a:t>
            </a:r>
            <a:r>
              <a:rPr sz="1000" spc="-15">
                <a:solidFill>
                  <a:srgbClr val="202429"/>
                </a:solidFill>
                <a:latin typeface="Tahoma"/>
                <a:cs typeface="Tahoma"/>
              </a:rPr>
              <a:t> </a:t>
            </a:r>
            <a:r>
              <a:rPr sz="1000" spc="-25">
                <a:solidFill>
                  <a:srgbClr val="202429"/>
                </a:solidFill>
                <a:latin typeface="Tahoma"/>
                <a:cs typeface="Tahoma"/>
              </a:rPr>
              <a:t>and</a:t>
            </a:r>
            <a:r>
              <a:rPr sz="1000" spc="-15">
                <a:solidFill>
                  <a:srgbClr val="202429"/>
                </a:solidFill>
                <a:latin typeface="Tahoma"/>
                <a:cs typeface="Tahoma"/>
              </a:rPr>
              <a:t> </a:t>
            </a:r>
            <a:r>
              <a:rPr sz="1000" spc="-30">
                <a:solidFill>
                  <a:srgbClr val="202429"/>
                </a:solidFill>
                <a:latin typeface="Tahoma"/>
                <a:cs typeface="Tahoma"/>
              </a:rPr>
              <a:t>opportunities</a:t>
            </a:r>
            <a:r>
              <a:rPr sz="1000" spc="-15">
                <a:solidFill>
                  <a:srgbClr val="202429"/>
                </a:solidFill>
                <a:latin typeface="Tahoma"/>
                <a:cs typeface="Tahoma"/>
              </a:rPr>
              <a:t> </a:t>
            </a:r>
            <a:r>
              <a:rPr sz="1000" spc="-25">
                <a:solidFill>
                  <a:srgbClr val="202429"/>
                </a:solidFill>
                <a:latin typeface="Tahoma"/>
                <a:cs typeface="Tahoma"/>
              </a:rPr>
              <a:t>for </a:t>
            </a:r>
            <a:r>
              <a:rPr sz="1000" spc="-35">
                <a:solidFill>
                  <a:srgbClr val="202429"/>
                </a:solidFill>
                <a:latin typeface="Tahoma"/>
                <a:cs typeface="Tahoma"/>
              </a:rPr>
              <a:t>learning</a:t>
            </a:r>
            <a:r>
              <a:rPr sz="1000" spc="-30">
                <a:solidFill>
                  <a:srgbClr val="202429"/>
                </a:solidFill>
                <a:latin typeface="Tahoma"/>
                <a:cs typeface="Tahoma"/>
              </a:rPr>
              <a:t> </a:t>
            </a:r>
            <a:r>
              <a:rPr sz="1000" spc="-40">
                <a:solidFill>
                  <a:srgbClr val="202429"/>
                </a:solidFill>
                <a:latin typeface="Tahoma"/>
                <a:cs typeface="Tahoma"/>
              </a:rPr>
              <a:t>across</a:t>
            </a:r>
            <a:r>
              <a:rPr sz="1000" spc="-25">
                <a:solidFill>
                  <a:srgbClr val="202429"/>
                </a:solidFill>
                <a:latin typeface="Tahoma"/>
                <a:cs typeface="Tahoma"/>
              </a:rPr>
              <a:t> </a:t>
            </a:r>
            <a:r>
              <a:rPr sz="1000" spc="-10" err="1">
                <a:solidFill>
                  <a:srgbClr val="202429"/>
                </a:solidFill>
                <a:latin typeface="Tahoma"/>
                <a:cs typeface="Tahoma"/>
              </a:rPr>
              <a:t>organisations</a:t>
            </a:r>
            <a:r>
              <a:rPr sz="1000" spc="-10">
                <a:solidFill>
                  <a:srgbClr val="202429"/>
                </a:solidFill>
                <a:latin typeface="Tahoma"/>
                <a:cs typeface="Tahoma"/>
              </a:rPr>
              <a:t>.</a:t>
            </a:r>
            <a:endParaRPr sz="1000">
              <a:latin typeface="Tahoma"/>
              <a:cs typeface="Tahoma"/>
            </a:endParaRPr>
          </a:p>
        </p:txBody>
      </p:sp>
      <p:sp>
        <p:nvSpPr>
          <p:cNvPr id="4" name="object 4"/>
          <p:cNvSpPr/>
          <p:nvPr/>
        </p:nvSpPr>
        <p:spPr>
          <a:xfrm>
            <a:off x="3797300" y="641806"/>
            <a:ext cx="0" cy="2031364"/>
          </a:xfrm>
          <a:custGeom>
            <a:avLst/>
            <a:gdLst/>
            <a:ahLst/>
            <a:cxnLst/>
            <a:rect l="l" t="t" r="r" b="b"/>
            <a:pathLst>
              <a:path h="2031364">
                <a:moveTo>
                  <a:pt x="0" y="2030958"/>
                </a:moveTo>
                <a:lnTo>
                  <a:pt x="0" y="0"/>
                </a:lnTo>
              </a:path>
            </a:pathLst>
          </a:custGeom>
          <a:ln w="6325">
            <a:solidFill>
              <a:srgbClr val="6C757C"/>
            </a:solidFill>
          </a:ln>
        </p:spPr>
        <p:txBody>
          <a:bodyPr wrap="square" lIns="0" tIns="0" rIns="0" bIns="0" rtlCol="0"/>
          <a:lstStyle/>
          <a:p>
            <a:endParaRPr/>
          </a:p>
        </p:txBody>
      </p:sp>
      <p:sp>
        <p:nvSpPr>
          <p:cNvPr id="6" name="object 6"/>
          <p:cNvSpPr/>
          <p:nvPr/>
        </p:nvSpPr>
        <p:spPr>
          <a:xfrm>
            <a:off x="0" y="3060028"/>
            <a:ext cx="5760085" cy="0"/>
          </a:xfrm>
          <a:custGeom>
            <a:avLst/>
            <a:gdLst/>
            <a:ahLst/>
            <a:cxnLst/>
            <a:rect l="l" t="t" r="r" b="b"/>
            <a:pathLst>
              <a:path w="5760085">
                <a:moveTo>
                  <a:pt x="0" y="0"/>
                </a:moveTo>
                <a:lnTo>
                  <a:pt x="5760073" y="0"/>
                </a:lnTo>
              </a:path>
            </a:pathLst>
          </a:custGeom>
          <a:ln w="6326">
            <a:solidFill>
              <a:srgbClr val="CED3DA"/>
            </a:solidFill>
          </a:ln>
        </p:spPr>
        <p:txBody>
          <a:bodyPr wrap="square" lIns="0" tIns="0" rIns="0" bIns="0" rtlCol="0"/>
          <a:lstStyle/>
          <a:p>
            <a:endParaRPr/>
          </a:p>
        </p:txBody>
      </p:sp>
      <p:sp>
        <p:nvSpPr>
          <p:cNvPr id="9" name="Slide Number Placeholder 8">
            <a:extLst>
              <a:ext uri="{FF2B5EF4-FFF2-40B4-BE49-F238E27FC236}">
                <a16:creationId xmlns:a16="http://schemas.microsoft.com/office/drawing/2014/main" id="{2B53BE11-CBE9-671E-7B5E-F0D58CD7F54D}"/>
              </a:ext>
            </a:extLst>
          </p:cNvPr>
          <p:cNvSpPr>
            <a:spLocks noGrp="1"/>
          </p:cNvSpPr>
          <p:nvPr>
            <p:ph type="sldNum" sz="quarter" idx="7"/>
          </p:nvPr>
        </p:nvSpPr>
        <p:spPr>
          <a:xfrm>
            <a:off x="5295861" y="3070861"/>
            <a:ext cx="464224" cy="173989"/>
          </a:xfrm>
        </p:spPr>
        <p:txBody>
          <a:bodyPr/>
          <a:lstStyle/>
          <a:p>
            <a:pPr marL="39370">
              <a:lnSpc>
                <a:spcPct val="100000"/>
              </a:lnSpc>
              <a:spcBef>
                <a:spcPts val="219"/>
              </a:spcBef>
            </a:pPr>
            <a:fld id="{81D60167-4931-47E6-BA6A-407CBD079E47}" type="slidenum">
              <a:rPr lang="en-GB" smtClean="0"/>
              <a:t>33</a:t>
            </a:fld>
            <a:r>
              <a:rPr lang="en-GB" spc="20"/>
              <a:t> </a:t>
            </a:r>
            <a:r>
              <a:rPr lang="en-GB" spc="120"/>
              <a:t>/</a:t>
            </a:r>
            <a:r>
              <a:rPr lang="en-GB" spc="25"/>
              <a:t> </a:t>
            </a:r>
            <a:r>
              <a:rPr lang="en-GB" spc="-25"/>
              <a:t>41</a:t>
            </a:r>
          </a:p>
        </p:txBody>
      </p:sp>
      <p:sp>
        <p:nvSpPr>
          <p:cNvPr id="13" name="TextBox 12">
            <a:extLst>
              <a:ext uri="{FF2B5EF4-FFF2-40B4-BE49-F238E27FC236}">
                <a16:creationId xmlns:a16="http://schemas.microsoft.com/office/drawing/2014/main" id="{0EFCA59D-50F9-D320-6F93-1362DE6DA4C4}"/>
              </a:ext>
            </a:extLst>
          </p:cNvPr>
          <p:cNvSpPr txBox="1"/>
          <p:nvPr/>
        </p:nvSpPr>
        <p:spPr>
          <a:xfrm>
            <a:off x="78926" y="1657488"/>
            <a:ext cx="5013771" cy="1184748"/>
          </a:xfrm>
          <a:prstGeom prst="rect">
            <a:avLst/>
          </a:prstGeom>
          <a:noFill/>
        </p:spPr>
        <p:txBody>
          <a:bodyPr wrap="square">
            <a:spAutoFit/>
          </a:bodyPr>
          <a:lstStyle/>
          <a:p>
            <a:pPr marL="12700">
              <a:lnSpc>
                <a:spcPct val="100000"/>
              </a:lnSpc>
              <a:spcBef>
                <a:spcPts val="600"/>
              </a:spcBef>
            </a:pPr>
            <a:r>
              <a:rPr lang="en-GB" sz="1200" b="1">
                <a:solidFill>
                  <a:srgbClr val="202429"/>
                </a:solidFill>
                <a:latin typeface="Arial"/>
                <a:cs typeface="Arial"/>
              </a:rPr>
              <a:t>What</a:t>
            </a:r>
            <a:r>
              <a:rPr lang="en-GB" sz="1200" b="1" spc="70">
                <a:solidFill>
                  <a:srgbClr val="202429"/>
                </a:solidFill>
                <a:latin typeface="Arial"/>
                <a:cs typeface="Arial"/>
              </a:rPr>
              <a:t> </a:t>
            </a:r>
            <a:r>
              <a:rPr lang="en-GB" sz="1200" b="1" spc="-10">
                <a:solidFill>
                  <a:srgbClr val="202429"/>
                </a:solidFill>
                <a:latin typeface="Arial"/>
                <a:cs typeface="Arial"/>
              </a:rPr>
              <a:t>LENS.ai</a:t>
            </a:r>
            <a:r>
              <a:rPr lang="en-GB" sz="1200" b="1" spc="75">
                <a:solidFill>
                  <a:srgbClr val="202429"/>
                </a:solidFill>
                <a:latin typeface="Arial"/>
                <a:cs typeface="Arial"/>
              </a:rPr>
              <a:t> </a:t>
            </a:r>
            <a:r>
              <a:rPr lang="en-GB" sz="1200" b="1" spc="-10">
                <a:solidFill>
                  <a:srgbClr val="202429"/>
                </a:solidFill>
                <a:latin typeface="Arial"/>
                <a:cs typeface="Arial"/>
              </a:rPr>
              <a:t>supports</a:t>
            </a:r>
            <a:endParaRPr lang="en-GB" sz="1200">
              <a:latin typeface="Arial"/>
              <a:cs typeface="Arial"/>
            </a:endParaRPr>
          </a:p>
          <a:p>
            <a:pPr marL="12700" marR="1348105" indent="104775" defTabSz="1479550">
              <a:lnSpc>
                <a:spcPct val="100000"/>
              </a:lnSpc>
              <a:spcBef>
                <a:spcPts val="300"/>
              </a:spcBef>
              <a:buClr>
                <a:srgbClr val="005F73"/>
              </a:buClr>
              <a:buFont typeface="Times New Roman"/>
              <a:buChar char="•"/>
              <a:tabLst>
                <a:tab pos="117475" algn="l"/>
              </a:tabLst>
            </a:pPr>
            <a:r>
              <a:rPr lang="en-GB" sz="1000" spc="-25">
                <a:solidFill>
                  <a:srgbClr val="202429"/>
                </a:solidFill>
                <a:latin typeface="Tahoma"/>
                <a:cs typeface="Tahoma"/>
              </a:rPr>
              <a:t>Systematic</a:t>
            </a:r>
            <a:r>
              <a:rPr lang="en-GB" sz="1000" spc="-20">
                <a:solidFill>
                  <a:srgbClr val="202429"/>
                </a:solidFill>
                <a:latin typeface="Tahoma"/>
                <a:cs typeface="Tahoma"/>
              </a:rPr>
              <a:t> </a:t>
            </a:r>
            <a:r>
              <a:rPr lang="en-GB" sz="1000" spc="-35">
                <a:solidFill>
                  <a:srgbClr val="202429"/>
                </a:solidFill>
                <a:latin typeface="Tahoma"/>
                <a:cs typeface="Tahoma"/>
              </a:rPr>
              <a:t>analysis</a:t>
            </a:r>
            <a:r>
              <a:rPr lang="en-GB" sz="1000" spc="-20">
                <a:solidFill>
                  <a:srgbClr val="202429"/>
                </a:solidFill>
                <a:latin typeface="Tahoma"/>
                <a:cs typeface="Tahoma"/>
              </a:rPr>
              <a:t> </a:t>
            </a:r>
            <a:r>
              <a:rPr lang="en-GB" sz="1000">
                <a:solidFill>
                  <a:srgbClr val="202429"/>
                </a:solidFill>
                <a:latin typeface="Tahoma"/>
                <a:cs typeface="Tahoma"/>
              </a:rPr>
              <a:t>of</a:t>
            </a:r>
            <a:r>
              <a:rPr lang="en-GB" sz="1000" spc="-20">
                <a:solidFill>
                  <a:srgbClr val="202429"/>
                </a:solidFill>
                <a:latin typeface="Tahoma"/>
                <a:cs typeface="Tahoma"/>
              </a:rPr>
              <a:t> </a:t>
            </a:r>
            <a:r>
              <a:rPr lang="en-GB" sz="1000" spc="-30">
                <a:solidFill>
                  <a:srgbClr val="202429"/>
                </a:solidFill>
                <a:latin typeface="Tahoma"/>
                <a:cs typeface="Tahoma"/>
              </a:rPr>
              <a:t>coronial</a:t>
            </a:r>
            <a:r>
              <a:rPr lang="en-GB" sz="1000" spc="-20">
                <a:solidFill>
                  <a:srgbClr val="202429"/>
                </a:solidFill>
                <a:latin typeface="Tahoma"/>
                <a:cs typeface="Tahoma"/>
              </a:rPr>
              <a:t> </a:t>
            </a:r>
            <a:r>
              <a:rPr lang="en-GB" sz="1000" spc="-35">
                <a:solidFill>
                  <a:srgbClr val="202429"/>
                </a:solidFill>
                <a:latin typeface="Tahoma"/>
                <a:cs typeface="Tahoma"/>
              </a:rPr>
              <a:t>reports</a:t>
            </a:r>
            <a:r>
              <a:rPr lang="en-GB" sz="1000" spc="-20">
                <a:solidFill>
                  <a:srgbClr val="202429"/>
                </a:solidFill>
                <a:latin typeface="Tahoma"/>
                <a:cs typeface="Tahoma"/>
              </a:rPr>
              <a:t> </a:t>
            </a:r>
            <a:r>
              <a:rPr lang="en-GB" sz="1000" spc="-25">
                <a:solidFill>
                  <a:srgbClr val="202429"/>
                </a:solidFill>
                <a:latin typeface="Tahoma"/>
                <a:cs typeface="Tahoma"/>
              </a:rPr>
              <a:t>and </a:t>
            </a:r>
            <a:r>
              <a:rPr lang="en-GB" sz="1000" spc="-10">
                <a:solidFill>
                  <a:srgbClr val="202429"/>
                </a:solidFill>
                <a:latin typeface="Tahoma"/>
                <a:cs typeface="Tahoma"/>
              </a:rPr>
              <a:t>responses</a:t>
            </a:r>
            <a:endParaRPr lang="en-GB" sz="1000">
              <a:latin typeface="Tahoma"/>
              <a:cs typeface="Tahoma"/>
            </a:endParaRPr>
          </a:p>
          <a:p>
            <a:pPr marL="12700" marR="1270635" indent="104775">
              <a:lnSpc>
                <a:spcPct val="100000"/>
              </a:lnSpc>
              <a:spcBef>
                <a:spcPts val="240"/>
              </a:spcBef>
              <a:buClr>
                <a:srgbClr val="005F73"/>
              </a:buClr>
              <a:buFont typeface="Times New Roman"/>
              <a:buChar char="•"/>
              <a:tabLst>
                <a:tab pos="117475" algn="l"/>
              </a:tabLst>
            </a:pPr>
            <a:r>
              <a:rPr lang="en-GB" sz="1000" spc="-35">
                <a:solidFill>
                  <a:srgbClr val="202429"/>
                </a:solidFill>
                <a:latin typeface="Tahoma"/>
                <a:cs typeface="Tahoma"/>
              </a:rPr>
              <a:t>Identiﬁcation</a:t>
            </a:r>
            <a:r>
              <a:rPr lang="en-GB" sz="1000" spc="-20">
                <a:solidFill>
                  <a:srgbClr val="202429"/>
                </a:solidFill>
                <a:latin typeface="Tahoma"/>
                <a:cs typeface="Tahoma"/>
              </a:rPr>
              <a:t> </a:t>
            </a:r>
            <a:r>
              <a:rPr lang="en-GB" sz="1000">
                <a:solidFill>
                  <a:srgbClr val="202429"/>
                </a:solidFill>
                <a:latin typeface="Tahoma"/>
                <a:cs typeface="Tahoma"/>
              </a:rPr>
              <a:t>of</a:t>
            </a:r>
            <a:r>
              <a:rPr lang="en-GB" sz="1000" spc="-15">
                <a:solidFill>
                  <a:srgbClr val="202429"/>
                </a:solidFill>
                <a:latin typeface="Tahoma"/>
                <a:cs typeface="Tahoma"/>
              </a:rPr>
              <a:t> </a:t>
            </a:r>
            <a:r>
              <a:rPr lang="en-GB" sz="1000" spc="-35">
                <a:solidFill>
                  <a:srgbClr val="202429"/>
                </a:solidFill>
                <a:latin typeface="Tahoma"/>
                <a:cs typeface="Tahoma"/>
              </a:rPr>
              <a:t>recurring</a:t>
            </a:r>
            <a:r>
              <a:rPr lang="en-GB" sz="1000" spc="-20">
                <a:solidFill>
                  <a:srgbClr val="202429"/>
                </a:solidFill>
                <a:latin typeface="Tahoma"/>
                <a:cs typeface="Tahoma"/>
              </a:rPr>
              <a:t> </a:t>
            </a:r>
            <a:r>
              <a:rPr lang="en-GB" sz="1000" spc="-25">
                <a:solidFill>
                  <a:srgbClr val="202429"/>
                </a:solidFill>
                <a:latin typeface="Tahoma"/>
                <a:cs typeface="Tahoma"/>
              </a:rPr>
              <a:t>risks,</a:t>
            </a:r>
            <a:r>
              <a:rPr lang="en-GB" sz="1000" spc="-10">
                <a:solidFill>
                  <a:srgbClr val="202429"/>
                </a:solidFill>
                <a:latin typeface="Tahoma"/>
                <a:cs typeface="Tahoma"/>
              </a:rPr>
              <a:t> </a:t>
            </a:r>
            <a:r>
              <a:rPr lang="en-GB" sz="1000" spc="-50">
                <a:solidFill>
                  <a:srgbClr val="202429"/>
                </a:solidFill>
                <a:latin typeface="Tahoma"/>
                <a:cs typeface="Tahoma"/>
              </a:rPr>
              <a:t>themes,</a:t>
            </a:r>
            <a:r>
              <a:rPr lang="en-GB" sz="1000" spc="-15">
                <a:solidFill>
                  <a:srgbClr val="202429"/>
                </a:solidFill>
                <a:latin typeface="Tahoma"/>
                <a:cs typeface="Tahoma"/>
              </a:rPr>
              <a:t> </a:t>
            </a:r>
            <a:r>
              <a:rPr lang="en-GB" sz="1000" spc="-25">
                <a:solidFill>
                  <a:srgbClr val="202429"/>
                </a:solidFill>
                <a:latin typeface="Tahoma"/>
                <a:cs typeface="Tahoma"/>
              </a:rPr>
              <a:t>and </a:t>
            </a:r>
            <a:r>
              <a:rPr lang="en-GB" sz="1000" spc="-20">
                <a:solidFill>
                  <a:srgbClr val="202429"/>
                </a:solidFill>
                <a:latin typeface="Tahoma"/>
                <a:cs typeface="Tahoma"/>
              </a:rPr>
              <a:t>contributing</a:t>
            </a:r>
            <a:r>
              <a:rPr lang="en-GB" sz="1000" spc="-10">
                <a:solidFill>
                  <a:srgbClr val="202429"/>
                </a:solidFill>
                <a:latin typeface="Tahoma"/>
                <a:cs typeface="Tahoma"/>
              </a:rPr>
              <a:t> factors</a:t>
            </a:r>
            <a:endParaRPr lang="en-GB" sz="1000">
              <a:latin typeface="Tahoma"/>
              <a:cs typeface="Tahoma"/>
            </a:endParaRPr>
          </a:p>
          <a:p>
            <a:pPr marL="117475" indent="-104775">
              <a:lnSpc>
                <a:spcPct val="100000"/>
              </a:lnSpc>
              <a:spcBef>
                <a:spcPts val="244"/>
              </a:spcBef>
              <a:buClr>
                <a:srgbClr val="005F73"/>
              </a:buClr>
              <a:buFont typeface="Times New Roman"/>
              <a:buChar char="•"/>
              <a:tabLst>
                <a:tab pos="117475" algn="l"/>
              </a:tabLst>
            </a:pPr>
            <a:r>
              <a:rPr lang="en-GB" sz="1000" spc="-30">
                <a:solidFill>
                  <a:srgbClr val="202429"/>
                </a:solidFill>
                <a:latin typeface="Tahoma"/>
                <a:cs typeface="Tahoma"/>
              </a:rPr>
              <a:t>Structured</a:t>
            </a:r>
            <a:r>
              <a:rPr lang="en-GB" sz="1000" spc="-15">
                <a:solidFill>
                  <a:srgbClr val="202429"/>
                </a:solidFill>
                <a:latin typeface="Tahoma"/>
                <a:cs typeface="Tahoma"/>
              </a:rPr>
              <a:t> </a:t>
            </a:r>
            <a:r>
              <a:rPr lang="en-GB" sz="1000" spc="-35">
                <a:solidFill>
                  <a:srgbClr val="202429"/>
                </a:solidFill>
                <a:latin typeface="Tahoma"/>
                <a:cs typeface="Tahoma"/>
              </a:rPr>
              <a:t>analysis</a:t>
            </a:r>
            <a:r>
              <a:rPr lang="en-GB" sz="1000" spc="-10">
                <a:solidFill>
                  <a:srgbClr val="202429"/>
                </a:solidFill>
                <a:latin typeface="Tahoma"/>
                <a:cs typeface="Tahoma"/>
              </a:rPr>
              <a:t> </a:t>
            </a:r>
            <a:r>
              <a:rPr lang="en-GB" sz="1000" spc="-40">
                <a:solidFill>
                  <a:srgbClr val="202429"/>
                </a:solidFill>
                <a:latin typeface="Tahoma"/>
                <a:cs typeface="Tahoma"/>
              </a:rPr>
              <a:t>across</a:t>
            </a:r>
            <a:r>
              <a:rPr lang="en-GB" sz="1000" spc="-15">
                <a:solidFill>
                  <a:srgbClr val="202429"/>
                </a:solidFill>
                <a:latin typeface="Tahoma"/>
                <a:cs typeface="Tahoma"/>
              </a:rPr>
              <a:t> </a:t>
            </a:r>
            <a:r>
              <a:rPr lang="en-GB" sz="1000" spc="-10">
                <a:solidFill>
                  <a:srgbClr val="202429"/>
                </a:solidFill>
                <a:latin typeface="Tahoma"/>
                <a:cs typeface="Tahoma"/>
              </a:rPr>
              <a:t>cases, years, factors, combinations</a:t>
            </a:r>
            <a:endParaRPr lang="en-GB" sz="1000">
              <a:latin typeface="Tahoma"/>
              <a:cs typeface="Tahoma"/>
            </a:endParaRPr>
          </a:p>
          <a:p>
            <a:pPr marL="12700" marR="982344" indent="104775">
              <a:lnSpc>
                <a:spcPct val="112900"/>
              </a:lnSpc>
              <a:spcBef>
                <a:spcPts val="245"/>
              </a:spcBef>
              <a:buClr>
                <a:srgbClr val="005F73"/>
              </a:buClr>
              <a:buFont typeface="Times New Roman"/>
              <a:buChar char="•"/>
              <a:tabLst>
                <a:tab pos="117475" algn="l"/>
              </a:tabLst>
            </a:pPr>
            <a:r>
              <a:rPr lang="en-GB" sz="1000" spc="-25">
                <a:solidFill>
                  <a:srgbClr val="202429"/>
                </a:solidFill>
                <a:latin typeface="Tahoma"/>
                <a:cs typeface="Tahoma"/>
              </a:rPr>
              <a:t>Adaptable</a:t>
            </a:r>
            <a:r>
              <a:rPr lang="en-GB" sz="1000" spc="-10">
                <a:solidFill>
                  <a:srgbClr val="202429"/>
                </a:solidFill>
                <a:latin typeface="Tahoma"/>
                <a:cs typeface="Tahoma"/>
              </a:rPr>
              <a:t> </a:t>
            </a:r>
            <a:r>
              <a:rPr lang="en-GB" sz="1000">
                <a:solidFill>
                  <a:srgbClr val="202429"/>
                </a:solidFill>
                <a:latin typeface="Tahoma"/>
                <a:cs typeface="Tahoma"/>
              </a:rPr>
              <a:t>to</a:t>
            </a:r>
            <a:r>
              <a:rPr lang="en-GB" sz="1000" spc="-5">
                <a:solidFill>
                  <a:srgbClr val="202429"/>
                </a:solidFill>
                <a:latin typeface="Tahoma"/>
                <a:cs typeface="Tahoma"/>
              </a:rPr>
              <a:t> </a:t>
            </a:r>
            <a:r>
              <a:rPr lang="en-GB" sz="1000" spc="-30">
                <a:solidFill>
                  <a:srgbClr val="202429"/>
                </a:solidFill>
                <a:latin typeface="Tahoma"/>
                <a:cs typeface="Tahoma"/>
              </a:rPr>
              <a:t>diﬀerent</a:t>
            </a:r>
            <a:r>
              <a:rPr lang="en-GB" sz="1000">
                <a:solidFill>
                  <a:srgbClr val="202429"/>
                </a:solidFill>
                <a:latin typeface="Tahoma"/>
                <a:cs typeface="Tahoma"/>
              </a:rPr>
              <a:t> </a:t>
            </a:r>
            <a:r>
              <a:rPr lang="en-GB" sz="1000" spc="-25">
                <a:solidFill>
                  <a:srgbClr val="202429"/>
                </a:solidFill>
                <a:latin typeface="Tahoma"/>
                <a:cs typeface="Tahoma"/>
              </a:rPr>
              <a:t>analytical</a:t>
            </a:r>
            <a:r>
              <a:rPr lang="en-GB" sz="1000" spc="-10">
                <a:solidFill>
                  <a:srgbClr val="202429"/>
                </a:solidFill>
                <a:latin typeface="Tahoma"/>
                <a:cs typeface="Tahoma"/>
              </a:rPr>
              <a:t> </a:t>
            </a:r>
            <a:r>
              <a:rPr lang="en-GB" sz="1000" spc="-45">
                <a:solidFill>
                  <a:srgbClr val="202429"/>
                </a:solidFill>
                <a:latin typeface="Tahoma"/>
                <a:cs typeface="Tahoma"/>
              </a:rPr>
              <a:t>frameworks</a:t>
            </a:r>
            <a:r>
              <a:rPr lang="en-GB" sz="1000" spc="-5">
                <a:solidFill>
                  <a:srgbClr val="202429"/>
                </a:solidFill>
                <a:latin typeface="Tahoma"/>
                <a:cs typeface="Tahoma"/>
              </a:rPr>
              <a:t> </a:t>
            </a:r>
            <a:r>
              <a:rPr lang="en-GB" sz="1000" spc="-10">
                <a:solidFill>
                  <a:srgbClr val="202429"/>
                </a:solidFill>
                <a:latin typeface="Tahoma"/>
                <a:cs typeface="Tahoma"/>
              </a:rPr>
              <a:t>(e.g. </a:t>
            </a:r>
            <a:r>
              <a:rPr lang="en-GB" sz="1000" spc="-35">
                <a:solidFill>
                  <a:srgbClr val="202429"/>
                </a:solidFill>
                <a:latin typeface="Tahoma"/>
                <a:cs typeface="Tahoma"/>
              </a:rPr>
              <a:t>Yorkshire</a:t>
            </a:r>
            <a:r>
              <a:rPr lang="en-GB" sz="1000">
                <a:solidFill>
                  <a:srgbClr val="202429"/>
                </a:solidFill>
                <a:latin typeface="Tahoma"/>
                <a:cs typeface="Tahoma"/>
              </a:rPr>
              <a:t> </a:t>
            </a:r>
            <a:r>
              <a:rPr lang="en-GB" sz="1000" spc="-20">
                <a:solidFill>
                  <a:srgbClr val="202429"/>
                </a:solidFill>
                <a:latin typeface="Tahoma"/>
                <a:cs typeface="Tahoma"/>
              </a:rPr>
              <a:t>Contributory</a:t>
            </a:r>
            <a:r>
              <a:rPr lang="en-GB" sz="1000" spc="5">
                <a:solidFill>
                  <a:srgbClr val="202429"/>
                </a:solidFill>
                <a:latin typeface="Tahoma"/>
                <a:cs typeface="Tahoma"/>
              </a:rPr>
              <a:t> </a:t>
            </a:r>
            <a:r>
              <a:rPr lang="en-GB" sz="1000" spc="-10">
                <a:solidFill>
                  <a:srgbClr val="202429"/>
                </a:solidFill>
                <a:latin typeface="Tahoma"/>
                <a:cs typeface="Tahoma"/>
              </a:rPr>
              <a:t>Factors)</a:t>
            </a:r>
            <a:endParaRPr lang="en-GB" sz="1000">
              <a:latin typeface="Tahoma"/>
              <a:cs typeface="Tahoma"/>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347294" y="18767"/>
            <a:ext cx="1968500" cy="244475"/>
          </a:xfrm>
          <a:prstGeom prst="rect">
            <a:avLst/>
          </a:prstGeom>
        </p:spPr>
        <p:txBody>
          <a:bodyPr vert="horz" wrap="square" lIns="0" tIns="17145" rIns="0" bIns="0" rtlCol="0">
            <a:spAutoFit/>
          </a:bodyPr>
          <a:lstStyle/>
          <a:p>
            <a:pPr marL="12700">
              <a:lnSpc>
                <a:spcPct val="100000"/>
              </a:lnSpc>
              <a:spcBef>
                <a:spcPts val="135"/>
              </a:spcBef>
            </a:pPr>
            <a:r>
              <a:t>LENS.ai:</a:t>
            </a:r>
            <a:r>
              <a:rPr spc="340"/>
              <a:t> </a:t>
            </a:r>
            <a:r>
              <a:t>The</a:t>
            </a:r>
            <a:r>
              <a:rPr spc="160"/>
              <a:t> </a:t>
            </a:r>
            <a:r>
              <a:rPr spc="-10"/>
              <a:t>Platform</a:t>
            </a:r>
          </a:p>
        </p:txBody>
      </p:sp>
      <p:sp>
        <p:nvSpPr>
          <p:cNvPr id="3" name="object 3"/>
          <p:cNvSpPr/>
          <p:nvPr/>
        </p:nvSpPr>
        <p:spPr>
          <a:xfrm>
            <a:off x="3031197" y="607072"/>
            <a:ext cx="0" cy="2031364"/>
          </a:xfrm>
          <a:custGeom>
            <a:avLst/>
            <a:gdLst/>
            <a:ahLst/>
            <a:cxnLst/>
            <a:rect l="l" t="t" r="r" b="b"/>
            <a:pathLst>
              <a:path h="2031364">
                <a:moveTo>
                  <a:pt x="0" y="2030958"/>
                </a:moveTo>
                <a:lnTo>
                  <a:pt x="0" y="0"/>
                </a:lnTo>
              </a:path>
            </a:pathLst>
          </a:custGeom>
          <a:ln w="6325">
            <a:solidFill>
              <a:srgbClr val="6C757C"/>
            </a:solidFill>
          </a:ln>
        </p:spPr>
        <p:txBody>
          <a:bodyPr wrap="square" lIns="0" tIns="0" rIns="0" bIns="0" rtlCol="0"/>
          <a:lstStyle/>
          <a:p>
            <a:endParaRPr/>
          </a:p>
        </p:txBody>
      </p:sp>
      <p:pic>
        <p:nvPicPr>
          <p:cNvPr id="4" name="object 4"/>
          <p:cNvPicPr/>
          <p:nvPr/>
        </p:nvPicPr>
        <p:blipFill>
          <a:blip r:embed="rId2" cstate="print"/>
          <a:stretch>
            <a:fillRect/>
          </a:stretch>
        </p:blipFill>
        <p:spPr>
          <a:xfrm>
            <a:off x="3515029" y="540985"/>
            <a:ext cx="1552325" cy="2090758"/>
          </a:xfrm>
          <a:prstGeom prst="rect">
            <a:avLst/>
          </a:prstGeom>
        </p:spPr>
      </p:pic>
      <p:sp>
        <p:nvSpPr>
          <p:cNvPr id="5" name="object 5"/>
          <p:cNvSpPr txBox="1"/>
          <p:nvPr/>
        </p:nvSpPr>
        <p:spPr>
          <a:xfrm>
            <a:off x="347294" y="262202"/>
            <a:ext cx="4389120" cy="2632772"/>
          </a:xfrm>
          <a:prstGeom prst="rect">
            <a:avLst/>
          </a:prstGeom>
        </p:spPr>
        <p:txBody>
          <a:bodyPr vert="horz" wrap="square" lIns="0" tIns="11430" rIns="0" bIns="0" rtlCol="0">
            <a:spAutoFit/>
          </a:bodyPr>
          <a:lstStyle/>
          <a:p>
            <a:pPr marL="12700">
              <a:lnSpc>
                <a:spcPct val="100000"/>
              </a:lnSpc>
              <a:spcBef>
                <a:spcPts val="90"/>
              </a:spcBef>
            </a:pPr>
            <a:r>
              <a:rPr sz="1100" spc="-35">
                <a:solidFill>
                  <a:srgbClr val="6C757C"/>
                </a:solidFill>
                <a:latin typeface="Tahoma"/>
                <a:cs typeface="Tahoma"/>
              </a:rPr>
              <a:t>Learning</a:t>
            </a:r>
            <a:r>
              <a:rPr sz="1100" spc="-40">
                <a:solidFill>
                  <a:srgbClr val="6C757C"/>
                </a:solidFill>
                <a:latin typeface="Tahoma"/>
                <a:cs typeface="Tahoma"/>
              </a:rPr>
              <a:t> </a:t>
            </a:r>
            <a:r>
              <a:rPr sz="1100" spc="-25">
                <a:solidFill>
                  <a:srgbClr val="6C757C"/>
                </a:solidFill>
                <a:latin typeface="Tahoma"/>
                <a:cs typeface="Tahoma"/>
              </a:rPr>
              <a:t>Through</a:t>
            </a:r>
            <a:r>
              <a:rPr sz="1100" spc="-35">
                <a:solidFill>
                  <a:srgbClr val="6C757C"/>
                </a:solidFill>
                <a:latin typeface="Tahoma"/>
                <a:cs typeface="Tahoma"/>
              </a:rPr>
              <a:t> Evidence </a:t>
            </a:r>
            <a:r>
              <a:rPr sz="1100" spc="-20">
                <a:solidFill>
                  <a:srgbClr val="6C757C"/>
                </a:solidFill>
                <a:latin typeface="Tahoma"/>
                <a:cs typeface="Tahoma"/>
              </a:rPr>
              <a:t>from</a:t>
            </a:r>
            <a:r>
              <a:rPr sz="1100" spc="-30">
                <a:solidFill>
                  <a:srgbClr val="6C757C"/>
                </a:solidFill>
                <a:latin typeface="Tahoma"/>
                <a:cs typeface="Tahoma"/>
              </a:rPr>
              <a:t> </a:t>
            </a:r>
            <a:r>
              <a:rPr sz="1100" spc="-10">
                <a:solidFill>
                  <a:srgbClr val="6C757C"/>
                </a:solidFill>
                <a:latin typeface="Tahoma"/>
                <a:cs typeface="Tahoma"/>
              </a:rPr>
              <a:t>Natural</a:t>
            </a:r>
            <a:r>
              <a:rPr sz="1100" spc="-40">
                <a:solidFill>
                  <a:srgbClr val="6C757C"/>
                </a:solidFill>
                <a:latin typeface="Tahoma"/>
                <a:cs typeface="Tahoma"/>
              </a:rPr>
              <a:t> </a:t>
            </a:r>
            <a:r>
              <a:rPr sz="1100" spc="-55">
                <a:solidFill>
                  <a:srgbClr val="6C757C"/>
                </a:solidFill>
                <a:latin typeface="Tahoma"/>
                <a:cs typeface="Tahoma"/>
              </a:rPr>
              <a:t>Language</a:t>
            </a:r>
            <a:r>
              <a:rPr sz="1100" spc="-30">
                <a:solidFill>
                  <a:srgbClr val="6C757C"/>
                </a:solidFill>
                <a:latin typeface="Tahoma"/>
                <a:cs typeface="Tahoma"/>
              </a:rPr>
              <a:t> </a:t>
            </a:r>
            <a:r>
              <a:rPr sz="1100" spc="-10">
                <a:solidFill>
                  <a:srgbClr val="6C757C"/>
                </a:solidFill>
                <a:latin typeface="Tahoma"/>
                <a:cs typeface="Tahoma"/>
              </a:rPr>
              <a:t>Systems</a:t>
            </a:r>
            <a:endParaRPr sz="1100">
              <a:latin typeface="Tahoma"/>
              <a:cs typeface="Tahoma"/>
            </a:endParaRPr>
          </a:p>
          <a:p>
            <a:pPr marL="12700">
              <a:lnSpc>
                <a:spcPct val="100000"/>
              </a:lnSpc>
              <a:spcBef>
                <a:spcPts val="960"/>
              </a:spcBef>
            </a:pPr>
            <a:r>
              <a:rPr sz="1100" b="1">
                <a:solidFill>
                  <a:srgbClr val="202429"/>
                </a:solidFill>
                <a:latin typeface="Arial"/>
                <a:cs typeface="Arial"/>
              </a:rPr>
              <a:t>Key</a:t>
            </a:r>
            <a:r>
              <a:rPr sz="1100" b="1" spc="-15">
                <a:solidFill>
                  <a:srgbClr val="202429"/>
                </a:solidFill>
                <a:latin typeface="Arial"/>
                <a:cs typeface="Arial"/>
              </a:rPr>
              <a:t> </a:t>
            </a:r>
            <a:r>
              <a:rPr sz="1100" b="1" spc="-10">
                <a:solidFill>
                  <a:srgbClr val="202429"/>
                </a:solidFill>
                <a:latin typeface="Arial"/>
                <a:cs typeface="Arial"/>
              </a:rPr>
              <a:t>capabilities</a:t>
            </a:r>
            <a:endParaRPr sz="1100">
              <a:latin typeface="Arial"/>
              <a:cs typeface="Arial"/>
            </a:endParaRPr>
          </a:p>
          <a:p>
            <a:pPr marL="117475" indent="-104775">
              <a:lnSpc>
                <a:spcPts val="1200"/>
              </a:lnSpc>
              <a:spcBef>
                <a:spcPts val="305"/>
              </a:spcBef>
              <a:buClr>
                <a:srgbClr val="005F73"/>
              </a:buClr>
              <a:buFont typeface="Times New Roman"/>
              <a:buChar char="•"/>
              <a:tabLst>
                <a:tab pos="117475" algn="l"/>
              </a:tabLst>
            </a:pPr>
            <a:r>
              <a:rPr sz="1000" b="1" spc="-35">
                <a:solidFill>
                  <a:srgbClr val="202429"/>
                </a:solidFill>
                <a:latin typeface="Arial"/>
                <a:cs typeface="Arial"/>
              </a:rPr>
              <a:t>Search</a:t>
            </a:r>
            <a:r>
              <a:rPr sz="1000" b="1" spc="-15">
                <a:solidFill>
                  <a:srgbClr val="202429"/>
                </a:solidFill>
                <a:latin typeface="Arial"/>
                <a:cs typeface="Arial"/>
              </a:rPr>
              <a:t> </a:t>
            </a:r>
            <a:r>
              <a:rPr sz="1000" b="1" spc="-10">
                <a:solidFill>
                  <a:srgbClr val="202429"/>
                </a:solidFill>
                <a:latin typeface="Arial"/>
                <a:cs typeface="Arial"/>
              </a:rPr>
              <a:t>and exploration</a:t>
            </a:r>
            <a:endParaRPr sz="1000">
              <a:latin typeface="Arial"/>
              <a:cs typeface="Arial"/>
            </a:endParaRPr>
          </a:p>
          <a:p>
            <a:pPr marL="12700">
              <a:lnSpc>
                <a:spcPts val="1200"/>
              </a:lnSpc>
            </a:pPr>
            <a:r>
              <a:rPr sz="1000" spc="-30">
                <a:solidFill>
                  <a:srgbClr val="202429"/>
                </a:solidFill>
                <a:latin typeface="Tahoma"/>
                <a:cs typeface="Tahoma"/>
              </a:rPr>
              <a:t>Browse</a:t>
            </a:r>
            <a:r>
              <a:rPr sz="1000" spc="-50">
                <a:solidFill>
                  <a:srgbClr val="202429"/>
                </a:solidFill>
                <a:latin typeface="Tahoma"/>
                <a:cs typeface="Tahoma"/>
              </a:rPr>
              <a:t> </a:t>
            </a:r>
            <a:r>
              <a:rPr sz="1000" spc="-35">
                <a:solidFill>
                  <a:srgbClr val="202429"/>
                </a:solidFill>
                <a:latin typeface="Tahoma"/>
                <a:cs typeface="Tahoma"/>
              </a:rPr>
              <a:t>reports </a:t>
            </a:r>
            <a:r>
              <a:rPr sz="1000" spc="-30">
                <a:solidFill>
                  <a:srgbClr val="202429"/>
                </a:solidFill>
                <a:latin typeface="Tahoma"/>
                <a:cs typeface="Tahoma"/>
              </a:rPr>
              <a:t>using </a:t>
            </a:r>
            <a:r>
              <a:rPr sz="1000" spc="-55">
                <a:solidFill>
                  <a:srgbClr val="202429"/>
                </a:solidFill>
                <a:latin typeface="Tahoma"/>
                <a:cs typeface="Tahoma"/>
              </a:rPr>
              <a:t>keywords</a:t>
            </a:r>
            <a:r>
              <a:rPr sz="1000" spc="-20">
                <a:solidFill>
                  <a:srgbClr val="202429"/>
                </a:solidFill>
                <a:latin typeface="Tahoma"/>
                <a:cs typeface="Tahoma"/>
              </a:rPr>
              <a:t> </a:t>
            </a:r>
            <a:r>
              <a:rPr sz="1000" spc="-25">
                <a:solidFill>
                  <a:srgbClr val="202429"/>
                </a:solidFill>
                <a:latin typeface="Tahoma"/>
                <a:cs typeface="Tahoma"/>
              </a:rPr>
              <a:t>and</a:t>
            </a:r>
            <a:r>
              <a:rPr sz="1000" spc="-35">
                <a:solidFill>
                  <a:srgbClr val="202429"/>
                </a:solidFill>
                <a:latin typeface="Tahoma"/>
                <a:cs typeface="Tahoma"/>
              </a:rPr>
              <a:t> </a:t>
            </a:r>
            <a:r>
              <a:rPr sz="1000" spc="-10">
                <a:solidFill>
                  <a:srgbClr val="202429"/>
                </a:solidFill>
                <a:latin typeface="Tahoma"/>
                <a:cs typeface="Tahoma"/>
              </a:rPr>
              <a:t>ﬁlters</a:t>
            </a:r>
            <a:endParaRPr sz="1000">
              <a:latin typeface="Tahoma"/>
              <a:cs typeface="Tahoma"/>
            </a:endParaRPr>
          </a:p>
          <a:p>
            <a:pPr marL="117475" indent="-104775">
              <a:lnSpc>
                <a:spcPts val="1200"/>
              </a:lnSpc>
              <a:spcBef>
                <a:spcPts val="395"/>
              </a:spcBef>
              <a:buClr>
                <a:srgbClr val="005F73"/>
              </a:buClr>
              <a:buFont typeface="Times New Roman"/>
              <a:buChar char="•"/>
              <a:tabLst>
                <a:tab pos="117475" algn="l"/>
              </a:tabLst>
            </a:pPr>
            <a:r>
              <a:rPr sz="1000" b="1">
                <a:solidFill>
                  <a:srgbClr val="202429"/>
                </a:solidFill>
                <a:latin typeface="Arial"/>
                <a:cs typeface="Arial"/>
              </a:rPr>
              <a:t>Pattern</a:t>
            </a:r>
            <a:r>
              <a:rPr sz="1000" b="1" spc="55">
                <a:solidFill>
                  <a:srgbClr val="202429"/>
                </a:solidFill>
                <a:latin typeface="Arial"/>
                <a:cs typeface="Arial"/>
              </a:rPr>
              <a:t> </a:t>
            </a:r>
            <a:r>
              <a:rPr sz="1000" b="1" spc="-10">
                <a:solidFill>
                  <a:srgbClr val="202429"/>
                </a:solidFill>
                <a:latin typeface="Arial"/>
                <a:cs typeface="Arial"/>
              </a:rPr>
              <a:t>discovery</a:t>
            </a:r>
            <a:endParaRPr sz="1000">
              <a:latin typeface="Arial"/>
              <a:cs typeface="Arial"/>
            </a:endParaRPr>
          </a:p>
          <a:p>
            <a:pPr marL="12700">
              <a:lnSpc>
                <a:spcPts val="1200"/>
              </a:lnSpc>
            </a:pPr>
            <a:r>
              <a:rPr sz="1000" spc="-35">
                <a:solidFill>
                  <a:srgbClr val="202429"/>
                </a:solidFill>
                <a:latin typeface="Tahoma"/>
                <a:cs typeface="Tahoma"/>
              </a:rPr>
              <a:t>Identify</a:t>
            </a:r>
            <a:r>
              <a:rPr sz="1000" spc="-25">
                <a:solidFill>
                  <a:srgbClr val="202429"/>
                </a:solidFill>
                <a:latin typeface="Tahoma"/>
                <a:cs typeface="Tahoma"/>
              </a:rPr>
              <a:t> </a:t>
            </a:r>
            <a:r>
              <a:rPr sz="1000" spc="-35">
                <a:solidFill>
                  <a:srgbClr val="202429"/>
                </a:solidFill>
                <a:latin typeface="Tahoma"/>
                <a:cs typeface="Tahoma"/>
              </a:rPr>
              <a:t>trends</a:t>
            </a:r>
            <a:r>
              <a:rPr sz="1000" spc="-25">
                <a:solidFill>
                  <a:srgbClr val="202429"/>
                </a:solidFill>
                <a:latin typeface="Tahoma"/>
                <a:cs typeface="Tahoma"/>
              </a:rPr>
              <a:t> </a:t>
            </a:r>
            <a:r>
              <a:rPr sz="1000" spc="-40">
                <a:solidFill>
                  <a:srgbClr val="202429"/>
                </a:solidFill>
                <a:latin typeface="Tahoma"/>
                <a:cs typeface="Tahoma"/>
              </a:rPr>
              <a:t>across</a:t>
            </a:r>
            <a:r>
              <a:rPr sz="1000" spc="-20">
                <a:solidFill>
                  <a:srgbClr val="202429"/>
                </a:solidFill>
                <a:latin typeface="Tahoma"/>
                <a:cs typeface="Tahoma"/>
              </a:rPr>
              <a:t> </a:t>
            </a:r>
            <a:r>
              <a:rPr sz="1000" spc="-60">
                <a:solidFill>
                  <a:srgbClr val="202429"/>
                </a:solidFill>
                <a:latin typeface="Tahoma"/>
                <a:cs typeface="Tahoma"/>
              </a:rPr>
              <a:t>themes,</a:t>
            </a:r>
            <a:r>
              <a:rPr sz="1000" spc="-20">
                <a:solidFill>
                  <a:srgbClr val="202429"/>
                </a:solidFill>
                <a:latin typeface="Tahoma"/>
                <a:cs typeface="Tahoma"/>
              </a:rPr>
              <a:t> time, </a:t>
            </a:r>
            <a:r>
              <a:rPr sz="1000" spc="-35">
                <a:solidFill>
                  <a:srgbClr val="202429"/>
                </a:solidFill>
                <a:latin typeface="Tahoma"/>
                <a:cs typeface="Tahoma"/>
              </a:rPr>
              <a:t>and</a:t>
            </a:r>
            <a:r>
              <a:rPr sz="1000" spc="-20">
                <a:solidFill>
                  <a:srgbClr val="202429"/>
                </a:solidFill>
                <a:latin typeface="Tahoma"/>
                <a:cs typeface="Tahoma"/>
              </a:rPr>
              <a:t> </a:t>
            </a:r>
            <a:r>
              <a:rPr sz="1000" spc="-10">
                <a:solidFill>
                  <a:srgbClr val="202429"/>
                </a:solidFill>
                <a:latin typeface="Tahoma"/>
                <a:cs typeface="Tahoma"/>
              </a:rPr>
              <a:t>regions</a:t>
            </a:r>
            <a:endParaRPr sz="1000">
              <a:latin typeface="Tahoma"/>
              <a:cs typeface="Tahoma"/>
            </a:endParaRPr>
          </a:p>
          <a:p>
            <a:pPr marL="117475" indent="-104775">
              <a:lnSpc>
                <a:spcPts val="1200"/>
              </a:lnSpc>
              <a:spcBef>
                <a:spcPts val="390"/>
              </a:spcBef>
              <a:buClr>
                <a:srgbClr val="005F73"/>
              </a:buClr>
              <a:buFont typeface="Times New Roman"/>
              <a:buChar char="•"/>
              <a:tabLst>
                <a:tab pos="117475" algn="l"/>
              </a:tabLst>
            </a:pPr>
            <a:r>
              <a:rPr sz="1000" b="1">
                <a:solidFill>
                  <a:srgbClr val="202429"/>
                </a:solidFill>
                <a:latin typeface="Arial"/>
                <a:cs typeface="Arial"/>
              </a:rPr>
              <a:t>Thematic</a:t>
            </a:r>
            <a:r>
              <a:rPr sz="1000" b="1" spc="-40">
                <a:solidFill>
                  <a:srgbClr val="202429"/>
                </a:solidFill>
                <a:latin typeface="Arial"/>
                <a:cs typeface="Arial"/>
              </a:rPr>
              <a:t> </a:t>
            </a:r>
            <a:r>
              <a:rPr sz="1000" b="1" spc="-10">
                <a:solidFill>
                  <a:srgbClr val="202429"/>
                </a:solidFill>
                <a:latin typeface="Arial"/>
                <a:cs typeface="Arial"/>
              </a:rPr>
              <a:t>analysis</a:t>
            </a:r>
            <a:endParaRPr sz="1000">
              <a:latin typeface="Arial"/>
              <a:cs typeface="Arial"/>
            </a:endParaRPr>
          </a:p>
          <a:p>
            <a:pPr marL="12700" marR="2059305">
              <a:lnSpc>
                <a:spcPts val="1200"/>
              </a:lnSpc>
              <a:spcBef>
                <a:spcPts val="40"/>
              </a:spcBef>
            </a:pPr>
            <a:r>
              <a:rPr sz="1000">
                <a:solidFill>
                  <a:srgbClr val="202429"/>
                </a:solidFill>
                <a:latin typeface="Tahoma"/>
                <a:cs typeface="Tahoma"/>
              </a:rPr>
              <a:t>Extract</a:t>
            </a:r>
            <a:r>
              <a:rPr sz="1000" spc="-30">
                <a:solidFill>
                  <a:srgbClr val="202429"/>
                </a:solidFill>
                <a:latin typeface="Tahoma"/>
                <a:cs typeface="Tahoma"/>
              </a:rPr>
              <a:t> </a:t>
            </a:r>
            <a:r>
              <a:rPr sz="1000" spc="-35">
                <a:solidFill>
                  <a:srgbClr val="202429"/>
                </a:solidFill>
                <a:latin typeface="Tahoma"/>
                <a:cs typeface="Tahoma"/>
              </a:rPr>
              <a:t>recurring</a:t>
            </a:r>
            <a:r>
              <a:rPr sz="1000" spc="-25">
                <a:solidFill>
                  <a:srgbClr val="202429"/>
                </a:solidFill>
                <a:latin typeface="Tahoma"/>
                <a:cs typeface="Tahoma"/>
              </a:rPr>
              <a:t> </a:t>
            </a:r>
            <a:r>
              <a:rPr sz="1000" spc="-35">
                <a:solidFill>
                  <a:srgbClr val="202429"/>
                </a:solidFill>
                <a:latin typeface="Tahoma"/>
                <a:cs typeface="Tahoma"/>
              </a:rPr>
              <a:t>concepts</a:t>
            </a:r>
            <a:r>
              <a:rPr sz="1000" spc="-20">
                <a:solidFill>
                  <a:srgbClr val="202429"/>
                </a:solidFill>
                <a:latin typeface="Tahoma"/>
                <a:cs typeface="Tahoma"/>
              </a:rPr>
              <a:t> </a:t>
            </a:r>
            <a:r>
              <a:rPr sz="1000" spc="-25">
                <a:solidFill>
                  <a:srgbClr val="202429"/>
                </a:solidFill>
                <a:latin typeface="Tahoma"/>
                <a:cs typeface="Tahoma"/>
              </a:rPr>
              <a:t>and contributing </a:t>
            </a:r>
            <a:r>
              <a:rPr sz="1000" spc="-10">
                <a:solidFill>
                  <a:srgbClr val="202429"/>
                </a:solidFill>
                <a:latin typeface="Tahoma"/>
                <a:cs typeface="Tahoma"/>
              </a:rPr>
              <a:t>factors</a:t>
            </a:r>
            <a:r>
              <a:rPr lang="en-GB" sz="1000" spc="-10">
                <a:solidFill>
                  <a:srgbClr val="202429"/>
                </a:solidFill>
                <a:latin typeface="Tahoma"/>
                <a:cs typeface="Tahoma"/>
              </a:rPr>
              <a:t> </a:t>
            </a:r>
            <a:endParaRPr sz="1000">
              <a:latin typeface="Tahoma"/>
              <a:cs typeface="Tahoma"/>
            </a:endParaRPr>
          </a:p>
          <a:p>
            <a:pPr marL="117475" indent="-104775">
              <a:lnSpc>
                <a:spcPct val="100000"/>
              </a:lnSpc>
              <a:spcBef>
                <a:spcPts val="350"/>
              </a:spcBef>
              <a:buClr>
                <a:srgbClr val="005F73"/>
              </a:buClr>
              <a:buFont typeface="Times New Roman"/>
              <a:buChar char="•"/>
              <a:tabLst>
                <a:tab pos="117475" algn="l"/>
              </a:tabLst>
            </a:pPr>
            <a:r>
              <a:rPr sz="1000" b="1" spc="-10">
                <a:solidFill>
                  <a:srgbClr val="202429"/>
                </a:solidFill>
                <a:latin typeface="Arial"/>
                <a:cs typeface="Arial"/>
              </a:rPr>
              <a:t>Interactive</a:t>
            </a:r>
            <a:r>
              <a:rPr sz="1000" b="1" spc="45">
                <a:solidFill>
                  <a:srgbClr val="202429"/>
                </a:solidFill>
                <a:latin typeface="Arial"/>
                <a:cs typeface="Arial"/>
              </a:rPr>
              <a:t> </a:t>
            </a:r>
            <a:r>
              <a:rPr sz="1000" b="1" spc="-10">
                <a:solidFill>
                  <a:srgbClr val="202429"/>
                </a:solidFill>
                <a:latin typeface="Arial"/>
                <a:cs typeface="Arial"/>
              </a:rPr>
              <a:t>outputs</a:t>
            </a:r>
            <a:endParaRPr sz="1000">
              <a:latin typeface="Arial"/>
              <a:cs typeface="Arial"/>
            </a:endParaRPr>
          </a:p>
          <a:p>
            <a:pPr marL="12700">
              <a:lnSpc>
                <a:spcPct val="100000"/>
              </a:lnSpc>
              <a:spcBef>
                <a:spcPts val="155"/>
              </a:spcBef>
            </a:pPr>
            <a:r>
              <a:rPr sz="1000" spc="-20">
                <a:solidFill>
                  <a:srgbClr val="202429"/>
                </a:solidFill>
                <a:latin typeface="Tahoma"/>
                <a:cs typeface="Tahoma"/>
              </a:rPr>
              <a:t>Visualise</a:t>
            </a:r>
            <a:r>
              <a:rPr sz="1000" spc="-30">
                <a:solidFill>
                  <a:srgbClr val="202429"/>
                </a:solidFill>
                <a:latin typeface="Tahoma"/>
                <a:cs typeface="Tahoma"/>
              </a:rPr>
              <a:t> ﬁndings and export </a:t>
            </a:r>
            <a:r>
              <a:rPr sz="1000" spc="-20">
                <a:solidFill>
                  <a:srgbClr val="202429"/>
                </a:solidFill>
                <a:latin typeface="Tahoma"/>
                <a:cs typeface="Tahoma"/>
              </a:rPr>
              <a:t>data</a:t>
            </a:r>
            <a:endParaRPr sz="1000">
              <a:latin typeface="Tahoma"/>
              <a:cs typeface="Tahoma"/>
            </a:endParaRPr>
          </a:p>
          <a:p>
            <a:pPr marL="12700">
              <a:lnSpc>
                <a:spcPct val="100000"/>
              </a:lnSpc>
              <a:spcBef>
                <a:spcPts val="590"/>
              </a:spcBef>
            </a:pPr>
            <a:r>
              <a:rPr sz="1000" spc="-40">
                <a:solidFill>
                  <a:srgbClr val="6C757C"/>
                </a:solidFill>
                <a:latin typeface="Tahoma"/>
                <a:cs typeface="Tahoma"/>
              </a:rPr>
              <a:t>Designed</a:t>
            </a:r>
            <a:r>
              <a:rPr sz="1000" spc="-15">
                <a:solidFill>
                  <a:srgbClr val="6C757C"/>
                </a:solidFill>
                <a:latin typeface="Tahoma"/>
                <a:cs typeface="Tahoma"/>
              </a:rPr>
              <a:t> </a:t>
            </a:r>
            <a:r>
              <a:rPr sz="1000" spc="-10">
                <a:solidFill>
                  <a:srgbClr val="6C757C"/>
                </a:solidFill>
                <a:latin typeface="Tahoma"/>
                <a:cs typeface="Tahoma"/>
              </a:rPr>
              <a:t>for </a:t>
            </a:r>
            <a:r>
              <a:rPr sz="1000" spc="-60">
                <a:solidFill>
                  <a:srgbClr val="6C757C"/>
                </a:solidFill>
                <a:latin typeface="Tahoma"/>
                <a:cs typeface="Tahoma"/>
              </a:rPr>
              <a:t>use</a:t>
            </a:r>
            <a:r>
              <a:rPr sz="1000" spc="-5">
                <a:solidFill>
                  <a:srgbClr val="6C757C"/>
                </a:solidFill>
                <a:latin typeface="Tahoma"/>
                <a:cs typeface="Tahoma"/>
              </a:rPr>
              <a:t> </a:t>
            </a:r>
            <a:r>
              <a:rPr sz="1000" spc="-55">
                <a:solidFill>
                  <a:srgbClr val="6C757C"/>
                </a:solidFill>
                <a:latin typeface="Tahoma"/>
                <a:cs typeface="Tahoma"/>
              </a:rPr>
              <a:t>beyond</a:t>
            </a:r>
            <a:r>
              <a:rPr sz="1000" spc="-10">
                <a:solidFill>
                  <a:srgbClr val="6C757C"/>
                </a:solidFill>
                <a:latin typeface="Tahoma"/>
                <a:cs typeface="Tahoma"/>
              </a:rPr>
              <a:t> </a:t>
            </a:r>
            <a:r>
              <a:rPr sz="1000" spc="-30">
                <a:solidFill>
                  <a:srgbClr val="6C757C"/>
                </a:solidFill>
                <a:latin typeface="Tahoma"/>
                <a:cs typeface="Tahoma"/>
              </a:rPr>
              <a:t>technical</a:t>
            </a:r>
            <a:r>
              <a:rPr sz="1000" spc="-10">
                <a:solidFill>
                  <a:srgbClr val="6C757C"/>
                </a:solidFill>
                <a:latin typeface="Tahoma"/>
                <a:cs typeface="Tahoma"/>
              </a:rPr>
              <a:t> audiences</a:t>
            </a:r>
            <a:endParaRPr sz="1000">
              <a:latin typeface="Tahoma"/>
              <a:cs typeface="Tahoma"/>
            </a:endParaRPr>
          </a:p>
          <a:p>
            <a:pPr>
              <a:lnSpc>
                <a:spcPct val="100000"/>
              </a:lnSpc>
              <a:spcBef>
                <a:spcPts val="110"/>
              </a:spcBef>
            </a:pPr>
            <a:endParaRPr sz="1000">
              <a:latin typeface="Tahoma"/>
              <a:cs typeface="Tahoma"/>
            </a:endParaRPr>
          </a:p>
          <a:p>
            <a:pPr marL="689610">
              <a:lnSpc>
                <a:spcPct val="100000"/>
              </a:lnSpc>
            </a:pPr>
            <a:r>
              <a:rPr sz="1000" spc="60">
                <a:solidFill>
                  <a:srgbClr val="6C757C"/>
                </a:solidFill>
                <a:latin typeface="Tahoma"/>
                <a:cs typeface="Tahoma"/>
              </a:rPr>
              <a:t>A</a:t>
            </a:r>
            <a:r>
              <a:rPr sz="1000" spc="-10">
                <a:solidFill>
                  <a:srgbClr val="6C757C"/>
                </a:solidFill>
                <a:latin typeface="Tahoma"/>
                <a:cs typeface="Tahoma"/>
              </a:rPr>
              <a:t> </a:t>
            </a:r>
            <a:r>
              <a:rPr sz="1000" spc="-75">
                <a:solidFill>
                  <a:srgbClr val="6C757C"/>
                </a:solidFill>
                <a:latin typeface="Tahoma"/>
                <a:cs typeface="Tahoma"/>
              </a:rPr>
              <a:t>web-</a:t>
            </a:r>
            <a:r>
              <a:rPr sz="1000" spc="-60">
                <a:solidFill>
                  <a:srgbClr val="6C757C"/>
                </a:solidFill>
                <a:latin typeface="Tahoma"/>
                <a:cs typeface="Tahoma"/>
              </a:rPr>
              <a:t>based</a:t>
            </a:r>
            <a:r>
              <a:rPr sz="1000" spc="-10">
                <a:solidFill>
                  <a:srgbClr val="6C757C"/>
                </a:solidFill>
                <a:latin typeface="Tahoma"/>
                <a:cs typeface="Tahoma"/>
              </a:rPr>
              <a:t> </a:t>
            </a:r>
            <a:r>
              <a:rPr sz="1000" spc="-20">
                <a:solidFill>
                  <a:srgbClr val="6C757C"/>
                </a:solidFill>
                <a:latin typeface="Tahoma"/>
                <a:cs typeface="Tahoma"/>
              </a:rPr>
              <a:t>platform</a:t>
            </a:r>
            <a:r>
              <a:rPr sz="1000" spc="-5">
                <a:solidFill>
                  <a:srgbClr val="6C757C"/>
                </a:solidFill>
                <a:latin typeface="Tahoma"/>
                <a:cs typeface="Tahoma"/>
              </a:rPr>
              <a:t> </a:t>
            </a:r>
            <a:r>
              <a:rPr sz="1000" spc="-10">
                <a:solidFill>
                  <a:srgbClr val="6C757C"/>
                </a:solidFill>
                <a:latin typeface="Tahoma"/>
                <a:cs typeface="Tahoma"/>
              </a:rPr>
              <a:t>for </a:t>
            </a:r>
            <a:r>
              <a:rPr sz="1000" spc="-35">
                <a:solidFill>
                  <a:srgbClr val="6C757C"/>
                </a:solidFill>
                <a:latin typeface="Tahoma"/>
                <a:cs typeface="Tahoma"/>
              </a:rPr>
              <a:t>exploring</a:t>
            </a:r>
            <a:r>
              <a:rPr sz="1000" spc="-10">
                <a:solidFill>
                  <a:srgbClr val="6C757C"/>
                </a:solidFill>
                <a:latin typeface="Tahoma"/>
                <a:cs typeface="Tahoma"/>
              </a:rPr>
              <a:t> </a:t>
            </a:r>
            <a:r>
              <a:rPr sz="1000" spc="-25">
                <a:solidFill>
                  <a:srgbClr val="6C757C"/>
                </a:solidFill>
                <a:latin typeface="Tahoma"/>
                <a:cs typeface="Tahoma"/>
              </a:rPr>
              <a:t>and</a:t>
            </a:r>
            <a:r>
              <a:rPr sz="1000" spc="-5">
                <a:solidFill>
                  <a:srgbClr val="6C757C"/>
                </a:solidFill>
                <a:latin typeface="Tahoma"/>
                <a:cs typeface="Tahoma"/>
              </a:rPr>
              <a:t> </a:t>
            </a:r>
            <a:r>
              <a:rPr sz="1000" spc="-35">
                <a:solidFill>
                  <a:srgbClr val="6C757C"/>
                </a:solidFill>
                <a:latin typeface="Tahoma"/>
                <a:cs typeface="Tahoma"/>
              </a:rPr>
              <a:t>analysing</a:t>
            </a:r>
            <a:r>
              <a:rPr sz="1000" spc="-5">
                <a:solidFill>
                  <a:srgbClr val="6C757C"/>
                </a:solidFill>
                <a:latin typeface="Tahoma"/>
                <a:cs typeface="Tahoma"/>
              </a:rPr>
              <a:t> </a:t>
            </a:r>
            <a:r>
              <a:rPr sz="1000" spc="-30">
                <a:solidFill>
                  <a:srgbClr val="6C757C"/>
                </a:solidFill>
                <a:latin typeface="Tahoma"/>
                <a:cs typeface="Tahoma"/>
              </a:rPr>
              <a:t>coronial</a:t>
            </a:r>
            <a:r>
              <a:rPr sz="1000" spc="-5">
                <a:solidFill>
                  <a:srgbClr val="6C757C"/>
                </a:solidFill>
                <a:latin typeface="Tahoma"/>
                <a:cs typeface="Tahoma"/>
              </a:rPr>
              <a:t> </a:t>
            </a:r>
            <a:r>
              <a:rPr sz="1000" spc="-45">
                <a:solidFill>
                  <a:srgbClr val="6C757C"/>
                </a:solidFill>
                <a:latin typeface="Tahoma"/>
                <a:cs typeface="Tahoma"/>
              </a:rPr>
              <a:t>safety</a:t>
            </a:r>
            <a:r>
              <a:rPr sz="1000" spc="-10">
                <a:solidFill>
                  <a:srgbClr val="6C757C"/>
                </a:solidFill>
                <a:latin typeface="Tahoma"/>
                <a:cs typeface="Tahoma"/>
              </a:rPr>
              <a:t> </a:t>
            </a:r>
            <a:r>
              <a:rPr sz="1000" spc="-20">
                <a:solidFill>
                  <a:srgbClr val="6C757C"/>
                </a:solidFill>
                <a:latin typeface="Tahoma"/>
                <a:cs typeface="Tahoma"/>
              </a:rPr>
              <a:t>data</a:t>
            </a:r>
            <a:endParaRPr sz="1000">
              <a:latin typeface="Tahoma"/>
              <a:cs typeface="Tahoma"/>
            </a:endParaRPr>
          </a:p>
        </p:txBody>
      </p:sp>
      <p:sp>
        <p:nvSpPr>
          <p:cNvPr id="6" name="object 6"/>
          <p:cNvSpPr/>
          <p:nvPr/>
        </p:nvSpPr>
        <p:spPr>
          <a:xfrm>
            <a:off x="0" y="3060028"/>
            <a:ext cx="5760085" cy="0"/>
          </a:xfrm>
          <a:custGeom>
            <a:avLst/>
            <a:gdLst/>
            <a:ahLst/>
            <a:cxnLst/>
            <a:rect l="l" t="t" r="r" b="b"/>
            <a:pathLst>
              <a:path w="5760085">
                <a:moveTo>
                  <a:pt x="0" y="0"/>
                </a:moveTo>
                <a:lnTo>
                  <a:pt x="5760073" y="0"/>
                </a:lnTo>
              </a:path>
            </a:pathLst>
          </a:custGeom>
          <a:ln w="6326">
            <a:solidFill>
              <a:srgbClr val="CED3DA"/>
            </a:solidFill>
          </a:ln>
        </p:spPr>
        <p:txBody>
          <a:bodyPr wrap="square" lIns="0" tIns="0" rIns="0" bIns="0" rtlCol="0"/>
          <a:lstStyle/>
          <a:p>
            <a:endParaRPr/>
          </a:p>
        </p:txBody>
      </p:sp>
      <p:sp>
        <p:nvSpPr>
          <p:cNvPr id="9" name="Slide Number Placeholder 8">
            <a:extLst>
              <a:ext uri="{FF2B5EF4-FFF2-40B4-BE49-F238E27FC236}">
                <a16:creationId xmlns:a16="http://schemas.microsoft.com/office/drawing/2014/main" id="{360C8725-3AD5-5D99-79BE-412698ACA182}"/>
              </a:ext>
            </a:extLst>
          </p:cNvPr>
          <p:cNvSpPr>
            <a:spLocks noGrp="1"/>
          </p:cNvSpPr>
          <p:nvPr>
            <p:ph type="sldNum" sz="quarter" idx="7"/>
          </p:nvPr>
        </p:nvSpPr>
        <p:spPr>
          <a:xfrm>
            <a:off x="5311736" y="3060028"/>
            <a:ext cx="464224" cy="173989"/>
          </a:xfrm>
        </p:spPr>
        <p:txBody>
          <a:bodyPr/>
          <a:lstStyle/>
          <a:p>
            <a:pPr marL="39370">
              <a:lnSpc>
                <a:spcPct val="100000"/>
              </a:lnSpc>
              <a:spcBef>
                <a:spcPts val="219"/>
              </a:spcBef>
            </a:pPr>
            <a:fld id="{81D60167-4931-47E6-BA6A-407CBD079E47}" type="slidenum">
              <a:rPr lang="en-GB" smtClean="0"/>
              <a:t>34</a:t>
            </a:fld>
            <a:r>
              <a:rPr lang="en-GB" spc="20"/>
              <a:t> </a:t>
            </a:r>
            <a:r>
              <a:rPr lang="en-GB" spc="120"/>
              <a:t>/</a:t>
            </a:r>
            <a:r>
              <a:rPr lang="en-GB" spc="25"/>
              <a:t> </a:t>
            </a:r>
            <a:r>
              <a:rPr lang="en-GB" spc="-25"/>
              <a:t>41</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49530" rIns="0" bIns="0" rtlCol="0">
            <a:spAutoFit/>
          </a:bodyPr>
          <a:lstStyle/>
          <a:p>
            <a:pPr marL="99060">
              <a:lnSpc>
                <a:spcPct val="100000"/>
              </a:lnSpc>
              <a:spcBef>
                <a:spcPts val="390"/>
              </a:spcBef>
            </a:pPr>
            <a:r>
              <a:t>LENS.ai:</a:t>
            </a:r>
            <a:r>
              <a:rPr spc="229"/>
              <a:t> </a:t>
            </a:r>
            <a:r>
              <a:t>Annotation</a:t>
            </a:r>
            <a:r>
              <a:rPr spc="80"/>
              <a:t> </a:t>
            </a:r>
            <a:r>
              <a:t>in</a:t>
            </a:r>
            <a:r>
              <a:rPr spc="80"/>
              <a:t> </a:t>
            </a:r>
            <a:r>
              <a:rPr spc="-10"/>
              <a:t>Action</a:t>
            </a:r>
          </a:p>
          <a:p>
            <a:pPr marL="99060">
              <a:lnSpc>
                <a:spcPct val="100000"/>
              </a:lnSpc>
              <a:spcBef>
                <a:spcPts val="195"/>
              </a:spcBef>
            </a:pPr>
            <a:r>
              <a:rPr sz="1100" b="0" spc="-40">
                <a:solidFill>
                  <a:srgbClr val="6C757C"/>
                </a:solidFill>
                <a:latin typeface="Tahoma"/>
                <a:cs typeface="Tahoma"/>
              </a:rPr>
              <a:t>Colour-</a:t>
            </a:r>
            <a:r>
              <a:rPr sz="1100" b="0" spc="-45">
                <a:solidFill>
                  <a:srgbClr val="6C757C"/>
                </a:solidFill>
                <a:latin typeface="Tahoma"/>
                <a:cs typeface="Tahoma"/>
              </a:rPr>
              <a:t>coded</a:t>
            </a:r>
            <a:r>
              <a:rPr sz="1100" b="0" spc="-10">
                <a:solidFill>
                  <a:srgbClr val="6C757C"/>
                </a:solidFill>
                <a:latin typeface="Tahoma"/>
                <a:cs typeface="Tahoma"/>
              </a:rPr>
              <a:t> </a:t>
            </a:r>
            <a:r>
              <a:rPr sz="1100" b="0" spc="-60">
                <a:solidFill>
                  <a:srgbClr val="6C757C"/>
                </a:solidFill>
                <a:latin typeface="Tahoma"/>
                <a:cs typeface="Tahoma"/>
              </a:rPr>
              <a:t>themes</a:t>
            </a:r>
            <a:r>
              <a:rPr sz="1100" b="0" spc="-10">
                <a:solidFill>
                  <a:srgbClr val="6C757C"/>
                </a:solidFill>
                <a:latin typeface="Tahoma"/>
                <a:cs typeface="Tahoma"/>
              </a:rPr>
              <a:t> </a:t>
            </a:r>
            <a:r>
              <a:rPr sz="1100" b="0">
                <a:solidFill>
                  <a:srgbClr val="6C757C"/>
                </a:solidFill>
                <a:latin typeface="Tahoma"/>
                <a:cs typeface="Tahoma"/>
              </a:rPr>
              <a:t>with</a:t>
            </a:r>
            <a:r>
              <a:rPr sz="1100" b="0" spc="-10">
                <a:solidFill>
                  <a:srgbClr val="6C757C"/>
                </a:solidFill>
                <a:latin typeface="Tahoma"/>
                <a:cs typeface="Tahoma"/>
              </a:rPr>
              <a:t> </a:t>
            </a:r>
            <a:r>
              <a:rPr sz="1100" b="0">
                <a:solidFill>
                  <a:srgbClr val="6C757C"/>
                </a:solidFill>
                <a:latin typeface="Tahoma"/>
                <a:cs typeface="Tahoma"/>
              </a:rPr>
              <a:t>full</a:t>
            </a:r>
            <a:r>
              <a:rPr sz="1100" b="0" spc="-10">
                <a:solidFill>
                  <a:srgbClr val="6C757C"/>
                </a:solidFill>
                <a:latin typeface="Tahoma"/>
                <a:cs typeface="Tahoma"/>
              </a:rPr>
              <a:t> traceability</a:t>
            </a:r>
            <a:endParaRPr sz="1100">
              <a:latin typeface="Tahoma"/>
              <a:cs typeface="Tahoma"/>
            </a:endParaRPr>
          </a:p>
        </p:txBody>
      </p:sp>
      <p:pic>
        <p:nvPicPr>
          <p:cNvPr id="3" name="object 3"/>
          <p:cNvPicPr/>
          <p:nvPr/>
        </p:nvPicPr>
        <p:blipFill>
          <a:blip r:embed="rId2" cstate="print"/>
          <a:stretch>
            <a:fillRect/>
          </a:stretch>
        </p:blipFill>
        <p:spPr>
          <a:xfrm>
            <a:off x="1293551" y="609580"/>
            <a:ext cx="2995053" cy="1584479"/>
          </a:xfrm>
          <a:prstGeom prst="rect">
            <a:avLst/>
          </a:prstGeom>
        </p:spPr>
      </p:pic>
      <p:sp>
        <p:nvSpPr>
          <p:cNvPr id="4" name="object 4"/>
          <p:cNvSpPr txBox="1"/>
          <p:nvPr/>
        </p:nvSpPr>
        <p:spPr>
          <a:xfrm>
            <a:off x="347294" y="2359349"/>
            <a:ext cx="2198370" cy="555625"/>
          </a:xfrm>
          <a:prstGeom prst="rect">
            <a:avLst/>
          </a:prstGeom>
        </p:spPr>
        <p:txBody>
          <a:bodyPr vert="horz" wrap="square" lIns="0" tIns="13335" rIns="0" bIns="0" rtlCol="0">
            <a:spAutoFit/>
          </a:bodyPr>
          <a:lstStyle/>
          <a:p>
            <a:pPr marL="12700" marR="5080" indent="104775">
              <a:lnSpc>
                <a:spcPct val="123300"/>
              </a:lnSpc>
              <a:spcBef>
                <a:spcPts val="105"/>
              </a:spcBef>
              <a:buClr>
                <a:srgbClr val="005F73"/>
              </a:buClr>
              <a:buFont typeface="Times New Roman"/>
              <a:buChar char="•"/>
              <a:tabLst>
                <a:tab pos="117475" algn="l"/>
              </a:tabLst>
            </a:pPr>
            <a:r>
              <a:rPr sz="1000" spc="-10">
                <a:solidFill>
                  <a:srgbClr val="202429"/>
                </a:solidFill>
                <a:latin typeface="Tahoma"/>
                <a:cs typeface="Tahoma"/>
              </a:rPr>
              <a:t>Text</a:t>
            </a:r>
            <a:r>
              <a:rPr sz="1000" spc="-55">
                <a:solidFill>
                  <a:srgbClr val="202429"/>
                </a:solidFill>
                <a:latin typeface="Tahoma"/>
                <a:cs typeface="Tahoma"/>
              </a:rPr>
              <a:t> </a:t>
            </a:r>
            <a:r>
              <a:rPr sz="1000">
                <a:solidFill>
                  <a:srgbClr val="202429"/>
                </a:solidFill>
                <a:latin typeface="Tahoma"/>
                <a:cs typeface="Tahoma"/>
              </a:rPr>
              <a:t>is</a:t>
            </a:r>
            <a:r>
              <a:rPr sz="1000" spc="-50">
                <a:solidFill>
                  <a:srgbClr val="202429"/>
                </a:solidFill>
                <a:latin typeface="Tahoma"/>
                <a:cs typeface="Tahoma"/>
              </a:rPr>
              <a:t> </a:t>
            </a:r>
            <a:r>
              <a:rPr sz="1000" b="1" spc="-35">
                <a:solidFill>
                  <a:srgbClr val="202429"/>
                </a:solidFill>
                <a:latin typeface="Arial"/>
                <a:cs typeface="Arial"/>
              </a:rPr>
              <a:t>highlighted</a:t>
            </a:r>
            <a:r>
              <a:rPr sz="1000" b="1" spc="10">
                <a:solidFill>
                  <a:srgbClr val="202429"/>
                </a:solidFill>
                <a:latin typeface="Arial"/>
                <a:cs typeface="Arial"/>
              </a:rPr>
              <a:t> </a:t>
            </a:r>
            <a:r>
              <a:rPr sz="1000" b="1" spc="-10">
                <a:solidFill>
                  <a:srgbClr val="202429"/>
                </a:solidFill>
                <a:latin typeface="Arial"/>
                <a:cs typeface="Arial"/>
              </a:rPr>
              <a:t>by</a:t>
            </a:r>
            <a:r>
              <a:rPr sz="1000" b="1" spc="10">
                <a:solidFill>
                  <a:srgbClr val="202429"/>
                </a:solidFill>
                <a:latin typeface="Arial"/>
                <a:cs typeface="Arial"/>
              </a:rPr>
              <a:t> </a:t>
            </a:r>
            <a:r>
              <a:rPr sz="1000" b="1" spc="-10">
                <a:solidFill>
                  <a:srgbClr val="202429"/>
                </a:solidFill>
                <a:latin typeface="Arial"/>
                <a:cs typeface="Arial"/>
              </a:rPr>
              <a:t>theme </a:t>
            </a:r>
            <a:r>
              <a:rPr sz="900" spc="-25">
                <a:solidFill>
                  <a:srgbClr val="6C757C"/>
                </a:solidFill>
                <a:latin typeface="Tahoma"/>
                <a:cs typeface="Tahoma"/>
              </a:rPr>
              <a:t>Fragmented care, guidance gaps,</a:t>
            </a:r>
            <a:r>
              <a:rPr sz="900" spc="-20">
                <a:solidFill>
                  <a:srgbClr val="6C757C"/>
                </a:solidFill>
                <a:latin typeface="Tahoma"/>
                <a:cs typeface="Tahoma"/>
              </a:rPr>
              <a:t> inadequate </a:t>
            </a:r>
            <a:r>
              <a:rPr sz="900" spc="-10">
                <a:solidFill>
                  <a:srgbClr val="6C757C"/>
                </a:solidFill>
                <a:latin typeface="Tahoma"/>
                <a:cs typeface="Tahoma"/>
              </a:rPr>
              <a:t>maternity</a:t>
            </a:r>
            <a:r>
              <a:rPr sz="900" spc="-5">
                <a:solidFill>
                  <a:srgbClr val="6C757C"/>
                </a:solidFill>
                <a:latin typeface="Tahoma"/>
                <a:cs typeface="Tahoma"/>
              </a:rPr>
              <a:t> </a:t>
            </a:r>
            <a:r>
              <a:rPr sz="900" spc="-20">
                <a:solidFill>
                  <a:srgbClr val="6C757C"/>
                </a:solidFill>
                <a:latin typeface="Tahoma"/>
                <a:cs typeface="Tahoma"/>
              </a:rPr>
              <a:t>care</a:t>
            </a:r>
            <a:endParaRPr sz="900">
              <a:latin typeface="Tahoma"/>
              <a:cs typeface="Tahoma"/>
            </a:endParaRPr>
          </a:p>
        </p:txBody>
      </p:sp>
      <p:sp>
        <p:nvSpPr>
          <p:cNvPr id="5" name="object 5"/>
          <p:cNvSpPr/>
          <p:nvPr/>
        </p:nvSpPr>
        <p:spPr>
          <a:xfrm>
            <a:off x="2880004" y="2447251"/>
            <a:ext cx="0" cy="348615"/>
          </a:xfrm>
          <a:custGeom>
            <a:avLst/>
            <a:gdLst/>
            <a:ahLst/>
            <a:cxnLst/>
            <a:rect l="l" t="t" r="r" b="b"/>
            <a:pathLst>
              <a:path h="348614">
                <a:moveTo>
                  <a:pt x="0" y="348157"/>
                </a:moveTo>
                <a:lnTo>
                  <a:pt x="0" y="0"/>
                </a:lnTo>
              </a:path>
            </a:pathLst>
          </a:custGeom>
          <a:ln w="6325">
            <a:solidFill>
              <a:srgbClr val="6C757C"/>
            </a:solidFill>
          </a:ln>
        </p:spPr>
        <p:txBody>
          <a:bodyPr wrap="square" lIns="0" tIns="0" rIns="0" bIns="0" rtlCol="0"/>
          <a:lstStyle/>
          <a:p>
            <a:endParaRPr/>
          </a:p>
        </p:txBody>
      </p:sp>
      <p:sp>
        <p:nvSpPr>
          <p:cNvPr id="6" name="object 6"/>
          <p:cNvSpPr txBox="1"/>
          <p:nvPr/>
        </p:nvSpPr>
        <p:spPr>
          <a:xfrm>
            <a:off x="3018497" y="2395898"/>
            <a:ext cx="2094864" cy="499109"/>
          </a:xfrm>
          <a:prstGeom prst="rect">
            <a:avLst/>
          </a:prstGeom>
        </p:spPr>
        <p:txBody>
          <a:bodyPr vert="horz" wrap="square" lIns="0" tIns="12065" rIns="0" bIns="0" rtlCol="0">
            <a:spAutoFit/>
          </a:bodyPr>
          <a:lstStyle/>
          <a:p>
            <a:pPr marL="12700" marR="5080" indent="104775">
              <a:lnSpc>
                <a:spcPct val="100000"/>
              </a:lnSpc>
              <a:spcBef>
                <a:spcPts val="95"/>
              </a:spcBef>
              <a:buClr>
                <a:srgbClr val="005F73"/>
              </a:buClr>
              <a:buFont typeface="Times New Roman"/>
              <a:buChar char="•"/>
              <a:tabLst>
                <a:tab pos="117475" algn="l"/>
              </a:tabLst>
            </a:pPr>
            <a:r>
              <a:rPr sz="1000" spc="-10">
                <a:solidFill>
                  <a:srgbClr val="202429"/>
                </a:solidFill>
                <a:latin typeface="Tahoma"/>
                <a:cs typeface="Tahoma"/>
              </a:rPr>
              <a:t>Each</a:t>
            </a:r>
            <a:r>
              <a:rPr sz="1000" spc="-40">
                <a:solidFill>
                  <a:srgbClr val="202429"/>
                </a:solidFill>
                <a:latin typeface="Tahoma"/>
                <a:cs typeface="Tahoma"/>
              </a:rPr>
              <a:t> </a:t>
            </a:r>
            <a:r>
              <a:rPr sz="1000" spc="-30">
                <a:solidFill>
                  <a:srgbClr val="202429"/>
                </a:solidFill>
                <a:latin typeface="Tahoma"/>
                <a:cs typeface="Tahoma"/>
              </a:rPr>
              <a:t>annotation</a:t>
            </a:r>
            <a:r>
              <a:rPr sz="1000" spc="-35">
                <a:solidFill>
                  <a:srgbClr val="202429"/>
                </a:solidFill>
                <a:latin typeface="Tahoma"/>
                <a:cs typeface="Tahoma"/>
              </a:rPr>
              <a:t> </a:t>
            </a:r>
            <a:r>
              <a:rPr sz="1000" spc="-10">
                <a:solidFill>
                  <a:srgbClr val="202429"/>
                </a:solidFill>
                <a:latin typeface="Tahoma"/>
                <a:cs typeface="Tahoma"/>
              </a:rPr>
              <a:t>links</a:t>
            </a:r>
            <a:r>
              <a:rPr sz="1000" spc="-35">
                <a:solidFill>
                  <a:srgbClr val="202429"/>
                </a:solidFill>
                <a:latin typeface="Tahoma"/>
                <a:cs typeface="Tahoma"/>
              </a:rPr>
              <a:t> </a:t>
            </a:r>
            <a:r>
              <a:rPr sz="1000">
                <a:solidFill>
                  <a:srgbClr val="202429"/>
                </a:solidFill>
                <a:latin typeface="Tahoma"/>
                <a:cs typeface="Tahoma"/>
              </a:rPr>
              <a:t>to</a:t>
            </a:r>
            <a:r>
              <a:rPr sz="1000" spc="-30">
                <a:solidFill>
                  <a:srgbClr val="202429"/>
                </a:solidFill>
                <a:latin typeface="Tahoma"/>
                <a:cs typeface="Tahoma"/>
              </a:rPr>
              <a:t> </a:t>
            </a:r>
            <a:r>
              <a:rPr sz="1000" spc="-10">
                <a:solidFill>
                  <a:srgbClr val="202429"/>
                </a:solidFill>
                <a:latin typeface="Tahoma"/>
                <a:cs typeface="Tahoma"/>
              </a:rPr>
              <a:t>the</a:t>
            </a:r>
            <a:r>
              <a:rPr sz="1000" spc="-35">
                <a:solidFill>
                  <a:srgbClr val="202429"/>
                </a:solidFill>
                <a:latin typeface="Tahoma"/>
                <a:cs typeface="Tahoma"/>
              </a:rPr>
              <a:t> </a:t>
            </a:r>
            <a:r>
              <a:rPr sz="1000" b="1" spc="-35">
                <a:solidFill>
                  <a:srgbClr val="202429"/>
                </a:solidFill>
                <a:latin typeface="Arial"/>
                <a:cs typeface="Arial"/>
              </a:rPr>
              <a:t>original </a:t>
            </a:r>
            <a:r>
              <a:rPr sz="1000" b="1" spc="-10">
                <a:solidFill>
                  <a:srgbClr val="202429"/>
                </a:solidFill>
                <a:latin typeface="Arial"/>
                <a:cs typeface="Arial"/>
              </a:rPr>
              <a:t>sentence</a:t>
            </a:r>
            <a:endParaRPr sz="1000">
              <a:latin typeface="Arial"/>
              <a:cs typeface="Arial"/>
            </a:endParaRPr>
          </a:p>
          <a:p>
            <a:pPr marL="12700">
              <a:lnSpc>
                <a:spcPct val="100000"/>
              </a:lnSpc>
              <a:spcBef>
                <a:spcPts val="250"/>
              </a:spcBef>
            </a:pPr>
            <a:r>
              <a:rPr sz="900">
                <a:solidFill>
                  <a:srgbClr val="6C757C"/>
                </a:solidFill>
                <a:latin typeface="Tahoma"/>
                <a:cs typeface="Tahoma"/>
              </a:rPr>
              <a:t>Full</a:t>
            </a:r>
            <a:r>
              <a:rPr sz="900" spc="35">
                <a:solidFill>
                  <a:srgbClr val="6C757C"/>
                </a:solidFill>
                <a:latin typeface="Tahoma"/>
                <a:cs typeface="Tahoma"/>
              </a:rPr>
              <a:t> </a:t>
            </a:r>
            <a:r>
              <a:rPr sz="900" spc="-10">
                <a:solidFill>
                  <a:srgbClr val="6C757C"/>
                </a:solidFill>
                <a:latin typeface="Tahoma"/>
                <a:cs typeface="Tahoma"/>
              </a:rPr>
              <a:t>traceability</a:t>
            </a:r>
            <a:r>
              <a:rPr sz="900" spc="35">
                <a:solidFill>
                  <a:srgbClr val="6C757C"/>
                </a:solidFill>
                <a:latin typeface="Tahoma"/>
                <a:cs typeface="Tahoma"/>
              </a:rPr>
              <a:t> </a:t>
            </a:r>
            <a:r>
              <a:rPr sz="900" spc="-10">
                <a:solidFill>
                  <a:srgbClr val="6C757C"/>
                </a:solidFill>
                <a:latin typeface="Tahoma"/>
                <a:cs typeface="Tahoma"/>
              </a:rPr>
              <a:t>maintained</a:t>
            </a:r>
            <a:endParaRPr sz="900">
              <a:latin typeface="Tahoma"/>
              <a:cs typeface="Tahoma"/>
            </a:endParaRPr>
          </a:p>
        </p:txBody>
      </p:sp>
      <p:sp>
        <p:nvSpPr>
          <p:cNvPr id="7" name="object 7"/>
          <p:cNvSpPr/>
          <p:nvPr/>
        </p:nvSpPr>
        <p:spPr>
          <a:xfrm>
            <a:off x="0" y="3060028"/>
            <a:ext cx="5760085" cy="0"/>
          </a:xfrm>
          <a:custGeom>
            <a:avLst/>
            <a:gdLst/>
            <a:ahLst/>
            <a:cxnLst/>
            <a:rect l="l" t="t" r="r" b="b"/>
            <a:pathLst>
              <a:path w="5760085">
                <a:moveTo>
                  <a:pt x="0" y="0"/>
                </a:moveTo>
                <a:lnTo>
                  <a:pt x="5760073" y="0"/>
                </a:lnTo>
              </a:path>
            </a:pathLst>
          </a:custGeom>
          <a:ln w="6326">
            <a:solidFill>
              <a:srgbClr val="CED3DA"/>
            </a:solidFill>
          </a:ln>
        </p:spPr>
        <p:txBody>
          <a:bodyPr wrap="square" lIns="0" tIns="0" rIns="0" bIns="0" rtlCol="0"/>
          <a:lstStyle/>
          <a:p>
            <a:endParaRPr/>
          </a:p>
        </p:txBody>
      </p:sp>
      <p:sp>
        <p:nvSpPr>
          <p:cNvPr id="10" name="Slide Number Placeholder 9">
            <a:extLst>
              <a:ext uri="{FF2B5EF4-FFF2-40B4-BE49-F238E27FC236}">
                <a16:creationId xmlns:a16="http://schemas.microsoft.com/office/drawing/2014/main" id="{E4B8B1B9-5FDF-A233-89D4-DFFB2199E6A9}"/>
              </a:ext>
            </a:extLst>
          </p:cNvPr>
          <p:cNvSpPr>
            <a:spLocks noGrp="1"/>
          </p:cNvSpPr>
          <p:nvPr>
            <p:ph type="sldNum" sz="quarter" idx="7"/>
          </p:nvPr>
        </p:nvSpPr>
        <p:spPr>
          <a:xfrm>
            <a:off x="5301628" y="3080570"/>
            <a:ext cx="464172" cy="173989"/>
          </a:xfrm>
        </p:spPr>
        <p:txBody>
          <a:bodyPr/>
          <a:lstStyle/>
          <a:p>
            <a:pPr marL="39370">
              <a:lnSpc>
                <a:spcPct val="100000"/>
              </a:lnSpc>
              <a:spcBef>
                <a:spcPts val="219"/>
              </a:spcBef>
            </a:pPr>
            <a:fld id="{81D60167-4931-47E6-BA6A-407CBD079E47}" type="slidenum">
              <a:rPr lang="en-GB" smtClean="0"/>
              <a:t>35</a:t>
            </a:fld>
            <a:r>
              <a:rPr lang="en-GB" spc="20"/>
              <a:t> </a:t>
            </a:r>
            <a:r>
              <a:rPr lang="en-GB" spc="120"/>
              <a:t>/</a:t>
            </a:r>
            <a:r>
              <a:rPr lang="en-GB" spc="25"/>
              <a:t> </a:t>
            </a:r>
            <a:r>
              <a:rPr lang="en-GB" spc="-25"/>
              <a:t>41</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347294" y="-13844"/>
            <a:ext cx="2564130" cy="467995"/>
          </a:xfrm>
          <a:prstGeom prst="rect">
            <a:avLst/>
          </a:prstGeom>
        </p:spPr>
        <p:txBody>
          <a:bodyPr vert="horz" wrap="square" lIns="0" tIns="49530" rIns="0" bIns="0" rtlCol="0">
            <a:spAutoFit/>
          </a:bodyPr>
          <a:lstStyle/>
          <a:p>
            <a:pPr marL="12700">
              <a:lnSpc>
                <a:spcPct val="100000"/>
              </a:lnSpc>
              <a:spcBef>
                <a:spcPts val="390"/>
              </a:spcBef>
            </a:pPr>
            <a:r>
              <a:t>LENS.ai:</a:t>
            </a:r>
            <a:r>
              <a:rPr spc="250"/>
              <a:t> </a:t>
            </a:r>
            <a:r>
              <a:t>A</a:t>
            </a:r>
            <a:r>
              <a:rPr spc="95"/>
              <a:t> </a:t>
            </a:r>
            <a:r>
              <a:rPr spc="-20"/>
              <a:t>Living</a:t>
            </a:r>
            <a:r>
              <a:rPr spc="95"/>
              <a:t> </a:t>
            </a:r>
            <a:r>
              <a:rPr spc="-10"/>
              <a:t>Platform</a:t>
            </a:r>
          </a:p>
          <a:p>
            <a:pPr marL="12700">
              <a:lnSpc>
                <a:spcPct val="100000"/>
              </a:lnSpc>
              <a:spcBef>
                <a:spcPts val="195"/>
              </a:spcBef>
            </a:pPr>
            <a:r>
              <a:rPr sz="1100" b="0" spc="-20">
                <a:solidFill>
                  <a:srgbClr val="6C757C"/>
                </a:solidFill>
                <a:latin typeface="Tahoma"/>
                <a:cs typeface="Tahoma"/>
              </a:rPr>
              <a:t>From</a:t>
            </a:r>
            <a:r>
              <a:rPr sz="1100" b="0" spc="-25">
                <a:solidFill>
                  <a:srgbClr val="6C757C"/>
                </a:solidFill>
                <a:latin typeface="Tahoma"/>
                <a:cs typeface="Tahoma"/>
              </a:rPr>
              <a:t> </a:t>
            </a:r>
            <a:r>
              <a:rPr sz="1100" b="0" spc="-60">
                <a:solidFill>
                  <a:srgbClr val="6C757C"/>
                </a:solidFill>
                <a:latin typeface="Tahoma"/>
                <a:cs typeface="Tahoma"/>
              </a:rPr>
              <a:t>research</a:t>
            </a:r>
            <a:r>
              <a:rPr sz="1100" b="0" spc="-20">
                <a:solidFill>
                  <a:srgbClr val="6C757C"/>
                </a:solidFill>
                <a:latin typeface="Tahoma"/>
                <a:cs typeface="Tahoma"/>
              </a:rPr>
              <a:t> </a:t>
            </a:r>
            <a:r>
              <a:rPr sz="1100" b="0" spc="-40">
                <a:solidFill>
                  <a:srgbClr val="6C757C"/>
                </a:solidFill>
                <a:latin typeface="Tahoma"/>
                <a:cs typeface="Tahoma"/>
              </a:rPr>
              <a:t>prototype</a:t>
            </a:r>
            <a:r>
              <a:rPr sz="1100" b="0" spc="-15">
                <a:solidFill>
                  <a:srgbClr val="6C757C"/>
                </a:solidFill>
                <a:latin typeface="Tahoma"/>
                <a:cs typeface="Tahoma"/>
              </a:rPr>
              <a:t> </a:t>
            </a:r>
            <a:r>
              <a:rPr sz="1100" b="0">
                <a:solidFill>
                  <a:srgbClr val="6C757C"/>
                </a:solidFill>
                <a:latin typeface="Tahoma"/>
                <a:cs typeface="Tahoma"/>
              </a:rPr>
              <a:t>to</a:t>
            </a:r>
            <a:r>
              <a:rPr sz="1100" b="0" spc="-15">
                <a:solidFill>
                  <a:srgbClr val="6C757C"/>
                </a:solidFill>
                <a:latin typeface="Tahoma"/>
                <a:cs typeface="Tahoma"/>
              </a:rPr>
              <a:t> </a:t>
            </a:r>
            <a:r>
              <a:rPr sz="1100" b="0" spc="-35">
                <a:solidFill>
                  <a:srgbClr val="6C757C"/>
                </a:solidFill>
                <a:latin typeface="Tahoma"/>
                <a:cs typeface="Tahoma"/>
              </a:rPr>
              <a:t>operational</a:t>
            </a:r>
            <a:r>
              <a:rPr sz="1100" b="0" spc="-20">
                <a:solidFill>
                  <a:srgbClr val="6C757C"/>
                </a:solidFill>
                <a:latin typeface="Tahoma"/>
                <a:cs typeface="Tahoma"/>
              </a:rPr>
              <a:t> tool</a:t>
            </a:r>
            <a:endParaRPr sz="1100">
              <a:latin typeface="Tahoma"/>
              <a:cs typeface="Tahoma"/>
            </a:endParaRPr>
          </a:p>
        </p:txBody>
      </p:sp>
      <p:grpSp>
        <p:nvGrpSpPr>
          <p:cNvPr id="3" name="object 3"/>
          <p:cNvGrpSpPr/>
          <p:nvPr/>
        </p:nvGrpSpPr>
        <p:grpSpPr>
          <a:xfrm>
            <a:off x="2512377" y="1252055"/>
            <a:ext cx="706755" cy="706755"/>
            <a:chOff x="2512377" y="1252055"/>
            <a:chExt cx="706755" cy="706755"/>
          </a:xfrm>
        </p:grpSpPr>
        <p:sp>
          <p:nvSpPr>
            <p:cNvPr id="4" name="object 4"/>
            <p:cNvSpPr/>
            <p:nvPr/>
          </p:nvSpPr>
          <p:spPr>
            <a:xfrm>
              <a:off x="2519997" y="1259675"/>
              <a:ext cx="691515" cy="691515"/>
            </a:xfrm>
            <a:custGeom>
              <a:avLst/>
              <a:gdLst/>
              <a:ahLst/>
              <a:cxnLst/>
              <a:rect l="l" t="t" r="r" b="b"/>
              <a:pathLst>
                <a:path w="691514" h="691514">
                  <a:moveTo>
                    <a:pt x="345604" y="0"/>
                  </a:moveTo>
                  <a:lnTo>
                    <a:pt x="298707" y="3154"/>
                  </a:lnTo>
                  <a:lnTo>
                    <a:pt x="253728" y="12345"/>
                  </a:lnTo>
                  <a:lnTo>
                    <a:pt x="211078" y="27158"/>
                  </a:lnTo>
                  <a:lnTo>
                    <a:pt x="171170" y="47184"/>
                  </a:lnTo>
                  <a:lnTo>
                    <a:pt x="134414" y="72010"/>
                  </a:lnTo>
                  <a:lnTo>
                    <a:pt x="101224" y="101224"/>
                  </a:lnTo>
                  <a:lnTo>
                    <a:pt x="72010" y="134414"/>
                  </a:lnTo>
                  <a:lnTo>
                    <a:pt x="47184" y="171170"/>
                  </a:lnTo>
                  <a:lnTo>
                    <a:pt x="27158" y="211078"/>
                  </a:lnTo>
                  <a:lnTo>
                    <a:pt x="12345" y="253728"/>
                  </a:lnTo>
                  <a:lnTo>
                    <a:pt x="3154" y="298707"/>
                  </a:lnTo>
                  <a:lnTo>
                    <a:pt x="0" y="345604"/>
                  </a:lnTo>
                  <a:lnTo>
                    <a:pt x="3154" y="392501"/>
                  </a:lnTo>
                  <a:lnTo>
                    <a:pt x="12345" y="437480"/>
                  </a:lnTo>
                  <a:lnTo>
                    <a:pt x="27158" y="480130"/>
                  </a:lnTo>
                  <a:lnTo>
                    <a:pt x="47184" y="520039"/>
                  </a:lnTo>
                  <a:lnTo>
                    <a:pt x="72010" y="556794"/>
                  </a:lnTo>
                  <a:lnTo>
                    <a:pt x="101224" y="589985"/>
                  </a:lnTo>
                  <a:lnTo>
                    <a:pt x="134414" y="619199"/>
                  </a:lnTo>
                  <a:lnTo>
                    <a:pt x="171170" y="644024"/>
                  </a:lnTo>
                  <a:lnTo>
                    <a:pt x="211078" y="664050"/>
                  </a:lnTo>
                  <a:lnTo>
                    <a:pt x="253728" y="678864"/>
                  </a:lnTo>
                  <a:lnTo>
                    <a:pt x="298707" y="688054"/>
                  </a:lnTo>
                  <a:lnTo>
                    <a:pt x="345604" y="691209"/>
                  </a:lnTo>
                  <a:lnTo>
                    <a:pt x="392501" y="688054"/>
                  </a:lnTo>
                  <a:lnTo>
                    <a:pt x="437480" y="678864"/>
                  </a:lnTo>
                  <a:lnTo>
                    <a:pt x="480130" y="664050"/>
                  </a:lnTo>
                  <a:lnTo>
                    <a:pt x="520039" y="644024"/>
                  </a:lnTo>
                  <a:lnTo>
                    <a:pt x="556794" y="619199"/>
                  </a:lnTo>
                  <a:lnTo>
                    <a:pt x="589985" y="589985"/>
                  </a:lnTo>
                  <a:lnTo>
                    <a:pt x="619199" y="556794"/>
                  </a:lnTo>
                  <a:lnTo>
                    <a:pt x="644024" y="520039"/>
                  </a:lnTo>
                  <a:lnTo>
                    <a:pt x="664050" y="480130"/>
                  </a:lnTo>
                  <a:lnTo>
                    <a:pt x="678864" y="437480"/>
                  </a:lnTo>
                  <a:lnTo>
                    <a:pt x="688054" y="392501"/>
                  </a:lnTo>
                  <a:lnTo>
                    <a:pt x="691209" y="345604"/>
                  </a:lnTo>
                  <a:lnTo>
                    <a:pt x="688054" y="298707"/>
                  </a:lnTo>
                  <a:lnTo>
                    <a:pt x="678864" y="253728"/>
                  </a:lnTo>
                  <a:lnTo>
                    <a:pt x="664050" y="211078"/>
                  </a:lnTo>
                  <a:lnTo>
                    <a:pt x="644024" y="171170"/>
                  </a:lnTo>
                  <a:lnTo>
                    <a:pt x="619199" y="134414"/>
                  </a:lnTo>
                  <a:lnTo>
                    <a:pt x="589985" y="101224"/>
                  </a:lnTo>
                  <a:lnTo>
                    <a:pt x="556794" y="72010"/>
                  </a:lnTo>
                  <a:lnTo>
                    <a:pt x="520039" y="47184"/>
                  </a:lnTo>
                  <a:lnTo>
                    <a:pt x="480130" y="27158"/>
                  </a:lnTo>
                  <a:lnTo>
                    <a:pt x="437480" y="12345"/>
                  </a:lnTo>
                  <a:lnTo>
                    <a:pt x="392501" y="3154"/>
                  </a:lnTo>
                  <a:lnTo>
                    <a:pt x="345604" y="0"/>
                  </a:lnTo>
                  <a:close/>
                </a:path>
              </a:pathLst>
            </a:custGeom>
            <a:solidFill>
              <a:srgbClr val="CCDFE3"/>
            </a:solidFill>
          </p:spPr>
          <p:txBody>
            <a:bodyPr wrap="square" lIns="0" tIns="0" rIns="0" bIns="0" rtlCol="0"/>
            <a:lstStyle/>
            <a:p>
              <a:endParaRPr/>
            </a:p>
          </p:txBody>
        </p:sp>
        <p:sp>
          <p:nvSpPr>
            <p:cNvPr id="5" name="object 5"/>
            <p:cNvSpPr/>
            <p:nvPr/>
          </p:nvSpPr>
          <p:spPr>
            <a:xfrm>
              <a:off x="2519997" y="1259675"/>
              <a:ext cx="691515" cy="691515"/>
            </a:xfrm>
            <a:custGeom>
              <a:avLst/>
              <a:gdLst/>
              <a:ahLst/>
              <a:cxnLst/>
              <a:rect l="l" t="t" r="r" b="b"/>
              <a:pathLst>
                <a:path w="691514" h="691514">
                  <a:moveTo>
                    <a:pt x="691209" y="345604"/>
                  </a:moveTo>
                  <a:lnTo>
                    <a:pt x="688054" y="298707"/>
                  </a:lnTo>
                  <a:lnTo>
                    <a:pt x="678864" y="253728"/>
                  </a:lnTo>
                  <a:lnTo>
                    <a:pt x="664050" y="211078"/>
                  </a:lnTo>
                  <a:lnTo>
                    <a:pt x="644024" y="171170"/>
                  </a:lnTo>
                  <a:lnTo>
                    <a:pt x="619199" y="134414"/>
                  </a:lnTo>
                  <a:lnTo>
                    <a:pt x="589985" y="101224"/>
                  </a:lnTo>
                  <a:lnTo>
                    <a:pt x="556794" y="72010"/>
                  </a:lnTo>
                  <a:lnTo>
                    <a:pt x="520039" y="47184"/>
                  </a:lnTo>
                  <a:lnTo>
                    <a:pt x="480130" y="27158"/>
                  </a:lnTo>
                  <a:lnTo>
                    <a:pt x="437480" y="12345"/>
                  </a:lnTo>
                  <a:lnTo>
                    <a:pt x="392501" y="3154"/>
                  </a:lnTo>
                  <a:lnTo>
                    <a:pt x="345604" y="0"/>
                  </a:lnTo>
                  <a:lnTo>
                    <a:pt x="298707" y="3154"/>
                  </a:lnTo>
                  <a:lnTo>
                    <a:pt x="253728" y="12345"/>
                  </a:lnTo>
                  <a:lnTo>
                    <a:pt x="211078" y="27158"/>
                  </a:lnTo>
                  <a:lnTo>
                    <a:pt x="171170" y="47184"/>
                  </a:lnTo>
                  <a:lnTo>
                    <a:pt x="134414" y="72010"/>
                  </a:lnTo>
                  <a:lnTo>
                    <a:pt x="101224" y="101224"/>
                  </a:lnTo>
                  <a:lnTo>
                    <a:pt x="72010" y="134414"/>
                  </a:lnTo>
                  <a:lnTo>
                    <a:pt x="47184" y="171170"/>
                  </a:lnTo>
                  <a:lnTo>
                    <a:pt x="27158" y="211078"/>
                  </a:lnTo>
                  <a:lnTo>
                    <a:pt x="12345" y="253728"/>
                  </a:lnTo>
                  <a:lnTo>
                    <a:pt x="3154" y="298707"/>
                  </a:lnTo>
                  <a:lnTo>
                    <a:pt x="0" y="345604"/>
                  </a:lnTo>
                  <a:lnTo>
                    <a:pt x="3154" y="392501"/>
                  </a:lnTo>
                  <a:lnTo>
                    <a:pt x="12345" y="437480"/>
                  </a:lnTo>
                  <a:lnTo>
                    <a:pt x="27158" y="480130"/>
                  </a:lnTo>
                  <a:lnTo>
                    <a:pt x="47184" y="520039"/>
                  </a:lnTo>
                  <a:lnTo>
                    <a:pt x="72010" y="556794"/>
                  </a:lnTo>
                  <a:lnTo>
                    <a:pt x="101224" y="589985"/>
                  </a:lnTo>
                  <a:lnTo>
                    <a:pt x="134414" y="619199"/>
                  </a:lnTo>
                  <a:lnTo>
                    <a:pt x="171170" y="644024"/>
                  </a:lnTo>
                  <a:lnTo>
                    <a:pt x="211078" y="664050"/>
                  </a:lnTo>
                  <a:lnTo>
                    <a:pt x="253728" y="678864"/>
                  </a:lnTo>
                  <a:lnTo>
                    <a:pt x="298707" y="688054"/>
                  </a:lnTo>
                  <a:lnTo>
                    <a:pt x="345604" y="691209"/>
                  </a:lnTo>
                  <a:lnTo>
                    <a:pt x="392501" y="688054"/>
                  </a:lnTo>
                  <a:lnTo>
                    <a:pt x="437480" y="678864"/>
                  </a:lnTo>
                  <a:lnTo>
                    <a:pt x="480130" y="664050"/>
                  </a:lnTo>
                  <a:lnTo>
                    <a:pt x="520039" y="644024"/>
                  </a:lnTo>
                  <a:lnTo>
                    <a:pt x="556794" y="619199"/>
                  </a:lnTo>
                  <a:lnTo>
                    <a:pt x="589985" y="589985"/>
                  </a:lnTo>
                  <a:lnTo>
                    <a:pt x="619199" y="556794"/>
                  </a:lnTo>
                  <a:lnTo>
                    <a:pt x="644024" y="520039"/>
                  </a:lnTo>
                  <a:lnTo>
                    <a:pt x="664050" y="480130"/>
                  </a:lnTo>
                  <a:lnTo>
                    <a:pt x="678864" y="437480"/>
                  </a:lnTo>
                  <a:lnTo>
                    <a:pt x="688054" y="392501"/>
                  </a:lnTo>
                  <a:lnTo>
                    <a:pt x="691209" y="345604"/>
                  </a:lnTo>
                  <a:close/>
                </a:path>
              </a:pathLst>
            </a:custGeom>
            <a:ln w="15183">
              <a:solidFill>
                <a:srgbClr val="005F72"/>
              </a:solidFill>
            </a:ln>
          </p:spPr>
          <p:txBody>
            <a:bodyPr wrap="square" lIns="0" tIns="0" rIns="0" bIns="0" rtlCol="0"/>
            <a:lstStyle/>
            <a:p>
              <a:endParaRPr/>
            </a:p>
          </p:txBody>
        </p:sp>
      </p:grpSp>
      <p:sp>
        <p:nvSpPr>
          <p:cNvPr id="6" name="object 6"/>
          <p:cNvSpPr txBox="1"/>
          <p:nvPr/>
        </p:nvSpPr>
        <p:spPr>
          <a:xfrm>
            <a:off x="2647081" y="1520229"/>
            <a:ext cx="436880" cy="158750"/>
          </a:xfrm>
          <a:prstGeom prst="rect">
            <a:avLst/>
          </a:prstGeom>
        </p:spPr>
        <p:txBody>
          <a:bodyPr vert="horz" wrap="square" lIns="0" tIns="15240" rIns="0" bIns="0" rtlCol="0">
            <a:spAutoFit/>
          </a:bodyPr>
          <a:lstStyle/>
          <a:p>
            <a:pPr marL="12700">
              <a:lnSpc>
                <a:spcPct val="100000"/>
              </a:lnSpc>
              <a:spcBef>
                <a:spcPts val="120"/>
              </a:spcBef>
            </a:pPr>
            <a:r>
              <a:rPr sz="850" b="1" spc="-10">
                <a:solidFill>
                  <a:srgbClr val="202528"/>
                </a:solidFill>
                <a:latin typeface="Arial"/>
                <a:cs typeface="Arial"/>
              </a:rPr>
              <a:t>LENS.ai</a:t>
            </a:r>
            <a:endParaRPr sz="850">
              <a:latin typeface="Arial"/>
              <a:cs typeface="Arial"/>
            </a:endParaRPr>
          </a:p>
        </p:txBody>
      </p:sp>
      <p:grpSp>
        <p:nvGrpSpPr>
          <p:cNvPr id="7" name="object 7"/>
          <p:cNvGrpSpPr/>
          <p:nvPr/>
        </p:nvGrpSpPr>
        <p:grpSpPr>
          <a:xfrm>
            <a:off x="1239555" y="808187"/>
            <a:ext cx="833119" cy="442595"/>
            <a:chOff x="1239555" y="808187"/>
            <a:chExt cx="833119" cy="442595"/>
          </a:xfrm>
        </p:grpSpPr>
        <p:sp>
          <p:nvSpPr>
            <p:cNvPr id="8" name="object 8"/>
            <p:cNvSpPr/>
            <p:nvPr/>
          </p:nvSpPr>
          <p:spPr>
            <a:xfrm>
              <a:off x="1244635" y="813267"/>
              <a:ext cx="822960" cy="432434"/>
            </a:xfrm>
            <a:custGeom>
              <a:avLst/>
              <a:gdLst/>
              <a:ahLst/>
              <a:cxnLst/>
              <a:rect l="l" t="t" r="r" b="b"/>
              <a:pathLst>
                <a:path w="822960" h="432434">
                  <a:moveTo>
                    <a:pt x="746781" y="0"/>
                  </a:moveTo>
                  <a:lnTo>
                    <a:pt x="75916" y="0"/>
                  </a:lnTo>
                  <a:lnTo>
                    <a:pt x="46365" y="5965"/>
                  </a:lnTo>
                  <a:lnTo>
                    <a:pt x="22235" y="22235"/>
                  </a:lnTo>
                  <a:lnTo>
                    <a:pt x="5965" y="46366"/>
                  </a:lnTo>
                  <a:lnTo>
                    <a:pt x="0" y="75916"/>
                  </a:lnTo>
                  <a:lnTo>
                    <a:pt x="0" y="356090"/>
                  </a:lnTo>
                  <a:lnTo>
                    <a:pt x="5965" y="385640"/>
                  </a:lnTo>
                  <a:lnTo>
                    <a:pt x="22235" y="409771"/>
                  </a:lnTo>
                  <a:lnTo>
                    <a:pt x="46365" y="426040"/>
                  </a:lnTo>
                  <a:lnTo>
                    <a:pt x="75916" y="432006"/>
                  </a:lnTo>
                  <a:lnTo>
                    <a:pt x="746781" y="432006"/>
                  </a:lnTo>
                  <a:lnTo>
                    <a:pt x="776331" y="426040"/>
                  </a:lnTo>
                  <a:lnTo>
                    <a:pt x="800462" y="409771"/>
                  </a:lnTo>
                  <a:lnTo>
                    <a:pt x="816731" y="385640"/>
                  </a:lnTo>
                  <a:lnTo>
                    <a:pt x="822697" y="356090"/>
                  </a:lnTo>
                  <a:lnTo>
                    <a:pt x="822697" y="75916"/>
                  </a:lnTo>
                  <a:lnTo>
                    <a:pt x="816731" y="46366"/>
                  </a:lnTo>
                  <a:lnTo>
                    <a:pt x="800462" y="22235"/>
                  </a:lnTo>
                  <a:lnTo>
                    <a:pt x="776331" y="5965"/>
                  </a:lnTo>
                  <a:lnTo>
                    <a:pt x="746781" y="0"/>
                  </a:lnTo>
                  <a:close/>
                </a:path>
              </a:pathLst>
            </a:custGeom>
            <a:solidFill>
              <a:srgbClr val="EAF2F3"/>
            </a:solidFill>
          </p:spPr>
          <p:txBody>
            <a:bodyPr wrap="square" lIns="0" tIns="0" rIns="0" bIns="0" rtlCol="0"/>
            <a:lstStyle/>
            <a:p>
              <a:endParaRPr/>
            </a:p>
          </p:txBody>
        </p:sp>
        <p:sp>
          <p:nvSpPr>
            <p:cNvPr id="9" name="object 9"/>
            <p:cNvSpPr/>
            <p:nvPr/>
          </p:nvSpPr>
          <p:spPr>
            <a:xfrm>
              <a:off x="1244635" y="813267"/>
              <a:ext cx="822960" cy="432434"/>
            </a:xfrm>
            <a:custGeom>
              <a:avLst/>
              <a:gdLst/>
              <a:ahLst/>
              <a:cxnLst/>
              <a:rect l="l" t="t" r="r" b="b"/>
              <a:pathLst>
                <a:path w="822960" h="432434">
                  <a:moveTo>
                    <a:pt x="746781" y="0"/>
                  </a:moveTo>
                  <a:lnTo>
                    <a:pt x="75916" y="0"/>
                  </a:lnTo>
                  <a:lnTo>
                    <a:pt x="46365" y="5965"/>
                  </a:lnTo>
                  <a:lnTo>
                    <a:pt x="22235" y="22235"/>
                  </a:lnTo>
                  <a:lnTo>
                    <a:pt x="5965" y="46366"/>
                  </a:lnTo>
                  <a:lnTo>
                    <a:pt x="0" y="75916"/>
                  </a:lnTo>
                  <a:lnTo>
                    <a:pt x="0" y="356090"/>
                  </a:lnTo>
                  <a:lnTo>
                    <a:pt x="5965" y="385640"/>
                  </a:lnTo>
                  <a:lnTo>
                    <a:pt x="22235" y="409771"/>
                  </a:lnTo>
                  <a:lnTo>
                    <a:pt x="46365" y="426040"/>
                  </a:lnTo>
                  <a:lnTo>
                    <a:pt x="75916" y="432006"/>
                  </a:lnTo>
                  <a:lnTo>
                    <a:pt x="746781" y="432006"/>
                  </a:lnTo>
                  <a:lnTo>
                    <a:pt x="776331" y="426040"/>
                  </a:lnTo>
                  <a:lnTo>
                    <a:pt x="800462" y="409771"/>
                  </a:lnTo>
                  <a:lnTo>
                    <a:pt x="816731" y="385640"/>
                  </a:lnTo>
                  <a:lnTo>
                    <a:pt x="822697" y="356090"/>
                  </a:lnTo>
                  <a:lnTo>
                    <a:pt x="822697" y="75916"/>
                  </a:lnTo>
                  <a:lnTo>
                    <a:pt x="816731" y="46366"/>
                  </a:lnTo>
                  <a:lnTo>
                    <a:pt x="800462" y="22235"/>
                  </a:lnTo>
                  <a:lnTo>
                    <a:pt x="776331" y="5965"/>
                  </a:lnTo>
                  <a:lnTo>
                    <a:pt x="746781" y="0"/>
                  </a:lnTo>
                  <a:close/>
                </a:path>
              </a:pathLst>
            </a:custGeom>
            <a:ln w="10122">
              <a:solidFill>
                <a:srgbClr val="005F72"/>
              </a:solidFill>
            </a:ln>
          </p:spPr>
          <p:txBody>
            <a:bodyPr wrap="square" lIns="0" tIns="0" rIns="0" bIns="0" rtlCol="0"/>
            <a:lstStyle/>
            <a:p>
              <a:endParaRPr/>
            </a:p>
          </p:txBody>
        </p:sp>
      </p:grpSp>
      <p:sp>
        <p:nvSpPr>
          <p:cNvPr id="10" name="object 10"/>
          <p:cNvSpPr txBox="1"/>
          <p:nvPr/>
        </p:nvSpPr>
        <p:spPr>
          <a:xfrm>
            <a:off x="1318130" y="647729"/>
            <a:ext cx="675640" cy="554355"/>
          </a:xfrm>
          <a:prstGeom prst="rect">
            <a:avLst/>
          </a:prstGeom>
        </p:spPr>
        <p:txBody>
          <a:bodyPr vert="horz" wrap="square" lIns="0" tIns="17145" rIns="0" bIns="0" rtlCol="0">
            <a:spAutoFit/>
          </a:bodyPr>
          <a:lstStyle/>
          <a:p>
            <a:pPr marL="71755">
              <a:lnSpc>
                <a:spcPct val="100000"/>
              </a:lnSpc>
              <a:spcBef>
                <a:spcPts val="135"/>
              </a:spcBef>
            </a:pPr>
            <a:r>
              <a:rPr sz="600" b="1" spc="10">
                <a:solidFill>
                  <a:srgbClr val="005F73"/>
                </a:solidFill>
                <a:latin typeface="Arial"/>
                <a:cs typeface="Arial"/>
              </a:rPr>
              <a:t>STARTED</a:t>
            </a:r>
            <a:r>
              <a:rPr sz="600" b="1" spc="229">
                <a:solidFill>
                  <a:srgbClr val="005F73"/>
                </a:solidFill>
                <a:latin typeface="Arial"/>
                <a:cs typeface="Arial"/>
              </a:rPr>
              <a:t> </a:t>
            </a:r>
            <a:r>
              <a:rPr sz="600" b="1" spc="-25">
                <a:solidFill>
                  <a:srgbClr val="005F73"/>
                </a:solidFill>
                <a:latin typeface="Arial"/>
                <a:cs typeface="Arial"/>
              </a:rPr>
              <a:t>AS</a:t>
            </a:r>
            <a:endParaRPr sz="600">
              <a:latin typeface="Arial"/>
              <a:cs typeface="Arial"/>
            </a:endParaRPr>
          </a:p>
          <a:p>
            <a:pPr marL="12700">
              <a:lnSpc>
                <a:spcPct val="100000"/>
              </a:lnSpc>
              <a:spcBef>
                <a:spcPts val="645"/>
              </a:spcBef>
            </a:pPr>
            <a:r>
              <a:rPr sz="800" b="1" spc="-45">
                <a:solidFill>
                  <a:srgbClr val="202528"/>
                </a:solidFill>
                <a:latin typeface="Arial"/>
                <a:cs typeface="Arial"/>
              </a:rPr>
              <a:t>Research</a:t>
            </a:r>
            <a:r>
              <a:rPr sz="800" b="1" spc="-15">
                <a:solidFill>
                  <a:srgbClr val="202528"/>
                </a:solidFill>
                <a:latin typeface="Arial"/>
                <a:cs typeface="Arial"/>
              </a:rPr>
              <a:t> </a:t>
            </a:r>
            <a:r>
              <a:rPr sz="800" b="1" spc="-20">
                <a:solidFill>
                  <a:srgbClr val="202528"/>
                </a:solidFill>
                <a:latin typeface="Arial"/>
                <a:cs typeface="Arial"/>
              </a:rPr>
              <a:t>Tool</a:t>
            </a:r>
            <a:endParaRPr sz="800">
              <a:latin typeface="Arial"/>
              <a:cs typeface="Arial"/>
            </a:endParaRPr>
          </a:p>
          <a:p>
            <a:pPr marL="30480">
              <a:lnSpc>
                <a:spcPct val="100000"/>
              </a:lnSpc>
              <a:spcBef>
                <a:spcPts val="120"/>
              </a:spcBef>
            </a:pPr>
            <a:r>
              <a:rPr sz="600">
                <a:solidFill>
                  <a:srgbClr val="202528"/>
                </a:solidFill>
                <a:latin typeface="Tahoma"/>
                <a:cs typeface="Tahoma"/>
              </a:rPr>
              <a:t>Proof</a:t>
            </a:r>
            <a:r>
              <a:rPr sz="600" spc="175">
                <a:solidFill>
                  <a:srgbClr val="202528"/>
                </a:solidFill>
                <a:latin typeface="Tahoma"/>
                <a:cs typeface="Tahoma"/>
              </a:rPr>
              <a:t> </a:t>
            </a:r>
            <a:r>
              <a:rPr sz="600">
                <a:solidFill>
                  <a:srgbClr val="202528"/>
                </a:solidFill>
                <a:latin typeface="Tahoma"/>
                <a:cs typeface="Tahoma"/>
              </a:rPr>
              <a:t>of</a:t>
            </a:r>
            <a:r>
              <a:rPr sz="600" spc="175">
                <a:solidFill>
                  <a:srgbClr val="202528"/>
                </a:solidFill>
                <a:latin typeface="Tahoma"/>
                <a:cs typeface="Tahoma"/>
              </a:rPr>
              <a:t> </a:t>
            </a:r>
            <a:r>
              <a:rPr sz="600" spc="-10">
                <a:solidFill>
                  <a:srgbClr val="202528"/>
                </a:solidFill>
                <a:latin typeface="Tahoma"/>
                <a:cs typeface="Tahoma"/>
              </a:rPr>
              <a:t>concept</a:t>
            </a:r>
            <a:endParaRPr sz="600">
              <a:latin typeface="Tahoma"/>
              <a:cs typeface="Tahoma"/>
            </a:endParaRPr>
          </a:p>
          <a:p>
            <a:pPr marL="35560">
              <a:lnSpc>
                <a:spcPct val="100000"/>
              </a:lnSpc>
              <a:spcBef>
                <a:spcPts val="235"/>
              </a:spcBef>
            </a:pPr>
            <a:r>
              <a:rPr sz="600">
                <a:solidFill>
                  <a:srgbClr val="202528"/>
                </a:solidFill>
                <a:latin typeface="Tahoma"/>
                <a:cs typeface="Tahoma"/>
              </a:rPr>
              <a:t>for</a:t>
            </a:r>
            <a:r>
              <a:rPr sz="600" spc="90">
                <a:solidFill>
                  <a:srgbClr val="202528"/>
                </a:solidFill>
                <a:latin typeface="Tahoma"/>
                <a:cs typeface="Tahoma"/>
              </a:rPr>
              <a:t> </a:t>
            </a:r>
            <a:r>
              <a:rPr sz="600" spc="80">
                <a:solidFill>
                  <a:srgbClr val="202528"/>
                </a:solidFill>
                <a:latin typeface="Tahoma"/>
                <a:cs typeface="Tahoma"/>
              </a:rPr>
              <a:t>PFD</a:t>
            </a:r>
            <a:r>
              <a:rPr sz="600" spc="95">
                <a:solidFill>
                  <a:srgbClr val="202528"/>
                </a:solidFill>
                <a:latin typeface="Tahoma"/>
                <a:cs typeface="Tahoma"/>
              </a:rPr>
              <a:t> </a:t>
            </a:r>
            <a:r>
              <a:rPr sz="600" spc="-10">
                <a:solidFill>
                  <a:srgbClr val="202528"/>
                </a:solidFill>
                <a:latin typeface="Tahoma"/>
                <a:cs typeface="Tahoma"/>
              </a:rPr>
              <a:t>analysis</a:t>
            </a:r>
            <a:endParaRPr sz="600">
              <a:latin typeface="Tahoma"/>
              <a:cs typeface="Tahoma"/>
            </a:endParaRPr>
          </a:p>
        </p:txBody>
      </p:sp>
      <p:grpSp>
        <p:nvGrpSpPr>
          <p:cNvPr id="11" name="object 11"/>
          <p:cNvGrpSpPr/>
          <p:nvPr/>
        </p:nvGrpSpPr>
        <p:grpSpPr>
          <a:xfrm>
            <a:off x="3658792" y="719010"/>
            <a:ext cx="833119" cy="621030"/>
            <a:chOff x="3658792" y="719010"/>
            <a:chExt cx="833119" cy="621030"/>
          </a:xfrm>
        </p:grpSpPr>
        <p:sp>
          <p:nvSpPr>
            <p:cNvPr id="12" name="object 12"/>
            <p:cNvSpPr/>
            <p:nvPr/>
          </p:nvSpPr>
          <p:spPr>
            <a:xfrm>
              <a:off x="3663872" y="724090"/>
              <a:ext cx="822960" cy="610870"/>
            </a:xfrm>
            <a:custGeom>
              <a:avLst/>
              <a:gdLst/>
              <a:ahLst/>
              <a:cxnLst/>
              <a:rect l="l" t="t" r="r" b="b"/>
              <a:pathLst>
                <a:path w="822960" h="610869">
                  <a:moveTo>
                    <a:pt x="746781" y="0"/>
                  </a:moveTo>
                  <a:lnTo>
                    <a:pt x="75916" y="0"/>
                  </a:lnTo>
                  <a:lnTo>
                    <a:pt x="46366" y="5965"/>
                  </a:lnTo>
                  <a:lnTo>
                    <a:pt x="22235" y="22235"/>
                  </a:lnTo>
                  <a:lnTo>
                    <a:pt x="5965" y="46365"/>
                  </a:lnTo>
                  <a:lnTo>
                    <a:pt x="0" y="75916"/>
                  </a:lnTo>
                  <a:lnTo>
                    <a:pt x="0" y="534444"/>
                  </a:lnTo>
                  <a:lnTo>
                    <a:pt x="5965" y="563994"/>
                  </a:lnTo>
                  <a:lnTo>
                    <a:pt x="22235" y="588125"/>
                  </a:lnTo>
                  <a:lnTo>
                    <a:pt x="46366" y="604394"/>
                  </a:lnTo>
                  <a:lnTo>
                    <a:pt x="75916" y="610360"/>
                  </a:lnTo>
                  <a:lnTo>
                    <a:pt x="746781" y="610360"/>
                  </a:lnTo>
                  <a:lnTo>
                    <a:pt x="776331" y="604394"/>
                  </a:lnTo>
                  <a:lnTo>
                    <a:pt x="800462" y="588125"/>
                  </a:lnTo>
                  <a:lnTo>
                    <a:pt x="816732" y="563994"/>
                  </a:lnTo>
                  <a:lnTo>
                    <a:pt x="822697" y="534444"/>
                  </a:lnTo>
                  <a:lnTo>
                    <a:pt x="822697" y="75916"/>
                  </a:lnTo>
                  <a:lnTo>
                    <a:pt x="816732" y="46365"/>
                  </a:lnTo>
                  <a:lnTo>
                    <a:pt x="800462" y="22235"/>
                  </a:lnTo>
                  <a:lnTo>
                    <a:pt x="776331" y="5965"/>
                  </a:lnTo>
                  <a:lnTo>
                    <a:pt x="746781" y="0"/>
                  </a:lnTo>
                  <a:close/>
                </a:path>
              </a:pathLst>
            </a:custGeom>
            <a:solidFill>
              <a:srgbClr val="EAF2F3"/>
            </a:solidFill>
          </p:spPr>
          <p:txBody>
            <a:bodyPr wrap="square" lIns="0" tIns="0" rIns="0" bIns="0" rtlCol="0"/>
            <a:lstStyle/>
            <a:p>
              <a:endParaRPr/>
            </a:p>
          </p:txBody>
        </p:sp>
        <p:sp>
          <p:nvSpPr>
            <p:cNvPr id="13" name="object 13"/>
            <p:cNvSpPr/>
            <p:nvPr/>
          </p:nvSpPr>
          <p:spPr>
            <a:xfrm>
              <a:off x="3663872" y="724090"/>
              <a:ext cx="822960" cy="610870"/>
            </a:xfrm>
            <a:custGeom>
              <a:avLst/>
              <a:gdLst/>
              <a:ahLst/>
              <a:cxnLst/>
              <a:rect l="l" t="t" r="r" b="b"/>
              <a:pathLst>
                <a:path w="822960" h="610869">
                  <a:moveTo>
                    <a:pt x="746781" y="0"/>
                  </a:moveTo>
                  <a:lnTo>
                    <a:pt x="75916" y="0"/>
                  </a:lnTo>
                  <a:lnTo>
                    <a:pt x="46366" y="5965"/>
                  </a:lnTo>
                  <a:lnTo>
                    <a:pt x="22235" y="22235"/>
                  </a:lnTo>
                  <a:lnTo>
                    <a:pt x="5965" y="46365"/>
                  </a:lnTo>
                  <a:lnTo>
                    <a:pt x="0" y="75916"/>
                  </a:lnTo>
                  <a:lnTo>
                    <a:pt x="0" y="534444"/>
                  </a:lnTo>
                  <a:lnTo>
                    <a:pt x="5965" y="563994"/>
                  </a:lnTo>
                  <a:lnTo>
                    <a:pt x="22235" y="588125"/>
                  </a:lnTo>
                  <a:lnTo>
                    <a:pt x="46366" y="604394"/>
                  </a:lnTo>
                  <a:lnTo>
                    <a:pt x="75916" y="610360"/>
                  </a:lnTo>
                  <a:lnTo>
                    <a:pt x="746781" y="610360"/>
                  </a:lnTo>
                  <a:lnTo>
                    <a:pt x="776331" y="604394"/>
                  </a:lnTo>
                  <a:lnTo>
                    <a:pt x="800462" y="588125"/>
                  </a:lnTo>
                  <a:lnTo>
                    <a:pt x="816732" y="563994"/>
                  </a:lnTo>
                  <a:lnTo>
                    <a:pt x="822697" y="534444"/>
                  </a:lnTo>
                  <a:lnTo>
                    <a:pt x="822697" y="75916"/>
                  </a:lnTo>
                  <a:lnTo>
                    <a:pt x="816732" y="46365"/>
                  </a:lnTo>
                  <a:lnTo>
                    <a:pt x="800462" y="22235"/>
                  </a:lnTo>
                  <a:lnTo>
                    <a:pt x="776331" y="5965"/>
                  </a:lnTo>
                  <a:lnTo>
                    <a:pt x="746781" y="0"/>
                  </a:lnTo>
                  <a:close/>
                </a:path>
              </a:pathLst>
            </a:custGeom>
            <a:ln w="10122">
              <a:solidFill>
                <a:srgbClr val="005F72"/>
              </a:solidFill>
            </a:ln>
          </p:spPr>
          <p:txBody>
            <a:bodyPr wrap="square" lIns="0" tIns="0" rIns="0" bIns="0" rtlCol="0"/>
            <a:lstStyle/>
            <a:p>
              <a:endParaRPr/>
            </a:p>
          </p:txBody>
        </p:sp>
      </p:grpSp>
      <p:sp>
        <p:nvSpPr>
          <p:cNvPr id="14" name="object 14"/>
          <p:cNvSpPr txBox="1"/>
          <p:nvPr/>
        </p:nvSpPr>
        <p:spPr>
          <a:xfrm>
            <a:off x="3709771" y="509205"/>
            <a:ext cx="731520" cy="802005"/>
          </a:xfrm>
          <a:prstGeom prst="rect">
            <a:avLst/>
          </a:prstGeom>
        </p:spPr>
        <p:txBody>
          <a:bodyPr vert="horz" wrap="square" lIns="0" tIns="66675" rIns="0" bIns="0" rtlCol="0">
            <a:spAutoFit/>
          </a:bodyPr>
          <a:lstStyle/>
          <a:p>
            <a:pPr algn="ctr">
              <a:lnSpc>
                <a:spcPct val="100000"/>
              </a:lnSpc>
              <a:spcBef>
                <a:spcPts val="525"/>
              </a:spcBef>
            </a:pPr>
            <a:r>
              <a:rPr sz="600" b="1" spc="60">
                <a:solidFill>
                  <a:srgbClr val="005F73"/>
                </a:solidFill>
                <a:latin typeface="Arial"/>
                <a:cs typeface="Arial"/>
              </a:rPr>
              <a:t>NOW</a:t>
            </a:r>
            <a:r>
              <a:rPr sz="600" b="1" spc="125">
                <a:solidFill>
                  <a:srgbClr val="005F73"/>
                </a:solidFill>
                <a:latin typeface="Arial"/>
                <a:cs typeface="Arial"/>
              </a:rPr>
              <a:t> </a:t>
            </a:r>
            <a:r>
              <a:rPr sz="600" b="1">
                <a:solidFill>
                  <a:srgbClr val="005F73"/>
                </a:solidFill>
                <a:latin typeface="Arial"/>
                <a:cs typeface="Arial"/>
              </a:rPr>
              <a:t>USED</a:t>
            </a:r>
            <a:r>
              <a:rPr sz="600" b="1" spc="125">
                <a:solidFill>
                  <a:srgbClr val="005F73"/>
                </a:solidFill>
                <a:latin typeface="Arial"/>
                <a:cs typeface="Arial"/>
              </a:rPr>
              <a:t> </a:t>
            </a:r>
            <a:r>
              <a:rPr sz="600" b="1" spc="-25">
                <a:solidFill>
                  <a:srgbClr val="005F73"/>
                </a:solidFill>
                <a:latin typeface="Arial"/>
                <a:cs typeface="Arial"/>
              </a:rPr>
              <a:t>BY</a:t>
            </a:r>
            <a:endParaRPr sz="600">
              <a:latin typeface="Arial"/>
              <a:cs typeface="Arial"/>
            </a:endParaRPr>
          </a:p>
          <a:p>
            <a:pPr marL="75565" marR="67310" algn="ctr">
              <a:lnSpc>
                <a:spcPct val="105600"/>
              </a:lnSpc>
              <a:spcBef>
                <a:spcPts val="434"/>
              </a:spcBef>
            </a:pPr>
            <a:r>
              <a:rPr sz="800" b="1">
                <a:solidFill>
                  <a:srgbClr val="202528"/>
                </a:solidFill>
                <a:latin typeface="Arial"/>
                <a:cs typeface="Arial"/>
              </a:rPr>
              <a:t>HSSIB</a:t>
            </a:r>
            <a:r>
              <a:rPr sz="800" b="1" spc="-55">
                <a:solidFill>
                  <a:srgbClr val="202528"/>
                </a:solidFill>
                <a:latin typeface="Arial"/>
                <a:cs typeface="Arial"/>
              </a:rPr>
              <a:t> </a:t>
            </a:r>
            <a:r>
              <a:rPr sz="800" b="1" spc="-10">
                <a:solidFill>
                  <a:srgbClr val="202528"/>
                </a:solidFill>
                <a:latin typeface="Arial"/>
                <a:cs typeface="Arial"/>
              </a:rPr>
              <a:t>Part-nership </a:t>
            </a:r>
            <a:r>
              <a:rPr sz="600" spc="-10">
                <a:solidFill>
                  <a:srgbClr val="202528"/>
                </a:solidFill>
                <a:latin typeface="Tahoma"/>
                <a:cs typeface="Tahoma"/>
              </a:rPr>
              <a:t>Supporting</a:t>
            </a:r>
            <a:r>
              <a:rPr sz="600" spc="500">
                <a:solidFill>
                  <a:srgbClr val="202528"/>
                </a:solidFill>
                <a:latin typeface="Tahoma"/>
                <a:cs typeface="Tahoma"/>
              </a:rPr>
              <a:t> </a:t>
            </a:r>
            <a:r>
              <a:rPr sz="600" spc="-10">
                <a:solidFill>
                  <a:srgbClr val="202528"/>
                </a:solidFill>
                <a:latin typeface="Tahoma"/>
                <a:cs typeface="Tahoma"/>
              </a:rPr>
              <a:t>annotation</a:t>
            </a:r>
            <a:endParaRPr sz="600">
              <a:latin typeface="Tahoma"/>
              <a:cs typeface="Tahoma"/>
            </a:endParaRPr>
          </a:p>
          <a:p>
            <a:pPr algn="ctr">
              <a:lnSpc>
                <a:spcPct val="100000"/>
              </a:lnSpc>
              <a:spcBef>
                <a:spcPts val="235"/>
              </a:spcBef>
            </a:pPr>
            <a:r>
              <a:rPr sz="600">
                <a:solidFill>
                  <a:srgbClr val="202528"/>
                </a:solidFill>
                <a:latin typeface="Tahoma"/>
                <a:cs typeface="Tahoma"/>
              </a:rPr>
              <a:t>of</a:t>
            </a:r>
            <a:r>
              <a:rPr sz="600" spc="145">
                <a:solidFill>
                  <a:srgbClr val="202528"/>
                </a:solidFill>
                <a:latin typeface="Tahoma"/>
                <a:cs typeface="Tahoma"/>
              </a:rPr>
              <a:t> </a:t>
            </a:r>
            <a:r>
              <a:rPr sz="600">
                <a:solidFill>
                  <a:srgbClr val="202528"/>
                </a:solidFill>
                <a:latin typeface="Tahoma"/>
                <a:cs typeface="Tahoma"/>
              </a:rPr>
              <a:t>coroners’</a:t>
            </a:r>
            <a:r>
              <a:rPr sz="600" spc="150">
                <a:solidFill>
                  <a:srgbClr val="202528"/>
                </a:solidFill>
                <a:latin typeface="Tahoma"/>
                <a:cs typeface="Tahoma"/>
              </a:rPr>
              <a:t> </a:t>
            </a:r>
            <a:r>
              <a:rPr sz="600" spc="-10">
                <a:solidFill>
                  <a:srgbClr val="202528"/>
                </a:solidFill>
                <a:latin typeface="Tahoma"/>
                <a:cs typeface="Tahoma"/>
              </a:rPr>
              <a:t>reports</a:t>
            </a:r>
            <a:endParaRPr sz="600">
              <a:latin typeface="Tahoma"/>
              <a:cs typeface="Tahoma"/>
            </a:endParaRPr>
          </a:p>
        </p:txBody>
      </p:sp>
      <p:grpSp>
        <p:nvGrpSpPr>
          <p:cNvPr id="15" name="object 15"/>
          <p:cNvGrpSpPr/>
          <p:nvPr/>
        </p:nvGrpSpPr>
        <p:grpSpPr>
          <a:xfrm>
            <a:off x="3629992" y="1945804"/>
            <a:ext cx="890905" cy="586740"/>
            <a:chOff x="3629992" y="1945804"/>
            <a:chExt cx="890905" cy="586740"/>
          </a:xfrm>
        </p:grpSpPr>
        <p:sp>
          <p:nvSpPr>
            <p:cNvPr id="16" name="object 16"/>
            <p:cNvSpPr/>
            <p:nvPr/>
          </p:nvSpPr>
          <p:spPr>
            <a:xfrm>
              <a:off x="3635072" y="1950884"/>
              <a:ext cx="880744" cy="576580"/>
            </a:xfrm>
            <a:custGeom>
              <a:avLst/>
              <a:gdLst/>
              <a:ahLst/>
              <a:cxnLst/>
              <a:rect l="l" t="t" r="r" b="b"/>
              <a:pathLst>
                <a:path w="880745" h="576580">
                  <a:moveTo>
                    <a:pt x="804381" y="0"/>
                  </a:moveTo>
                  <a:lnTo>
                    <a:pt x="75916" y="0"/>
                  </a:lnTo>
                  <a:lnTo>
                    <a:pt x="46365" y="5965"/>
                  </a:lnTo>
                  <a:lnTo>
                    <a:pt x="22235" y="22235"/>
                  </a:lnTo>
                  <a:lnTo>
                    <a:pt x="5965" y="46365"/>
                  </a:lnTo>
                  <a:lnTo>
                    <a:pt x="0" y="75916"/>
                  </a:lnTo>
                  <a:lnTo>
                    <a:pt x="0" y="500092"/>
                  </a:lnTo>
                  <a:lnTo>
                    <a:pt x="5965" y="529642"/>
                  </a:lnTo>
                  <a:lnTo>
                    <a:pt x="22235" y="553773"/>
                  </a:lnTo>
                  <a:lnTo>
                    <a:pt x="46365" y="570043"/>
                  </a:lnTo>
                  <a:lnTo>
                    <a:pt x="75916" y="576009"/>
                  </a:lnTo>
                  <a:lnTo>
                    <a:pt x="804381" y="576009"/>
                  </a:lnTo>
                  <a:lnTo>
                    <a:pt x="833931" y="570043"/>
                  </a:lnTo>
                  <a:lnTo>
                    <a:pt x="858062" y="553773"/>
                  </a:lnTo>
                  <a:lnTo>
                    <a:pt x="874332" y="529642"/>
                  </a:lnTo>
                  <a:lnTo>
                    <a:pt x="880297" y="500092"/>
                  </a:lnTo>
                  <a:lnTo>
                    <a:pt x="880297" y="75916"/>
                  </a:lnTo>
                  <a:lnTo>
                    <a:pt x="874332" y="46365"/>
                  </a:lnTo>
                  <a:lnTo>
                    <a:pt x="858062" y="22235"/>
                  </a:lnTo>
                  <a:lnTo>
                    <a:pt x="833931" y="5965"/>
                  </a:lnTo>
                  <a:lnTo>
                    <a:pt x="804381" y="0"/>
                  </a:lnTo>
                  <a:close/>
                </a:path>
              </a:pathLst>
            </a:custGeom>
            <a:solidFill>
              <a:srgbClr val="EAF2F3"/>
            </a:solidFill>
          </p:spPr>
          <p:txBody>
            <a:bodyPr wrap="square" lIns="0" tIns="0" rIns="0" bIns="0" rtlCol="0"/>
            <a:lstStyle/>
            <a:p>
              <a:endParaRPr/>
            </a:p>
          </p:txBody>
        </p:sp>
        <p:sp>
          <p:nvSpPr>
            <p:cNvPr id="17" name="object 17"/>
            <p:cNvSpPr/>
            <p:nvPr/>
          </p:nvSpPr>
          <p:spPr>
            <a:xfrm>
              <a:off x="3635072" y="1950884"/>
              <a:ext cx="880744" cy="576580"/>
            </a:xfrm>
            <a:custGeom>
              <a:avLst/>
              <a:gdLst/>
              <a:ahLst/>
              <a:cxnLst/>
              <a:rect l="l" t="t" r="r" b="b"/>
              <a:pathLst>
                <a:path w="880745" h="576580">
                  <a:moveTo>
                    <a:pt x="804381" y="0"/>
                  </a:moveTo>
                  <a:lnTo>
                    <a:pt x="75916" y="0"/>
                  </a:lnTo>
                  <a:lnTo>
                    <a:pt x="46365" y="5965"/>
                  </a:lnTo>
                  <a:lnTo>
                    <a:pt x="22235" y="22235"/>
                  </a:lnTo>
                  <a:lnTo>
                    <a:pt x="5965" y="46365"/>
                  </a:lnTo>
                  <a:lnTo>
                    <a:pt x="0" y="75916"/>
                  </a:lnTo>
                  <a:lnTo>
                    <a:pt x="0" y="500092"/>
                  </a:lnTo>
                  <a:lnTo>
                    <a:pt x="5965" y="529642"/>
                  </a:lnTo>
                  <a:lnTo>
                    <a:pt x="22235" y="553773"/>
                  </a:lnTo>
                  <a:lnTo>
                    <a:pt x="46365" y="570043"/>
                  </a:lnTo>
                  <a:lnTo>
                    <a:pt x="75916" y="576009"/>
                  </a:lnTo>
                  <a:lnTo>
                    <a:pt x="804381" y="576009"/>
                  </a:lnTo>
                  <a:lnTo>
                    <a:pt x="833931" y="570043"/>
                  </a:lnTo>
                  <a:lnTo>
                    <a:pt x="858062" y="553773"/>
                  </a:lnTo>
                  <a:lnTo>
                    <a:pt x="874332" y="529642"/>
                  </a:lnTo>
                  <a:lnTo>
                    <a:pt x="880297" y="500092"/>
                  </a:lnTo>
                  <a:lnTo>
                    <a:pt x="880297" y="75916"/>
                  </a:lnTo>
                  <a:lnTo>
                    <a:pt x="874332" y="46365"/>
                  </a:lnTo>
                  <a:lnTo>
                    <a:pt x="858062" y="22235"/>
                  </a:lnTo>
                  <a:lnTo>
                    <a:pt x="833931" y="5965"/>
                  </a:lnTo>
                  <a:lnTo>
                    <a:pt x="804381" y="0"/>
                  </a:lnTo>
                  <a:close/>
                </a:path>
              </a:pathLst>
            </a:custGeom>
            <a:ln w="10122">
              <a:solidFill>
                <a:srgbClr val="005F72"/>
              </a:solidFill>
            </a:ln>
          </p:spPr>
          <p:txBody>
            <a:bodyPr wrap="square" lIns="0" tIns="0" rIns="0" bIns="0" rtlCol="0"/>
            <a:lstStyle/>
            <a:p>
              <a:endParaRPr/>
            </a:p>
          </p:txBody>
        </p:sp>
      </p:grpSp>
      <p:sp>
        <p:nvSpPr>
          <p:cNvPr id="18" name="object 18"/>
          <p:cNvSpPr txBox="1"/>
          <p:nvPr/>
        </p:nvSpPr>
        <p:spPr>
          <a:xfrm>
            <a:off x="3663078" y="1934895"/>
            <a:ext cx="824230" cy="749300"/>
          </a:xfrm>
          <a:prstGeom prst="rect">
            <a:avLst/>
          </a:prstGeom>
        </p:spPr>
        <p:txBody>
          <a:bodyPr vert="horz" wrap="square" lIns="0" tIns="24765" rIns="0" bIns="0" rtlCol="0">
            <a:spAutoFit/>
          </a:bodyPr>
          <a:lstStyle/>
          <a:p>
            <a:pPr algn="ctr">
              <a:lnSpc>
                <a:spcPct val="100000"/>
              </a:lnSpc>
              <a:spcBef>
                <a:spcPts val="195"/>
              </a:spcBef>
            </a:pPr>
            <a:r>
              <a:rPr sz="800" b="1" spc="-40">
                <a:solidFill>
                  <a:srgbClr val="202528"/>
                </a:solidFill>
                <a:latin typeface="Arial"/>
                <a:cs typeface="Arial"/>
              </a:rPr>
              <a:t>Continuous</a:t>
            </a:r>
            <a:r>
              <a:rPr sz="800" b="1" spc="30">
                <a:solidFill>
                  <a:srgbClr val="202528"/>
                </a:solidFill>
                <a:latin typeface="Arial"/>
                <a:cs typeface="Arial"/>
              </a:rPr>
              <a:t> </a:t>
            </a:r>
            <a:r>
              <a:rPr sz="800" b="1" spc="-20">
                <a:solidFill>
                  <a:srgbClr val="202528"/>
                </a:solidFill>
                <a:latin typeface="Arial"/>
                <a:cs typeface="Arial"/>
              </a:rPr>
              <a:t>Work</a:t>
            </a:r>
            <a:endParaRPr sz="800">
              <a:latin typeface="Arial"/>
              <a:cs typeface="Arial"/>
            </a:endParaRPr>
          </a:p>
          <a:p>
            <a:pPr marL="212090" marR="203835" algn="ctr">
              <a:lnSpc>
                <a:spcPct val="105200"/>
              </a:lnSpc>
              <a:spcBef>
                <a:spcPts val="80"/>
              </a:spcBef>
            </a:pPr>
            <a:r>
              <a:rPr sz="600" spc="70">
                <a:solidFill>
                  <a:srgbClr val="202528"/>
                </a:solidFill>
                <a:latin typeface="Tahoma"/>
                <a:cs typeface="Tahoma"/>
              </a:rPr>
              <a:t>HF</a:t>
            </a:r>
            <a:r>
              <a:rPr sz="600" spc="75">
                <a:solidFill>
                  <a:srgbClr val="202528"/>
                </a:solidFill>
                <a:latin typeface="Tahoma"/>
                <a:cs typeface="Tahoma"/>
              </a:rPr>
              <a:t> </a:t>
            </a:r>
            <a:r>
              <a:rPr sz="600" spc="-10">
                <a:solidFill>
                  <a:srgbClr val="202528"/>
                </a:solidFill>
                <a:latin typeface="Tahoma"/>
                <a:cs typeface="Tahoma"/>
              </a:rPr>
              <a:t>experts</a:t>
            </a:r>
            <a:r>
              <a:rPr sz="600" spc="500">
                <a:solidFill>
                  <a:srgbClr val="202528"/>
                </a:solidFill>
                <a:latin typeface="Tahoma"/>
                <a:cs typeface="Tahoma"/>
              </a:rPr>
              <a:t> </a:t>
            </a:r>
            <a:r>
              <a:rPr sz="600" spc="-10">
                <a:solidFill>
                  <a:srgbClr val="202528"/>
                </a:solidFill>
                <a:latin typeface="Tahoma"/>
                <a:cs typeface="Tahoma"/>
              </a:rPr>
              <a:t>annotating</a:t>
            </a:r>
            <a:endParaRPr sz="600">
              <a:latin typeface="Tahoma"/>
              <a:cs typeface="Tahoma"/>
            </a:endParaRPr>
          </a:p>
          <a:p>
            <a:pPr algn="ctr">
              <a:lnSpc>
                <a:spcPct val="100000"/>
              </a:lnSpc>
              <a:spcBef>
                <a:spcPts val="35"/>
              </a:spcBef>
            </a:pPr>
            <a:r>
              <a:rPr sz="600">
                <a:solidFill>
                  <a:srgbClr val="202528"/>
                </a:solidFill>
                <a:latin typeface="Tahoma"/>
                <a:cs typeface="Tahoma"/>
              </a:rPr>
              <a:t>AI</a:t>
            </a:r>
            <a:r>
              <a:rPr sz="600" spc="155">
                <a:solidFill>
                  <a:srgbClr val="202528"/>
                </a:solidFill>
                <a:latin typeface="Tahoma"/>
                <a:cs typeface="Tahoma"/>
              </a:rPr>
              <a:t> </a:t>
            </a:r>
            <a:r>
              <a:rPr sz="600">
                <a:solidFill>
                  <a:srgbClr val="202528"/>
                </a:solidFill>
                <a:latin typeface="Tahoma"/>
                <a:cs typeface="Tahoma"/>
              </a:rPr>
              <a:t>experts</a:t>
            </a:r>
            <a:r>
              <a:rPr sz="600" spc="155">
                <a:solidFill>
                  <a:srgbClr val="202528"/>
                </a:solidFill>
                <a:latin typeface="Tahoma"/>
                <a:cs typeface="Tahoma"/>
              </a:rPr>
              <a:t> </a:t>
            </a:r>
            <a:r>
              <a:rPr sz="600">
                <a:solidFill>
                  <a:srgbClr val="202528"/>
                </a:solidFill>
                <a:latin typeface="Tahoma"/>
                <a:cs typeface="Tahoma"/>
              </a:rPr>
              <a:t>ﬁne-</a:t>
            </a:r>
            <a:r>
              <a:rPr sz="600" spc="-10">
                <a:solidFill>
                  <a:srgbClr val="202528"/>
                </a:solidFill>
                <a:latin typeface="Tahoma"/>
                <a:cs typeface="Tahoma"/>
              </a:rPr>
              <a:t>tuning</a:t>
            </a:r>
            <a:endParaRPr sz="600">
              <a:latin typeface="Tahoma"/>
              <a:cs typeface="Tahoma"/>
            </a:endParaRPr>
          </a:p>
          <a:p>
            <a:pPr algn="ctr">
              <a:lnSpc>
                <a:spcPct val="100000"/>
              </a:lnSpc>
              <a:spcBef>
                <a:spcPts val="240"/>
              </a:spcBef>
            </a:pPr>
            <a:r>
              <a:rPr sz="600">
                <a:solidFill>
                  <a:srgbClr val="202528"/>
                </a:solidFill>
                <a:latin typeface="Tahoma"/>
                <a:cs typeface="Tahoma"/>
              </a:rPr>
              <a:t>Model</a:t>
            </a:r>
            <a:r>
              <a:rPr sz="600" spc="254">
                <a:solidFill>
                  <a:srgbClr val="202528"/>
                </a:solidFill>
                <a:latin typeface="Tahoma"/>
                <a:cs typeface="Tahoma"/>
              </a:rPr>
              <a:t> </a:t>
            </a:r>
            <a:r>
              <a:rPr sz="600" spc="-10">
                <a:solidFill>
                  <a:srgbClr val="202528"/>
                </a:solidFill>
                <a:latin typeface="Tahoma"/>
                <a:cs typeface="Tahoma"/>
              </a:rPr>
              <a:t>evaluation</a:t>
            </a:r>
            <a:endParaRPr sz="600">
              <a:latin typeface="Tahoma"/>
              <a:cs typeface="Tahoma"/>
            </a:endParaRPr>
          </a:p>
          <a:p>
            <a:pPr algn="ctr">
              <a:lnSpc>
                <a:spcPct val="100000"/>
              </a:lnSpc>
              <a:spcBef>
                <a:spcPts val="605"/>
              </a:spcBef>
            </a:pPr>
            <a:r>
              <a:rPr sz="600" b="1" spc="-10">
                <a:solidFill>
                  <a:srgbClr val="005F73"/>
                </a:solidFill>
                <a:latin typeface="Arial"/>
                <a:cs typeface="Arial"/>
              </a:rPr>
              <a:t>ONGOING</a:t>
            </a:r>
            <a:endParaRPr sz="600">
              <a:latin typeface="Arial"/>
              <a:cs typeface="Arial"/>
            </a:endParaRPr>
          </a:p>
        </p:txBody>
      </p:sp>
      <p:grpSp>
        <p:nvGrpSpPr>
          <p:cNvPr id="19" name="object 19"/>
          <p:cNvGrpSpPr/>
          <p:nvPr/>
        </p:nvGrpSpPr>
        <p:grpSpPr>
          <a:xfrm>
            <a:off x="1239555" y="1984582"/>
            <a:ext cx="833119" cy="508634"/>
            <a:chOff x="1239555" y="1984582"/>
            <a:chExt cx="833119" cy="508634"/>
          </a:xfrm>
        </p:grpSpPr>
        <p:sp>
          <p:nvSpPr>
            <p:cNvPr id="20" name="object 20"/>
            <p:cNvSpPr/>
            <p:nvPr/>
          </p:nvSpPr>
          <p:spPr>
            <a:xfrm>
              <a:off x="1244635" y="1989662"/>
              <a:ext cx="822960" cy="498475"/>
            </a:xfrm>
            <a:custGeom>
              <a:avLst/>
              <a:gdLst/>
              <a:ahLst/>
              <a:cxnLst/>
              <a:rect l="l" t="t" r="r" b="b"/>
              <a:pathLst>
                <a:path w="822960" h="498475">
                  <a:moveTo>
                    <a:pt x="746781" y="0"/>
                  </a:moveTo>
                  <a:lnTo>
                    <a:pt x="75916" y="0"/>
                  </a:lnTo>
                  <a:lnTo>
                    <a:pt x="46365" y="5965"/>
                  </a:lnTo>
                  <a:lnTo>
                    <a:pt x="22235" y="22235"/>
                  </a:lnTo>
                  <a:lnTo>
                    <a:pt x="5965" y="46365"/>
                  </a:lnTo>
                  <a:lnTo>
                    <a:pt x="0" y="75916"/>
                  </a:lnTo>
                  <a:lnTo>
                    <a:pt x="0" y="422538"/>
                  </a:lnTo>
                  <a:lnTo>
                    <a:pt x="5965" y="452088"/>
                  </a:lnTo>
                  <a:lnTo>
                    <a:pt x="22235" y="476219"/>
                  </a:lnTo>
                  <a:lnTo>
                    <a:pt x="46365" y="492488"/>
                  </a:lnTo>
                  <a:lnTo>
                    <a:pt x="75916" y="498454"/>
                  </a:lnTo>
                  <a:lnTo>
                    <a:pt x="746781" y="498454"/>
                  </a:lnTo>
                  <a:lnTo>
                    <a:pt x="776331" y="492488"/>
                  </a:lnTo>
                  <a:lnTo>
                    <a:pt x="800462" y="476219"/>
                  </a:lnTo>
                  <a:lnTo>
                    <a:pt x="816731" y="452088"/>
                  </a:lnTo>
                  <a:lnTo>
                    <a:pt x="822697" y="422538"/>
                  </a:lnTo>
                  <a:lnTo>
                    <a:pt x="822697" y="75916"/>
                  </a:lnTo>
                  <a:lnTo>
                    <a:pt x="816731" y="46365"/>
                  </a:lnTo>
                  <a:lnTo>
                    <a:pt x="800462" y="22235"/>
                  </a:lnTo>
                  <a:lnTo>
                    <a:pt x="776331" y="5965"/>
                  </a:lnTo>
                  <a:lnTo>
                    <a:pt x="746781" y="0"/>
                  </a:lnTo>
                  <a:close/>
                </a:path>
              </a:pathLst>
            </a:custGeom>
            <a:solidFill>
              <a:srgbClr val="EAF2F3"/>
            </a:solidFill>
          </p:spPr>
          <p:txBody>
            <a:bodyPr wrap="square" lIns="0" tIns="0" rIns="0" bIns="0" rtlCol="0"/>
            <a:lstStyle/>
            <a:p>
              <a:endParaRPr/>
            </a:p>
          </p:txBody>
        </p:sp>
        <p:sp>
          <p:nvSpPr>
            <p:cNvPr id="21" name="object 21"/>
            <p:cNvSpPr/>
            <p:nvPr/>
          </p:nvSpPr>
          <p:spPr>
            <a:xfrm>
              <a:off x="1244635" y="1989662"/>
              <a:ext cx="822960" cy="498475"/>
            </a:xfrm>
            <a:custGeom>
              <a:avLst/>
              <a:gdLst/>
              <a:ahLst/>
              <a:cxnLst/>
              <a:rect l="l" t="t" r="r" b="b"/>
              <a:pathLst>
                <a:path w="822960" h="498475">
                  <a:moveTo>
                    <a:pt x="746781" y="0"/>
                  </a:moveTo>
                  <a:lnTo>
                    <a:pt x="75916" y="0"/>
                  </a:lnTo>
                  <a:lnTo>
                    <a:pt x="46365" y="5965"/>
                  </a:lnTo>
                  <a:lnTo>
                    <a:pt x="22235" y="22235"/>
                  </a:lnTo>
                  <a:lnTo>
                    <a:pt x="5965" y="46365"/>
                  </a:lnTo>
                  <a:lnTo>
                    <a:pt x="0" y="75916"/>
                  </a:lnTo>
                  <a:lnTo>
                    <a:pt x="0" y="422538"/>
                  </a:lnTo>
                  <a:lnTo>
                    <a:pt x="5965" y="452088"/>
                  </a:lnTo>
                  <a:lnTo>
                    <a:pt x="22235" y="476219"/>
                  </a:lnTo>
                  <a:lnTo>
                    <a:pt x="46365" y="492488"/>
                  </a:lnTo>
                  <a:lnTo>
                    <a:pt x="75916" y="498454"/>
                  </a:lnTo>
                  <a:lnTo>
                    <a:pt x="746781" y="498454"/>
                  </a:lnTo>
                  <a:lnTo>
                    <a:pt x="776331" y="492488"/>
                  </a:lnTo>
                  <a:lnTo>
                    <a:pt x="800462" y="476219"/>
                  </a:lnTo>
                  <a:lnTo>
                    <a:pt x="816731" y="452088"/>
                  </a:lnTo>
                  <a:lnTo>
                    <a:pt x="822697" y="422538"/>
                  </a:lnTo>
                  <a:lnTo>
                    <a:pt x="822697" y="75916"/>
                  </a:lnTo>
                  <a:lnTo>
                    <a:pt x="816731" y="46365"/>
                  </a:lnTo>
                  <a:lnTo>
                    <a:pt x="800462" y="22235"/>
                  </a:lnTo>
                  <a:lnTo>
                    <a:pt x="776331" y="5965"/>
                  </a:lnTo>
                  <a:lnTo>
                    <a:pt x="746781" y="0"/>
                  </a:lnTo>
                  <a:close/>
                </a:path>
              </a:pathLst>
            </a:custGeom>
            <a:ln w="10122">
              <a:solidFill>
                <a:srgbClr val="005F72"/>
              </a:solidFill>
            </a:ln>
          </p:spPr>
          <p:txBody>
            <a:bodyPr wrap="square" lIns="0" tIns="0" rIns="0" bIns="0" rtlCol="0"/>
            <a:lstStyle/>
            <a:p>
              <a:endParaRPr/>
            </a:p>
          </p:txBody>
        </p:sp>
      </p:grpSp>
      <p:sp>
        <p:nvSpPr>
          <p:cNvPr id="22" name="object 22"/>
          <p:cNvSpPr txBox="1"/>
          <p:nvPr/>
        </p:nvSpPr>
        <p:spPr>
          <a:xfrm>
            <a:off x="1315387" y="1982982"/>
            <a:ext cx="681355" cy="662305"/>
          </a:xfrm>
          <a:prstGeom prst="rect">
            <a:avLst/>
          </a:prstGeom>
        </p:spPr>
        <p:txBody>
          <a:bodyPr vert="horz" wrap="square" lIns="0" tIns="12065" rIns="0" bIns="0" rtlCol="0">
            <a:spAutoFit/>
          </a:bodyPr>
          <a:lstStyle/>
          <a:p>
            <a:pPr marL="135890" marR="127635" algn="ctr">
              <a:lnSpc>
                <a:spcPct val="100000"/>
              </a:lnSpc>
              <a:spcBef>
                <a:spcPts val="95"/>
              </a:spcBef>
            </a:pPr>
            <a:r>
              <a:rPr sz="800" b="1" spc="-25">
                <a:solidFill>
                  <a:srgbClr val="202528"/>
                </a:solidFill>
                <a:latin typeface="Arial"/>
                <a:cs typeface="Arial"/>
              </a:rPr>
              <a:t>Interface</a:t>
            </a:r>
            <a:r>
              <a:rPr sz="800" b="1" spc="-10">
                <a:solidFill>
                  <a:srgbClr val="202528"/>
                </a:solidFill>
                <a:latin typeface="Arial"/>
                <a:cs typeface="Arial"/>
              </a:rPr>
              <a:t> Revamp</a:t>
            </a:r>
            <a:endParaRPr sz="800">
              <a:latin typeface="Arial"/>
              <a:cs typeface="Arial"/>
            </a:endParaRPr>
          </a:p>
          <a:p>
            <a:pPr algn="ctr">
              <a:lnSpc>
                <a:spcPct val="100000"/>
              </a:lnSpc>
              <a:spcBef>
                <a:spcPts val="114"/>
              </a:spcBef>
            </a:pPr>
            <a:r>
              <a:rPr sz="600">
                <a:solidFill>
                  <a:srgbClr val="202528"/>
                </a:solidFill>
                <a:latin typeface="Tahoma"/>
                <a:cs typeface="Tahoma"/>
              </a:rPr>
              <a:t>Improved</a:t>
            </a:r>
            <a:r>
              <a:rPr sz="600" spc="80">
                <a:solidFill>
                  <a:srgbClr val="202528"/>
                </a:solidFill>
                <a:latin typeface="Tahoma"/>
                <a:cs typeface="Tahoma"/>
              </a:rPr>
              <a:t> </a:t>
            </a:r>
            <a:r>
              <a:rPr sz="600" spc="-10">
                <a:solidFill>
                  <a:srgbClr val="202528"/>
                </a:solidFill>
                <a:latin typeface="Tahoma"/>
                <a:cs typeface="Tahoma"/>
              </a:rPr>
              <a:t>usability</a:t>
            </a:r>
            <a:endParaRPr sz="600">
              <a:latin typeface="Tahoma"/>
              <a:cs typeface="Tahoma"/>
            </a:endParaRPr>
          </a:p>
          <a:p>
            <a:pPr algn="ctr">
              <a:lnSpc>
                <a:spcPct val="100000"/>
              </a:lnSpc>
              <a:spcBef>
                <a:spcPts val="235"/>
              </a:spcBef>
            </a:pPr>
            <a:r>
              <a:rPr sz="600">
                <a:solidFill>
                  <a:srgbClr val="202528"/>
                </a:solidFill>
                <a:latin typeface="Tahoma"/>
                <a:cs typeface="Tahoma"/>
              </a:rPr>
              <a:t>Secure</a:t>
            </a:r>
            <a:r>
              <a:rPr sz="600" spc="145">
                <a:solidFill>
                  <a:srgbClr val="202528"/>
                </a:solidFill>
                <a:latin typeface="Tahoma"/>
                <a:cs typeface="Tahoma"/>
              </a:rPr>
              <a:t> </a:t>
            </a:r>
            <a:r>
              <a:rPr sz="600" spc="-10">
                <a:solidFill>
                  <a:srgbClr val="202528"/>
                </a:solidFill>
                <a:latin typeface="Tahoma"/>
                <a:cs typeface="Tahoma"/>
              </a:rPr>
              <a:t>server</a:t>
            </a:r>
            <a:endParaRPr sz="600">
              <a:latin typeface="Tahoma"/>
              <a:cs typeface="Tahoma"/>
            </a:endParaRPr>
          </a:p>
          <a:p>
            <a:pPr algn="ctr">
              <a:lnSpc>
                <a:spcPct val="100000"/>
              </a:lnSpc>
              <a:spcBef>
                <a:spcPts val="580"/>
              </a:spcBef>
            </a:pPr>
            <a:r>
              <a:rPr sz="600" b="1" spc="40">
                <a:solidFill>
                  <a:srgbClr val="005F73"/>
                </a:solidFill>
                <a:latin typeface="Arial"/>
                <a:cs typeface="Arial"/>
              </a:rPr>
              <a:t>NEXT</a:t>
            </a:r>
            <a:endParaRPr sz="600">
              <a:latin typeface="Arial"/>
              <a:cs typeface="Arial"/>
            </a:endParaRPr>
          </a:p>
        </p:txBody>
      </p:sp>
      <p:grpSp>
        <p:nvGrpSpPr>
          <p:cNvPr id="23" name="object 23"/>
          <p:cNvGrpSpPr/>
          <p:nvPr/>
        </p:nvGrpSpPr>
        <p:grpSpPr>
          <a:xfrm>
            <a:off x="1572939" y="861010"/>
            <a:ext cx="2573020" cy="1543685"/>
            <a:chOff x="1572939" y="861010"/>
            <a:chExt cx="2573020" cy="1543685"/>
          </a:xfrm>
        </p:grpSpPr>
        <p:sp>
          <p:nvSpPr>
            <p:cNvPr id="24" name="object 24"/>
            <p:cNvSpPr/>
            <p:nvPr/>
          </p:nvSpPr>
          <p:spPr>
            <a:xfrm>
              <a:off x="2071340" y="868601"/>
              <a:ext cx="1550670" cy="160655"/>
            </a:xfrm>
            <a:custGeom>
              <a:avLst/>
              <a:gdLst/>
              <a:ahLst/>
              <a:cxnLst/>
              <a:rect l="l" t="t" r="r" b="b"/>
              <a:pathLst>
                <a:path w="1550670" h="160655">
                  <a:moveTo>
                    <a:pt x="0" y="160638"/>
                  </a:moveTo>
                  <a:lnTo>
                    <a:pt x="54119" y="141395"/>
                  </a:lnTo>
                  <a:lnTo>
                    <a:pt x="107365" y="123391"/>
                  </a:lnTo>
                  <a:lnTo>
                    <a:pt x="159788" y="106623"/>
                  </a:lnTo>
                  <a:lnTo>
                    <a:pt x="211439" y="91089"/>
                  </a:lnTo>
                  <a:lnTo>
                    <a:pt x="262368" y="76786"/>
                  </a:lnTo>
                  <a:lnTo>
                    <a:pt x="312626" y="63713"/>
                  </a:lnTo>
                  <a:lnTo>
                    <a:pt x="362264" y="51865"/>
                  </a:lnTo>
                  <a:lnTo>
                    <a:pt x="411334" y="41241"/>
                  </a:lnTo>
                  <a:lnTo>
                    <a:pt x="459885" y="31838"/>
                  </a:lnTo>
                  <a:lnTo>
                    <a:pt x="507969" y="23654"/>
                  </a:lnTo>
                  <a:lnTo>
                    <a:pt x="555637" y="16686"/>
                  </a:lnTo>
                  <a:lnTo>
                    <a:pt x="602938" y="10932"/>
                  </a:lnTo>
                  <a:lnTo>
                    <a:pt x="649925" y="6389"/>
                  </a:lnTo>
                  <a:lnTo>
                    <a:pt x="696648" y="3054"/>
                  </a:lnTo>
                  <a:lnTo>
                    <a:pt x="743158" y="925"/>
                  </a:lnTo>
                  <a:lnTo>
                    <a:pt x="789506" y="0"/>
                  </a:lnTo>
                  <a:lnTo>
                    <a:pt x="835742" y="275"/>
                  </a:lnTo>
                  <a:lnTo>
                    <a:pt x="881918" y="1749"/>
                  </a:lnTo>
                  <a:lnTo>
                    <a:pt x="928083" y="4418"/>
                  </a:lnTo>
                  <a:lnTo>
                    <a:pt x="974290" y="8281"/>
                  </a:lnTo>
                  <a:lnTo>
                    <a:pt x="1020589" y="13335"/>
                  </a:lnTo>
                  <a:lnTo>
                    <a:pt x="1067030" y="19577"/>
                  </a:lnTo>
                  <a:lnTo>
                    <a:pt x="1113665" y="27005"/>
                  </a:lnTo>
                  <a:lnTo>
                    <a:pt x="1160545" y="35616"/>
                  </a:lnTo>
                  <a:lnTo>
                    <a:pt x="1207719" y="45407"/>
                  </a:lnTo>
                  <a:lnTo>
                    <a:pt x="1255240" y="56376"/>
                  </a:lnTo>
                  <a:lnTo>
                    <a:pt x="1303157" y="68521"/>
                  </a:lnTo>
                  <a:lnTo>
                    <a:pt x="1351523" y="81840"/>
                  </a:lnTo>
                  <a:lnTo>
                    <a:pt x="1400386" y="96328"/>
                  </a:lnTo>
                  <a:lnTo>
                    <a:pt x="1449800" y="111984"/>
                  </a:lnTo>
                  <a:lnTo>
                    <a:pt x="1499813" y="128806"/>
                  </a:lnTo>
                  <a:lnTo>
                    <a:pt x="1550478" y="146791"/>
                  </a:lnTo>
                </a:path>
              </a:pathLst>
            </a:custGeom>
            <a:ln w="15183">
              <a:solidFill>
                <a:srgbClr val="005F72"/>
              </a:solidFill>
            </a:ln>
          </p:spPr>
          <p:txBody>
            <a:bodyPr wrap="square" lIns="0" tIns="0" rIns="0" bIns="0" rtlCol="0"/>
            <a:lstStyle/>
            <a:p>
              <a:endParaRPr/>
            </a:p>
          </p:txBody>
        </p:sp>
        <p:sp>
          <p:nvSpPr>
            <p:cNvPr id="25" name="object 25"/>
            <p:cNvSpPr/>
            <p:nvPr/>
          </p:nvSpPr>
          <p:spPr>
            <a:xfrm>
              <a:off x="3587912" y="976647"/>
              <a:ext cx="72390" cy="60960"/>
            </a:xfrm>
            <a:custGeom>
              <a:avLst/>
              <a:gdLst/>
              <a:ahLst/>
              <a:cxnLst/>
              <a:rect l="l" t="t" r="r" b="b"/>
              <a:pathLst>
                <a:path w="72389" h="60959">
                  <a:moveTo>
                    <a:pt x="22155" y="0"/>
                  </a:moveTo>
                  <a:lnTo>
                    <a:pt x="33905" y="38745"/>
                  </a:lnTo>
                  <a:lnTo>
                    <a:pt x="0" y="60874"/>
                  </a:lnTo>
                  <a:lnTo>
                    <a:pt x="71952" y="52593"/>
                  </a:lnTo>
                  <a:lnTo>
                    <a:pt x="22155" y="0"/>
                  </a:lnTo>
                  <a:close/>
                </a:path>
              </a:pathLst>
            </a:custGeom>
            <a:solidFill>
              <a:srgbClr val="005F72"/>
            </a:solidFill>
          </p:spPr>
          <p:txBody>
            <a:bodyPr wrap="square" lIns="0" tIns="0" rIns="0" bIns="0" rtlCol="0"/>
            <a:lstStyle/>
            <a:p>
              <a:endParaRPr/>
            </a:p>
          </p:txBody>
        </p:sp>
        <p:sp>
          <p:nvSpPr>
            <p:cNvPr id="26" name="object 26"/>
            <p:cNvSpPr/>
            <p:nvPr/>
          </p:nvSpPr>
          <p:spPr>
            <a:xfrm>
              <a:off x="4075284" y="1338485"/>
              <a:ext cx="62865" cy="570865"/>
            </a:xfrm>
            <a:custGeom>
              <a:avLst/>
              <a:gdLst/>
              <a:ahLst/>
              <a:cxnLst/>
              <a:rect l="l" t="t" r="r" b="b"/>
              <a:pathLst>
                <a:path w="62864" h="570864">
                  <a:moveTo>
                    <a:pt x="0" y="0"/>
                  </a:moveTo>
                  <a:lnTo>
                    <a:pt x="18603" y="54523"/>
                  </a:lnTo>
                  <a:lnTo>
                    <a:pt x="33874" y="106815"/>
                  </a:lnTo>
                  <a:lnTo>
                    <a:pt x="45859" y="157164"/>
                  </a:lnTo>
                  <a:lnTo>
                    <a:pt x="54608" y="205857"/>
                  </a:lnTo>
                  <a:lnTo>
                    <a:pt x="60169" y="253183"/>
                  </a:lnTo>
                  <a:lnTo>
                    <a:pt x="62588" y="299428"/>
                  </a:lnTo>
                  <a:lnTo>
                    <a:pt x="61916" y="344880"/>
                  </a:lnTo>
                  <a:lnTo>
                    <a:pt x="58199" y="389827"/>
                  </a:lnTo>
                  <a:lnTo>
                    <a:pt x="51485" y="434558"/>
                  </a:lnTo>
                  <a:lnTo>
                    <a:pt x="41823" y="479358"/>
                  </a:lnTo>
                  <a:lnTo>
                    <a:pt x="29261" y="524517"/>
                  </a:lnTo>
                  <a:lnTo>
                    <a:pt x="13847" y="570321"/>
                  </a:lnTo>
                </a:path>
              </a:pathLst>
            </a:custGeom>
            <a:ln w="15183">
              <a:solidFill>
                <a:srgbClr val="005F72"/>
              </a:solidFill>
            </a:ln>
          </p:spPr>
          <p:txBody>
            <a:bodyPr wrap="square" lIns="0" tIns="0" rIns="0" bIns="0" rtlCol="0"/>
            <a:lstStyle/>
            <a:p>
              <a:endParaRPr/>
            </a:p>
          </p:txBody>
        </p:sp>
        <p:sp>
          <p:nvSpPr>
            <p:cNvPr id="27" name="object 27"/>
            <p:cNvSpPr/>
            <p:nvPr/>
          </p:nvSpPr>
          <p:spPr>
            <a:xfrm>
              <a:off x="4067005" y="1874901"/>
              <a:ext cx="60960" cy="72390"/>
            </a:xfrm>
            <a:custGeom>
              <a:avLst/>
              <a:gdLst/>
              <a:ahLst/>
              <a:cxnLst/>
              <a:rect l="l" t="t" r="r" b="b"/>
              <a:pathLst>
                <a:path w="60960" h="72389">
                  <a:moveTo>
                    <a:pt x="60873" y="22157"/>
                  </a:moveTo>
                  <a:lnTo>
                    <a:pt x="22127" y="33906"/>
                  </a:lnTo>
                  <a:lnTo>
                    <a:pt x="0" y="0"/>
                  </a:lnTo>
                  <a:lnTo>
                    <a:pt x="8279" y="71952"/>
                  </a:lnTo>
                  <a:lnTo>
                    <a:pt x="60873" y="22157"/>
                  </a:lnTo>
                  <a:close/>
                </a:path>
              </a:pathLst>
            </a:custGeom>
            <a:solidFill>
              <a:srgbClr val="005F72"/>
            </a:solidFill>
          </p:spPr>
          <p:txBody>
            <a:bodyPr wrap="square" lIns="0" tIns="0" rIns="0" bIns="0" rtlCol="0"/>
            <a:lstStyle/>
            <a:p>
              <a:endParaRPr/>
            </a:p>
          </p:txBody>
        </p:sp>
        <p:sp>
          <p:nvSpPr>
            <p:cNvPr id="28" name="object 28"/>
            <p:cNvSpPr/>
            <p:nvPr/>
          </p:nvSpPr>
          <p:spPr>
            <a:xfrm>
              <a:off x="2109386" y="2238922"/>
              <a:ext cx="1522095" cy="158115"/>
            </a:xfrm>
            <a:custGeom>
              <a:avLst/>
              <a:gdLst/>
              <a:ahLst/>
              <a:cxnLst/>
              <a:rect l="l" t="t" r="r" b="b"/>
              <a:pathLst>
                <a:path w="1522095" h="158114">
                  <a:moveTo>
                    <a:pt x="1521676" y="0"/>
                  </a:moveTo>
                  <a:lnTo>
                    <a:pt x="1466838" y="19483"/>
                  </a:lnTo>
                  <a:lnTo>
                    <a:pt x="1412912" y="37670"/>
                  </a:lnTo>
                  <a:lnTo>
                    <a:pt x="1359845" y="54565"/>
                  </a:lnTo>
                  <a:lnTo>
                    <a:pt x="1307581" y="70168"/>
                  </a:lnTo>
                  <a:lnTo>
                    <a:pt x="1256065" y="84484"/>
                  </a:lnTo>
                  <a:lnTo>
                    <a:pt x="1205244" y="97515"/>
                  </a:lnTo>
                  <a:lnTo>
                    <a:pt x="1155061" y="109264"/>
                  </a:lnTo>
                  <a:lnTo>
                    <a:pt x="1105463" y="119734"/>
                  </a:lnTo>
                  <a:lnTo>
                    <a:pt x="1056394" y="128927"/>
                  </a:lnTo>
                  <a:lnTo>
                    <a:pt x="1007800" y="136846"/>
                  </a:lnTo>
                  <a:lnTo>
                    <a:pt x="959625" y="143494"/>
                  </a:lnTo>
                  <a:lnTo>
                    <a:pt x="911816" y="148874"/>
                  </a:lnTo>
                  <a:lnTo>
                    <a:pt x="864318" y="152989"/>
                  </a:lnTo>
                  <a:lnTo>
                    <a:pt x="817075" y="155841"/>
                  </a:lnTo>
                  <a:lnTo>
                    <a:pt x="770033" y="157433"/>
                  </a:lnTo>
                  <a:lnTo>
                    <a:pt x="723137" y="157768"/>
                  </a:lnTo>
                  <a:lnTo>
                    <a:pt x="676333" y="156849"/>
                  </a:lnTo>
                  <a:lnTo>
                    <a:pt x="629565" y="154678"/>
                  </a:lnTo>
                  <a:lnTo>
                    <a:pt x="582779" y="151259"/>
                  </a:lnTo>
                  <a:lnTo>
                    <a:pt x="535921" y="146594"/>
                  </a:lnTo>
                  <a:lnTo>
                    <a:pt x="488934" y="140686"/>
                  </a:lnTo>
                  <a:lnTo>
                    <a:pt x="441765" y="133537"/>
                  </a:lnTo>
                  <a:lnTo>
                    <a:pt x="394359" y="125151"/>
                  </a:lnTo>
                  <a:lnTo>
                    <a:pt x="346661" y="115530"/>
                  </a:lnTo>
                  <a:lnTo>
                    <a:pt x="298616" y="104678"/>
                  </a:lnTo>
                  <a:lnTo>
                    <a:pt x="250170" y="92596"/>
                  </a:lnTo>
                  <a:lnTo>
                    <a:pt x="201268" y="79288"/>
                  </a:lnTo>
                  <a:lnTo>
                    <a:pt x="151854" y="64756"/>
                  </a:lnTo>
                  <a:lnTo>
                    <a:pt x="101875" y="49003"/>
                  </a:lnTo>
                  <a:lnTo>
                    <a:pt x="51275" y="32033"/>
                  </a:lnTo>
                  <a:lnTo>
                    <a:pt x="0" y="13847"/>
                  </a:lnTo>
                </a:path>
              </a:pathLst>
            </a:custGeom>
            <a:ln w="15183">
              <a:solidFill>
                <a:srgbClr val="005F72"/>
              </a:solidFill>
            </a:ln>
          </p:spPr>
          <p:txBody>
            <a:bodyPr wrap="square" lIns="0" tIns="0" rIns="0" bIns="0" rtlCol="0"/>
            <a:lstStyle/>
            <a:p>
              <a:endParaRPr/>
            </a:p>
          </p:txBody>
        </p:sp>
        <p:sp>
          <p:nvSpPr>
            <p:cNvPr id="29" name="object 29"/>
            <p:cNvSpPr/>
            <p:nvPr/>
          </p:nvSpPr>
          <p:spPr>
            <a:xfrm>
              <a:off x="2071340" y="2230641"/>
              <a:ext cx="72390" cy="60960"/>
            </a:xfrm>
            <a:custGeom>
              <a:avLst/>
              <a:gdLst/>
              <a:ahLst/>
              <a:cxnLst/>
              <a:rect l="l" t="t" r="r" b="b"/>
              <a:pathLst>
                <a:path w="72389" h="60960">
                  <a:moveTo>
                    <a:pt x="49796" y="60874"/>
                  </a:moveTo>
                  <a:lnTo>
                    <a:pt x="38046" y="22128"/>
                  </a:lnTo>
                  <a:lnTo>
                    <a:pt x="71952" y="0"/>
                  </a:lnTo>
                  <a:lnTo>
                    <a:pt x="0" y="8281"/>
                  </a:lnTo>
                  <a:lnTo>
                    <a:pt x="49796" y="60874"/>
                  </a:lnTo>
                  <a:close/>
                </a:path>
              </a:pathLst>
            </a:custGeom>
            <a:solidFill>
              <a:srgbClr val="005F72"/>
            </a:solidFill>
          </p:spPr>
          <p:txBody>
            <a:bodyPr wrap="square" lIns="0" tIns="0" rIns="0" bIns="0" rtlCol="0"/>
            <a:lstStyle/>
            <a:p>
              <a:endParaRPr/>
            </a:p>
          </p:txBody>
        </p:sp>
        <p:sp>
          <p:nvSpPr>
            <p:cNvPr id="30" name="object 30"/>
            <p:cNvSpPr/>
            <p:nvPr/>
          </p:nvSpPr>
          <p:spPr>
            <a:xfrm>
              <a:off x="1580530" y="1287350"/>
              <a:ext cx="75565" cy="698500"/>
            </a:xfrm>
            <a:custGeom>
              <a:avLst/>
              <a:gdLst/>
              <a:ahLst/>
              <a:cxnLst/>
              <a:rect l="l" t="t" r="r" b="b"/>
              <a:pathLst>
                <a:path w="75564" h="698500">
                  <a:moveTo>
                    <a:pt x="75389" y="698282"/>
                  </a:moveTo>
                  <a:lnTo>
                    <a:pt x="55842" y="641541"/>
                  </a:lnTo>
                  <a:lnTo>
                    <a:pt x="39271" y="586804"/>
                  </a:lnTo>
                  <a:lnTo>
                    <a:pt x="25646" y="533832"/>
                  </a:lnTo>
                  <a:lnTo>
                    <a:pt x="14937" y="482390"/>
                  </a:lnTo>
                  <a:lnTo>
                    <a:pt x="7113" y="432241"/>
                  </a:lnTo>
                  <a:lnTo>
                    <a:pt x="2144" y="383148"/>
                  </a:lnTo>
                  <a:lnTo>
                    <a:pt x="0" y="334873"/>
                  </a:lnTo>
                  <a:lnTo>
                    <a:pt x="650" y="287181"/>
                  </a:lnTo>
                  <a:lnTo>
                    <a:pt x="4065" y="239835"/>
                  </a:lnTo>
                  <a:lnTo>
                    <a:pt x="10213" y="192597"/>
                  </a:lnTo>
                  <a:lnTo>
                    <a:pt x="19065" y="145232"/>
                  </a:lnTo>
                  <a:lnTo>
                    <a:pt x="30591" y="97501"/>
                  </a:lnTo>
                  <a:lnTo>
                    <a:pt x="44760" y="49170"/>
                  </a:lnTo>
                  <a:lnTo>
                    <a:pt x="61542" y="0"/>
                  </a:lnTo>
                </a:path>
              </a:pathLst>
            </a:custGeom>
            <a:ln w="15183">
              <a:solidFill>
                <a:srgbClr val="005F72"/>
              </a:solidFill>
              <a:prstDash val="dash"/>
            </a:ln>
          </p:spPr>
          <p:txBody>
            <a:bodyPr wrap="square" lIns="0" tIns="0" rIns="0" bIns="0" rtlCol="0"/>
            <a:lstStyle/>
            <a:p>
              <a:endParaRPr/>
            </a:p>
          </p:txBody>
        </p:sp>
        <p:sp>
          <p:nvSpPr>
            <p:cNvPr id="31" name="object 31"/>
            <p:cNvSpPr/>
            <p:nvPr/>
          </p:nvSpPr>
          <p:spPr>
            <a:xfrm>
              <a:off x="1603327" y="1249304"/>
              <a:ext cx="60960" cy="72390"/>
            </a:xfrm>
            <a:custGeom>
              <a:avLst/>
              <a:gdLst/>
              <a:ahLst/>
              <a:cxnLst/>
              <a:rect l="l" t="t" r="r" b="b"/>
              <a:pathLst>
                <a:path w="60960" h="72390">
                  <a:moveTo>
                    <a:pt x="0" y="49796"/>
                  </a:moveTo>
                  <a:lnTo>
                    <a:pt x="38745" y="38046"/>
                  </a:lnTo>
                  <a:lnTo>
                    <a:pt x="60874" y="71952"/>
                  </a:lnTo>
                  <a:lnTo>
                    <a:pt x="52593" y="0"/>
                  </a:lnTo>
                  <a:lnTo>
                    <a:pt x="0" y="49796"/>
                  </a:lnTo>
                  <a:close/>
                </a:path>
              </a:pathLst>
            </a:custGeom>
            <a:solidFill>
              <a:srgbClr val="005F72"/>
            </a:solidFill>
          </p:spPr>
          <p:txBody>
            <a:bodyPr wrap="square" lIns="0" tIns="0" rIns="0" bIns="0" rtlCol="0"/>
            <a:lstStyle/>
            <a:p>
              <a:endParaRPr/>
            </a:p>
          </p:txBody>
        </p:sp>
        <p:sp>
          <p:nvSpPr>
            <p:cNvPr id="32" name="object 32"/>
            <p:cNvSpPr/>
            <p:nvPr/>
          </p:nvSpPr>
          <p:spPr>
            <a:xfrm>
              <a:off x="2071340" y="1249304"/>
              <a:ext cx="1588770" cy="736600"/>
            </a:xfrm>
            <a:custGeom>
              <a:avLst/>
              <a:gdLst/>
              <a:ahLst/>
              <a:cxnLst/>
              <a:rect l="l" t="t" r="r" b="b"/>
              <a:pathLst>
                <a:path w="1588770" h="736600">
                  <a:moveTo>
                    <a:pt x="473337" y="212143"/>
                  </a:moveTo>
                  <a:lnTo>
                    <a:pt x="0" y="0"/>
                  </a:lnTo>
                </a:path>
                <a:path w="1588770" h="736600">
                  <a:moveTo>
                    <a:pt x="1127642" y="244004"/>
                  </a:moveTo>
                  <a:lnTo>
                    <a:pt x="1588524" y="89181"/>
                  </a:lnTo>
                </a:path>
                <a:path w="1588770" h="736600">
                  <a:moveTo>
                    <a:pt x="1115428" y="499286"/>
                  </a:moveTo>
                  <a:lnTo>
                    <a:pt x="1559723" y="697548"/>
                  </a:lnTo>
                </a:path>
                <a:path w="1588770" h="736600">
                  <a:moveTo>
                    <a:pt x="477078" y="507867"/>
                  </a:moveTo>
                  <a:lnTo>
                    <a:pt x="0" y="736328"/>
                  </a:lnTo>
                </a:path>
              </a:pathLst>
            </a:custGeom>
            <a:ln w="5060">
              <a:solidFill>
                <a:srgbClr val="BFD6DC"/>
              </a:solidFill>
            </a:ln>
          </p:spPr>
          <p:txBody>
            <a:bodyPr wrap="square" lIns="0" tIns="0" rIns="0" bIns="0" rtlCol="0"/>
            <a:lstStyle/>
            <a:p>
              <a:endParaRPr/>
            </a:p>
          </p:txBody>
        </p:sp>
      </p:grpSp>
      <p:sp>
        <p:nvSpPr>
          <p:cNvPr id="33" name="object 33"/>
          <p:cNvSpPr txBox="1"/>
          <p:nvPr/>
        </p:nvSpPr>
        <p:spPr>
          <a:xfrm>
            <a:off x="887006" y="2775386"/>
            <a:ext cx="3985895" cy="177800"/>
          </a:xfrm>
          <a:prstGeom prst="rect">
            <a:avLst/>
          </a:prstGeom>
        </p:spPr>
        <p:txBody>
          <a:bodyPr vert="horz" wrap="square" lIns="0" tIns="12065" rIns="0" bIns="0" rtlCol="0">
            <a:spAutoFit/>
          </a:bodyPr>
          <a:lstStyle/>
          <a:p>
            <a:pPr marL="12700">
              <a:lnSpc>
                <a:spcPct val="100000"/>
              </a:lnSpc>
              <a:spcBef>
                <a:spcPts val="95"/>
              </a:spcBef>
            </a:pPr>
            <a:r>
              <a:rPr sz="1000" spc="-40">
                <a:solidFill>
                  <a:srgbClr val="6C757C"/>
                </a:solidFill>
                <a:latin typeface="Tahoma"/>
                <a:cs typeface="Tahoma"/>
              </a:rPr>
              <a:t>Hundreds </a:t>
            </a:r>
            <a:r>
              <a:rPr sz="1000">
                <a:solidFill>
                  <a:srgbClr val="6C757C"/>
                </a:solidFill>
                <a:latin typeface="Tahoma"/>
                <a:cs typeface="Tahoma"/>
              </a:rPr>
              <a:t>of</a:t>
            </a:r>
            <a:r>
              <a:rPr sz="1000" spc="-45">
                <a:solidFill>
                  <a:srgbClr val="6C757C"/>
                </a:solidFill>
                <a:latin typeface="Tahoma"/>
                <a:cs typeface="Tahoma"/>
              </a:rPr>
              <a:t> </a:t>
            </a:r>
            <a:r>
              <a:rPr sz="1000" spc="-35">
                <a:solidFill>
                  <a:srgbClr val="6C757C"/>
                </a:solidFill>
                <a:latin typeface="Tahoma"/>
                <a:cs typeface="Tahoma"/>
              </a:rPr>
              <a:t>reports</a:t>
            </a:r>
            <a:r>
              <a:rPr sz="1000" spc="-20">
                <a:solidFill>
                  <a:srgbClr val="6C757C"/>
                </a:solidFill>
                <a:latin typeface="Tahoma"/>
                <a:cs typeface="Tahoma"/>
              </a:rPr>
              <a:t> </a:t>
            </a:r>
            <a:r>
              <a:rPr sz="1000" spc="-35">
                <a:solidFill>
                  <a:srgbClr val="6C757C"/>
                </a:solidFill>
                <a:latin typeface="Tahoma"/>
                <a:cs typeface="Tahoma"/>
              </a:rPr>
              <a:t>annotated</a:t>
            </a:r>
            <a:r>
              <a:rPr sz="1000" spc="-20">
                <a:solidFill>
                  <a:srgbClr val="6C757C"/>
                </a:solidFill>
                <a:latin typeface="Tahoma"/>
                <a:cs typeface="Tahoma"/>
              </a:rPr>
              <a:t> </a:t>
            </a:r>
            <a:r>
              <a:rPr sz="1000" spc="-114">
                <a:solidFill>
                  <a:srgbClr val="6C757C"/>
                </a:solidFill>
                <a:latin typeface="Tahoma"/>
                <a:cs typeface="Tahoma"/>
              </a:rPr>
              <a:t>|</a:t>
            </a:r>
            <a:r>
              <a:rPr sz="1000" spc="15">
                <a:solidFill>
                  <a:srgbClr val="6C757C"/>
                </a:solidFill>
                <a:latin typeface="Tahoma"/>
                <a:cs typeface="Tahoma"/>
              </a:rPr>
              <a:t> </a:t>
            </a:r>
            <a:r>
              <a:rPr sz="1000">
                <a:solidFill>
                  <a:srgbClr val="6C757C"/>
                </a:solidFill>
                <a:latin typeface="Tahoma"/>
                <a:cs typeface="Tahoma"/>
              </a:rPr>
              <a:t>Model</a:t>
            </a:r>
            <a:r>
              <a:rPr sz="1000" spc="-20">
                <a:solidFill>
                  <a:srgbClr val="6C757C"/>
                </a:solidFill>
                <a:latin typeface="Tahoma"/>
                <a:cs typeface="Tahoma"/>
              </a:rPr>
              <a:t> </a:t>
            </a:r>
            <a:r>
              <a:rPr sz="1000" spc="-50">
                <a:solidFill>
                  <a:srgbClr val="6C757C"/>
                </a:solidFill>
                <a:latin typeface="Tahoma"/>
                <a:cs typeface="Tahoma"/>
              </a:rPr>
              <a:t>ﬁne-</a:t>
            </a:r>
            <a:r>
              <a:rPr sz="1000" spc="-35">
                <a:solidFill>
                  <a:srgbClr val="6C757C"/>
                </a:solidFill>
                <a:latin typeface="Tahoma"/>
                <a:cs typeface="Tahoma"/>
              </a:rPr>
              <a:t>tuned</a:t>
            </a:r>
            <a:r>
              <a:rPr sz="1000" spc="-20">
                <a:solidFill>
                  <a:srgbClr val="6C757C"/>
                </a:solidFill>
                <a:latin typeface="Tahoma"/>
                <a:cs typeface="Tahoma"/>
              </a:rPr>
              <a:t> per</a:t>
            </a:r>
            <a:r>
              <a:rPr sz="1000" spc="-15">
                <a:solidFill>
                  <a:srgbClr val="6C757C"/>
                </a:solidFill>
                <a:latin typeface="Tahoma"/>
                <a:cs typeface="Tahoma"/>
              </a:rPr>
              <a:t> </a:t>
            </a:r>
            <a:r>
              <a:rPr sz="1000" spc="-30">
                <a:solidFill>
                  <a:srgbClr val="6C757C"/>
                </a:solidFill>
                <a:latin typeface="Tahoma"/>
                <a:cs typeface="Tahoma"/>
              </a:rPr>
              <a:t>concept</a:t>
            </a:r>
            <a:r>
              <a:rPr sz="1000" spc="-25">
                <a:solidFill>
                  <a:srgbClr val="6C757C"/>
                </a:solidFill>
                <a:latin typeface="Tahoma"/>
                <a:cs typeface="Tahoma"/>
              </a:rPr>
              <a:t> and</a:t>
            </a:r>
            <a:r>
              <a:rPr sz="1000" spc="-20">
                <a:solidFill>
                  <a:srgbClr val="6C757C"/>
                </a:solidFill>
                <a:latin typeface="Tahoma"/>
                <a:cs typeface="Tahoma"/>
              </a:rPr>
              <a:t> </a:t>
            </a:r>
            <a:r>
              <a:rPr sz="1000" spc="-10">
                <a:solidFill>
                  <a:srgbClr val="6C757C"/>
                </a:solidFill>
                <a:latin typeface="Tahoma"/>
                <a:cs typeface="Tahoma"/>
              </a:rPr>
              <a:t>process</a:t>
            </a:r>
            <a:endParaRPr sz="1000">
              <a:latin typeface="Tahoma"/>
              <a:cs typeface="Tahoma"/>
            </a:endParaRPr>
          </a:p>
        </p:txBody>
      </p:sp>
      <p:sp>
        <p:nvSpPr>
          <p:cNvPr id="34" name="object 34"/>
          <p:cNvSpPr/>
          <p:nvPr/>
        </p:nvSpPr>
        <p:spPr>
          <a:xfrm>
            <a:off x="0" y="3060028"/>
            <a:ext cx="5760085" cy="0"/>
          </a:xfrm>
          <a:custGeom>
            <a:avLst/>
            <a:gdLst/>
            <a:ahLst/>
            <a:cxnLst/>
            <a:rect l="l" t="t" r="r" b="b"/>
            <a:pathLst>
              <a:path w="5760085">
                <a:moveTo>
                  <a:pt x="0" y="0"/>
                </a:moveTo>
                <a:lnTo>
                  <a:pt x="5760073" y="0"/>
                </a:lnTo>
              </a:path>
            </a:pathLst>
          </a:custGeom>
          <a:ln w="6326">
            <a:solidFill>
              <a:srgbClr val="CED3DA"/>
            </a:solidFill>
          </a:ln>
        </p:spPr>
        <p:txBody>
          <a:bodyPr wrap="square" lIns="0" tIns="0" rIns="0" bIns="0" rtlCol="0"/>
          <a:lstStyle/>
          <a:p>
            <a:endParaRPr/>
          </a:p>
        </p:txBody>
      </p:sp>
      <p:sp>
        <p:nvSpPr>
          <p:cNvPr id="37" name="Slide Number Placeholder 36">
            <a:extLst>
              <a:ext uri="{FF2B5EF4-FFF2-40B4-BE49-F238E27FC236}">
                <a16:creationId xmlns:a16="http://schemas.microsoft.com/office/drawing/2014/main" id="{F5B9A739-9E39-F281-0F1F-596009895405}"/>
              </a:ext>
            </a:extLst>
          </p:cNvPr>
          <p:cNvSpPr>
            <a:spLocks noGrp="1"/>
          </p:cNvSpPr>
          <p:nvPr>
            <p:ph type="sldNum" sz="quarter" idx="7"/>
          </p:nvPr>
        </p:nvSpPr>
        <p:spPr/>
        <p:txBody>
          <a:bodyPr/>
          <a:lstStyle/>
          <a:p>
            <a:pPr marL="39370">
              <a:lnSpc>
                <a:spcPct val="100000"/>
              </a:lnSpc>
              <a:spcBef>
                <a:spcPts val="219"/>
              </a:spcBef>
            </a:pPr>
            <a:fld id="{81D60167-4931-47E6-BA6A-407CBD079E47}" type="slidenum">
              <a:rPr lang="en-GB" smtClean="0"/>
              <a:t>36</a:t>
            </a:fld>
            <a:r>
              <a:rPr lang="en-GB" spc="20"/>
              <a:t> </a:t>
            </a:r>
            <a:r>
              <a:rPr lang="en-GB" spc="120"/>
              <a:t>/</a:t>
            </a:r>
            <a:r>
              <a:rPr lang="en-GB" spc="25"/>
              <a:t> </a:t>
            </a:r>
            <a:r>
              <a:rPr lang="en-GB" spc="-25"/>
              <a:t>41</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75118" rIns="0" bIns="0" rtlCol="0">
            <a:spAutoFit/>
          </a:bodyPr>
          <a:lstStyle/>
          <a:p>
            <a:pPr marL="99060">
              <a:lnSpc>
                <a:spcPct val="100000"/>
              </a:lnSpc>
              <a:spcBef>
                <a:spcPts val="135"/>
              </a:spcBef>
            </a:pPr>
            <a:r>
              <a:t>Key</a:t>
            </a:r>
            <a:r>
              <a:rPr spc="105"/>
              <a:t> </a:t>
            </a:r>
            <a:r>
              <a:rPr spc="-55"/>
              <a:t>Takeaways</a:t>
            </a:r>
          </a:p>
        </p:txBody>
      </p:sp>
      <p:sp>
        <p:nvSpPr>
          <p:cNvPr id="3" name="object 3"/>
          <p:cNvSpPr/>
          <p:nvPr/>
        </p:nvSpPr>
        <p:spPr>
          <a:xfrm>
            <a:off x="359994" y="543178"/>
            <a:ext cx="900430" cy="0"/>
          </a:xfrm>
          <a:custGeom>
            <a:avLst/>
            <a:gdLst/>
            <a:ahLst/>
            <a:cxnLst/>
            <a:rect l="l" t="t" r="r" b="b"/>
            <a:pathLst>
              <a:path w="900430">
                <a:moveTo>
                  <a:pt x="0" y="0"/>
                </a:moveTo>
                <a:lnTo>
                  <a:pt x="900010" y="0"/>
                </a:lnTo>
              </a:path>
            </a:pathLst>
          </a:custGeom>
          <a:ln w="18978">
            <a:solidFill>
              <a:srgbClr val="005F73"/>
            </a:solidFill>
          </a:ln>
        </p:spPr>
        <p:txBody>
          <a:bodyPr wrap="square" lIns="0" tIns="0" rIns="0" bIns="0" rtlCol="0"/>
          <a:lstStyle/>
          <a:p>
            <a:endParaRPr/>
          </a:p>
        </p:txBody>
      </p:sp>
      <p:sp>
        <p:nvSpPr>
          <p:cNvPr id="4" name="object 4"/>
          <p:cNvSpPr txBox="1"/>
          <p:nvPr/>
        </p:nvSpPr>
        <p:spPr>
          <a:xfrm>
            <a:off x="169824" y="789004"/>
            <a:ext cx="1514475" cy="889635"/>
          </a:xfrm>
          <a:prstGeom prst="rect">
            <a:avLst/>
          </a:prstGeom>
        </p:spPr>
        <p:txBody>
          <a:bodyPr vert="horz" wrap="square" lIns="0" tIns="113030" rIns="0" bIns="0" rtlCol="0">
            <a:spAutoFit/>
          </a:bodyPr>
          <a:lstStyle/>
          <a:p>
            <a:pPr marL="419734">
              <a:lnSpc>
                <a:spcPct val="100000"/>
              </a:lnSpc>
              <a:spcBef>
                <a:spcPts val="890"/>
              </a:spcBef>
            </a:pPr>
            <a:r>
              <a:rPr sz="1200" b="1" spc="-10">
                <a:solidFill>
                  <a:srgbClr val="005F73"/>
                </a:solidFill>
                <a:latin typeface="Arial"/>
                <a:cs typeface="Arial"/>
              </a:rPr>
              <a:t>Challenge</a:t>
            </a:r>
            <a:endParaRPr sz="1200">
              <a:latin typeface="Arial"/>
              <a:cs typeface="Arial"/>
            </a:endParaRPr>
          </a:p>
          <a:p>
            <a:pPr marL="12700" marR="5080" indent="88900">
              <a:lnSpc>
                <a:spcPct val="112900"/>
              </a:lnSpc>
              <a:spcBef>
                <a:spcPts val="509"/>
              </a:spcBef>
            </a:pPr>
            <a:r>
              <a:rPr sz="1000" spc="-35">
                <a:solidFill>
                  <a:srgbClr val="202429"/>
                </a:solidFill>
                <a:latin typeface="Tahoma"/>
                <a:cs typeface="Tahoma"/>
              </a:rPr>
              <a:t>Unstructured</a:t>
            </a:r>
            <a:r>
              <a:rPr sz="1000" spc="25">
                <a:solidFill>
                  <a:srgbClr val="202429"/>
                </a:solidFill>
                <a:latin typeface="Tahoma"/>
                <a:cs typeface="Tahoma"/>
              </a:rPr>
              <a:t> </a:t>
            </a:r>
            <a:r>
              <a:rPr sz="1000" spc="-45">
                <a:solidFill>
                  <a:srgbClr val="202429"/>
                </a:solidFill>
                <a:latin typeface="Tahoma"/>
                <a:cs typeface="Tahoma"/>
              </a:rPr>
              <a:t>safety</a:t>
            </a:r>
            <a:r>
              <a:rPr sz="1000" spc="25">
                <a:solidFill>
                  <a:srgbClr val="202429"/>
                </a:solidFill>
                <a:latin typeface="Tahoma"/>
                <a:cs typeface="Tahoma"/>
              </a:rPr>
              <a:t> </a:t>
            </a:r>
            <a:r>
              <a:rPr sz="1000" spc="-20">
                <a:solidFill>
                  <a:srgbClr val="202429"/>
                </a:solidFill>
                <a:latin typeface="Tahoma"/>
                <a:cs typeface="Tahoma"/>
              </a:rPr>
              <a:t>data </a:t>
            </a:r>
            <a:r>
              <a:rPr sz="1000" spc="-30">
                <a:solidFill>
                  <a:srgbClr val="202429"/>
                </a:solidFill>
                <a:latin typeface="Tahoma"/>
                <a:cs typeface="Tahoma"/>
              </a:rPr>
              <a:t>contains</a:t>
            </a:r>
            <a:r>
              <a:rPr sz="1000" spc="-35">
                <a:solidFill>
                  <a:srgbClr val="202429"/>
                </a:solidFill>
                <a:latin typeface="Tahoma"/>
                <a:cs typeface="Tahoma"/>
              </a:rPr>
              <a:t> </a:t>
            </a:r>
            <a:r>
              <a:rPr sz="1000" spc="-25">
                <a:solidFill>
                  <a:srgbClr val="202429"/>
                </a:solidFill>
                <a:latin typeface="Tahoma"/>
                <a:cs typeface="Tahoma"/>
              </a:rPr>
              <a:t>insights</a:t>
            </a:r>
            <a:r>
              <a:rPr sz="1000" spc="-30">
                <a:solidFill>
                  <a:srgbClr val="202429"/>
                </a:solidFill>
                <a:latin typeface="Tahoma"/>
                <a:cs typeface="Tahoma"/>
              </a:rPr>
              <a:t> </a:t>
            </a:r>
            <a:r>
              <a:rPr sz="1000">
                <a:solidFill>
                  <a:srgbClr val="202429"/>
                </a:solidFill>
                <a:latin typeface="Tahoma"/>
                <a:cs typeface="Tahoma"/>
              </a:rPr>
              <a:t>but</a:t>
            </a:r>
            <a:r>
              <a:rPr sz="1000" spc="-25">
                <a:solidFill>
                  <a:srgbClr val="202429"/>
                </a:solidFill>
                <a:latin typeface="Tahoma"/>
                <a:cs typeface="Tahoma"/>
              </a:rPr>
              <a:t> </a:t>
            </a:r>
            <a:r>
              <a:rPr sz="1000">
                <a:solidFill>
                  <a:srgbClr val="202429"/>
                </a:solidFill>
                <a:latin typeface="Tahoma"/>
                <a:cs typeface="Tahoma"/>
              </a:rPr>
              <a:t>is</a:t>
            </a:r>
            <a:r>
              <a:rPr sz="1000" spc="-30">
                <a:solidFill>
                  <a:srgbClr val="202429"/>
                </a:solidFill>
                <a:latin typeface="Tahoma"/>
                <a:cs typeface="Tahoma"/>
              </a:rPr>
              <a:t> </a:t>
            </a:r>
            <a:r>
              <a:rPr sz="1000" spc="-45">
                <a:solidFill>
                  <a:srgbClr val="202429"/>
                </a:solidFill>
                <a:latin typeface="Tahoma"/>
                <a:cs typeface="Tahoma"/>
              </a:rPr>
              <a:t>hard</a:t>
            </a:r>
            <a:endParaRPr sz="1000">
              <a:latin typeface="Tahoma"/>
              <a:cs typeface="Tahoma"/>
            </a:endParaRPr>
          </a:p>
          <a:p>
            <a:pPr marL="251460">
              <a:lnSpc>
                <a:spcPct val="100000"/>
              </a:lnSpc>
              <a:spcBef>
                <a:spcPts val="155"/>
              </a:spcBef>
            </a:pPr>
            <a:r>
              <a:rPr sz="1000">
                <a:solidFill>
                  <a:srgbClr val="202429"/>
                </a:solidFill>
                <a:latin typeface="Tahoma"/>
                <a:cs typeface="Tahoma"/>
              </a:rPr>
              <a:t>to</a:t>
            </a:r>
            <a:r>
              <a:rPr sz="1000" spc="-20">
                <a:solidFill>
                  <a:srgbClr val="202429"/>
                </a:solidFill>
                <a:latin typeface="Tahoma"/>
                <a:cs typeface="Tahoma"/>
              </a:rPr>
              <a:t> </a:t>
            </a:r>
            <a:r>
              <a:rPr sz="1000" spc="-40">
                <a:solidFill>
                  <a:srgbClr val="202429"/>
                </a:solidFill>
                <a:latin typeface="Tahoma"/>
                <a:cs typeface="Tahoma"/>
              </a:rPr>
              <a:t>analyse</a:t>
            </a:r>
            <a:r>
              <a:rPr sz="1000" spc="-15">
                <a:solidFill>
                  <a:srgbClr val="202429"/>
                </a:solidFill>
                <a:latin typeface="Tahoma"/>
                <a:cs typeface="Tahoma"/>
              </a:rPr>
              <a:t> </a:t>
            </a:r>
            <a:r>
              <a:rPr sz="1000">
                <a:solidFill>
                  <a:srgbClr val="202429"/>
                </a:solidFill>
                <a:latin typeface="Tahoma"/>
                <a:cs typeface="Tahoma"/>
              </a:rPr>
              <a:t>at</a:t>
            </a:r>
            <a:r>
              <a:rPr sz="1000" spc="-15">
                <a:solidFill>
                  <a:srgbClr val="202429"/>
                </a:solidFill>
                <a:latin typeface="Tahoma"/>
                <a:cs typeface="Tahoma"/>
              </a:rPr>
              <a:t> </a:t>
            </a:r>
            <a:r>
              <a:rPr sz="1000" spc="-10">
                <a:solidFill>
                  <a:srgbClr val="202429"/>
                </a:solidFill>
                <a:latin typeface="Tahoma"/>
                <a:cs typeface="Tahoma"/>
              </a:rPr>
              <a:t>scale.</a:t>
            </a:r>
            <a:endParaRPr sz="1000">
              <a:latin typeface="Tahoma"/>
              <a:cs typeface="Tahoma"/>
            </a:endParaRPr>
          </a:p>
        </p:txBody>
      </p:sp>
      <p:sp>
        <p:nvSpPr>
          <p:cNvPr id="5" name="object 5"/>
          <p:cNvSpPr/>
          <p:nvPr/>
        </p:nvSpPr>
        <p:spPr>
          <a:xfrm>
            <a:off x="1903196" y="949451"/>
            <a:ext cx="0" cy="1260475"/>
          </a:xfrm>
          <a:custGeom>
            <a:avLst/>
            <a:gdLst/>
            <a:ahLst/>
            <a:cxnLst/>
            <a:rect l="l" t="t" r="r" b="b"/>
            <a:pathLst>
              <a:path h="1260475">
                <a:moveTo>
                  <a:pt x="0" y="1260005"/>
                </a:moveTo>
                <a:lnTo>
                  <a:pt x="0" y="0"/>
                </a:lnTo>
              </a:path>
            </a:pathLst>
          </a:custGeom>
          <a:ln w="6325">
            <a:solidFill>
              <a:srgbClr val="CED3DA"/>
            </a:solidFill>
          </a:ln>
        </p:spPr>
        <p:txBody>
          <a:bodyPr wrap="square" lIns="0" tIns="0" rIns="0" bIns="0" rtlCol="0"/>
          <a:lstStyle/>
          <a:p>
            <a:endParaRPr/>
          </a:p>
        </p:txBody>
      </p:sp>
      <p:sp>
        <p:nvSpPr>
          <p:cNvPr id="6" name="object 6"/>
          <p:cNvSpPr txBox="1"/>
          <p:nvPr/>
        </p:nvSpPr>
        <p:spPr>
          <a:xfrm>
            <a:off x="2139962" y="789004"/>
            <a:ext cx="1480185" cy="889635"/>
          </a:xfrm>
          <a:prstGeom prst="rect">
            <a:avLst/>
          </a:prstGeom>
        </p:spPr>
        <p:txBody>
          <a:bodyPr vert="horz" wrap="square" lIns="0" tIns="113030" rIns="0" bIns="0" rtlCol="0">
            <a:spAutoFit/>
          </a:bodyPr>
          <a:lstStyle/>
          <a:p>
            <a:pPr algn="ctr">
              <a:lnSpc>
                <a:spcPct val="100000"/>
              </a:lnSpc>
              <a:spcBef>
                <a:spcPts val="890"/>
              </a:spcBef>
            </a:pPr>
            <a:r>
              <a:rPr sz="1200" b="1" spc="-10">
                <a:solidFill>
                  <a:srgbClr val="D65F2C"/>
                </a:solidFill>
                <a:latin typeface="Arial"/>
                <a:cs typeface="Arial"/>
              </a:rPr>
              <a:t>Methods</a:t>
            </a:r>
            <a:endParaRPr sz="1200">
              <a:latin typeface="Arial"/>
              <a:cs typeface="Arial"/>
            </a:endParaRPr>
          </a:p>
          <a:p>
            <a:pPr marL="12700" marR="5080" algn="ctr">
              <a:lnSpc>
                <a:spcPct val="112900"/>
              </a:lnSpc>
              <a:spcBef>
                <a:spcPts val="509"/>
              </a:spcBef>
            </a:pPr>
            <a:r>
              <a:rPr sz="1000">
                <a:solidFill>
                  <a:srgbClr val="202429"/>
                </a:solidFill>
                <a:latin typeface="Tahoma"/>
                <a:cs typeface="Tahoma"/>
              </a:rPr>
              <a:t>Our</a:t>
            </a:r>
            <a:r>
              <a:rPr sz="1000" spc="-55">
                <a:solidFill>
                  <a:srgbClr val="202429"/>
                </a:solidFill>
                <a:latin typeface="Tahoma"/>
                <a:cs typeface="Tahoma"/>
              </a:rPr>
              <a:t> </a:t>
            </a:r>
            <a:r>
              <a:rPr sz="1000">
                <a:solidFill>
                  <a:srgbClr val="202429"/>
                </a:solidFill>
                <a:latin typeface="Tahoma"/>
                <a:cs typeface="Tahoma"/>
              </a:rPr>
              <a:t>tools</a:t>
            </a:r>
            <a:r>
              <a:rPr sz="1000" spc="-50">
                <a:solidFill>
                  <a:srgbClr val="202429"/>
                </a:solidFill>
                <a:latin typeface="Tahoma"/>
                <a:cs typeface="Tahoma"/>
              </a:rPr>
              <a:t> </a:t>
            </a:r>
            <a:r>
              <a:rPr sz="1000" spc="-30">
                <a:solidFill>
                  <a:srgbClr val="202429"/>
                </a:solidFill>
                <a:latin typeface="Tahoma"/>
                <a:cs typeface="Tahoma"/>
              </a:rPr>
              <a:t>combine</a:t>
            </a:r>
            <a:r>
              <a:rPr sz="1000" spc="-50">
                <a:solidFill>
                  <a:srgbClr val="202429"/>
                </a:solidFill>
                <a:latin typeface="Tahoma"/>
                <a:cs typeface="Tahoma"/>
              </a:rPr>
              <a:t> </a:t>
            </a:r>
            <a:r>
              <a:rPr sz="1000" spc="-10">
                <a:solidFill>
                  <a:srgbClr val="202429"/>
                </a:solidFill>
                <a:latin typeface="Tahoma"/>
                <a:cs typeface="Tahoma"/>
              </a:rPr>
              <a:t>human </a:t>
            </a:r>
            <a:r>
              <a:rPr sz="1000" spc="-40">
                <a:solidFill>
                  <a:srgbClr val="202429"/>
                </a:solidFill>
                <a:latin typeface="Tahoma"/>
                <a:cs typeface="Tahoma"/>
              </a:rPr>
              <a:t>expertise</a:t>
            </a:r>
            <a:r>
              <a:rPr sz="1000" spc="-30">
                <a:solidFill>
                  <a:srgbClr val="202429"/>
                </a:solidFill>
                <a:latin typeface="Tahoma"/>
                <a:cs typeface="Tahoma"/>
              </a:rPr>
              <a:t> </a:t>
            </a:r>
            <a:r>
              <a:rPr sz="1000">
                <a:solidFill>
                  <a:srgbClr val="202429"/>
                </a:solidFill>
                <a:latin typeface="Tahoma"/>
                <a:cs typeface="Tahoma"/>
              </a:rPr>
              <a:t>with</a:t>
            </a:r>
            <a:r>
              <a:rPr sz="1000" spc="-35">
                <a:solidFill>
                  <a:srgbClr val="202429"/>
                </a:solidFill>
                <a:latin typeface="Tahoma"/>
                <a:cs typeface="Tahoma"/>
              </a:rPr>
              <a:t> </a:t>
            </a:r>
            <a:r>
              <a:rPr sz="1000">
                <a:solidFill>
                  <a:srgbClr val="202429"/>
                </a:solidFill>
                <a:latin typeface="Tahoma"/>
                <a:cs typeface="Tahoma"/>
              </a:rPr>
              <a:t>AI</a:t>
            </a:r>
            <a:r>
              <a:rPr sz="1000" spc="-30">
                <a:solidFill>
                  <a:srgbClr val="202429"/>
                </a:solidFill>
                <a:latin typeface="Tahoma"/>
                <a:cs typeface="Tahoma"/>
              </a:rPr>
              <a:t> </a:t>
            </a:r>
            <a:r>
              <a:rPr sz="1000">
                <a:solidFill>
                  <a:srgbClr val="202429"/>
                </a:solidFill>
                <a:latin typeface="Tahoma"/>
                <a:cs typeface="Tahoma"/>
              </a:rPr>
              <a:t>to</a:t>
            </a:r>
            <a:r>
              <a:rPr sz="1000" spc="-30">
                <a:solidFill>
                  <a:srgbClr val="202429"/>
                </a:solidFill>
                <a:latin typeface="Tahoma"/>
                <a:cs typeface="Tahoma"/>
              </a:rPr>
              <a:t> </a:t>
            </a:r>
            <a:r>
              <a:rPr sz="1000" spc="-25">
                <a:solidFill>
                  <a:srgbClr val="202429"/>
                </a:solidFill>
                <a:latin typeface="Tahoma"/>
                <a:cs typeface="Tahoma"/>
              </a:rPr>
              <a:t>extract </a:t>
            </a:r>
            <a:r>
              <a:rPr sz="1000" spc="-45">
                <a:solidFill>
                  <a:srgbClr val="202429"/>
                </a:solidFill>
                <a:latin typeface="Tahoma"/>
                <a:cs typeface="Tahoma"/>
              </a:rPr>
              <a:t>safety</a:t>
            </a:r>
            <a:r>
              <a:rPr sz="1000" spc="20">
                <a:solidFill>
                  <a:srgbClr val="202429"/>
                </a:solidFill>
                <a:latin typeface="Tahoma"/>
                <a:cs typeface="Tahoma"/>
              </a:rPr>
              <a:t> </a:t>
            </a:r>
            <a:r>
              <a:rPr sz="1000" spc="-30">
                <a:solidFill>
                  <a:srgbClr val="202429"/>
                </a:solidFill>
                <a:latin typeface="Tahoma"/>
                <a:cs typeface="Tahoma"/>
              </a:rPr>
              <a:t>intelligence</a:t>
            </a:r>
            <a:r>
              <a:rPr sz="1000" spc="25">
                <a:solidFill>
                  <a:srgbClr val="202429"/>
                </a:solidFill>
                <a:latin typeface="Tahoma"/>
                <a:cs typeface="Tahoma"/>
              </a:rPr>
              <a:t> </a:t>
            </a:r>
            <a:r>
              <a:rPr sz="1000" spc="-10">
                <a:solidFill>
                  <a:srgbClr val="202429"/>
                </a:solidFill>
                <a:latin typeface="Tahoma"/>
                <a:cs typeface="Tahoma"/>
              </a:rPr>
              <a:t>fairly.</a:t>
            </a:r>
            <a:endParaRPr sz="1000">
              <a:latin typeface="Tahoma"/>
              <a:cs typeface="Tahoma"/>
            </a:endParaRPr>
          </a:p>
        </p:txBody>
      </p:sp>
      <p:sp>
        <p:nvSpPr>
          <p:cNvPr id="7" name="object 7"/>
          <p:cNvSpPr/>
          <p:nvPr/>
        </p:nvSpPr>
        <p:spPr>
          <a:xfrm>
            <a:off x="3856799" y="949451"/>
            <a:ext cx="0" cy="1260475"/>
          </a:xfrm>
          <a:custGeom>
            <a:avLst/>
            <a:gdLst/>
            <a:ahLst/>
            <a:cxnLst/>
            <a:rect l="l" t="t" r="r" b="b"/>
            <a:pathLst>
              <a:path h="1260475">
                <a:moveTo>
                  <a:pt x="0" y="1260005"/>
                </a:moveTo>
                <a:lnTo>
                  <a:pt x="0" y="0"/>
                </a:lnTo>
              </a:path>
            </a:pathLst>
          </a:custGeom>
          <a:ln w="6325">
            <a:solidFill>
              <a:srgbClr val="CED3DA"/>
            </a:solidFill>
          </a:ln>
        </p:spPr>
        <p:txBody>
          <a:bodyPr wrap="square" lIns="0" tIns="0" rIns="0" bIns="0" rtlCol="0"/>
          <a:lstStyle/>
          <a:p>
            <a:endParaRPr/>
          </a:p>
        </p:txBody>
      </p:sp>
      <p:sp>
        <p:nvSpPr>
          <p:cNvPr id="8" name="object 8"/>
          <p:cNvSpPr txBox="1"/>
          <p:nvPr/>
        </p:nvSpPr>
        <p:spPr>
          <a:xfrm>
            <a:off x="4109554" y="789004"/>
            <a:ext cx="1447800" cy="889635"/>
          </a:xfrm>
          <a:prstGeom prst="rect">
            <a:avLst/>
          </a:prstGeom>
        </p:spPr>
        <p:txBody>
          <a:bodyPr vert="horz" wrap="square" lIns="0" tIns="113030" rIns="0" bIns="0" rtlCol="0">
            <a:spAutoFit/>
          </a:bodyPr>
          <a:lstStyle/>
          <a:p>
            <a:pPr algn="ctr">
              <a:lnSpc>
                <a:spcPct val="100000"/>
              </a:lnSpc>
              <a:spcBef>
                <a:spcPts val="890"/>
              </a:spcBef>
            </a:pPr>
            <a:r>
              <a:rPr sz="1200" b="1" spc="-10">
                <a:solidFill>
                  <a:srgbClr val="005F73"/>
                </a:solidFill>
                <a:latin typeface="Arial"/>
                <a:cs typeface="Arial"/>
              </a:rPr>
              <a:t>Ethics</a:t>
            </a:r>
            <a:endParaRPr sz="1200">
              <a:latin typeface="Arial"/>
              <a:cs typeface="Arial"/>
            </a:endParaRPr>
          </a:p>
          <a:p>
            <a:pPr marL="12700" marR="5080" algn="ctr">
              <a:lnSpc>
                <a:spcPct val="112900"/>
              </a:lnSpc>
              <a:spcBef>
                <a:spcPts val="509"/>
              </a:spcBef>
            </a:pPr>
            <a:r>
              <a:rPr sz="1000" spc="-40">
                <a:solidFill>
                  <a:srgbClr val="202429"/>
                </a:solidFill>
                <a:latin typeface="Tahoma"/>
                <a:cs typeface="Tahoma"/>
              </a:rPr>
              <a:t>Fairness,</a:t>
            </a:r>
            <a:r>
              <a:rPr sz="1000" spc="-10">
                <a:solidFill>
                  <a:srgbClr val="202429"/>
                </a:solidFill>
                <a:latin typeface="Tahoma"/>
                <a:cs typeface="Tahoma"/>
              </a:rPr>
              <a:t> </a:t>
            </a:r>
            <a:r>
              <a:rPr sz="1000" spc="-50">
                <a:solidFill>
                  <a:srgbClr val="202429"/>
                </a:solidFill>
                <a:latin typeface="Tahoma"/>
                <a:cs typeface="Tahoma"/>
              </a:rPr>
              <a:t>transparency,</a:t>
            </a:r>
            <a:r>
              <a:rPr sz="1000" spc="-5">
                <a:solidFill>
                  <a:srgbClr val="202429"/>
                </a:solidFill>
                <a:latin typeface="Tahoma"/>
                <a:cs typeface="Tahoma"/>
              </a:rPr>
              <a:t> </a:t>
            </a:r>
            <a:r>
              <a:rPr sz="1000" spc="-25">
                <a:solidFill>
                  <a:srgbClr val="202429"/>
                </a:solidFill>
                <a:latin typeface="Tahoma"/>
                <a:cs typeface="Tahoma"/>
              </a:rPr>
              <a:t>and </a:t>
            </a:r>
            <a:r>
              <a:rPr sz="1000" spc="-50">
                <a:solidFill>
                  <a:srgbClr val="202429"/>
                </a:solidFill>
                <a:latin typeface="Tahoma"/>
                <a:cs typeface="Tahoma"/>
              </a:rPr>
              <a:t>human</a:t>
            </a:r>
            <a:r>
              <a:rPr sz="1000" spc="-20">
                <a:solidFill>
                  <a:srgbClr val="202429"/>
                </a:solidFill>
                <a:latin typeface="Tahoma"/>
                <a:cs typeface="Tahoma"/>
              </a:rPr>
              <a:t> </a:t>
            </a:r>
            <a:r>
              <a:rPr sz="1000" spc="-35">
                <a:solidFill>
                  <a:srgbClr val="202429"/>
                </a:solidFill>
                <a:latin typeface="Tahoma"/>
                <a:cs typeface="Tahoma"/>
              </a:rPr>
              <a:t>oversight</a:t>
            </a:r>
            <a:r>
              <a:rPr sz="1000" spc="-15">
                <a:solidFill>
                  <a:srgbClr val="202429"/>
                </a:solidFill>
                <a:latin typeface="Tahoma"/>
                <a:cs typeface="Tahoma"/>
              </a:rPr>
              <a:t> </a:t>
            </a:r>
            <a:r>
              <a:rPr sz="1000" spc="-20">
                <a:solidFill>
                  <a:srgbClr val="202429"/>
                </a:solidFill>
                <a:latin typeface="Tahoma"/>
                <a:cs typeface="Tahoma"/>
              </a:rPr>
              <a:t>must</a:t>
            </a:r>
            <a:r>
              <a:rPr sz="1000" spc="-15">
                <a:solidFill>
                  <a:srgbClr val="202429"/>
                </a:solidFill>
                <a:latin typeface="Tahoma"/>
                <a:cs typeface="Tahoma"/>
              </a:rPr>
              <a:t> </a:t>
            </a:r>
            <a:r>
              <a:rPr sz="1000" spc="-25">
                <a:solidFill>
                  <a:srgbClr val="202429"/>
                </a:solidFill>
                <a:latin typeface="Tahoma"/>
                <a:cs typeface="Tahoma"/>
              </a:rPr>
              <a:t>be </a:t>
            </a:r>
            <a:r>
              <a:rPr sz="1000" spc="-50">
                <a:solidFill>
                  <a:srgbClr val="202429"/>
                </a:solidFill>
                <a:latin typeface="Tahoma"/>
                <a:cs typeface="Tahoma"/>
              </a:rPr>
              <a:t>designed</a:t>
            </a:r>
            <a:r>
              <a:rPr sz="1000" spc="-30">
                <a:solidFill>
                  <a:srgbClr val="202429"/>
                </a:solidFill>
                <a:latin typeface="Tahoma"/>
                <a:cs typeface="Tahoma"/>
              </a:rPr>
              <a:t> </a:t>
            </a:r>
            <a:r>
              <a:rPr sz="1000">
                <a:solidFill>
                  <a:srgbClr val="202429"/>
                </a:solidFill>
                <a:latin typeface="Tahoma"/>
                <a:cs typeface="Tahoma"/>
              </a:rPr>
              <a:t>in</a:t>
            </a:r>
            <a:r>
              <a:rPr sz="1000" spc="-60">
                <a:solidFill>
                  <a:srgbClr val="202429"/>
                </a:solidFill>
                <a:latin typeface="Tahoma"/>
                <a:cs typeface="Tahoma"/>
              </a:rPr>
              <a:t> </a:t>
            </a:r>
            <a:r>
              <a:rPr sz="1000" spc="-10">
                <a:solidFill>
                  <a:srgbClr val="202429"/>
                </a:solidFill>
                <a:latin typeface="Tahoma"/>
                <a:cs typeface="Tahoma"/>
              </a:rPr>
              <a:t>from</a:t>
            </a:r>
            <a:r>
              <a:rPr sz="1000" spc="-45">
                <a:solidFill>
                  <a:srgbClr val="202429"/>
                </a:solidFill>
                <a:latin typeface="Tahoma"/>
                <a:cs typeface="Tahoma"/>
              </a:rPr>
              <a:t> </a:t>
            </a:r>
            <a:r>
              <a:rPr sz="1000" spc="-10">
                <a:solidFill>
                  <a:srgbClr val="202429"/>
                </a:solidFill>
                <a:latin typeface="Tahoma"/>
                <a:cs typeface="Tahoma"/>
              </a:rPr>
              <a:t>the</a:t>
            </a:r>
            <a:r>
              <a:rPr sz="1000" spc="-45">
                <a:solidFill>
                  <a:srgbClr val="202429"/>
                </a:solidFill>
                <a:latin typeface="Tahoma"/>
                <a:cs typeface="Tahoma"/>
              </a:rPr>
              <a:t> </a:t>
            </a:r>
            <a:r>
              <a:rPr sz="1000" spc="-10">
                <a:solidFill>
                  <a:srgbClr val="202429"/>
                </a:solidFill>
                <a:latin typeface="Tahoma"/>
                <a:cs typeface="Tahoma"/>
              </a:rPr>
              <a:t>start.</a:t>
            </a:r>
            <a:endParaRPr sz="1000">
              <a:latin typeface="Tahoma"/>
              <a:cs typeface="Tahoma"/>
            </a:endParaRPr>
          </a:p>
        </p:txBody>
      </p:sp>
      <p:sp>
        <p:nvSpPr>
          <p:cNvPr id="9" name="object 9"/>
          <p:cNvSpPr txBox="1"/>
          <p:nvPr/>
        </p:nvSpPr>
        <p:spPr>
          <a:xfrm>
            <a:off x="1039507" y="2504757"/>
            <a:ext cx="3681095" cy="238125"/>
          </a:xfrm>
          <a:prstGeom prst="rect">
            <a:avLst/>
          </a:prstGeom>
          <a:solidFill>
            <a:srgbClr val="FFF3EB"/>
          </a:solidFill>
          <a:ln w="5060">
            <a:solidFill>
              <a:srgbClr val="D65F2C"/>
            </a:solidFill>
          </a:ln>
        </p:spPr>
        <p:txBody>
          <a:bodyPr vert="horz" wrap="square" lIns="0" tIns="28575" rIns="0" bIns="0" rtlCol="0">
            <a:spAutoFit/>
          </a:bodyPr>
          <a:lstStyle/>
          <a:p>
            <a:pPr marL="1075055">
              <a:lnSpc>
                <a:spcPct val="100000"/>
              </a:lnSpc>
              <a:spcBef>
                <a:spcPts val="225"/>
              </a:spcBef>
            </a:pPr>
            <a:r>
              <a:rPr sz="1000" b="1">
                <a:solidFill>
                  <a:srgbClr val="202429"/>
                </a:solidFill>
                <a:latin typeface="Arial"/>
                <a:cs typeface="Arial"/>
              </a:rPr>
              <a:t>AI</a:t>
            </a:r>
            <a:r>
              <a:rPr sz="1000" b="1" spc="55">
                <a:solidFill>
                  <a:srgbClr val="202429"/>
                </a:solidFill>
                <a:latin typeface="Arial"/>
                <a:cs typeface="Arial"/>
              </a:rPr>
              <a:t> </a:t>
            </a:r>
            <a:r>
              <a:rPr sz="1000" b="1" spc="-55">
                <a:solidFill>
                  <a:srgbClr val="202429"/>
                </a:solidFill>
                <a:latin typeface="Arial"/>
                <a:cs typeface="Arial"/>
              </a:rPr>
              <a:t>assists,</a:t>
            </a:r>
            <a:r>
              <a:rPr sz="1000" b="1" spc="60">
                <a:solidFill>
                  <a:srgbClr val="202429"/>
                </a:solidFill>
                <a:latin typeface="Arial"/>
                <a:cs typeface="Arial"/>
              </a:rPr>
              <a:t> </a:t>
            </a:r>
            <a:r>
              <a:rPr sz="1000" b="1" spc="-50">
                <a:solidFill>
                  <a:srgbClr val="202429"/>
                </a:solidFill>
                <a:latin typeface="Arial"/>
                <a:cs typeface="Arial"/>
              </a:rPr>
              <a:t>humans</a:t>
            </a:r>
            <a:r>
              <a:rPr sz="1000" b="1" spc="55">
                <a:solidFill>
                  <a:srgbClr val="202429"/>
                </a:solidFill>
                <a:latin typeface="Arial"/>
                <a:cs typeface="Arial"/>
              </a:rPr>
              <a:t> </a:t>
            </a:r>
            <a:r>
              <a:rPr sz="1000" b="1" spc="-10">
                <a:solidFill>
                  <a:srgbClr val="202429"/>
                </a:solidFill>
                <a:latin typeface="Arial"/>
                <a:cs typeface="Arial"/>
              </a:rPr>
              <a:t>decide</a:t>
            </a:r>
            <a:endParaRPr sz="1000">
              <a:latin typeface="Arial"/>
              <a:cs typeface="Arial"/>
            </a:endParaRPr>
          </a:p>
        </p:txBody>
      </p:sp>
      <p:sp>
        <p:nvSpPr>
          <p:cNvPr id="10" name="object 10"/>
          <p:cNvSpPr/>
          <p:nvPr/>
        </p:nvSpPr>
        <p:spPr>
          <a:xfrm>
            <a:off x="0" y="3060028"/>
            <a:ext cx="5760085" cy="0"/>
          </a:xfrm>
          <a:custGeom>
            <a:avLst/>
            <a:gdLst/>
            <a:ahLst/>
            <a:cxnLst/>
            <a:rect l="l" t="t" r="r" b="b"/>
            <a:pathLst>
              <a:path w="5760085">
                <a:moveTo>
                  <a:pt x="0" y="0"/>
                </a:moveTo>
                <a:lnTo>
                  <a:pt x="5760073" y="0"/>
                </a:lnTo>
              </a:path>
            </a:pathLst>
          </a:custGeom>
          <a:ln w="6326">
            <a:solidFill>
              <a:srgbClr val="CED3DA"/>
            </a:solidFill>
          </a:ln>
        </p:spPr>
        <p:txBody>
          <a:bodyPr wrap="square" lIns="0" tIns="0" rIns="0" bIns="0" rtlCol="0"/>
          <a:lstStyle/>
          <a:p>
            <a:endParaRPr/>
          </a:p>
        </p:txBody>
      </p:sp>
      <p:sp>
        <p:nvSpPr>
          <p:cNvPr id="13" name="Slide Number Placeholder 12">
            <a:extLst>
              <a:ext uri="{FF2B5EF4-FFF2-40B4-BE49-F238E27FC236}">
                <a16:creationId xmlns:a16="http://schemas.microsoft.com/office/drawing/2014/main" id="{63D4272E-ED98-3C0B-7335-C96B5108E3FB}"/>
              </a:ext>
            </a:extLst>
          </p:cNvPr>
          <p:cNvSpPr>
            <a:spLocks noGrp="1"/>
          </p:cNvSpPr>
          <p:nvPr>
            <p:ph type="sldNum" sz="quarter" idx="7"/>
          </p:nvPr>
        </p:nvSpPr>
        <p:spPr/>
        <p:txBody>
          <a:bodyPr/>
          <a:lstStyle/>
          <a:p>
            <a:pPr marL="39370">
              <a:lnSpc>
                <a:spcPct val="100000"/>
              </a:lnSpc>
              <a:spcBef>
                <a:spcPts val="219"/>
              </a:spcBef>
            </a:pPr>
            <a:fld id="{81D60167-4931-47E6-BA6A-407CBD079E47}" type="slidenum">
              <a:rPr lang="en-GB" smtClean="0"/>
              <a:t>37</a:t>
            </a:fld>
            <a:r>
              <a:rPr lang="en-GB" spc="20"/>
              <a:t> </a:t>
            </a:r>
            <a:r>
              <a:rPr lang="en-GB" spc="120"/>
              <a:t>/</a:t>
            </a:r>
            <a:r>
              <a:rPr lang="en-GB" spc="25"/>
              <a:t> </a:t>
            </a:r>
            <a:r>
              <a:rPr lang="en-GB" spc="-25"/>
              <a:t>41</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347294" y="365706"/>
            <a:ext cx="1119505" cy="244475"/>
          </a:xfrm>
          <a:prstGeom prst="rect">
            <a:avLst/>
          </a:prstGeom>
        </p:spPr>
        <p:txBody>
          <a:bodyPr vert="horz" wrap="square" lIns="0" tIns="17145" rIns="0" bIns="0" rtlCol="0">
            <a:spAutoFit/>
          </a:bodyPr>
          <a:lstStyle/>
          <a:p>
            <a:pPr marL="12700">
              <a:lnSpc>
                <a:spcPct val="100000"/>
              </a:lnSpc>
              <a:spcBef>
                <a:spcPts val="135"/>
              </a:spcBef>
            </a:pPr>
            <a:r>
              <a:t>Get</a:t>
            </a:r>
            <a:r>
              <a:rPr spc="105"/>
              <a:t> </a:t>
            </a:r>
            <a:r>
              <a:t>in</a:t>
            </a:r>
            <a:r>
              <a:rPr spc="110"/>
              <a:t> </a:t>
            </a:r>
            <a:r>
              <a:rPr spc="-20"/>
              <a:t>Touch</a:t>
            </a:r>
          </a:p>
        </p:txBody>
      </p:sp>
      <p:sp>
        <p:nvSpPr>
          <p:cNvPr id="3" name="object 3"/>
          <p:cNvSpPr/>
          <p:nvPr/>
        </p:nvSpPr>
        <p:spPr>
          <a:xfrm>
            <a:off x="359994" y="750887"/>
            <a:ext cx="900430" cy="0"/>
          </a:xfrm>
          <a:custGeom>
            <a:avLst/>
            <a:gdLst/>
            <a:ahLst/>
            <a:cxnLst/>
            <a:rect l="l" t="t" r="r" b="b"/>
            <a:pathLst>
              <a:path w="900430">
                <a:moveTo>
                  <a:pt x="0" y="0"/>
                </a:moveTo>
                <a:lnTo>
                  <a:pt x="900010" y="0"/>
                </a:lnTo>
              </a:path>
            </a:pathLst>
          </a:custGeom>
          <a:ln w="18978">
            <a:solidFill>
              <a:srgbClr val="005F73"/>
            </a:solidFill>
          </a:ln>
        </p:spPr>
        <p:txBody>
          <a:bodyPr wrap="square" lIns="0" tIns="0" rIns="0" bIns="0" rtlCol="0"/>
          <a:lstStyle/>
          <a:p>
            <a:endParaRPr/>
          </a:p>
        </p:txBody>
      </p:sp>
      <p:sp>
        <p:nvSpPr>
          <p:cNvPr id="4" name="object 4"/>
          <p:cNvSpPr txBox="1"/>
          <p:nvPr/>
        </p:nvSpPr>
        <p:spPr>
          <a:xfrm>
            <a:off x="244071" y="1875472"/>
            <a:ext cx="2421255" cy="753411"/>
          </a:xfrm>
          <a:prstGeom prst="rect">
            <a:avLst/>
          </a:prstGeom>
          <a:noFill/>
          <a:ln w="5060">
            <a:solidFill>
              <a:srgbClr val="005F73"/>
            </a:solidFill>
          </a:ln>
        </p:spPr>
        <p:txBody>
          <a:bodyPr vert="horz" wrap="square" lIns="0" tIns="62865" rIns="0" bIns="0" rtlCol="0">
            <a:spAutoFit/>
          </a:bodyPr>
          <a:lstStyle/>
          <a:p>
            <a:pPr algn="ctr">
              <a:spcBef>
                <a:spcPts val="495"/>
              </a:spcBef>
            </a:pPr>
            <a:r>
              <a:rPr sz="900" b="1" spc="-50">
                <a:solidFill>
                  <a:srgbClr val="202429"/>
                </a:solidFill>
                <a:latin typeface="Arial"/>
                <a:cs typeface="Arial"/>
              </a:rPr>
              <a:t>Georgina</a:t>
            </a:r>
            <a:r>
              <a:rPr sz="900" b="1" spc="10">
                <a:solidFill>
                  <a:srgbClr val="202429"/>
                </a:solidFill>
                <a:latin typeface="Arial"/>
                <a:cs typeface="Arial"/>
              </a:rPr>
              <a:t> </a:t>
            </a:r>
            <a:r>
              <a:rPr sz="900" b="1" spc="-10">
                <a:solidFill>
                  <a:srgbClr val="202429"/>
                </a:solidFill>
                <a:latin typeface="Arial"/>
                <a:cs typeface="Arial"/>
              </a:rPr>
              <a:t>Cosma</a:t>
            </a:r>
            <a:endParaRPr lang="en-GB" sz="900" b="1" spc="-10">
              <a:solidFill>
                <a:srgbClr val="202429"/>
              </a:solidFill>
              <a:latin typeface="Arial"/>
              <a:cs typeface="Arial"/>
            </a:endParaRPr>
          </a:p>
          <a:p>
            <a:pPr algn="ctr">
              <a:spcBef>
                <a:spcPts val="495"/>
              </a:spcBef>
            </a:pPr>
            <a:endParaRPr sz="900">
              <a:latin typeface="Arial"/>
              <a:cs typeface="Arial"/>
            </a:endParaRPr>
          </a:p>
          <a:p>
            <a:pPr marL="380365" marR="372745" algn="ctr">
              <a:spcBef>
                <a:spcPts val="175"/>
              </a:spcBef>
            </a:pPr>
            <a:r>
              <a:rPr sz="800" spc="-10">
                <a:solidFill>
                  <a:srgbClr val="005F73"/>
                </a:solidFill>
                <a:latin typeface="Tahoma"/>
                <a:cs typeface="Tahoma"/>
                <a:hlinkClick r:id="rId3"/>
              </a:rPr>
              <a:t>g.cosma@lboro.ac.uk</a:t>
            </a:r>
            <a:endParaRPr lang="en-GB" sz="800" spc="-10">
              <a:solidFill>
                <a:srgbClr val="005F73"/>
              </a:solidFill>
              <a:latin typeface="Tahoma"/>
              <a:cs typeface="Tahoma"/>
            </a:endParaRPr>
          </a:p>
          <a:p>
            <a:pPr marL="518159" marR="510540" algn="ctr">
              <a:spcBef>
                <a:spcPts val="565"/>
              </a:spcBef>
            </a:pPr>
            <a:r>
              <a:rPr lang="en-GB" sz="800" spc="-30">
                <a:solidFill>
                  <a:srgbClr val="005F73"/>
                </a:solidFill>
                <a:latin typeface="Tahoma"/>
                <a:cs typeface="Tahoma"/>
                <a:hlinkClick r:id="rId4"/>
              </a:rPr>
              <a:t>https://cosmos-ai.com/</a:t>
            </a:r>
            <a:endParaRPr lang="en-GB" sz="800">
              <a:latin typeface="Tahoma"/>
              <a:cs typeface="Tahoma"/>
            </a:endParaRPr>
          </a:p>
        </p:txBody>
      </p:sp>
      <p:sp>
        <p:nvSpPr>
          <p:cNvPr id="5" name="object 5"/>
          <p:cNvSpPr/>
          <p:nvPr/>
        </p:nvSpPr>
        <p:spPr>
          <a:xfrm>
            <a:off x="3132010" y="1010399"/>
            <a:ext cx="0" cy="1620520"/>
          </a:xfrm>
          <a:custGeom>
            <a:avLst/>
            <a:gdLst/>
            <a:ahLst/>
            <a:cxnLst/>
            <a:rect l="l" t="t" r="r" b="b"/>
            <a:pathLst>
              <a:path h="1620520">
                <a:moveTo>
                  <a:pt x="0" y="1619999"/>
                </a:moveTo>
                <a:lnTo>
                  <a:pt x="0" y="0"/>
                </a:lnTo>
              </a:path>
            </a:pathLst>
          </a:custGeom>
          <a:ln w="6325">
            <a:solidFill>
              <a:srgbClr val="CED3DA"/>
            </a:solidFill>
          </a:ln>
        </p:spPr>
        <p:txBody>
          <a:bodyPr wrap="square" lIns="0" tIns="0" rIns="0" bIns="0" rtlCol="0"/>
          <a:lstStyle/>
          <a:p>
            <a:endParaRPr/>
          </a:p>
        </p:txBody>
      </p:sp>
      <p:sp>
        <p:nvSpPr>
          <p:cNvPr id="6" name="object 6"/>
          <p:cNvSpPr txBox="1"/>
          <p:nvPr/>
        </p:nvSpPr>
        <p:spPr>
          <a:xfrm>
            <a:off x="3340104" y="995405"/>
            <a:ext cx="2193616" cy="1652184"/>
          </a:xfrm>
          <a:prstGeom prst="rect">
            <a:avLst/>
          </a:prstGeom>
        </p:spPr>
        <p:txBody>
          <a:bodyPr vert="horz" wrap="square" lIns="0" tIns="99695" rIns="0" bIns="0" rtlCol="0">
            <a:spAutoFit/>
          </a:bodyPr>
          <a:lstStyle/>
          <a:p>
            <a:pPr marL="12700">
              <a:lnSpc>
                <a:spcPct val="100000"/>
              </a:lnSpc>
              <a:spcBef>
                <a:spcPts val="785"/>
              </a:spcBef>
            </a:pPr>
            <a:r>
              <a:rPr sz="1100" b="1">
                <a:solidFill>
                  <a:srgbClr val="202429"/>
                </a:solidFill>
                <a:latin typeface="Arial"/>
                <a:cs typeface="Arial"/>
              </a:rPr>
              <a:t>If</a:t>
            </a:r>
            <a:r>
              <a:rPr sz="1100" b="1" spc="25">
                <a:solidFill>
                  <a:srgbClr val="202429"/>
                </a:solidFill>
                <a:latin typeface="Arial"/>
                <a:cs typeface="Arial"/>
              </a:rPr>
              <a:t> </a:t>
            </a:r>
            <a:r>
              <a:rPr sz="1100" b="1" spc="-45">
                <a:solidFill>
                  <a:srgbClr val="202429"/>
                </a:solidFill>
                <a:latin typeface="Arial"/>
                <a:cs typeface="Arial"/>
              </a:rPr>
              <a:t>you</a:t>
            </a:r>
            <a:r>
              <a:rPr sz="1100" b="1" spc="25">
                <a:solidFill>
                  <a:srgbClr val="202429"/>
                </a:solidFill>
                <a:latin typeface="Arial"/>
                <a:cs typeface="Arial"/>
              </a:rPr>
              <a:t> </a:t>
            </a:r>
            <a:r>
              <a:rPr sz="1100" b="1" spc="-10">
                <a:solidFill>
                  <a:srgbClr val="202429"/>
                </a:solidFill>
                <a:latin typeface="Arial"/>
                <a:cs typeface="Arial"/>
              </a:rPr>
              <a:t>are</a:t>
            </a:r>
            <a:r>
              <a:rPr sz="1100" b="1" spc="25">
                <a:solidFill>
                  <a:srgbClr val="202429"/>
                </a:solidFill>
                <a:latin typeface="Arial"/>
                <a:cs typeface="Arial"/>
              </a:rPr>
              <a:t> </a:t>
            </a:r>
            <a:r>
              <a:rPr sz="1100" b="1" spc="-30">
                <a:solidFill>
                  <a:srgbClr val="202429"/>
                </a:solidFill>
                <a:latin typeface="Arial"/>
                <a:cs typeface="Arial"/>
              </a:rPr>
              <a:t>interested</a:t>
            </a:r>
            <a:r>
              <a:rPr sz="1100" b="1" spc="30">
                <a:solidFill>
                  <a:srgbClr val="202429"/>
                </a:solidFill>
                <a:latin typeface="Arial"/>
                <a:cs typeface="Arial"/>
              </a:rPr>
              <a:t> </a:t>
            </a:r>
            <a:r>
              <a:rPr sz="1100" b="1" spc="-25">
                <a:solidFill>
                  <a:srgbClr val="202429"/>
                </a:solidFill>
                <a:latin typeface="Arial"/>
                <a:cs typeface="Arial"/>
              </a:rPr>
              <a:t>in:</a:t>
            </a:r>
            <a:endParaRPr sz="1100">
              <a:latin typeface="Arial"/>
              <a:cs typeface="Arial"/>
            </a:endParaRPr>
          </a:p>
          <a:p>
            <a:pPr marL="117475" indent="-104775">
              <a:lnSpc>
                <a:spcPct val="100000"/>
              </a:lnSpc>
              <a:spcBef>
                <a:spcPts val="630"/>
              </a:spcBef>
              <a:buClr>
                <a:srgbClr val="005F73"/>
              </a:buClr>
              <a:buFont typeface="Times New Roman"/>
              <a:buChar char="•"/>
              <a:tabLst>
                <a:tab pos="117475" algn="l"/>
              </a:tabLst>
            </a:pPr>
            <a:r>
              <a:rPr sz="1000" spc="-10">
                <a:solidFill>
                  <a:srgbClr val="202429"/>
                </a:solidFill>
                <a:latin typeface="Tahoma"/>
                <a:cs typeface="Tahoma"/>
              </a:rPr>
              <a:t>Finding</a:t>
            </a:r>
            <a:r>
              <a:rPr sz="1000" spc="-50">
                <a:solidFill>
                  <a:srgbClr val="202429"/>
                </a:solidFill>
                <a:latin typeface="Tahoma"/>
                <a:cs typeface="Tahoma"/>
              </a:rPr>
              <a:t> </a:t>
            </a:r>
            <a:r>
              <a:rPr sz="1000">
                <a:solidFill>
                  <a:srgbClr val="202429"/>
                </a:solidFill>
                <a:latin typeface="Tahoma"/>
                <a:cs typeface="Tahoma"/>
              </a:rPr>
              <a:t>out</a:t>
            </a:r>
            <a:r>
              <a:rPr sz="1000" spc="-40">
                <a:solidFill>
                  <a:srgbClr val="202429"/>
                </a:solidFill>
                <a:latin typeface="Tahoma"/>
                <a:cs typeface="Tahoma"/>
              </a:rPr>
              <a:t> </a:t>
            </a:r>
            <a:r>
              <a:rPr sz="1000" spc="-50">
                <a:solidFill>
                  <a:srgbClr val="202429"/>
                </a:solidFill>
                <a:latin typeface="Tahoma"/>
                <a:cs typeface="Tahoma"/>
              </a:rPr>
              <a:t>more</a:t>
            </a:r>
            <a:r>
              <a:rPr sz="1000" spc="-30">
                <a:solidFill>
                  <a:srgbClr val="202429"/>
                </a:solidFill>
                <a:latin typeface="Tahoma"/>
                <a:cs typeface="Tahoma"/>
              </a:rPr>
              <a:t> </a:t>
            </a:r>
            <a:r>
              <a:rPr sz="1000" spc="-20">
                <a:solidFill>
                  <a:srgbClr val="202429"/>
                </a:solidFill>
                <a:latin typeface="Tahoma"/>
                <a:cs typeface="Tahoma"/>
              </a:rPr>
              <a:t>about</a:t>
            </a:r>
            <a:r>
              <a:rPr sz="1000" spc="-35">
                <a:solidFill>
                  <a:srgbClr val="202429"/>
                </a:solidFill>
                <a:latin typeface="Tahoma"/>
                <a:cs typeface="Tahoma"/>
              </a:rPr>
              <a:t> </a:t>
            </a:r>
            <a:r>
              <a:rPr sz="1000" spc="-20">
                <a:solidFill>
                  <a:srgbClr val="202429"/>
                </a:solidFill>
                <a:latin typeface="Tahoma"/>
                <a:cs typeface="Tahoma"/>
              </a:rPr>
              <a:t>our</a:t>
            </a:r>
            <a:r>
              <a:rPr sz="1000" spc="-40">
                <a:solidFill>
                  <a:srgbClr val="202429"/>
                </a:solidFill>
                <a:latin typeface="Tahoma"/>
                <a:cs typeface="Tahoma"/>
              </a:rPr>
              <a:t> </a:t>
            </a:r>
            <a:r>
              <a:rPr sz="1000" spc="-20">
                <a:solidFill>
                  <a:srgbClr val="202429"/>
                </a:solidFill>
                <a:latin typeface="Tahoma"/>
                <a:cs typeface="Tahoma"/>
              </a:rPr>
              <a:t>work</a:t>
            </a:r>
            <a:endParaRPr sz="1000">
              <a:latin typeface="Tahoma"/>
              <a:cs typeface="Tahoma"/>
            </a:endParaRPr>
          </a:p>
          <a:p>
            <a:pPr marL="117475" indent="-104775">
              <a:lnSpc>
                <a:spcPct val="100000"/>
              </a:lnSpc>
              <a:spcBef>
                <a:spcPts val="495"/>
              </a:spcBef>
              <a:buClr>
                <a:srgbClr val="005F73"/>
              </a:buClr>
              <a:buFont typeface="Times New Roman"/>
              <a:buChar char="•"/>
              <a:tabLst>
                <a:tab pos="117475" algn="l"/>
              </a:tabLst>
            </a:pPr>
            <a:r>
              <a:rPr sz="1000" spc="-10">
                <a:solidFill>
                  <a:srgbClr val="202429"/>
                </a:solidFill>
                <a:latin typeface="Tahoma"/>
                <a:cs typeface="Tahoma"/>
              </a:rPr>
              <a:t>Using</a:t>
            </a:r>
            <a:r>
              <a:rPr sz="1000" spc="-30">
                <a:solidFill>
                  <a:srgbClr val="202429"/>
                </a:solidFill>
                <a:latin typeface="Tahoma"/>
                <a:cs typeface="Tahoma"/>
              </a:rPr>
              <a:t> </a:t>
            </a:r>
            <a:r>
              <a:rPr sz="1000" spc="-20">
                <a:solidFill>
                  <a:srgbClr val="202429"/>
                </a:solidFill>
                <a:latin typeface="Tahoma"/>
                <a:cs typeface="Tahoma"/>
              </a:rPr>
              <a:t>the</a:t>
            </a:r>
            <a:r>
              <a:rPr sz="1000" spc="-25">
                <a:solidFill>
                  <a:srgbClr val="202429"/>
                </a:solidFill>
                <a:latin typeface="Tahoma"/>
                <a:cs typeface="Tahoma"/>
              </a:rPr>
              <a:t> </a:t>
            </a:r>
            <a:r>
              <a:rPr sz="1000">
                <a:solidFill>
                  <a:srgbClr val="202429"/>
                </a:solidFill>
                <a:latin typeface="Tahoma"/>
                <a:cs typeface="Tahoma"/>
              </a:rPr>
              <a:t>tool</a:t>
            </a:r>
            <a:r>
              <a:rPr sz="1000" spc="-25">
                <a:solidFill>
                  <a:srgbClr val="202429"/>
                </a:solidFill>
                <a:latin typeface="Tahoma"/>
                <a:cs typeface="Tahoma"/>
              </a:rPr>
              <a:t> </a:t>
            </a:r>
            <a:r>
              <a:rPr sz="1000">
                <a:solidFill>
                  <a:srgbClr val="202429"/>
                </a:solidFill>
                <a:latin typeface="Tahoma"/>
                <a:cs typeface="Tahoma"/>
              </a:rPr>
              <a:t>to</a:t>
            </a:r>
            <a:r>
              <a:rPr sz="1000" spc="-20">
                <a:solidFill>
                  <a:srgbClr val="202429"/>
                </a:solidFill>
                <a:latin typeface="Tahoma"/>
                <a:cs typeface="Tahoma"/>
              </a:rPr>
              <a:t> </a:t>
            </a:r>
            <a:r>
              <a:rPr sz="1000" spc="-40">
                <a:solidFill>
                  <a:srgbClr val="202429"/>
                </a:solidFill>
                <a:latin typeface="Tahoma"/>
                <a:cs typeface="Tahoma"/>
              </a:rPr>
              <a:t>analyse</a:t>
            </a:r>
            <a:r>
              <a:rPr sz="1000" spc="-25">
                <a:solidFill>
                  <a:srgbClr val="202429"/>
                </a:solidFill>
                <a:latin typeface="Tahoma"/>
                <a:cs typeface="Tahoma"/>
              </a:rPr>
              <a:t> </a:t>
            </a:r>
            <a:r>
              <a:rPr sz="1000" spc="-45">
                <a:solidFill>
                  <a:srgbClr val="202429"/>
                </a:solidFill>
                <a:latin typeface="Tahoma"/>
                <a:cs typeface="Tahoma"/>
              </a:rPr>
              <a:t>your</a:t>
            </a:r>
            <a:r>
              <a:rPr sz="1000" spc="-25">
                <a:solidFill>
                  <a:srgbClr val="202429"/>
                </a:solidFill>
                <a:latin typeface="Tahoma"/>
                <a:cs typeface="Tahoma"/>
              </a:rPr>
              <a:t> reports</a:t>
            </a:r>
            <a:endParaRPr sz="1000">
              <a:latin typeface="Tahoma"/>
              <a:cs typeface="Tahoma"/>
            </a:endParaRPr>
          </a:p>
          <a:p>
            <a:pPr marL="117475" indent="-104775">
              <a:lnSpc>
                <a:spcPct val="100000"/>
              </a:lnSpc>
              <a:spcBef>
                <a:spcPts val="650"/>
              </a:spcBef>
              <a:buClr>
                <a:srgbClr val="005F73"/>
              </a:buClr>
              <a:buFont typeface="Times New Roman"/>
              <a:buChar char="•"/>
              <a:tabLst>
                <a:tab pos="117475" algn="l"/>
              </a:tabLst>
            </a:pPr>
            <a:r>
              <a:rPr sz="1000" spc="-50">
                <a:solidFill>
                  <a:srgbClr val="202429"/>
                </a:solidFill>
                <a:latin typeface="Tahoma"/>
                <a:cs typeface="Tahoma"/>
              </a:rPr>
              <a:t>Research</a:t>
            </a:r>
            <a:r>
              <a:rPr sz="1000" spc="-10">
                <a:solidFill>
                  <a:srgbClr val="202429"/>
                </a:solidFill>
                <a:latin typeface="Tahoma"/>
                <a:cs typeface="Tahoma"/>
              </a:rPr>
              <a:t> partnerships</a:t>
            </a:r>
            <a:endParaRPr lang="en-GB" sz="1000" spc="-10">
              <a:solidFill>
                <a:srgbClr val="202429"/>
              </a:solidFill>
              <a:latin typeface="Tahoma"/>
              <a:cs typeface="Tahoma"/>
            </a:endParaRPr>
          </a:p>
          <a:p>
            <a:pPr marL="117475" indent="-104775">
              <a:lnSpc>
                <a:spcPct val="100000"/>
              </a:lnSpc>
              <a:spcBef>
                <a:spcPts val="650"/>
              </a:spcBef>
              <a:buClr>
                <a:srgbClr val="005F73"/>
              </a:buClr>
              <a:buFont typeface="Times New Roman"/>
              <a:buChar char="•"/>
              <a:tabLst>
                <a:tab pos="117475" algn="l"/>
              </a:tabLst>
            </a:pPr>
            <a:endParaRPr sz="1000">
              <a:latin typeface="Tahoma"/>
              <a:cs typeface="Tahoma"/>
            </a:endParaRPr>
          </a:p>
          <a:p>
            <a:pPr marL="12700" marR="317500">
              <a:lnSpc>
                <a:spcPct val="112900"/>
              </a:lnSpc>
              <a:spcBef>
                <a:spcPts val="875"/>
              </a:spcBef>
            </a:pPr>
            <a:r>
              <a:rPr sz="1000">
                <a:solidFill>
                  <a:schemeClr val="accent5">
                    <a:lumMod val="50000"/>
                  </a:schemeClr>
                </a:solidFill>
                <a:latin typeface="Tahoma"/>
                <a:cs typeface="Tahoma"/>
              </a:rPr>
              <a:t>The</a:t>
            </a:r>
            <a:r>
              <a:rPr sz="1000" spc="-25">
                <a:solidFill>
                  <a:schemeClr val="accent5">
                    <a:lumMod val="50000"/>
                  </a:schemeClr>
                </a:solidFill>
                <a:latin typeface="Tahoma"/>
                <a:cs typeface="Tahoma"/>
              </a:rPr>
              <a:t> </a:t>
            </a:r>
            <a:r>
              <a:rPr sz="1000">
                <a:solidFill>
                  <a:schemeClr val="accent5">
                    <a:lumMod val="50000"/>
                  </a:schemeClr>
                </a:solidFill>
                <a:latin typeface="Tahoma"/>
                <a:cs typeface="Tahoma"/>
              </a:rPr>
              <a:t>tool</a:t>
            </a:r>
            <a:r>
              <a:rPr sz="1000" spc="-20">
                <a:solidFill>
                  <a:schemeClr val="accent5">
                    <a:lumMod val="50000"/>
                  </a:schemeClr>
                </a:solidFill>
                <a:latin typeface="Tahoma"/>
                <a:cs typeface="Tahoma"/>
              </a:rPr>
              <a:t> </a:t>
            </a:r>
            <a:r>
              <a:rPr sz="1000">
                <a:solidFill>
                  <a:schemeClr val="accent5">
                    <a:lumMod val="50000"/>
                  </a:schemeClr>
                </a:solidFill>
                <a:latin typeface="Tahoma"/>
                <a:cs typeface="Tahoma"/>
              </a:rPr>
              <a:t>is</a:t>
            </a:r>
            <a:r>
              <a:rPr sz="1000" spc="-20">
                <a:solidFill>
                  <a:schemeClr val="accent5">
                    <a:lumMod val="50000"/>
                  </a:schemeClr>
                </a:solidFill>
                <a:latin typeface="Tahoma"/>
                <a:cs typeface="Tahoma"/>
              </a:rPr>
              <a:t> </a:t>
            </a:r>
            <a:r>
              <a:rPr sz="1000" spc="-50">
                <a:solidFill>
                  <a:schemeClr val="accent5">
                    <a:lumMod val="50000"/>
                  </a:schemeClr>
                </a:solidFill>
                <a:latin typeface="Tahoma"/>
                <a:cs typeface="Tahoma"/>
              </a:rPr>
              <a:t>designed</a:t>
            </a:r>
            <a:r>
              <a:rPr sz="1000" spc="-15">
                <a:solidFill>
                  <a:schemeClr val="accent5">
                    <a:lumMod val="50000"/>
                  </a:schemeClr>
                </a:solidFill>
                <a:latin typeface="Tahoma"/>
                <a:cs typeface="Tahoma"/>
              </a:rPr>
              <a:t> </a:t>
            </a:r>
            <a:r>
              <a:rPr sz="1000">
                <a:solidFill>
                  <a:schemeClr val="accent5">
                    <a:lumMod val="50000"/>
                  </a:schemeClr>
                </a:solidFill>
                <a:latin typeface="Tahoma"/>
                <a:cs typeface="Tahoma"/>
              </a:rPr>
              <a:t>to</a:t>
            </a:r>
            <a:r>
              <a:rPr sz="1000" spc="-20">
                <a:solidFill>
                  <a:schemeClr val="accent5">
                    <a:lumMod val="50000"/>
                  </a:schemeClr>
                </a:solidFill>
                <a:latin typeface="Tahoma"/>
                <a:cs typeface="Tahoma"/>
              </a:rPr>
              <a:t> </a:t>
            </a:r>
            <a:r>
              <a:rPr sz="1000" spc="-45">
                <a:solidFill>
                  <a:schemeClr val="accent5">
                    <a:lumMod val="50000"/>
                  </a:schemeClr>
                </a:solidFill>
                <a:latin typeface="Tahoma"/>
                <a:cs typeface="Tahoma"/>
              </a:rPr>
              <a:t>work</a:t>
            </a:r>
            <a:r>
              <a:rPr sz="1000" spc="-25">
                <a:solidFill>
                  <a:schemeClr val="accent5">
                    <a:lumMod val="50000"/>
                  </a:schemeClr>
                </a:solidFill>
                <a:latin typeface="Tahoma"/>
                <a:cs typeface="Tahoma"/>
              </a:rPr>
              <a:t> </a:t>
            </a:r>
            <a:r>
              <a:rPr sz="1000" spc="-20">
                <a:solidFill>
                  <a:schemeClr val="accent5">
                    <a:lumMod val="50000"/>
                  </a:schemeClr>
                </a:solidFill>
                <a:latin typeface="Tahoma"/>
                <a:cs typeface="Tahoma"/>
              </a:rPr>
              <a:t>both </a:t>
            </a:r>
            <a:r>
              <a:rPr sz="1000" spc="-25">
                <a:solidFill>
                  <a:schemeClr val="accent5">
                    <a:lumMod val="50000"/>
                  </a:schemeClr>
                </a:solidFill>
                <a:latin typeface="Tahoma"/>
                <a:cs typeface="Tahoma"/>
              </a:rPr>
              <a:t>online</a:t>
            </a:r>
            <a:r>
              <a:rPr sz="1000" spc="-50">
                <a:solidFill>
                  <a:schemeClr val="accent5">
                    <a:lumMod val="50000"/>
                  </a:schemeClr>
                </a:solidFill>
                <a:latin typeface="Tahoma"/>
                <a:cs typeface="Tahoma"/>
              </a:rPr>
              <a:t> </a:t>
            </a:r>
            <a:r>
              <a:rPr sz="1000" spc="-25">
                <a:solidFill>
                  <a:schemeClr val="accent5">
                    <a:lumMod val="50000"/>
                  </a:schemeClr>
                </a:solidFill>
                <a:latin typeface="Tahoma"/>
                <a:cs typeface="Tahoma"/>
              </a:rPr>
              <a:t>and</a:t>
            </a:r>
            <a:r>
              <a:rPr sz="1000" spc="-50">
                <a:solidFill>
                  <a:schemeClr val="accent5">
                    <a:lumMod val="50000"/>
                  </a:schemeClr>
                </a:solidFill>
                <a:latin typeface="Tahoma"/>
                <a:cs typeface="Tahoma"/>
              </a:rPr>
              <a:t> </a:t>
            </a:r>
            <a:r>
              <a:rPr sz="1000" spc="-10">
                <a:solidFill>
                  <a:schemeClr val="accent5">
                    <a:lumMod val="50000"/>
                  </a:schemeClr>
                </a:solidFill>
                <a:latin typeface="Tahoma"/>
                <a:cs typeface="Tahoma"/>
              </a:rPr>
              <a:t>oﬄine.</a:t>
            </a:r>
            <a:endParaRPr sz="1000">
              <a:solidFill>
                <a:schemeClr val="accent5">
                  <a:lumMod val="50000"/>
                </a:schemeClr>
              </a:solidFill>
              <a:latin typeface="Tahoma"/>
              <a:cs typeface="Tahoma"/>
            </a:endParaRPr>
          </a:p>
        </p:txBody>
      </p:sp>
      <p:sp>
        <p:nvSpPr>
          <p:cNvPr id="7" name="object 7"/>
          <p:cNvSpPr/>
          <p:nvPr/>
        </p:nvSpPr>
        <p:spPr>
          <a:xfrm>
            <a:off x="0" y="3060028"/>
            <a:ext cx="5760085" cy="0"/>
          </a:xfrm>
          <a:custGeom>
            <a:avLst/>
            <a:gdLst/>
            <a:ahLst/>
            <a:cxnLst/>
            <a:rect l="l" t="t" r="r" b="b"/>
            <a:pathLst>
              <a:path w="5760085">
                <a:moveTo>
                  <a:pt x="0" y="0"/>
                </a:moveTo>
                <a:lnTo>
                  <a:pt x="5760073" y="0"/>
                </a:lnTo>
              </a:path>
            </a:pathLst>
          </a:custGeom>
          <a:ln w="6326">
            <a:solidFill>
              <a:srgbClr val="CED3DA"/>
            </a:solidFill>
          </a:ln>
        </p:spPr>
        <p:txBody>
          <a:bodyPr wrap="square" lIns="0" tIns="0" rIns="0" bIns="0" rtlCol="0"/>
          <a:lstStyle/>
          <a:p>
            <a:endParaRPr/>
          </a:p>
        </p:txBody>
      </p:sp>
      <p:sp>
        <p:nvSpPr>
          <p:cNvPr id="10" name="Slide Number Placeholder 9">
            <a:extLst>
              <a:ext uri="{FF2B5EF4-FFF2-40B4-BE49-F238E27FC236}">
                <a16:creationId xmlns:a16="http://schemas.microsoft.com/office/drawing/2014/main" id="{1D589291-5C0A-E61A-DAD2-4996029A1338}"/>
              </a:ext>
            </a:extLst>
          </p:cNvPr>
          <p:cNvSpPr>
            <a:spLocks noGrp="1"/>
          </p:cNvSpPr>
          <p:nvPr>
            <p:ph type="sldNum" sz="quarter" idx="7"/>
          </p:nvPr>
        </p:nvSpPr>
        <p:spPr>
          <a:xfrm>
            <a:off x="5263508" y="3076698"/>
            <a:ext cx="540424" cy="173989"/>
          </a:xfrm>
        </p:spPr>
        <p:txBody>
          <a:bodyPr/>
          <a:lstStyle/>
          <a:p>
            <a:pPr marL="39370">
              <a:lnSpc>
                <a:spcPct val="100000"/>
              </a:lnSpc>
              <a:spcBef>
                <a:spcPts val="219"/>
              </a:spcBef>
            </a:pPr>
            <a:fld id="{81D60167-4931-47E6-BA6A-407CBD079E47}" type="slidenum">
              <a:rPr lang="en-GB" smtClean="0"/>
              <a:t>38</a:t>
            </a:fld>
            <a:r>
              <a:rPr lang="en-GB" spc="20"/>
              <a:t> </a:t>
            </a:r>
            <a:r>
              <a:rPr lang="en-GB" spc="120"/>
              <a:t>/</a:t>
            </a:r>
            <a:r>
              <a:rPr lang="en-GB" spc="25"/>
              <a:t> </a:t>
            </a:r>
            <a:r>
              <a:rPr lang="en-GB" spc="-25"/>
              <a:t>41</a:t>
            </a:r>
          </a:p>
        </p:txBody>
      </p:sp>
      <p:sp>
        <p:nvSpPr>
          <p:cNvPr id="8" name="object 5">
            <a:extLst>
              <a:ext uri="{FF2B5EF4-FFF2-40B4-BE49-F238E27FC236}">
                <a16:creationId xmlns:a16="http://schemas.microsoft.com/office/drawing/2014/main" id="{F7CAD8EE-0BF5-7B8D-5943-9506BACF3720}"/>
              </a:ext>
            </a:extLst>
          </p:cNvPr>
          <p:cNvSpPr txBox="1"/>
          <p:nvPr/>
        </p:nvSpPr>
        <p:spPr>
          <a:xfrm>
            <a:off x="232080" y="864632"/>
            <a:ext cx="2421255" cy="673261"/>
          </a:xfrm>
          <a:prstGeom prst="rect">
            <a:avLst/>
          </a:prstGeom>
          <a:noFill/>
          <a:ln>
            <a:solidFill>
              <a:schemeClr val="accent1"/>
            </a:solidFill>
          </a:ln>
        </p:spPr>
        <p:txBody>
          <a:bodyPr vert="horz" wrap="square" lIns="0" tIns="11430" rIns="0" bIns="0" rtlCol="0" anchor="t">
            <a:spAutoFit/>
          </a:bodyPr>
          <a:lstStyle/>
          <a:p>
            <a:pPr marL="635" algn="ctr">
              <a:spcBef>
                <a:spcPts val="90"/>
              </a:spcBef>
            </a:pPr>
            <a:r>
              <a:rPr lang="en-GB" sz="1100" b="1">
                <a:latin typeface="+mn-lt"/>
              </a:rPr>
              <a:t>Patrick Waterson</a:t>
            </a:r>
          </a:p>
          <a:p>
            <a:pPr algn="ctr">
              <a:spcBef>
                <a:spcPts val="40"/>
              </a:spcBef>
            </a:pPr>
            <a:endParaRPr lang="en-US" sz="800">
              <a:latin typeface="+mn-lt"/>
              <a:hlinkClick r:id="rId5"/>
            </a:endParaRPr>
          </a:p>
          <a:p>
            <a:pPr algn="ctr">
              <a:spcBef>
                <a:spcPts val="40"/>
              </a:spcBef>
            </a:pPr>
            <a:r>
              <a:rPr lang="en-US" sz="800">
                <a:latin typeface="+mn-lt"/>
                <a:hlinkClick r:id="rId5"/>
              </a:rPr>
              <a:t>P.Waterson@lboro.ac.uk</a:t>
            </a:r>
            <a:r>
              <a:rPr lang="en-US" sz="800">
                <a:latin typeface="+mn-lt"/>
              </a:rPr>
              <a:t> </a:t>
            </a:r>
            <a:endParaRPr sz="800">
              <a:latin typeface="+mn-lt"/>
            </a:endParaRPr>
          </a:p>
          <a:p>
            <a:pPr algn="ctr">
              <a:spcBef>
                <a:spcPts val="40"/>
              </a:spcBef>
            </a:pPr>
            <a:r>
              <a:rPr lang="en-US" sz="800">
                <a:latin typeface="+mn-lt"/>
                <a:hlinkClick r:id="rId6"/>
              </a:rPr>
              <a:t>https://www.lboro.ac.uk/schools/design-creative-arts/people/patrick-waterson/</a:t>
            </a:r>
            <a:r>
              <a:rPr lang="en-US" sz="800">
                <a:latin typeface="+mn-lt"/>
              </a:rPr>
              <a:t> </a:t>
            </a:r>
            <a:endParaRPr lang="en-GB" sz="800">
              <a:latin typeface="+mn-lt"/>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0" y="3024060"/>
            <a:ext cx="5760085" cy="216535"/>
          </a:xfrm>
          <a:custGeom>
            <a:avLst/>
            <a:gdLst/>
            <a:ahLst/>
            <a:cxnLst/>
            <a:rect l="l" t="t" r="r" b="b"/>
            <a:pathLst>
              <a:path w="5760085" h="216535">
                <a:moveTo>
                  <a:pt x="0" y="216005"/>
                </a:moveTo>
                <a:lnTo>
                  <a:pt x="0" y="0"/>
                </a:lnTo>
                <a:lnTo>
                  <a:pt x="5760073" y="0"/>
                </a:lnTo>
                <a:lnTo>
                  <a:pt x="5760073" y="216005"/>
                </a:lnTo>
                <a:lnTo>
                  <a:pt x="0" y="216005"/>
                </a:lnTo>
                <a:close/>
              </a:path>
            </a:pathLst>
          </a:custGeom>
          <a:solidFill>
            <a:srgbClr val="005F73"/>
          </a:solidFill>
        </p:spPr>
        <p:txBody>
          <a:bodyPr wrap="square" lIns="0" tIns="0" rIns="0" bIns="0" rtlCol="0"/>
          <a:lstStyle/>
          <a:p>
            <a:endParaRPr/>
          </a:p>
        </p:txBody>
      </p:sp>
      <p:sp>
        <p:nvSpPr>
          <p:cNvPr id="3" name="object 3" descr="$PPTXTitle"/>
          <p:cNvSpPr txBox="1">
            <a:spLocks noGrp="1"/>
          </p:cNvSpPr>
          <p:nvPr>
            <p:ph type="title"/>
          </p:nvPr>
        </p:nvSpPr>
        <p:spPr>
          <a:xfrm>
            <a:off x="1721637" y="397719"/>
            <a:ext cx="2315845" cy="572135"/>
          </a:xfrm>
          <a:prstGeom prst="rect">
            <a:avLst/>
          </a:prstGeom>
        </p:spPr>
        <p:txBody>
          <a:bodyPr vert="horz" wrap="square" lIns="0" tIns="17145" rIns="0" bIns="0" rtlCol="0">
            <a:spAutoFit/>
          </a:bodyPr>
          <a:lstStyle/>
          <a:p>
            <a:pPr marL="12700">
              <a:lnSpc>
                <a:spcPct val="100000"/>
              </a:lnSpc>
              <a:spcBef>
                <a:spcPts val="135"/>
              </a:spcBef>
            </a:pPr>
            <a:r>
              <a:rPr sz="3550"/>
              <a:t>Thank</a:t>
            </a:r>
            <a:r>
              <a:rPr sz="3550" spc="290"/>
              <a:t> </a:t>
            </a:r>
            <a:r>
              <a:rPr sz="3550" spc="-114"/>
              <a:t>You</a:t>
            </a:r>
            <a:endParaRPr sz="3550"/>
          </a:p>
        </p:txBody>
      </p:sp>
      <p:sp>
        <p:nvSpPr>
          <p:cNvPr id="4" name="object 4"/>
          <p:cNvSpPr/>
          <p:nvPr/>
        </p:nvSpPr>
        <p:spPr>
          <a:xfrm>
            <a:off x="2160003" y="1163878"/>
            <a:ext cx="1440180" cy="0"/>
          </a:xfrm>
          <a:custGeom>
            <a:avLst/>
            <a:gdLst/>
            <a:ahLst/>
            <a:cxnLst/>
            <a:rect l="l" t="t" r="r" b="b"/>
            <a:pathLst>
              <a:path w="1440179">
                <a:moveTo>
                  <a:pt x="0" y="0"/>
                </a:moveTo>
                <a:lnTo>
                  <a:pt x="1440002" y="0"/>
                </a:lnTo>
              </a:path>
            </a:pathLst>
          </a:custGeom>
          <a:ln w="25304">
            <a:solidFill>
              <a:srgbClr val="005F73"/>
            </a:solidFill>
          </a:ln>
        </p:spPr>
        <p:txBody>
          <a:bodyPr wrap="square" lIns="0" tIns="0" rIns="0" bIns="0" rtlCol="0"/>
          <a:lstStyle/>
          <a:p>
            <a:endParaRPr/>
          </a:p>
        </p:txBody>
      </p:sp>
      <p:sp>
        <p:nvSpPr>
          <p:cNvPr id="5" name="object 5"/>
          <p:cNvSpPr txBox="1"/>
          <p:nvPr/>
        </p:nvSpPr>
        <p:spPr>
          <a:xfrm>
            <a:off x="720851" y="1323661"/>
            <a:ext cx="4318635" cy="1445260"/>
          </a:xfrm>
          <a:prstGeom prst="rect">
            <a:avLst/>
          </a:prstGeom>
        </p:spPr>
        <p:txBody>
          <a:bodyPr vert="horz" wrap="square" lIns="0" tIns="36195" rIns="0" bIns="0" rtlCol="0">
            <a:spAutoFit/>
          </a:bodyPr>
          <a:lstStyle/>
          <a:p>
            <a:pPr algn="ctr">
              <a:lnSpc>
                <a:spcPct val="100000"/>
              </a:lnSpc>
              <a:spcBef>
                <a:spcPts val="285"/>
              </a:spcBef>
            </a:pPr>
            <a:r>
              <a:rPr sz="1000" b="1" spc="-30">
                <a:solidFill>
                  <a:srgbClr val="202429"/>
                </a:solidFill>
                <a:latin typeface="Arial"/>
                <a:cs typeface="Arial"/>
              </a:rPr>
              <a:t>Selected</a:t>
            </a:r>
            <a:r>
              <a:rPr sz="1000" b="1" spc="35">
                <a:solidFill>
                  <a:srgbClr val="202429"/>
                </a:solidFill>
                <a:latin typeface="Arial"/>
                <a:cs typeface="Arial"/>
              </a:rPr>
              <a:t> </a:t>
            </a:r>
            <a:r>
              <a:rPr sz="1000" b="1" spc="-10">
                <a:solidFill>
                  <a:srgbClr val="202429"/>
                </a:solidFill>
                <a:latin typeface="Arial"/>
                <a:cs typeface="Arial"/>
              </a:rPr>
              <a:t>Publications</a:t>
            </a:r>
            <a:endParaRPr sz="1000">
              <a:latin typeface="Arial"/>
              <a:cs typeface="Arial"/>
            </a:endParaRPr>
          </a:p>
          <a:p>
            <a:pPr marL="91440" marR="83820" algn="ctr">
              <a:lnSpc>
                <a:spcPct val="101499"/>
              </a:lnSpc>
              <a:spcBef>
                <a:spcPts val="150"/>
              </a:spcBef>
            </a:pPr>
            <a:r>
              <a:rPr sz="900" spc="-60">
                <a:solidFill>
                  <a:srgbClr val="005F73"/>
                </a:solidFill>
                <a:latin typeface="Tahoma"/>
                <a:cs typeface="Tahoma"/>
              </a:rPr>
              <a:t>I-</a:t>
            </a:r>
            <a:r>
              <a:rPr sz="900" spc="-10">
                <a:solidFill>
                  <a:srgbClr val="005F73"/>
                </a:solidFill>
                <a:latin typeface="Tahoma"/>
                <a:cs typeface="Tahoma"/>
              </a:rPr>
              <a:t>SIRch:</a:t>
            </a:r>
            <a:r>
              <a:rPr sz="900" spc="55">
                <a:solidFill>
                  <a:srgbClr val="005F73"/>
                </a:solidFill>
                <a:latin typeface="Tahoma"/>
                <a:cs typeface="Tahoma"/>
              </a:rPr>
              <a:t> </a:t>
            </a:r>
            <a:r>
              <a:rPr sz="900" spc="-25">
                <a:solidFill>
                  <a:srgbClr val="005F73"/>
                </a:solidFill>
                <a:latin typeface="Tahoma"/>
                <a:cs typeface="Tahoma"/>
              </a:rPr>
              <a:t>AI-</a:t>
            </a:r>
            <a:r>
              <a:rPr sz="900" spc="-35">
                <a:solidFill>
                  <a:srgbClr val="005F73"/>
                </a:solidFill>
                <a:latin typeface="Tahoma"/>
                <a:cs typeface="Tahoma"/>
              </a:rPr>
              <a:t>powered</a:t>
            </a:r>
            <a:r>
              <a:rPr sz="900" spc="-30">
                <a:solidFill>
                  <a:srgbClr val="005F73"/>
                </a:solidFill>
                <a:latin typeface="Tahoma"/>
                <a:cs typeface="Tahoma"/>
              </a:rPr>
              <a:t> </a:t>
            </a:r>
            <a:r>
              <a:rPr sz="900" spc="-10">
                <a:solidFill>
                  <a:srgbClr val="005F73"/>
                </a:solidFill>
                <a:latin typeface="Tahoma"/>
                <a:cs typeface="Tahoma"/>
              </a:rPr>
              <a:t>concept</a:t>
            </a:r>
            <a:r>
              <a:rPr sz="900" spc="-25">
                <a:solidFill>
                  <a:srgbClr val="005F73"/>
                </a:solidFill>
                <a:latin typeface="Tahoma"/>
                <a:cs typeface="Tahoma"/>
              </a:rPr>
              <a:t> </a:t>
            </a:r>
            <a:r>
              <a:rPr sz="900" spc="-10">
                <a:solidFill>
                  <a:srgbClr val="005F73"/>
                </a:solidFill>
                <a:latin typeface="Tahoma"/>
                <a:cs typeface="Tahoma"/>
              </a:rPr>
              <a:t>annotation</a:t>
            </a:r>
            <a:r>
              <a:rPr sz="900" spc="-25">
                <a:solidFill>
                  <a:srgbClr val="005F73"/>
                </a:solidFill>
                <a:latin typeface="Tahoma"/>
                <a:cs typeface="Tahoma"/>
              </a:rPr>
              <a:t> </a:t>
            </a:r>
            <a:r>
              <a:rPr sz="900">
                <a:solidFill>
                  <a:srgbClr val="005F73"/>
                </a:solidFill>
                <a:latin typeface="Tahoma"/>
                <a:cs typeface="Tahoma"/>
              </a:rPr>
              <a:t>tool</a:t>
            </a:r>
            <a:r>
              <a:rPr sz="900" spc="-25">
                <a:solidFill>
                  <a:srgbClr val="005F73"/>
                </a:solidFill>
                <a:latin typeface="Tahoma"/>
                <a:cs typeface="Tahoma"/>
              </a:rPr>
              <a:t> </a:t>
            </a:r>
            <a:r>
              <a:rPr sz="900">
                <a:solidFill>
                  <a:srgbClr val="005F73"/>
                </a:solidFill>
                <a:latin typeface="Tahoma"/>
                <a:cs typeface="Tahoma"/>
              </a:rPr>
              <a:t>for</a:t>
            </a:r>
            <a:r>
              <a:rPr sz="900" spc="-25">
                <a:solidFill>
                  <a:srgbClr val="005F73"/>
                </a:solidFill>
                <a:latin typeface="Tahoma"/>
                <a:cs typeface="Tahoma"/>
              </a:rPr>
              <a:t> </a:t>
            </a:r>
            <a:r>
              <a:rPr sz="900" spc="-20">
                <a:solidFill>
                  <a:srgbClr val="005F73"/>
                </a:solidFill>
                <a:latin typeface="Tahoma"/>
                <a:cs typeface="Tahoma"/>
              </a:rPr>
              <a:t>equitable</a:t>
            </a:r>
            <a:r>
              <a:rPr sz="900" spc="-25">
                <a:solidFill>
                  <a:srgbClr val="005F73"/>
                </a:solidFill>
                <a:latin typeface="Tahoma"/>
                <a:cs typeface="Tahoma"/>
              </a:rPr>
              <a:t> </a:t>
            </a:r>
            <a:r>
              <a:rPr sz="900" spc="-10">
                <a:solidFill>
                  <a:srgbClr val="005F73"/>
                </a:solidFill>
                <a:latin typeface="Tahoma"/>
                <a:cs typeface="Tahoma"/>
              </a:rPr>
              <a:t>extraction</a:t>
            </a:r>
            <a:r>
              <a:rPr sz="900" spc="-25">
                <a:solidFill>
                  <a:srgbClr val="005F73"/>
                </a:solidFill>
                <a:latin typeface="Tahoma"/>
                <a:cs typeface="Tahoma"/>
              </a:rPr>
              <a:t> </a:t>
            </a:r>
            <a:r>
              <a:rPr sz="900" spc="-10">
                <a:solidFill>
                  <a:srgbClr val="005F73"/>
                </a:solidFill>
                <a:latin typeface="Tahoma"/>
                <a:cs typeface="Tahoma"/>
              </a:rPr>
              <a:t>and</a:t>
            </a:r>
            <a:r>
              <a:rPr sz="900" spc="-30">
                <a:solidFill>
                  <a:srgbClr val="005F73"/>
                </a:solidFill>
                <a:latin typeface="Tahoma"/>
                <a:cs typeface="Tahoma"/>
              </a:rPr>
              <a:t> </a:t>
            </a:r>
            <a:r>
              <a:rPr sz="900" spc="-20">
                <a:solidFill>
                  <a:srgbClr val="005F73"/>
                </a:solidFill>
                <a:latin typeface="Tahoma"/>
                <a:cs typeface="Tahoma"/>
              </a:rPr>
              <a:t>analysis</a:t>
            </a:r>
            <a:r>
              <a:rPr sz="900" spc="-25">
                <a:solidFill>
                  <a:srgbClr val="005F73"/>
                </a:solidFill>
                <a:latin typeface="Tahoma"/>
                <a:cs typeface="Tahoma"/>
              </a:rPr>
              <a:t> of safety</a:t>
            </a:r>
            <a:r>
              <a:rPr sz="900" spc="-20">
                <a:solidFill>
                  <a:srgbClr val="005F73"/>
                </a:solidFill>
                <a:latin typeface="Tahoma"/>
                <a:cs typeface="Tahoma"/>
              </a:rPr>
              <a:t> </a:t>
            </a:r>
            <a:r>
              <a:rPr sz="900" spc="-10">
                <a:solidFill>
                  <a:srgbClr val="005F73"/>
                </a:solidFill>
                <a:latin typeface="Tahoma"/>
                <a:cs typeface="Tahoma"/>
              </a:rPr>
              <a:t>insights</a:t>
            </a:r>
            <a:r>
              <a:rPr sz="900" spc="-25">
                <a:solidFill>
                  <a:srgbClr val="005F73"/>
                </a:solidFill>
                <a:latin typeface="Tahoma"/>
                <a:cs typeface="Tahoma"/>
              </a:rPr>
              <a:t> </a:t>
            </a:r>
            <a:r>
              <a:rPr sz="900">
                <a:solidFill>
                  <a:srgbClr val="005F73"/>
                </a:solidFill>
                <a:latin typeface="Tahoma"/>
                <a:cs typeface="Tahoma"/>
              </a:rPr>
              <a:t>from</a:t>
            </a:r>
            <a:r>
              <a:rPr sz="900" spc="-20">
                <a:solidFill>
                  <a:srgbClr val="005F73"/>
                </a:solidFill>
                <a:latin typeface="Tahoma"/>
                <a:cs typeface="Tahoma"/>
              </a:rPr>
              <a:t> </a:t>
            </a:r>
            <a:r>
              <a:rPr sz="900" spc="-10">
                <a:solidFill>
                  <a:srgbClr val="005F73"/>
                </a:solidFill>
                <a:latin typeface="Tahoma"/>
                <a:cs typeface="Tahoma"/>
              </a:rPr>
              <a:t>maternity</a:t>
            </a:r>
            <a:r>
              <a:rPr sz="900" spc="-20">
                <a:solidFill>
                  <a:srgbClr val="005F73"/>
                </a:solidFill>
                <a:latin typeface="Tahoma"/>
                <a:cs typeface="Tahoma"/>
              </a:rPr>
              <a:t> </a:t>
            </a:r>
            <a:r>
              <a:rPr sz="900" spc="-10">
                <a:solidFill>
                  <a:srgbClr val="005F73"/>
                </a:solidFill>
                <a:latin typeface="Tahoma"/>
                <a:cs typeface="Tahoma"/>
              </a:rPr>
              <a:t>investigations</a:t>
            </a:r>
            <a:endParaRPr sz="900">
              <a:latin typeface="Tahoma"/>
              <a:cs typeface="Tahoma"/>
            </a:endParaRPr>
          </a:p>
          <a:p>
            <a:pPr marL="810895" marR="802640" algn="ctr">
              <a:lnSpc>
                <a:spcPct val="110000"/>
              </a:lnSpc>
            </a:pPr>
            <a:r>
              <a:rPr sz="900" spc="-20">
                <a:solidFill>
                  <a:srgbClr val="6C757C"/>
                </a:solidFill>
                <a:latin typeface="Tahoma"/>
                <a:cs typeface="Tahoma"/>
              </a:rPr>
              <a:t>International</a:t>
            </a:r>
            <a:r>
              <a:rPr sz="900" spc="-15">
                <a:solidFill>
                  <a:srgbClr val="6C757C"/>
                </a:solidFill>
                <a:latin typeface="Tahoma"/>
                <a:cs typeface="Tahoma"/>
              </a:rPr>
              <a:t> </a:t>
            </a:r>
            <a:r>
              <a:rPr sz="900">
                <a:solidFill>
                  <a:srgbClr val="6C757C"/>
                </a:solidFill>
                <a:latin typeface="Tahoma"/>
                <a:cs typeface="Tahoma"/>
              </a:rPr>
              <a:t>Journal</a:t>
            </a:r>
            <a:r>
              <a:rPr sz="900" spc="-10">
                <a:solidFill>
                  <a:srgbClr val="6C757C"/>
                </a:solidFill>
                <a:latin typeface="Tahoma"/>
                <a:cs typeface="Tahoma"/>
              </a:rPr>
              <a:t> </a:t>
            </a:r>
            <a:r>
              <a:rPr sz="900">
                <a:solidFill>
                  <a:srgbClr val="6C757C"/>
                </a:solidFill>
                <a:latin typeface="Tahoma"/>
                <a:cs typeface="Tahoma"/>
              </a:rPr>
              <a:t>of</a:t>
            </a:r>
            <a:r>
              <a:rPr sz="900" spc="-10">
                <a:solidFill>
                  <a:srgbClr val="6C757C"/>
                </a:solidFill>
                <a:latin typeface="Tahoma"/>
                <a:cs typeface="Tahoma"/>
              </a:rPr>
              <a:t> </a:t>
            </a:r>
            <a:r>
              <a:rPr sz="900">
                <a:solidFill>
                  <a:srgbClr val="6C757C"/>
                </a:solidFill>
                <a:latin typeface="Tahoma"/>
                <a:cs typeface="Tahoma"/>
              </a:rPr>
              <a:t>Population</a:t>
            </a:r>
            <a:r>
              <a:rPr sz="900" spc="-15">
                <a:solidFill>
                  <a:srgbClr val="6C757C"/>
                </a:solidFill>
                <a:latin typeface="Tahoma"/>
                <a:cs typeface="Tahoma"/>
              </a:rPr>
              <a:t> </a:t>
            </a:r>
            <a:r>
              <a:rPr sz="900">
                <a:solidFill>
                  <a:srgbClr val="6C757C"/>
                </a:solidFill>
                <a:latin typeface="Tahoma"/>
                <a:cs typeface="Tahoma"/>
              </a:rPr>
              <a:t>Data</a:t>
            </a:r>
            <a:r>
              <a:rPr sz="900" spc="-10">
                <a:solidFill>
                  <a:srgbClr val="6C757C"/>
                </a:solidFill>
                <a:latin typeface="Tahoma"/>
                <a:cs typeface="Tahoma"/>
              </a:rPr>
              <a:t> </a:t>
            </a:r>
            <a:r>
              <a:rPr sz="900" spc="-20">
                <a:solidFill>
                  <a:srgbClr val="6C757C"/>
                </a:solidFill>
                <a:latin typeface="Tahoma"/>
                <a:cs typeface="Tahoma"/>
              </a:rPr>
              <a:t>Science,</a:t>
            </a:r>
            <a:r>
              <a:rPr sz="900" spc="-10">
                <a:solidFill>
                  <a:srgbClr val="6C757C"/>
                </a:solidFill>
                <a:latin typeface="Tahoma"/>
                <a:cs typeface="Tahoma"/>
              </a:rPr>
              <a:t> </a:t>
            </a:r>
            <a:r>
              <a:rPr sz="900" spc="-20">
                <a:solidFill>
                  <a:srgbClr val="6C757C"/>
                </a:solidFill>
                <a:latin typeface="Tahoma"/>
                <a:cs typeface="Tahoma"/>
              </a:rPr>
              <a:t>2024 </a:t>
            </a:r>
            <a:r>
              <a:rPr sz="900">
                <a:solidFill>
                  <a:srgbClr val="6C757C"/>
                </a:solidFill>
                <a:latin typeface="Tahoma"/>
                <a:cs typeface="Tahoma"/>
              </a:rPr>
              <a:t>doi:</a:t>
            </a:r>
            <a:r>
              <a:rPr sz="900" spc="20">
                <a:solidFill>
                  <a:srgbClr val="6C757C"/>
                </a:solidFill>
                <a:latin typeface="Tahoma"/>
                <a:cs typeface="Tahoma"/>
              </a:rPr>
              <a:t> </a:t>
            </a:r>
            <a:r>
              <a:rPr sz="900" spc="-10">
                <a:solidFill>
                  <a:srgbClr val="6C757C"/>
                </a:solidFill>
                <a:latin typeface="Tahoma"/>
                <a:cs typeface="Tahoma"/>
              </a:rPr>
              <a:t>10.23889/ijpds.v9i2.2439</a:t>
            </a:r>
            <a:endParaRPr sz="900">
              <a:latin typeface="Tahoma"/>
              <a:cs typeface="Tahoma"/>
            </a:endParaRPr>
          </a:p>
          <a:p>
            <a:pPr marL="12065" marR="5080" algn="ctr">
              <a:lnSpc>
                <a:spcPct val="101499"/>
              </a:lnSpc>
              <a:spcBef>
                <a:spcPts val="505"/>
              </a:spcBef>
            </a:pPr>
            <a:r>
              <a:rPr sz="900" spc="-20">
                <a:solidFill>
                  <a:srgbClr val="005F73"/>
                </a:solidFill>
                <a:latin typeface="Tahoma"/>
                <a:cs typeface="Tahoma"/>
              </a:rPr>
              <a:t>Intelligent</a:t>
            </a:r>
            <a:r>
              <a:rPr sz="900" spc="5">
                <a:solidFill>
                  <a:srgbClr val="005F73"/>
                </a:solidFill>
                <a:latin typeface="Tahoma"/>
                <a:cs typeface="Tahoma"/>
              </a:rPr>
              <a:t> </a:t>
            </a:r>
            <a:r>
              <a:rPr sz="900">
                <a:solidFill>
                  <a:srgbClr val="005F73"/>
                </a:solidFill>
                <a:latin typeface="Tahoma"/>
                <a:cs typeface="Tahoma"/>
              </a:rPr>
              <a:t>Multi-Document</a:t>
            </a:r>
            <a:r>
              <a:rPr sz="900" spc="5">
                <a:solidFill>
                  <a:srgbClr val="005F73"/>
                </a:solidFill>
                <a:latin typeface="Tahoma"/>
                <a:cs typeface="Tahoma"/>
              </a:rPr>
              <a:t> </a:t>
            </a:r>
            <a:r>
              <a:rPr sz="900" spc="-20">
                <a:solidFill>
                  <a:srgbClr val="005F73"/>
                </a:solidFill>
                <a:latin typeface="Tahoma"/>
                <a:cs typeface="Tahoma"/>
              </a:rPr>
              <a:t>Summarisation</a:t>
            </a:r>
            <a:r>
              <a:rPr sz="900">
                <a:solidFill>
                  <a:srgbClr val="005F73"/>
                </a:solidFill>
                <a:latin typeface="Tahoma"/>
                <a:cs typeface="Tahoma"/>
              </a:rPr>
              <a:t> for</a:t>
            </a:r>
            <a:r>
              <a:rPr sz="900" spc="5">
                <a:solidFill>
                  <a:srgbClr val="005F73"/>
                </a:solidFill>
                <a:latin typeface="Tahoma"/>
                <a:cs typeface="Tahoma"/>
              </a:rPr>
              <a:t> </a:t>
            </a:r>
            <a:r>
              <a:rPr sz="900">
                <a:solidFill>
                  <a:srgbClr val="005F73"/>
                </a:solidFill>
                <a:latin typeface="Tahoma"/>
                <a:cs typeface="Tahoma"/>
              </a:rPr>
              <a:t>Extracting</a:t>
            </a:r>
            <a:r>
              <a:rPr sz="900" spc="5">
                <a:solidFill>
                  <a:srgbClr val="005F73"/>
                </a:solidFill>
                <a:latin typeface="Tahoma"/>
                <a:cs typeface="Tahoma"/>
              </a:rPr>
              <a:t> </a:t>
            </a:r>
            <a:r>
              <a:rPr sz="900" spc="-25">
                <a:solidFill>
                  <a:srgbClr val="005F73"/>
                </a:solidFill>
                <a:latin typeface="Tahoma"/>
                <a:cs typeface="Tahoma"/>
              </a:rPr>
              <a:t>Insights</a:t>
            </a:r>
            <a:r>
              <a:rPr sz="900" spc="5">
                <a:solidFill>
                  <a:srgbClr val="005F73"/>
                </a:solidFill>
                <a:latin typeface="Tahoma"/>
                <a:cs typeface="Tahoma"/>
              </a:rPr>
              <a:t> </a:t>
            </a:r>
            <a:r>
              <a:rPr sz="900">
                <a:solidFill>
                  <a:srgbClr val="005F73"/>
                </a:solidFill>
                <a:latin typeface="Tahoma"/>
                <a:cs typeface="Tahoma"/>
              </a:rPr>
              <a:t>on</a:t>
            </a:r>
            <a:r>
              <a:rPr sz="900" spc="10">
                <a:solidFill>
                  <a:srgbClr val="005F73"/>
                </a:solidFill>
                <a:latin typeface="Tahoma"/>
                <a:cs typeface="Tahoma"/>
              </a:rPr>
              <a:t> </a:t>
            </a:r>
            <a:r>
              <a:rPr sz="900">
                <a:solidFill>
                  <a:srgbClr val="005F73"/>
                </a:solidFill>
                <a:latin typeface="Tahoma"/>
                <a:cs typeface="Tahoma"/>
              </a:rPr>
              <a:t>Racial</a:t>
            </a:r>
            <a:r>
              <a:rPr sz="900" spc="5">
                <a:solidFill>
                  <a:srgbClr val="005F73"/>
                </a:solidFill>
                <a:latin typeface="Tahoma"/>
                <a:cs typeface="Tahoma"/>
              </a:rPr>
              <a:t> </a:t>
            </a:r>
            <a:r>
              <a:rPr sz="900" spc="-10">
                <a:solidFill>
                  <a:srgbClr val="005F73"/>
                </a:solidFill>
                <a:latin typeface="Tahoma"/>
                <a:cs typeface="Tahoma"/>
              </a:rPr>
              <a:t>Inequalities </a:t>
            </a:r>
            <a:r>
              <a:rPr sz="900">
                <a:solidFill>
                  <a:srgbClr val="005F73"/>
                </a:solidFill>
                <a:latin typeface="Tahoma"/>
                <a:cs typeface="Tahoma"/>
              </a:rPr>
              <a:t>from</a:t>
            </a:r>
            <a:r>
              <a:rPr sz="900" spc="5">
                <a:solidFill>
                  <a:srgbClr val="005F73"/>
                </a:solidFill>
                <a:latin typeface="Tahoma"/>
                <a:cs typeface="Tahoma"/>
              </a:rPr>
              <a:t> </a:t>
            </a:r>
            <a:r>
              <a:rPr sz="900">
                <a:solidFill>
                  <a:srgbClr val="005F73"/>
                </a:solidFill>
                <a:latin typeface="Tahoma"/>
                <a:cs typeface="Tahoma"/>
              </a:rPr>
              <a:t>Maternity </a:t>
            </a:r>
            <a:r>
              <a:rPr sz="900" spc="-20">
                <a:solidFill>
                  <a:srgbClr val="005F73"/>
                </a:solidFill>
                <a:latin typeface="Tahoma"/>
                <a:cs typeface="Tahoma"/>
              </a:rPr>
              <a:t>Incident</a:t>
            </a:r>
            <a:r>
              <a:rPr sz="900" spc="10">
                <a:solidFill>
                  <a:srgbClr val="005F73"/>
                </a:solidFill>
                <a:latin typeface="Tahoma"/>
                <a:cs typeface="Tahoma"/>
              </a:rPr>
              <a:t> </a:t>
            </a:r>
            <a:r>
              <a:rPr sz="900" spc="-30">
                <a:solidFill>
                  <a:srgbClr val="005F73"/>
                </a:solidFill>
                <a:latin typeface="Tahoma"/>
                <a:cs typeface="Tahoma"/>
              </a:rPr>
              <a:t>Investigation</a:t>
            </a:r>
            <a:r>
              <a:rPr sz="900" spc="5">
                <a:solidFill>
                  <a:srgbClr val="005F73"/>
                </a:solidFill>
                <a:latin typeface="Tahoma"/>
                <a:cs typeface="Tahoma"/>
              </a:rPr>
              <a:t> </a:t>
            </a:r>
            <a:r>
              <a:rPr sz="900" spc="-10">
                <a:solidFill>
                  <a:srgbClr val="005F73"/>
                </a:solidFill>
                <a:latin typeface="Tahoma"/>
                <a:cs typeface="Tahoma"/>
              </a:rPr>
              <a:t>Reports</a:t>
            </a:r>
            <a:endParaRPr sz="900">
              <a:latin typeface="Tahoma"/>
              <a:cs typeface="Tahoma"/>
            </a:endParaRPr>
          </a:p>
          <a:p>
            <a:pPr marL="751205" marR="744220" algn="ctr">
              <a:lnSpc>
                <a:spcPct val="110000"/>
              </a:lnSpc>
            </a:pPr>
            <a:r>
              <a:rPr sz="900">
                <a:solidFill>
                  <a:srgbClr val="6C757C"/>
                </a:solidFill>
                <a:latin typeface="Tahoma"/>
                <a:cs typeface="Tahoma"/>
              </a:rPr>
              <a:t>Artiﬁcial</a:t>
            </a:r>
            <a:r>
              <a:rPr sz="900" spc="35">
                <a:solidFill>
                  <a:srgbClr val="6C757C"/>
                </a:solidFill>
                <a:latin typeface="Tahoma"/>
                <a:cs typeface="Tahoma"/>
              </a:rPr>
              <a:t> </a:t>
            </a:r>
            <a:r>
              <a:rPr sz="900" spc="-25">
                <a:solidFill>
                  <a:srgbClr val="6C757C"/>
                </a:solidFill>
                <a:latin typeface="Tahoma"/>
                <a:cs typeface="Tahoma"/>
              </a:rPr>
              <a:t>Intelligence</a:t>
            </a:r>
            <a:r>
              <a:rPr sz="900" spc="40">
                <a:solidFill>
                  <a:srgbClr val="6C757C"/>
                </a:solidFill>
                <a:latin typeface="Tahoma"/>
                <a:cs typeface="Tahoma"/>
              </a:rPr>
              <a:t> </a:t>
            </a:r>
            <a:r>
              <a:rPr sz="900">
                <a:solidFill>
                  <a:srgbClr val="6C757C"/>
                </a:solidFill>
                <a:latin typeface="Tahoma"/>
                <a:cs typeface="Tahoma"/>
              </a:rPr>
              <a:t>in</a:t>
            </a:r>
            <a:r>
              <a:rPr sz="900" spc="35">
                <a:solidFill>
                  <a:srgbClr val="6C757C"/>
                </a:solidFill>
                <a:latin typeface="Tahoma"/>
                <a:cs typeface="Tahoma"/>
              </a:rPr>
              <a:t> </a:t>
            </a:r>
            <a:r>
              <a:rPr sz="900" spc="-20">
                <a:solidFill>
                  <a:srgbClr val="6C757C"/>
                </a:solidFill>
                <a:latin typeface="Tahoma"/>
                <a:cs typeface="Tahoma"/>
              </a:rPr>
              <a:t>Healthcare</a:t>
            </a:r>
            <a:r>
              <a:rPr sz="900" spc="35">
                <a:solidFill>
                  <a:srgbClr val="6C757C"/>
                </a:solidFill>
                <a:latin typeface="Tahoma"/>
                <a:cs typeface="Tahoma"/>
              </a:rPr>
              <a:t> </a:t>
            </a:r>
            <a:r>
              <a:rPr sz="900">
                <a:solidFill>
                  <a:srgbClr val="6C757C"/>
                </a:solidFill>
                <a:latin typeface="Tahoma"/>
                <a:cs typeface="Tahoma"/>
              </a:rPr>
              <a:t>(AIiH),</a:t>
            </a:r>
            <a:r>
              <a:rPr sz="900" spc="35">
                <a:solidFill>
                  <a:srgbClr val="6C757C"/>
                </a:solidFill>
                <a:latin typeface="Tahoma"/>
                <a:cs typeface="Tahoma"/>
              </a:rPr>
              <a:t> </a:t>
            </a:r>
            <a:r>
              <a:rPr sz="900" spc="-25">
                <a:solidFill>
                  <a:srgbClr val="6C757C"/>
                </a:solidFill>
                <a:latin typeface="Tahoma"/>
                <a:cs typeface="Tahoma"/>
              </a:rPr>
              <a:t>Springer,</a:t>
            </a:r>
            <a:r>
              <a:rPr sz="900" spc="40">
                <a:solidFill>
                  <a:srgbClr val="6C757C"/>
                </a:solidFill>
                <a:latin typeface="Tahoma"/>
                <a:cs typeface="Tahoma"/>
              </a:rPr>
              <a:t> </a:t>
            </a:r>
            <a:r>
              <a:rPr sz="900" spc="-20">
                <a:solidFill>
                  <a:srgbClr val="6C757C"/>
                </a:solidFill>
                <a:latin typeface="Tahoma"/>
                <a:cs typeface="Tahoma"/>
              </a:rPr>
              <a:t>2024 </a:t>
            </a:r>
            <a:r>
              <a:rPr sz="900" spc="-10">
                <a:solidFill>
                  <a:srgbClr val="6C757C"/>
                </a:solidFill>
                <a:latin typeface="Tahoma"/>
                <a:cs typeface="Tahoma"/>
              </a:rPr>
              <a:t>https://arxiv.org/abs/2407.08322</a:t>
            </a:r>
            <a:endParaRPr sz="900">
              <a:latin typeface="Tahoma"/>
              <a:cs typeface="Tahoma"/>
            </a:endParaRPr>
          </a:p>
        </p:txBody>
      </p:sp>
      <p:sp>
        <p:nvSpPr>
          <p:cNvPr id="6" name="Slide Number Placeholder 5">
            <a:extLst>
              <a:ext uri="{FF2B5EF4-FFF2-40B4-BE49-F238E27FC236}">
                <a16:creationId xmlns:a16="http://schemas.microsoft.com/office/drawing/2014/main" id="{AB736A50-6FCD-72AE-5BEB-241CCB965C28}"/>
              </a:ext>
            </a:extLst>
          </p:cNvPr>
          <p:cNvSpPr>
            <a:spLocks noGrp="1"/>
          </p:cNvSpPr>
          <p:nvPr>
            <p:ph type="sldNum" sz="quarter" idx="7"/>
          </p:nvPr>
        </p:nvSpPr>
        <p:spPr>
          <a:xfrm>
            <a:off x="5143451" y="3029067"/>
            <a:ext cx="616624" cy="173989"/>
          </a:xfrm>
        </p:spPr>
        <p:txBody>
          <a:bodyPr/>
          <a:lstStyle/>
          <a:p>
            <a:pPr marL="39370">
              <a:lnSpc>
                <a:spcPct val="100000"/>
              </a:lnSpc>
              <a:spcBef>
                <a:spcPts val="219"/>
              </a:spcBef>
            </a:pPr>
            <a:fld id="{81D60167-4931-47E6-BA6A-407CBD079E47}" type="slidenum">
              <a:rPr lang="en-GB" smtClean="0"/>
              <a:t>39</a:t>
            </a:fld>
            <a:r>
              <a:rPr lang="en-GB" spc="20"/>
              <a:t> </a:t>
            </a:r>
            <a:r>
              <a:rPr lang="en-GB" spc="120"/>
              <a:t>/</a:t>
            </a:r>
            <a:r>
              <a:rPr lang="en-GB" spc="25"/>
              <a:t> </a:t>
            </a:r>
            <a:r>
              <a:rPr lang="en-GB" spc="-25"/>
              <a:t>41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Custom</PresentationFormat>
  <Slides>39</Slides>
  <Notes>33</Notes>
  <HiddenSlides>0</HiddenSlides>
  <ScaleCrop>false</ScaleCrop>
  <HeadingPairs>
    <vt:vector size="4" baseType="variant">
      <vt:variant>
        <vt:lpstr>Theme</vt:lpstr>
      </vt:variant>
      <vt:variant>
        <vt:i4>1</vt:i4>
      </vt:variant>
      <vt:variant>
        <vt:lpstr>Slide Titles</vt:lpstr>
      </vt:variant>
      <vt:variant>
        <vt:i4>39</vt:i4>
      </vt:variant>
    </vt:vector>
  </HeadingPairs>
  <TitlesOfParts>
    <vt:vector size="40" baseType="lpstr">
      <vt:lpstr>Office Theme</vt:lpstr>
      <vt:lpstr>Extracting Safety Intelligence from</vt:lpstr>
      <vt:lpstr>About Me</vt:lpstr>
      <vt:lpstr>PowerPoint Presentation</vt:lpstr>
      <vt:lpstr>What We’ll Explore Today</vt:lpstr>
      <vt:lpstr>PowerPoint Presentation</vt:lpstr>
      <vt:lpstr>01</vt:lpstr>
      <vt:lpstr>What is Concept Annotation? Extracting human factors from investigation text</vt:lpstr>
      <vt:lpstr>I-SIRch: Framework Overview End-to-end pipeline for safety intelligence extraction</vt:lpstr>
      <vt:lpstr>The SIRch Taxonomy: SEIPS Framework Human factors framework for maternity safety investigations</vt:lpstr>
      <vt:lpstr>I-SIRch: Training the Model Expert annotation with human-in-the-loop validation</vt:lpstr>
      <vt:lpstr>Dataset: Training and Testing Batches 188 maternity investigation reports (2019–2022) from HSIB</vt:lpstr>
      <vt:lpstr>I-SIRch: Development &amp; Evaluation Cycle Rigorous iterative validation across multiple batches</vt:lpstr>
      <vt:lpstr>I-SIRch: Evaluation Approach Rigorous testing to ensure reliability and fairness</vt:lpstr>
      <vt:lpstr>I-SIRch: Overall Performance Tested on 97 real unseen reports</vt:lpstr>
      <vt:lpstr>I-SIRch: Fairness Across Ethnic Groups Does the model perform equally for all groups?</vt:lpstr>
      <vt:lpstr>02</vt:lpstr>
      <vt:lpstr>PowerPoint Presentation</vt:lpstr>
      <vt:lpstr>Human Factors Distribution Across Reports 188 reports, 3,122 annotated sentences</vt:lpstr>
      <vt:lpstr>Communication</vt:lpstr>
      <vt:lpstr>Teamworking</vt:lpstr>
      <vt:lpstr>Assessment</vt:lpstr>
      <vt:lpstr>03</vt:lpstr>
      <vt:lpstr>PowerPoint Presentation</vt:lpstr>
      <vt:lpstr>Method 2:  Multi-Document Summarisation I-SIRch:CS Framework</vt:lpstr>
      <vt:lpstr>Summarisation Dataset Composition 3,760 annotated sentences across 27 human factors concepts</vt:lpstr>
      <vt:lpstr>Evaluating Equity in Summarisation Do summaries perform fairly across ethnic groups?</vt:lpstr>
      <vt:lpstr>How We Evaluate Summary Quality Six metrics assess diﬀerent quality dimensions</vt:lpstr>
      <vt:lpstr>Example Summaries Generated by BART Demonstrating summarisation quality and traceability</vt:lpstr>
      <vt:lpstr>Traceability in Summarisation Linking summary content back to source documents for transparency and auditability</vt:lpstr>
      <vt:lpstr>Ethical Risks of AI Summarisation Identiﬁed risks and mitigations</vt:lpstr>
      <vt:lpstr>PowerPoint Presentation</vt:lpstr>
      <vt:lpstr>LENS.ai</vt:lpstr>
      <vt:lpstr>Beyond Maternity: LENS.ai</vt:lpstr>
      <vt:lpstr>LENS.ai: The Platform</vt:lpstr>
      <vt:lpstr>LENS.ai: Annotation in Action Colour-coded themes with full traceability</vt:lpstr>
      <vt:lpstr>LENS.ai: A Living Platform From research prototype to operational tool</vt:lpstr>
      <vt:lpstr>Key Takeaways</vt:lpstr>
      <vt:lpstr>Get in Touch</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revision>1</cp:revision>
  <dcterms:created xsi:type="dcterms:W3CDTF">2026-03-18T09:08:53Z</dcterms:created>
  <dcterms:modified xsi:type="dcterms:W3CDTF">2026-04-15T13:50:01Z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2026-03-18T00:00:00Z</vt:filetime>
  </property>
  <property fmtid="{D5CDD505-2E9C-101B-9397-08002B2CF9AE}" pid="3" name="Creator">
    <vt:lpwstr>LaTeX with Beamer class</vt:lpwstr>
  </property>
  <property fmtid="{D5CDD505-2E9C-101B-9397-08002B2CF9AE}" pid="4" name="Producer">
    <vt:lpwstr>xdvipdfmx (20250410)</vt:lpwstr>
  </property>
  <property fmtid="{D5CDD505-2E9C-101B-9397-08002B2CF9AE}" pid="5" name="LastSaved">
    <vt:filetime>2026-03-18T00:00:00Z</vt:filetime>
  </property>
</Properties>
</file>